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hKHoeDGYVKmPvMK673li3mRAPb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customschemas.google.com/relationships/presentationmetadata" Target="meta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p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p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/>
          <p:nvPr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3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628650" y="1509333"/>
            <a:ext cx="38862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5"/>
          <p:cNvSpPr txBox="1"/>
          <p:nvPr>
            <p:ph idx="2" type="body"/>
          </p:nvPr>
        </p:nvSpPr>
        <p:spPr>
          <a:xfrm>
            <a:off x="4629150" y="1509333"/>
            <a:ext cx="38862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5"/>
          <p:cNvSpPr/>
          <p:nvPr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5"/>
          <p:cNvSpPr/>
          <p:nvPr/>
        </p:nvSpPr>
        <p:spPr>
          <a:xfrm>
            <a:off x="7678552" y="254610"/>
            <a:ext cx="1144207" cy="1144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5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3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3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4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4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2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gif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8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en.wikipedia.org/wiki/I%C2%B2C" TargetMode="External"/><Relationship Id="rId4" Type="http://schemas.openxmlformats.org/officeDocument/2006/relationships/hyperlink" Target="https://www.nxp.com/docs/en/user-guide/UM10204.pdf" TargetMode="External"/><Relationship Id="rId11" Type="http://schemas.openxmlformats.org/officeDocument/2006/relationships/hyperlink" Target="https://www.slideshare.net/ankushwawoo/mems-gyroscope-working" TargetMode="External"/><Relationship Id="rId10" Type="http://schemas.openxmlformats.org/officeDocument/2006/relationships/hyperlink" Target="https://invensense.tdk.com/wp-content/uploads/2015/02/MPU-6000-Datasheet1.pdf" TargetMode="External"/><Relationship Id="rId9" Type="http://schemas.openxmlformats.org/officeDocument/2006/relationships/hyperlink" Target="https://www.youtube.com/watch?v=T_iXLNkkjFo" TargetMode="External"/><Relationship Id="rId5" Type="http://schemas.openxmlformats.org/officeDocument/2006/relationships/hyperlink" Target="https://i2c.info/i2c-bus-specification" TargetMode="External"/><Relationship Id="rId6" Type="http://schemas.openxmlformats.org/officeDocument/2006/relationships/hyperlink" Target="https://exploreembedded.com/wiki/OLED_Interface_With_8051" TargetMode="External"/><Relationship Id="rId7" Type="http://schemas.openxmlformats.org/officeDocument/2006/relationships/hyperlink" Target="https://www.analog.com/en/technical-articles/mems-gyroscope-provides-precision-inertial-sensing.html" TargetMode="External"/><Relationship Id="rId8" Type="http://schemas.openxmlformats.org/officeDocument/2006/relationships/hyperlink" Target="https://www.researchgate.net/figure/Principle-of-operation-for-MEMS-vibrating-gyroscope-125_fig11_2994658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438307" y="743925"/>
            <a:ext cx="8524324" cy="173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Microprocessor Systems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510490" y="4360130"/>
            <a:ext cx="29718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Prof. Ren-Shuo Liu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NTHU EE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486211" y="2686913"/>
            <a:ext cx="7201851" cy="1401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Lab3 - I</a:t>
            </a:r>
            <a:r>
              <a:rPr b="0" baseline="3000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Introduction &amp; SSD1305 OLED &amp; MPU6050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014" y="3823857"/>
            <a:ext cx="4123617" cy="251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Outline</a:t>
            </a:r>
            <a:endParaRPr b="1"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628650" y="1505323"/>
            <a:ext cx="7886700" cy="52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1281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879"/>
              <a:buChar char="•"/>
            </a:pPr>
            <a:r>
              <a:rPr lang="en-US" sz="3900"/>
              <a:t>I</a:t>
            </a:r>
            <a:r>
              <a:rPr baseline="30000" lang="en-US" sz="3900"/>
              <a:t>2</a:t>
            </a:r>
            <a:r>
              <a:rPr lang="en-US" sz="3900"/>
              <a:t>C</a:t>
            </a:r>
            <a:endParaRPr sz="2600"/>
          </a:p>
          <a:p>
            <a:pPr indent="-19152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38996"/>
              <a:buChar char="•"/>
            </a:pPr>
            <a:r>
              <a:rPr lang="en-US" sz="2800"/>
              <a:t>I</a:t>
            </a:r>
            <a:r>
              <a:rPr baseline="30000" lang="en-US" sz="2800"/>
              <a:t>2</a:t>
            </a:r>
            <a:r>
              <a:rPr lang="en-US" sz="2800"/>
              <a:t>C  Introduction</a:t>
            </a:r>
            <a:endParaRPr sz="2800"/>
          </a:p>
          <a:p>
            <a:pPr indent="-19152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38996"/>
              <a:buChar char="•"/>
            </a:pPr>
            <a:r>
              <a:rPr lang="en-US" sz="2800"/>
              <a:t>Data Transfer Method</a:t>
            </a:r>
            <a:endParaRPr/>
          </a:p>
          <a:p>
            <a:pPr indent="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38996"/>
              <a:buNone/>
            </a:pPr>
            <a:r>
              <a:t/>
            </a:r>
            <a:endParaRPr sz="2800"/>
          </a:p>
          <a:p>
            <a:pPr indent="-212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0879"/>
              <a:buChar char="•"/>
            </a:pPr>
            <a:r>
              <a:rPr lang="en-US" sz="3900"/>
              <a:t>SSD1305 OLED</a:t>
            </a:r>
            <a:endParaRPr sz="2600"/>
          </a:p>
          <a:p>
            <a:pPr indent="-19152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38996"/>
              <a:buChar char="•"/>
            </a:pPr>
            <a:r>
              <a:rPr lang="en-US" sz="2800"/>
              <a:t>SSD1305 Block Diagram</a:t>
            </a:r>
            <a:endParaRPr sz="1800"/>
          </a:p>
          <a:p>
            <a:pPr indent="-19152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38996"/>
              <a:buChar char="•"/>
            </a:pPr>
            <a:r>
              <a:rPr lang="en-US" sz="2800"/>
              <a:t>GDDRAM</a:t>
            </a:r>
            <a:endParaRPr sz="1800"/>
          </a:p>
          <a:p>
            <a:pPr indent="-19152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38996"/>
              <a:buChar char="•"/>
            </a:pPr>
            <a:r>
              <a:rPr lang="en-US" sz="2800"/>
              <a:t>Data Format</a:t>
            </a:r>
            <a:endParaRPr/>
          </a:p>
          <a:p>
            <a:pPr indent="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38996"/>
              <a:buNone/>
            </a:pPr>
            <a:r>
              <a:t/>
            </a:r>
            <a:endParaRPr sz="2800"/>
          </a:p>
          <a:p>
            <a:pPr indent="-191561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9792"/>
              <a:buChar char="•"/>
            </a:pPr>
            <a:r>
              <a:rPr lang="en-US" sz="3900"/>
              <a:t>MPU6050</a:t>
            </a:r>
            <a:endParaRPr/>
          </a:p>
          <a:p>
            <a:pPr indent="-19152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8996"/>
              <a:buChar char="•"/>
            </a:pPr>
            <a:r>
              <a:rPr lang="en-US" sz="2800"/>
              <a:t>MPU6050 Introduction</a:t>
            </a:r>
            <a:endParaRPr/>
          </a:p>
          <a:p>
            <a:pPr indent="-19152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8996"/>
              <a:buChar char="•"/>
            </a:pPr>
            <a:r>
              <a:rPr lang="en-US" sz="2800"/>
              <a:t>Application</a:t>
            </a:r>
            <a:endParaRPr/>
          </a:p>
          <a:p>
            <a:pPr indent="-19152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8996"/>
              <a:buChar char="•"/>
            </a:pPr>
            <a:r>
              <a:rPr lang="en-US" sz="2800"/>
              <a:t>Gyroscope &amp; Accelerometer</a:t>
            </a:r>
            <a:endParaRPr sz="2800"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</a:t>
            </a:r>
            <a:r>
              <a:rPr baseline="30000" lang="en-US"/>
              <a:t>2</a:t>
            </a:r>
            <a:r>
              <a:rPr lang="en-US"/>
              <a:t>C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628650" y="1384555"/>
            <a:ext cx="7886700" cy="4712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700"/>
              <a:t>The name I</a:t>
            </a:r>
            <a:r>
              <a:rPr baseline="30000" lang="en-US" sz="2700"/>
              <a:t>2</a:t>
            </a:r>
            <a:r>
              <a:rPr lang="en-US" sz="2700"/>
              <a:t>C stands for Inter-Integrated Circuit bus.</a:t>
            </a:r>
            <a:endParaRPr sz="2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700"/>
              <a:t>I</a:t>
            </a:r>
            <a:r>
              <a:rPr baseline="30000" lang="en-US" sz="2700"/>
              <a:t>2</a:t>
            </a:r>
            <a:r>
              <a:rPr lang="en-US" sz="2700"/>
              <a:t>C only uses two physical wires, called serial data(SDA) and serial clock(SCL).</a:t>
            </a:r>
            <a:endParaRPr sz="2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700"/>
              <a:t>Rp(pull up resistor) is used to ensure a known state for a signal.</a:t>
            </a:r>
            <a:endParaRPr sz="2700"/>
          </a:p>
        </p:txBody>
      </p:sp>
      <p:sp>
        <p:nvSpPr>
          <p:cNvPr id="109" name="Google Shape;109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37" y="3610113"/>
            <a:ext cx="8815526" cy="311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31719" l="29806" r="29373" t="28464"/>
          <a:stretch/>
        </p:blipFill>
        <p:spPr>
          <a:xfrm>
            <a:off x="931325" y="3041738"/>
            <a:ext cx="7281355" cy="358815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Wire-And Configuration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628650" y="1384555"/>
            <a:ext cx="7886700" cy="253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Any node can only pull down the SCL or SDA line to Logic 0; it cannot force the line up to Logic 1.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role is played by a single pull-up resistor connected to each line.</a:t>
            </a:r>
            <a:endParaRPr/>
          </a:p>
        </p:txBody>
      </p:sp>
      <p:sp>
        <p:nvSpPr>
          <p:cNvPr id="118" name="Google Shape;118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Serial Data Transfer</a:t>
            </a:r>
            <a:endParaRPr/>
          </a:p>
        </p:txBody>
      </p:sp>
      <p:sp>
        <p:nvSpPr>
          <p:cNvPr id="124" name="Google Shape;124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628650" y="1384555"/>
            <a:ext cx="8684026" cy="1891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each clock pulse one bit of data is transferred.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SDA signal can only change when the SCL signal is low – when the clock is high the data should be stable.</a:t>
            </a:r>
            <a:endParaRPr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174" y="2924987"/>
            <a:ext cx="8887651" cy="3296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Start and Stop Condition</a:t>
            </a:r>
            <a:endParaRPr/>
          </a:p>
        </p:txBody>
      </p:sp>
      <p:sp>
        <p:nvSpPr>
          <p:cNvPr id="132" name="Google Shape;132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628650" y="1384555"/>
            <a:ext cx="8739887" cy="19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and Stop is a special case.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bit is sent when SDA is low and SCL stays high.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Stop bit is sent when SDA is high and SCL stays high.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52" y="3429000"/>
            <a:ext cx="8626496" cy="2433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</a:t>
            </a:r>
            <a:r>
              <a:rPr baseline="30000" lang="en-US"/>
              <a:t>2</a:t>
            </a:r>
            <a:r>
              <a:rPr lang="en-US"/>
              <a:t>C Data Transfer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628649" y="1384555"/>
            <a:ext cx="8098661" cy="1971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Data on the I2C bus is transferred in 8-bit packets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Each byte must be followed by an Acknowledge bit </a:t>
            </a:r>
            <a:r>
              <a:rPr lang="en-US">
                <a:solidFill>
                  <a:schemeClr val="dk1"/>
                </a:solidFill>
              </a:rPr>
              <a:t>to guarantee the receiver getting the data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All the bytes are transferred with the MSB bit shifted first.</a:t>
            </a:r>
            <a:endParaRPr/>
          </a:p>
        </p:txBody>
      </p:sp>
      <p:sp>
        <p:nvSpPr>
          <p:cNvPr id="141" name="Google Shape;141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28" y="3429000"/>
            <a:ext cx="8882743" cy="2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243" y="3495041"/>
            <a:ext cx="8781514" cy="286131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7 Bit I</a:t>
            </a:r>
            <a:r>
              <a:rPr baseline="30000" lang="en-US"/>
              <a:t>2</a:t>
            </a:r>
            <a:r>
              <a:rPr lang="en-US"/>
              <a:t>C Address</a:t>
            </a:r>
            <a:endParaRPr/>
          </a:p>
        </p:txBody>
      </p:sp>
      <p:sp>
        <p:nvSpPr>
          <p:cNvPr id="150" name="Google Shape;150;p8"/>
          <p:cNvSpPr txBox="1"/>
          <p:nvPr>
            <p:ph idx="1" type="body"/>
          </p:nvPr>
        </p:nvSpPr>
        <p:spPr>
          <a:xfrm>
            <a:off x="537209" y="1384555"/>
            <a:ext cx="9579064" cy="229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Start bit: Start to sent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Slave address: 7 bit slave address is sent.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R/W: 0 represents write; 1 represents read.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ACK: Slave sent a ACK bit after receiving the data.</a:t>
            </a:r>
            <a:endParaRPr/>
          </a:p>
        </p:txBody>
      </p:sp>
      <p:sp>
        <p:nvSpPr>
          <p:cNvPr id="151" name="Google Shape;151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181243" y="3434838"/>
            <a:ext cx="3215100" cy="2961605"/>
          </a:xfrm>
          <a:prstGeom prst="rect">
            <a:avLst/>
          </a:prstGeom>
          <a:noFill/>
          <a:ln cap="flat" cmpd="sng" w="571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</a:t>
            </a:r>
            <a:r>
              <a:rPr baseline="30000" lang="en-US"/>
              <a:t>2</a:t>
            </a:r>
            <a:r>
              <a:rPr lang="en-US"/>
              <a:t>C Write Mode</a:t>
            </a:r>
            <a:endParaRPr/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537210" y="1384555"/>
            <a:ext cx="8479729" cy="166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ACK: Slave sent a ACK bit to after receiving the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Data: Master keep sending data.</a:t>
            </a:r>
            <a:endParaRPr/>
          </a:p>
        </p:txBody>
      </p:sp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210" y="2649083"/>
            <a:ext cx="8030696" cy="3258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210" y="2649083"/>
            <a:ext cx="8030696" cy="325800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</a:t>
            </a:r>
            <a:r>
              <a:rPr baseline="30000" lang="en-US"/>
              <a:t>2</a:t>
            </a:r>
            <a:r>
              <a:rPr lang="en-US"/>
              <a:t>C Read Mode</a:t>
            </a:r>
            <a:endParaRPr/>
          </a:p>
        </p:txBody>
      </p:sp>
      <p:sp>
        <p:nvSpPr>
          <p:cNvPr id="167" name="Google Shape;167;p10"/>
          <p:cNvSpPr txBox="1"/>
          <p:nvPr>
            <p:ph idx="1" type="body"/>
          </p:nvPr>
        </p:nvSpPr>
        <p:spPr>
          <a:xfrm>
            <a:off x="537210" y="1384555"/>
            <a:ext cx="8479729" cy="166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ACK: Master sent a ACK bit to after receiving the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Data: Slave keep sending data.</a:t>
            </a:r>
            <a:endParaRPr/>
          </a:p>
        </p:txBody>
      </p:sp>
      <p:sp>
        <p:nvSpPr>
          <p:cNvPr id="168" name="Google Shape;16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9" name="Google Shape;16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178" y="2581156"/>
            <a:ext cx="8011643" cy="1695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>
            <p:ph type="title"/>
          </p:nvPr>
        </p:nvSpPr>
        <p:spPr>
          <a:xfrm>
            <a:off x="650631" y="512064"/>
            <a:ext cx="7886700" cy="856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OLED (Appearance)</a:t>
            </a:r>
            <a:endParaRPr b="1"/>
          </a:p>
        </p:txBody>
      </p:sp>
      <p:pic>
        <p:nvPicPr>
          <p:cNvPr id="175" name="Google Shape;17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800" l="6626" r="7229" t="11001"/>
          <a:stretch/>
        </p:blipFill>
        <p:spPr>
          <a:xfrm>
            <a:off x="1901884" y="1476229"/>
            <a:ext cx="5384194" cy="5075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2"/>
          <p:cNvPicPr preferRelativeResize="0"/>
          <p:nvPr/>
        </p:nvPicPr>
        <p:blipFill rotWithShape="1">
          <a:blip r:embed="rId3">
            <a:alphaModFix/>
          </a:blip>
          <a:srcRect b="12399" l="10255" r="8849" t="14255"/>
          <a:stretch/>
        </p:blipFill>
        <p:spPr>
          <a:xfrm>
            <a:off x="1872761" y="1452876"/>
            <a:ext cx="5777418" cy="523807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 txBox="1"/>
          <p:nvPr>
            <p:ph type="title"/>
          </p:nvPr>
        </p:nvSpPr>
        <p:spPr>
          <a:xfrm>
            <a:off x="628650" y="502920"/>
            <a:ext cx="7886700" cy="8816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OLED</a:t>
            </a:r>
            <a:endParaRPr/>
          </a:p>
        </p:txBody>
      </p:sp>
      <p:sp>
        <p:nvSpPr>
          <p:cNvPr id="183" name="Google Shape;18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628650" y="484632"/>
            <a:ext cx="7886700" cy="899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SSD1305</a:t>
            </a:r>
            <a:endParaRPr/>
          </a:p>
        </p:txBody>
      </p:sp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628650" y="1529861"/>
            <a:ext cx="7886700" cy="3715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SSD1305 is a CMOS OLED/PLED driver with controller for OLED dot matrix graphic display system.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consists of 132 segments and 64 commons that can support a maximum display resolution of 132x64.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0" name="Google Shape;190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type="title"/>
          </p:nvPr>
        </p:nvSpPr>
        <p:spPr>
          <a:xfrm>
            <a:off x="644900" y="557784"/>
            <a:ext cx="7886700" cy="767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SSD1305 Block Diagram</a:t>
            </a:r>
            <a:endParaRPr b="1"/>
          </a:p>
        </p:txBody>
      </p:sp>
      <p:pic>
        <p:nvPicPr>
          <p:cNvPr id="196" name="Google Shape;196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751" y="1408176"/>
            <a:ext cx="7638998" cy="501020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784" y="2159949"/>
            <a:ext cx="7301026" cy="375841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5"/>
          <p:cNvSpPr txBox="1"/>
          <p:nvPr>
            <p:ph type="title"/>
          </p:nvPr>
        </p:nvSpPr>
        <p:spPr>
          <a:xfrm>
            <a:off x="628650" y="429768"/>
            <a:ext cx="8572500" cy="929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b="1" lang="en-US"/>
              <a:t>Graphic Display Data RAM (GDDRAM) </a:t>
            </a:r>
            <a:endParaRPr b="1"/>
          </a:p>
        </p:txBody>
      </p:sp>
      <p:sp>
        <p:nvSpPr>
          <p:cNvPr id="204" name="Google Shape;204;p15"/>
          <p:cNvSpPr/>
          <p:nvPr/>
        </p:nvSpPr>
        <p:spPr>
          <a:xfrm rot="-5400000">
            <a:off x="4751221" y="-417870"/>
            <a:ext cx="219456" cy="489386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4494502" y="1318374"/>
            <a:ext cx="7328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646938" y="3108958"/>
            <a:ext cx="160935" cy="343814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189371" y="300386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8144721" y="3108958"/>
            <a:ext cx="358443" cy="279568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8574603" y="4229803"/>
            <a:ext cx="5501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 rot="5400000">
            <a:off x="4755886" y="3597653"/>
            <a:ext cx="210126" cy="489387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1822258" y="6170809"/>
            <a:ext cx="61852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display from column2 to column129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type="title"/>
          </p:nvPr>
        </p:nvSpPr>
        <p:spPr>
          <a:xfrm>
            <a:off x="573698" y="502920"/>
            <a:ext cx="8439150" cy="8320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b="1" lang="en-US"/>
              <a:t>Graphic Display Data RAM (GDDRAM) </a:t>
            </a:r>
            <a:endParaRPr b="1"/>
          </a:p>
        </p:txBody>
      </p:sp>
      <p:pic>
        <p:nvPicPr>
          <p:cNvPr id="218" name="Google Shape;2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79" y="1795893"/>
            <a:ext cx="8507699" cy="355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6"/>
          <p:cNvSpPr/>
          <p:nvPr/>
        </p:nvSpPr>
        <p:spPr>
          <a:xfrm>
            <a:off x="1273750" y="5756188"/>
            <a:ext cx="67431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lattice represents one bit of image data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16"/>
          <p:cNvCxnSpPr/>
          <p:nvPr/>
        </p:nvCxnSpPr>
        <p:spPr>
          <a:xfrm rot="10800000">
            <a:off x="1485646" y="5281168"/>
            <a:ext cx="311150" cy="54487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1" name="Google Shape;221;p16"/>
          <p:cNvCxnSpPr/>
          <p:nvPr/>
        </p:nvCxnSpPr>
        <p:spPr>
          <a:xfrm flipH="1" rot="10800000">
            <a:off x="3472393" y="3240911"/>
            <a:ext cx="12" cy="169315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2" name="Google Shape;222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 txBox="1"/>
          <p:nvPr>
            <p:ph type="title"/>
          </p:nvPr>
        </p:nvSpPr>
        <p:spPr>
          <a:xfrm>
            <a:off x="628650" y="493776"/>
            <a:ext cx="7886700" cy="8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OLED Data Format </a:t>
            </a:r>
            <a:endParaRPr b="1"/>
          </a:p>
        </p:txBody>
      </p:sp>
      <p:sp>
        <p:nvSpPr>
          <p:cNvPr id="228" name="Google Shape;228;p17"/>
          <p:cNvSpPr/>
          <p:nvPr/>
        </p:nvSpPr>
        <p:spPr>
          <a:xfrm rot="5400000">
            <a:off x="1548021" y="2024590"/>
            <a:ext cx="190500" cy="217059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 rot="5400000">
            <a:off x="7091441" y="1978574"/>
            <a:ext cx="194689" cy="226682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882229" y="3321484"/>
            <a:ext cx="15220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Slave address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6829558" y="3275476"/>
            <a:ext cx="8233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byte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253614" y="3571172"/>
            <a:ext cx="8515482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– Start condition / P – Stop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SA0 – Slave address bit (preset to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R/W# – Write / Read mode selection bit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represents write mode; 1 represents read mode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 – Continuation bit (preset to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D/C# – Data / Command selection bit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represents command mode; 1 represents data mode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28" y="1475536"/>
            <a:ext cx="8902543" cy="151609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17"/>
          <p:cNvSpPr/>
          <p:nvPr/>
        </p:nvSpPr>
        <p:spPr>
          <a:xfrm rot="5400000">
            <a:off x="4307358" y="1984286"/>
            <a:ext cx="218135" cy="2278843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4039614" y="3298922"/>
            <a:ext cx="8233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byte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312" y="1551129"/>
            <a:ext cx="8902543" cy="151609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8"/>
          <p:cNvSpPr txBox="1"/>
          <p:nvPr>
            <p:ph type="title"/>
          </p:nvPr>
        </p:nvSpPr>
        <p:spPr>
          <a:xfrm>
            <a:off x="472406" y="552303"/>
            <a:ext cx="8234354" cy="784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OLED Data Format (Slave Address)</a:t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426556" y="1507085"/>
            <a:ext cx="2522384" cy="1601876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8"/>
          <p:cNvCxnSpPr/>
          <p:nvPr/>
        </p:nvCxnSpPr>
        <p:spPr>
          <a:xfrm>
            <a:off x="1770927" y="3199542"/>
            <a:ext cx="109076" cy="727081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5" name="Google Shape;245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6" name="Google Shape;246;p18"/>
          <p:cNvPicPr preferRelativeResize="0"/>
          <p:nvPr/>
        </p:nvPicPr>
        <p:blipFill rotWithShape="1">
          <a:blip r:embed="rId4">
            <a:alphaModFix/>
          </a:blip>
          <a:srcRect b="0" l="3331" r="68584" t="0"/>
          <a:stretch/>
        </p:blipFill>
        <p:spPr>
          <a:xfrm>
            <a:off x="138313" y="4022009"/>
            <a:ext cx="3733892" cy="226906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8"/>
          <p:cNvSpPr/>
          <p:nvPr/>
        </p:nvSpPr>
        <p:spPr>
          <a:xfrm>
            <a:off x="3959785" y="3613456"/>
            <a:ext cx="5311369" cy="2800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SSD1305 slave address: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3Ch (when SA0 = 0), SA0 presets to 0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3Dh (when SA0 = 1)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R/W# bit: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means write mode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means read mode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313" y="4017205"/>
            <a:ext cx="3612594" cy="218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312" y="1551129"/>
            <a:ext cx="8902543" cy="151609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 txBox="1"/>
          <p:nvPr>
            <p:ph type="title"/>
          </p:nvPr>
        </p:nvSpPr>
        <p:spPr>
          <a:xfrm>
            <a:off x="138311" y="566928"/>
            <a:ext cx="8902543" cy="784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OLED Data Format (Data/Command)</a:t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3169756" y="1508240"/>
            <a:ext cx="2501839" cy="1601876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9"/>
          <p:cNvCxnSpPr/>
          <p:nvPr/>
        </p:nvCxnSpPr>
        <p:spPr>
          <a:xfrm flipH="1">
            <a:off x="2708338" y="3178675"/>
            <a:ext cx="423359" cy="727081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7" name="Google Shape;257;p19"/>
          <p:cNvSpPr/>
          <p:nvPr/>
        </p:nvSpPr>
        <p:spPr>
          <a:xfrm>
            <a:off x="3770163" y="3542215"/>
            <a:ext cx="5375574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Co: Always 0 when data byte is behind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D/C# bit: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means data byte behind is command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means data byte behind is pixel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byte: 00_0000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/>
          <p:nvPr/>
        </p:nvSpPr>
        <p:spPr>
          <a:xfrm>
            <a:off x="353345" y="5367306"/>
            <a:ext cx="978711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PAGE0~7 to write by command B0h to B7h.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example, command is B0h to select PAGE0.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765" y="1551243"/>
            <a:ext cx="6835987" cy="367393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/>
          <p:nvPr/>
        </p:nvSpPr>
        <p:spPr>
          <a:xfrm>
            <a:off x="1217764" y="2461847"/>
            <a:ext cx="6835987" cy="386862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0"/>
          <p:cNvSpPr txBox="1"/>
          <p:nvPr>
            <p:ph type="title"/>
          </p:nvPr>
        </p:nvSpPr>
        <p:spPr>
          <a:xfrm>
            <a:off x="628650" y="365126"/>
            <a:ext cx="8292612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4410"/>
              <a:t>Example </a:t>
            </a:r>
            <a:r>
              <a:rPr lang="en-US" sz="3959"/>
              <a:t>(Write Data in PAGE0, SEG127)</a:t>
            </a:r>
            <a:endParaRPr sz="3959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/>
          <p:nvPr/>
        </p:nvSpPr>
        <p:spPr>
          <a:xfrm>
            <a:off x="353345" y="5367306"/>
            <a:ext cx="856791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SA0 = 0, R/W# = 0, Co = 0, D/C# = 0, Control = 00_0000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byte = B0h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765" y="1551243"/>
            <a:ext cx="6835987" cy="367393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21"/>
          <p:cNvSpPr txBox="1"/>
          <p:nvPr>
            <p:ph type="title"/>
          </p:nvPr>
        </p:nvSpPr>
        <p:spPr>
          <a:xfrm>
            <a:off x="628650" y="365126"/>
            <a:ext cx="8292612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4410"/>
              <a:t>Example </a:t>
            </a:r>
            <a:r>
              <a:rPr lang="en-US" sz="3959"/>
              <a:t>(Write Data in PAGE0, SEG127)</a:t>
            </a:r>
            <a:endParaRPr sz="3959"/>
          </a:p>
        </p:txBody>
      </p:sp>
      <p:sp>
        <p:nvSpPr>
          <p:cNvPr id="278" name="Google Shape;278;p21"/>
          <p:cNvSpPr/>
          <p:nvPr/>
        </p:nvSpPr>
        <p:spPr>
          <a:xfrm>
            <a:off x="1217764" y="2461847"/>
            <a:ext cx="6835987" cy="386862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4" name="Google Shape;2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35" y="1704064"/>
            <a:ext cx="7115327" cy="347184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/>
          <p:nvPr/>
        </p:nvSpPr>
        <p:spPr>
          <a:xfrm>
            <a:off x="6009543" y="1692340"/>
            <a:ext cx="448407" cy="3471847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 txBox="1"/>
          <p:nvPr>
            <p:ph type="title"/>
          </p:nvPr>
        </p:nvSpPr>
        <p:spPr>
          <a:xfrm>
            <a:off x="628650" y="365126"/>
            <a:ext cx="8292612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4410"/>
              <a:t>Example </a:t>
            </a:r>
            <a:r>
              <a:rPr lang="en-US" sz="3959"/>
              <a:t>(Write Data in PAGE0, SEG127)</a:t>
            </a:r>
            <a:endParaRPr sz="3959"/>
          </a:p>
        </p:txBody>
      </p:sp>
      <p:sp>
        <p:nvSpPr>
          <p:cNvPr id="287" name="Google Shape;287;p22"/>
          <p:cNvSpPr/>
          <p:nvPr/>
        </p:nvSpPr>
        <p:spPr>
          <a:xfrm>
            <a:off x="353345" y="5367306"/>
            <a:ext cx="856791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SEG0~127 to write by command 10h to 1Fh and command 00h to 0Fh.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(SEG higer 4 bits and SEG lower 4 bits)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/>
          <p:nvPr>
            <p:ph idx="12" type="sldNum"/>
          </p:nvPr>
        </p:nvSpPr>
        <p:spPr>
          <a:xfrm>
            <a:off x="6938593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3" name="Google Shape;2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35" y="1704064"/>
            <a:ext cx="7115327" cy="347184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/>
          <p:nvPr/>
        </p:nvSpPr>
        <p:spPr>
          <a:xfrm>
            <a:off x="6009543" y="1692340"/>
            <a:ext cx="448407" cy="3471847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 txBox="1"/>
          <p:nvPr>
            <p:ph type="title"/>
          </p:nvPr>
        </p:nvSpPr>
        <p:spPr>
          <a:xfrm>
            <a:off x="628650" y="365126"/>
            <a:ext cx="8292612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4410"/>
              <a:t>Example </a:t>
            </a:r>
            <a:r>
              <a:rPr lang="en-US" sz="3959"/>
              <a:t>(Write Data in PAGE0, SEG127)</a:t>
            </a:r>
            <a:endParaRPr sz="3959"/>
          </a:p>
        </p:txBody>
      </p:sp>
      <p:sp>
        <p:nvSpPr>
          <p:cNvPr id="296" name="Google Shape;296;p23"/>
          <p:cNvSpPr/>
          <p:nvPr/>
        </p:nvSpPr>
        <p:spPr>
          <a:xfrm>
            <a:off x="353345" y="5367306"/>
            <a:ext cx="856791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example, SEG127 is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7F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commands is 1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h.(0001 X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higher 4bits)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command is 0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h.(0000 X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lower 4bits)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"/>
          <p:cNvSpPr txBox="1"/>
          <p:nvPr>
            <p:ph idx="12" type="sldNum"/>
          </p:nvPr>
        </p:nvSpPr>
        <p:spPr>
          <a:xfrm>
            <a:off x="6938593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2" name="Google Shape;3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35" y="1704064"/>
            <a:ext cx="7115327" cy="347184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/>
          <p:nvPr/>
        </p:nvSpPr>
        <p:spPr>
          <a:xfrm>
            <a:off x="6009543" y="1692340"/>
            <a:ext cx="448407" cy="3471847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 txBox="1"/>
          <p:nvPr>
            <p:ph type="title"/>
          </p:nvPr>
        </p:nvSpPr>
        <p:spPr>
          <a:xfrm>
            <a:off x="628650" y="365126"/>
            <a:ext cx="8292612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4410"/>
              <a:t>Example </a:t>
            </a:r>
            <a:r>
              <a:rPr lang="en-US" sz="3959"/>
              <a:t>(Write Data in PAGE0, SEG127)</a:t>
            </a:r>
            <a:endParaRPr sz="3959"/>
          </a:p>
        </p:txBody>
      </p:sp>
      <p:sp>
        <p:nvSpPr>
          <p:cNvPr id="305" name="Google Shape;305;p24"/>
          <p:cNvSpPr/>
          <p:nvPr/>
        </p:nvSpPr>
        <p:spPr>
          <a:xfrm>
            <a:off x="353345" y="5367306"/>
            <a:ext cx="856791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command to select SEG127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SA0 = 0, R/W# = 0, Co = 0, D/C# = 0, Control = 00_0000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byte = 17h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 txBox="1"/>
          <p:nvPr>
            <p:ph idx="12" type="sldNum"/>
          </p:nvPr>
        </p:nvSpPr>
        <p:spPr>
          <a:xfrm>
            <a:off x="6938593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1" name="Google Shape;3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35" y="1704064"/>
            <a:ext cx="7115327" cy="347184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/>
          <p:nvPr/>
        </p:nvSpPr>
        <p:spPr>
          <a:xfrm>
            <a:off x="6009543" y="1692340"/>
            <a:ext cx="448407" cy="3471847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 txBox="1"/>
          <p:nvPr>
            <p:ph type="title"/>
          </p:nvPr>
        </p:nvSpPr>
        <p:spPr>
          <a:xfrm>
            <a:off x="628650" y="365126"/>
            <a:ext cx="8292612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4410"/>
              <a:t>Example </a:t>
            </a:r>
            <a:r>
              <a:rPr lang="en-US" sz="3959"/>
              <a:t>(Write Data in PAGE0, SEG127)</a:t>
            </a:r>
            <a:endParaRPr sz="3959"/>
          </a:p>
        </p:txBody>
      </p:sp>
      <p:sp>
        <p:nvSpPr>
          <p:cNvPr id="314" name="Google Shape;314;p25"/>
          <p:cNvSpPr/>
          <p:nvPr/>
        </p:nvSpPr>
        <p:spPr>
          <a:xfrm>
            <a:off x="353345" y="5367306"/>
            <a:ext cx="856791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command to select SEG127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SA0 = 0, R/W# = 0, Co = 0, D/C# = 0, Control = 00_0000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byte = 0fh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 txBox="1"/>
          <p:nvPr>
            <p:ph idx="12" type="sldNum"/>
          </p:nvPr>
        </p:nvSpPr>
        <p:spPr>
          <a:xfrm>
            <a:off x="6938593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0" name="Google Shape;3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35" y="2184707"/>
            <a:ext cx="7115327" cy="347184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/>
          <p:nvPr/>
        </p:nvSpPr>
        <p:spPr>
          <a:xfrm>
            <a:off x="6009543" y="2172983"/>
            <a:ext cx="448407" cy="3471847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 txBox="1"/>
          <p:nvPr>
            <p:ph type="title"/>
          </p:nvPr>
        </p:nvSpPr>
        <p:spPr>
          <a:xfrm>
            <a:off x="628650" y="365126"/>
            <a:ext cx="8292612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4410"/>
              <a:t>Example </a:t>
            </a:r>
            <a:r>
              <a:rPr lang="en-US" sz="3959"/>
              <a:t>(Write Data in PAGE0, SEG127)</a:t>
            </a:r>
            <a:endParaRPr sz="3959"/>
          </a:p>
        </p:txBody>
      </p:sp>
      <p:sp>
        <p:nvSpPr>
          <p:cNvPr id="323" name="Google Shape;323;p26"/>
          <p:cNvSpPr/>
          <p:nvPr/>
        </p:nvSpPr>
        <p:spPr>
          <a:xfrm>
            <a:off x="353345" y="5847949"/>
            <a:ext cx="85679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RAM access pointer is PAGE0 and SEG127.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5340279" y="1382689"/>
            <a:ext cx="38037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 access pointer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26"/>
          <p:cNvCxnSpPr/>
          <p:nvPr/>
        </p:nvCxnSpPr>
        <p:spPr>
          <a:xfrm flipH="1">
            <a:off x="6245470" y="1735907"/>
            <a:ext cx="212480" cy="384912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/>
          <p:nvPr>
            <p:ph idx="12" type="sldNum"/>
          </p:nvPr>
        </p:nvSpPr>
        <p:spPr>
          <a:xfrm>
            <a:off x="6938593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1" name="Google Shape;3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35" y="2184707"/>
            <a:ext cx="7115327" cy="347184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/>
          <p:nvPr/>
        </p:nvSpPr>
        <p:spPr>
          <a:xfrm>
            <a:off x="6011698" y="3165231"/>
            <a:ext cx="448407" cy="2479599"/>
          </a:xfrm>
          <a:prstGeom prst="rect">
            <a:avLst/>
          </a:prstGeom>
          <a:solidFill>
            <a:srgbClr val="00B0F0"/>
          </a:solidFill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 txBox="1"/>
          <p:nvPr>
            <p:ph type="title"/>
          </p:nvPr>
        </p:nvSpPr>
        <p:spPr>
          <a:xfrm>
            <a:off x="628650" y="365126"/>
            <a:ext cx="8292612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4410"/>
              <a:t>Example </a:t>
            </a:r>
            <a:r>
              <a:rPr lang="en-US" sz="3959"/>
              <a:t>(Write Data in PAGE0, SEG127)</a:t>
            </a:r>
            <a:endParaRPr sz="3959"/>
          </a:p>
        </p:txBody>
      </p:sp>
      <p:sp>
        <p:nvSpPr>
          <p:cNvPr id="334" name="Google Shape;334;p27"/>
          <p:cNvSpPr/>
          <p:nvPr/>
        </p:nvSpPr>
        <p:spPr>
          <a:xfrm>
            <a:off x="353345" y="5847949"/>
            <a:ext cx="856791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SA0 = 0, R/W# = 0, Co = 0, D/C# = 1, Control = 00_0000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byte = Pixel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5340279" y="1382689"/>
            <a:ext cx="38037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 access pointer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27"/>
          <p:cNvCxnSpPr/>
          <p:nvPr/>
        </p:nvCxnSpPr>
        <p:spPr>
          <a:xfrm flipH="1">
            <a:off x="6186855" y="1735907"/>
            <a:ext cx="212480" cy="384912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"/>
          <p:cNvSpPr txBox="1"/>
          <p:nvPr>
            <p:ph idx="12" type="sldNum"/>
          </p:nvPr>
        </p:nvSpPr>
        <p:spPr>
          <a:xfrm>
            <a:off x="6938593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2" name="Google Shape;3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35" y="2184707"/>
            <a:ext cx="7115327" cy="3471847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8"/>
          <p:cNvSpPr/>
          <p:nvPr/>
        </p:nvSpPr>
        <p:spPr>
          <a:xfrm>
            <a:off x="6424395" y="2158143"/>
            <a:ext cx="448407" cy="3524011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 txBox="1"/>
          <p:nvPr>
            <p:ph type="title"/>
          </p:nvPr>
        </p:nvSpPr>
        <p:spPr>
          <a:xfrm>
            <a:off x="628650" y="365126"/>
            <a:ext cx="8292612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0" y="5767369"/>
            <a:ext cx="926544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RAM access pointer will increase automatically after writing one data. The pointer is PAGE0 and SEG128 now.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5340279" y="1382689"/>
            <a:ext cx="38037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 access pointer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28"/>
          <p:cNvCxnSpPr/>
          <p:nvPr/>
        </p:nvCxnSpPr>
        <p:spPr>
          <a:xfrm>
            <a:off x="6506308" y="1782799"/>
            <a:ext cx="126021" cy="33802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"/>
          <p:cNvSpPr txBox="1"/>
          <p:nvPr>
            <p:ph idx="12" type="sldNum"/>
          </p:nvPr>
        </p:nvSpPr>
        <p:spPr>
          <a:xfrm>
            <a:off x="6938593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3" name="Google Shape;3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35" y="2184707"/>
            <a:ext cx="7115327" cy="347184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9"/>
          <p:cNvSpPr/>
          <p:nvPr/>
        </p:nvSpPr>
        <p:spPr>
          <a:xfrm>
            <a:off x="1414095" y="2161261"/>
            <a:ext cx="448407" cy="3524011"/>
          </a:xfrm>
          <a:prstGeom prst="rect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9"/>
          <p:cNvSpPr txBox="1"/>
          <p:nvPr>
            <p:ph type="title"/>
          </p:nvPr>
        </p:nvSpPr>
        <p:spPr>
          <a:xfrm>
            <a:off x="628650" y="365126"/>
            <a:ext cx="8292612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56" name="Google Shape;356;p29"/>
          <p:cNvSpPr/>
          <p:nvPr/>
        </p:nvSpPr>
        <p:spPr>
          <a:xfrm>
            <a:off x="353345" y="5847949"/>
            <a:ext cx="864264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RAM access pointer will reload automatically SEG0 when it points to the end of the SEG in preset mode.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768277" y="1443879"/>
            <a:ext cx="38037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 access pointer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29"/>
          <p:cNvCxnSpPr/>
          <p:nvPr/>
        </p:nvCxnSpPr>
        <p:spPr>
          <a:xfrm>
            <a:off x="1638298" y="1756318"/>
            <a:ext cx="0" cy="353919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9" name="Google Shape;359;p29"/>
          <p:cNvSpPr/>
          <p:nvPr/>
        </p:nvSpPr>
        <p:spPr>
          <a:xfrm>
            <a:off x="7403563" y="5911334"/>
            <a:ext cx="2423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1 – OLED Demo</a:t>
            </a:r>
            <a:endParaRPr/>
          </a:p>
        </p:txBody>
      </p:sp>
      <p:sp>
        <p:nvSpPr>
          <p:cNvPr id="365" name="Google Shape;365;p43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6" name="Google Shape;366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7" name="Google Shape;367;p43"/>
          <p:cNvPicPr preferRelativeResize="0"/>
          <p:nvPr/>
        </p:nvPicPr>
        <p:blipFill rotWithShape="1">
          <a:blip r:embed="rId3">
            <a:alphaModFix/>
          </a:blip>
          <a:srcRect b="1538" l="21085" r="7105" t="32222"/>
          <a:stretch/>
        </p:blipFill>
        <p:spPr>
          <a:xfrm>
            <a:off x="1324098" y="1683094"/>
            <a:ext cx="6495804" cy="4493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4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MPU6050 (Appearance)</a:t>
            </a:r>
            <a:endParaRPr/>
          </a:p>
        </p:txBody>
      </p:sp>
      <p:pic>
        <p:nvPicPr>
          <p:cNvPr id="373" name="Google Shape;373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136" y="1690689"/>
            <a:ext cx="5202010" cy="497284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MPU6050 Introduction</a:t>
            </a:r>
            <a:endParaRPr b="1"/>
          </a:p>
        </p:txBody>
      </p:sp>
      <p:sp>
        <p:nvSpPr>
          <p:cNvPr id="380" name="Google Shape;380;p45"/>
          <p:cNvSpPr txBox="1"/>
          <p:nvPr>
            <p:ph idx="1" type="body"/>
          </p:nvPr>
        </p:nvSpPr>
        <p:spPr>
          <a:xfrm>
            <a:off x="659130" y="1696251"/>
            <a:ext cx="7825740" cy="434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8"/>
              <a:buFont typeface="Noto Sans Symbols"/>
              <a:buChar char="●"/>
            </a:pPr>
            <a:r>
              <a:rPr lang="en-US" sz="3200"/>
              <a:t>6-axis MotionTracking device that combines a 3-axis gyroscope, 3-axis accelerometer, and a Digital Motion Processor</a:t>
            </a:r>
            <a:endParaRPr/>
          </a:p>
          <a:p>
            <a:pPr indent="-36779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8"/>
              <a:buFont typeface="Noto Sans Symbols"/>
              <a:buNone/>
            </a:pPr>
            <a:r>
              <a:t/>
            </a:r>
            <a:endParaRPr sz="32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8"/>
              <a:buFont typeface="Noto Sans Symbols"/>
              <a:buChar char="●"/>
            </a:pPr>
            <a:r>
              <a:rPr lang="en-US" sz="3200"/>
              <a:t>Communication with all registers of the device is performed using I2C at 400kHz</a:t>
            </a:r>
            <a:endParaRPr/>
          </a:p>
        </p:txBody>
      </p:sp>
      <p:sp>
        <p:nvSpPr>
          <p:cNvPr id="381" name="Google Shape;381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6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MPU6050 Application</a:t>
            </a:r>
            <a:endParaRPr b="1"/>
          </a:p>
        </p:txBody>
      </p:sp>
      <p:sp>
        <p:nvSpPr>
          <p:cNvPr id="387" name="Google Shape;387;p46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Char char="●"/>
            </a:pPr>
            <a:r>
              <a:rPr lang="en-US"/>
              <a:t>Video/Still Image Stabilization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Char char="●"/>
            </a:pPr>
            <a:r>
              <a:rPr lang="en-US"/>
              <a:t>Handset and portable gaming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Char char="●"/>
            </a:pPr>
            <a:r>
              <a:rPr lang="en-US"/>
              <a:t>Motion-based game controllers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Char char="●"/>
            </a:pPr>
            <a:r>
              <a:rPr lang="en-US"/>
              <a:t>Wearable sensors for health, fitness and sports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Char char="●"/>
            </a:pPr>
            <a:r>
              <a:rPr lang="en-US"/>
              <a:t>3D remote controls for Internet connected DTVs and set top boxes, 3D mice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88" name="Google Shape;388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MPU6050 Application</a:t>
            </a:r>
            <a:endParaRPr/>
          </a:p>
        </p:txBody>
      </p:sp>
      <p:pic>
        <p:nvPicPr>
          <p:cNvPr id="394" name="Google Shape;394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581" y="1447708"/>
            <a:ext cx="5151625" cy="515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MPU6050 Application</a:t>
            </a:r>
            <a:endParaRPr/>
          </a:p>
        </p:txBody>
      </p:sp>
      <p:pic>
        <p:nvPicPr>
          <p:cNvPr id="401" name="Google Shape;401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7208" l="0" r="0" t="0"/>
          <a:stretch/>
        </p:blipFill>
        <p:spPr>
          <a:xfrm>
            <a:off x="1509892" y="1412530"/>
            <a:ext cx="6307303" cy="522198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9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MPU6050 Application</a:t>
            </a:r>
            <a:endParaRPr/>
          </a:p>
        </p:txBody>
      </p:sp>
      <p:sp>
        <p:nvSpPr>
          <p:cNvPr id="408" name="Google Shape;408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409" name="Google Shape;409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904" y="1549791"/>
            <a:ext cx="7421188" cy="49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Gyroscope Features</a:t>
            </a:r>
            <a:endParaRPr b="1"/>
          </a:p>
        </p:txBody>
      </p:sp>
      <p:sp>
        <p:nvSpPr>
          <p:cNvPr id="415" name="Google Shape;415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416" name="Google Shape;41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5527" y="1384555"/>
            <a:ext cx="4432945" cy="373471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0"/>
          <p:cNvSpPr/>
          <p:nvPr/>
        </p:nvSpPr>
        <p:spPr>
          <a:xfrm>
            <a:off x="628650" y="5285418"/>
            <a:ext cx="85153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Digital-output X-, Y-, and Z-Axis angular rate sensors (gyroscopes) with a user-programmable full-scale range of ±250, ±500, ±1000, and ±2000°/sec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1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Accelerometer Features</a:t>
            </a:r>
            <a:endParaRPr b="1"/>
          </a:p>
        </p:txBody>
      </p:sp>
      <p:sp>
        <p:nvSpPr>
          <p:cNvPr id="423" name="Google Shape;423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424" name="Google Shape;424;p51"/>
          <p:cNvSpPr/>
          <p:nvPr/>
        </p:nvSpPr>
        <p:spPr>
          <a:xfrm>
            <a:off x="628650" y="5141224"/>
            <a:ext cx="82447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Digital-output triple-axis accelerometer with a programmable full scale range of ±2g, ±4g, ±8g and ±16g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Orientation detection and signaling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1"/>
          <p:cNvSpPr/>
          <p:nvPr/>
        </p:nvSpPr>
        <p:spPr>
          <a:xfrm>
            <a:off x="4691270" y="2544417"/>
            <a:ext cx="373711" cy="51683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1"/>
          <p:cNvSpPr/>
          <p:nvPr/>
        </p:nvSpPr>
        <p:spPr>
          <a:xfrm>
            <a:off x="4862223" y="4463001"/>
            <a:ext cx="373711" cy="51683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51"/>
          <p:cNvSpPr/>
          <p:nvPr/>
        </p:nvSpPr>
        <p:spPr>
          <a:xfrm>
            <a:off x="5663980" y="3261195"/>
            <a:ext cx="373711" cy="51683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51"/>
          <p:cNvPicPr preferRelativeResize="0"/>
          <p:nvPr/>
        </p:nvPicPr>
        <p:blipFill rotWithShape="1">
          <a:blip r:embed="rId3">
            <a:alphaModFix/>
          </a:blip>
          <a:srcRect b="5232" l="7390" r="11672" t="2953"/>
          <a:stretch/>
        </p:blipFill>
        <p:spPr>
          <a:xfrm>
            <a:off x="2695492" y="1496820"/>
            <a:ext cx="3991555" cy="34830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9" name="Google Shape;429;p51"/>
          <p:cNvCxnSpPr/>
          <p:nvPr/>
        </p:nvCxnSpPr>
        <p:spPr>
          <a:xfrm>
            <a:off x="4357314" y="2084593"/>
            <a:ext cx="7952" cy="1584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2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/>
              <a:t>MPU6050 Other Features</a:t>
            </a:r>
            <a:endParaRPr b="1"/>
          </a:p>
        </p:txBody>
      </p:sp>
      <p:sp>
        <p:nvSpPr>
          <p:cNvPr id="435" name="Google Shape;435;p52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Char char="●"/>
            </a:pPr>
            <a:r>
              <a:rPr lang="en-US"/>
              <a:t>External sync signal connected to the FSYNC pin supports image, video and GPS synchronization</a:t>
            </a:r>
            <a:endParaRPr/>
          </a:p>
          <a:p>
            <a:pPr indent="-264668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Char char="●"/>
            </a:pPr>
            <a:r>
              <a:rPr lang="en-US"/>
              <a:t>Enhanced bias and sensitivity temperature stability reduces the need for user calibration</a:t>
            </a:r>
            <a:endParaRPr/>
          </a:p>
          <a:p>
            <a:pPr indent="-264668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Char char="●"/>
            </a:pPr>
            <a:r>
              <a:rPr lang="en-US"/>
              <a:t>Improved low-frequency noise performance</a:t>
            </a:r>
            <a:endParaRPr/>
          </a:p>
          <a:p>
            <a:pPr indent="-264668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32"/>
              <a:buFont typeface="Noto Sans Symbols"/>
              <a:buChar char="●"/>
            </a:pPr>
            <a:r>
              <a:rPr lang="en-US"/>
              <a:t>User-programmable interrupts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36" name="Google Shape;436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3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MPU6050 Block Diagram</a:t>
            </a:r>
            <a:endParaRPr b="1"/>
          </a:p>
        </p:txBody>
      </p:sp>
      <p:sp>
        <p:nvSpPr>
          <p:cNvPr id="442" name="Google Shape;442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443" name="Google Shape;443;p53"/>
          <p:cNvPicPr preferRelativeResize="0"/>
          <p:nvPr/>
        </p:nvPicPr>
        <p:blipFill rotWithShape="1">
          <a:blip r:embed="rId3">
            <a:alphaModFix/>
          </a:blip>
          <a:srcRect b="1235" l="605" r="2205" t="2060"/>
          <a:stretch/>
        </p:blipFill>
        <p:spPr>
          <a:xfrm>
            <a:off x="938547" y="1492301"/>
            <a:ext cx="7266906" cy="52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53"/>
          <p:cNvPicPr preferRelativeResize="0"/>
          <p:nvPr/>
        </p:nvPicPr>
        <p:blipFill rotWithShape="1">
          <a:blip r:embed="rId4">
            <a:alphaModFix/>
          </a:blip>
          <a:srcRect b="15564" l="1984" r="1397" t="17001"/>
          <a:stretch/>
        </p:blipFill>
        <p:spPr>
          <a:xfrm>
            <a:off x="2882189" y="6182953"/>
            <a:ext cx="2399385" cy="239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4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MPU6050 Basic Principle</a:t>
            </a:r>
            <a:endParaRPr/>
          </a:p>
        </p:txBody>
      </p:sp>
      <p:sp>
        <p:nvSpPr>
          <p:cNvPr id="450" name="Google Shape;450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451" name="Google Shape;451;p54"/>
          <p:cNvSpPr/>
          <p:nvPr/>
        </p:nvSpPr>
        <p:spPr>
          <a:xfrm>
            <a:off x="628651" y="1654025"/>
            <a:ext cx="78867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measuring the capacitance, we can get the change of spring on different direction to get the acceleration.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4"/>
          <p:cNvSpPr txBox="1"/>
          <p:nvPr/>
        </p:nvSpPr>
        <p:spPr>
          <a:xfrm>
            <a:off x="300176" y="211237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4"/>
          <p:cNvSpPr/>
          <p:nvPr/>
        </p:nvSpPr>
        <p:spPr>
          <a:xfrm>
            <a:off x="269308" y="3039020"/>
            <a:ext cx="8688260" cy="306656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4"/>
          <p:cNvSpPr/>
          <p:nvPr/>
        </p:nvSpPr>
        <p:spPr>
          <a:xfrm>
            <a:off x="3470788" y="4142449"/>
            <a:ext cx="63233" cy="90105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54"/>
          <p:cNvSpPr/>
          <p:nvPr/>
        </p:nvSpPr>
        <p:spPr>
          <a:xfrm>
            <a:off x="5789737" y="4142450"/>
            <a:ext cx="63233" cy="90105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p54"/>
          <p:cNvCxnSpPr/>
          <p:nvPr/>
        </p:nvCxnSpPr>
        <p:spPr>
          <a:xfrm>
            <a:off x="3533419" y="4761664"/>
            <a:ext cx="227805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57" name="Google Shape;457;p54"/>
          <p:cNvSpPr/>
          <p:nvPr/>
        </p:nvSpPr>
        <p:spPr>
          <a:xfrm>
            <a:off x="4251555" y="3661784"/>
            <a:ext cx="72376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4"/>
          <p:cNvSpPr/>
          <p:nvPr/>
        </p:nvSpPr>
        <p:spPr>
          <a:xfrm>
            <a:off x="300176" y="3062997"/>
            <a:ext cx="5015881" cy="7063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5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Accelerometer Theory</a:t>
            </a:r>
            <a:endParaRPr/>
          </a:p>
        </p:txBody>
      </p:sp>
      <p:sp>
        <p:nvSpPr>
          <p:cNvPr id="464" name="Google Shape;464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465" name="Google Shape;465;p55"/>
          <p:cNvSpPr/>
          <p:nvPr/>
        </p:nvSpPr>
        <p:spPr>
          <a:xfrm>
            <a:off x="313151" y="1675590"/>
            <a:ext cx="8605381" cy="388306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5"/>
          <p:cNvSpPr/>
          <p:nvPr/>
        </p:nvSpPr>
        <p:spPr>
          <a:xfrm>
            <a:off x="4634567" y="3124404"/>
            <a:ext cx="3281819" cy="1828800"/>
          </a:xfrm>
          <a:prstGeom prst="rect">
            <a:avLst/>
          </a:prstGeom>
          <a:solidFill>
            <a:schemeClr val="accen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5"/>
          <p:cNvSpPr/>
          <p:nvPr/>
        </p:nvSpPr>
        <p:spPr>
          <a:xfrm>
            <a:off x="3876348" y="3929892"/>
            <a:ext cx="776550" cy="120875"/>
          </a:xfrm>
          <a:prstGeom prst="rect">
            <a:avLst/>
          </a:prstGeom>
          <a:solidFill>
            <a:srgbClr val="0C0C0C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55"/>
          <p:cNvSpPr/>
          <p:nvPr/>
        </p:nvSpPr>
        <p:spPr>
          <a:xfrm>
            <a:off x="299906" y="3929892"/>
            <a:ext cx="1353530" cy="120875"/>
          </a:xfrm>
          <a:prstGeom prst="rect">
            <a:avLst/>
          </a:prstGeom>
          <a:solidFill>
            <a:srgbClr val="0C0C0C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5"/>
          <p:cNvSpPr/>
          <p:nvPr/>
        </p:nvSpPr>
        <p:spPr>
          <a:xfrm>
            <a:off x="1613465" y="5835408"/>
            <a:ext cx="59170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Physics of a Spring and Mass System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5"/>
          <p:cNvSpPr/>
          <p:nvPr/>
        </p:nvSpPr>
        <p:spPr>
          <a:xfrm>
            <a:off x="5741085" y="3377084"/>
            <a:ext cx="100380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5"/>
          <p:cNvSpPr/>
          <p:nvPr/>
        </p:nvSpPr>
        <p:spPr>
          <a:xfrm>
            <a:off x="1666681" y="3632177"/>
            <a:ext cx="2241744" cy="742968"/>
          </a:xfrm>
          <a:custGeom>
            <a:rect b="b" l="l" r="r" t="t"/>
            <a:pathLst>
              <a:path extrusionOk="0" h="958890" w="2654300">
                <a:moveTo>
                  <a:pt x="0" y="400072"/>
                </a:moveTo>
                <a:cubicBezTo>
                  <a:pt x="77258" y="205603"/>
                  <a:pt x="154517" y="11134"/>
                  <a:pt x="219075" y="98447"/>
                </a:cubicBezTo>
                <a:cubicBezTo>
                  <a:pt x="283633" y="185759"/>
                  <a:pt x="303213" y="931885"/>
                  <a:pt x="387350" y="923947"/>
                </a:cubicBezTo>
                <a:cubicBezTo>
                  <a:pt x="471488" y="916010"/>
                  <a:pt x="626533" y="48176"/>
                  <a:pt x="723900" y="50822"/>
                </a:cubicBezTo>
                <a:cubicBezTo>
                  <a:pt x="821267" y="53468"/>
                  <a:pt x="890058" y="943526"/>
                  <a:pt x="971550" y="939822"/>
                </a:cubicBezTo>
                <a:cubicBezTo>
                  <a:pt x="1053042" y="936118"/>
                  <a:pt x="1121833" y="30714"/>
                  <a:pt x="1212850" y="28597"/>
                </a:cubicBezTo>
                <a:cubicBezTo>
                  <a:pt x="1303867" y="26480"/>
                  <a:pt x="1437217" y="931884"/>
                  <a:pt x="1517650" y="927122"/>
                </a:cubicBezTo>
                <a:cubicBezTo>
                  <a:pt x="1598083" y="922360"/>
                  <a:pt x="1625600" y="-5270"/>
                  <a:pt x="1695450" y="22"/>
                </a:cubicBezTo>
                <a:cubicBezTo>
                  <a:pt x="1765300" y="5314"/>
                  <a:pt x="1872721" y="954109"/>
                  <a:pt x="1936750" y="958872"/>
                </a:cubicBezTo>
                <a:cubicBezTo>
                  <a:pt x="2000779" y="963635"/>
                  <a:pt x="1996017" y="40239"/>
                  <a:pt x="2079625" y="28597"/>
                </a:cubicBezTo>
                <a:cubicBezTo>
                  <a:pt x="2163233" y="16955"/>
                  <a:pt x="2342621" y="882672"/>
                  <a:pt x="2438400" y="889022"/>
                </a:cubicBezTo>
                <a:cubicBezTo>
                  <a:pt x="2534179" y="895372"/>
                  <a:pt x="2594239" y="481034"/>
                  <a:pt x="2654300" y="66697"/>
                </a:cubicBezTo>
              </a:path>
            </a:pathLst>
          </a:custGeom>
          <a:noFill/>
          <a:ln cap="flat" cmpd="sng" w="762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Accelerometer Theory</a:t>
            </a:r>
            <a:endParaRPr/>
          </a:p>
        </p:txBody>
      </p:sp>
      <p:sp>
        <p:nvSpPr>
          <p:cNvPr id="477" name="Google Shape;477;p5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478" name="Google Shape;478;p56"/>
          <p:cNvSpPr/>
          <p:nvPr/>
        </p:nvSpPr>
        <p:spPr>
          <a:xfrm>
            <a:off x="269309" y="1784691"/>
            <a:ext cx="8605381" cy="4220384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6"/>
          <p:cNvSpPr/>
          <p:nvPr/>
        </p:nvSpPr>
        <p:spPr>
          <a:xfrm>
            <a:off x="4634567" y="4001473"/>
            <a:ext cx="3281819" cy="1828800"/>
          </a:xfrm>
          <a:prstGeom prst="rect">
            <a:avLst/>
          </a:prstGeom>
          <a:solidFill>
            <a:schemeClr val="accen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6"/>
          <p:cNvSpPr/>
          <p:nvPr/>
        </p:nvSpPr>
        <p:spPr>
          <a:xfrm>
            <a:off x="3876348" y="4806961"/>
            <a:ext cx="776550" cy="120875"/>
          </a:xfrm>
          <a:prstGeom prst="rect">
            <a:avLst/>
          </a:prstGeom>
          <a:solidFill>
            <a:srgbClr val="0C0C0C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6"/>
          <p:cNvSpPr/>
          <p:nvPr/>
        </p:nvSpPr>
        <p:spPr>
          <a:xfrm>
            <a:off x="299906" y="4806961"/>
            <a:ext cx="1353530" cy="120875"/>
          </a:xfrm>
          <a:prstGeom prst="rect">
            <a:avLst/>
          </a:prstGeom>
          <a:solidFill>
            <a:srgbClr val="0C0C0C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56"/>
          <p:cNvSpPr/>
          <p:nvPr/>
        </p:nvSpPr>
        <p:spPr>
          <a:xfrm>
            <a:off x="5747381" y="4178160"/>
            <a:ext cx="100380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6"/>
          <p:cNvSpPr/>
          <p:nvPr/>
        </p:nvSpPr>
        <p:spPr>
          <a:xfrm>
            <a:off x="3861406" y="2603705"/>
            <a:ext cx="62630" cy="124007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6"/>
          <p:cNvSpPr/>
          <p:nvPr/>
        </p:nvSpPr>
        <p:spPr>
          <a:xfrm>
            <a:off x="6180355" y="2603706"/>
            <a:ext cx="62630" cy="124007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56"/>
          <p:cNvCxnSpPr/>
          <p:nvPr/>
        </p:nvCxnSpPr>
        <p:spPr>
          <a:xfrm>
            <a:off x="3924036" y="3561947"/>
            <a:ext cx="2256319" cy="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86" name="Google Shape;486;p56"/>
          <p:cNvSpPr/>
          <p:nvPr/>
        </p:nvSpPr>
        <p:spPr>
          <a:xfrm>
            <a:off x="4698729" y="2362854"/>
            <a:ext cx="71686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6"/>
          <p:cNvSpPr/>
          <p:nvPr/>
        </p:nvSpPr>
        <p:spPr>
          <a:xfrm>
            <a:off x="218945" y="3202289"/>
            <a:ext cx="334444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56"/>
          <p:cNvCxnSpPr/>
          <p:nvPr/>
        </p:nvCxnSpPr>
        <p:spPr>
          <a:xfrm>
            <a:off x="6380356" y="4001472"/>
            <a:ext cx="2494334" cy="14143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9" name="Google Shape;489;p56"/>
          <p:cNvSpPr/>
          <p:nvPr/>
        </p:nvSpPr>
        <p:spPr>
          <a:xfrm>
            <a:off x="7959849" y="2886046"/>
            <a:ext cx="6767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6"/>
          <p:cNvSpPr/>
          <p:nvPr/>
        </p:nvSpPr>
        <p:spPr>
          <a:xfrm>
            <a:off x="299906" y="1905683"/>
            <a:ext cx="5015881" cy="5582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6"/>
          <p:cNvSpPr/>
          <p:nvPr/>
        </p:nvSpPr>
        <p:spPr>
          <a:xfrm>
            <a:off x="1666681" y="4509246"/>
            <a:ext cx="2241744" cy="742968"/>
          </a:xfrm>
          <a:custGeom>
            <a:rect b="b" l="l" r="r" t="t"/>
            <a:pathLst>
              <a:path extrusionOk="0" h="958890" w="2654300">
                <a:moveTo>
                  <a:pt x="0" y="400072"/>
                </a:moveTo>
                <a:cubicBezTo>
                  <a:pt x="77258" y="205603"/>
                  <a:pt x="154517" y="11134"/>
                  <a:pt x="219075" y="98447"/>
                </a:cubicBezTo>
                <a:cubicBezTo>
                  <a:pt x="283633" y="185759"/>
                  <a:pt x="303213" y="931885"/>
                  <a:pt x="387350" y="923947"/>
                </a:cubicBezTo>
                <a:cubicBezTo>
                  <a:pt x="471488" y="916010"/>
                  <a:pt x="626533" y="48176"/>
                  <a:pt x="723900" y="50822"/>
                </a:cubicBezTo>
                <a:cubicBezTo>
                  <a:pt x="821267" y="53468"/>
                  <a:pt x="890058" y="943526"/>
                  <a:pt x="971550" y="939822"/>
                </a:cubicBezTo>
                <a:cubicBezTo>
                  <a:pt x="1053042" y="936118"/>
                  <a:pt x="1121833" y="30714"/>
                  <a:pt x="1212850" y="28597"/>
                </a:cubicBezTo>
                <a:cubicBezTo>
                  <a:pt x="1303867" y="26480"/>
                  <a:pt x="1437217" y="931884"/>
                  <a:pt x="1517650" y="927122"/>
                </a:cubicBezTo>
                <a:cubicBezTo>
                  <a:pt x="1598083" y="922360"/>
                  <a:pt x="1625600" y="-5270"/>
                  <a:pt x="1695450" y="22"/>
                </a:cubicBezTo>
                <a:cubicBezTo>
                  <a:pt x="1765300" y="5314"/>
                  <a:pt x="1872721" y="954109"/>
                  <a:pt x="1936750" y="958872"/>
                </a:cubicBezTo>
                <a:cubicBezTo>
                  <a:pt x="2000779" y="963635"/>
                  <a:pt x="1996017" y="40239"/>
                  <a:pt x="2079625" y="28597"/>
                </a:cubicBezTo>
                <a:cubicBezTo>
                  <a:pt x="2163233" y="16955"/>
                  <a:pt x="2342621" y="882672"/>
                  <a:pt x="2438400" y="889022"/>
                </a:cubicBezTo>
                <a:cubicBezTo>
                  <a:pt x="2534179" y="895372"/>
                  <a:pt x="2594239" y="481034"/>
                  <a:pt x="2654300" y="66697"/>
                </a:cubicBezTo>
              </a:path>
            </a:pathLst>
          </a:custGeom>
          <a:noFill/>
          <a:ln cap="flat" cmpd="sng" w="762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7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Accelerometer Theory</a:t>
            </a:r>
            <a:endParaRPr/>
          </a:p>
        </p:txBody>
      </p:sp>
      <p:sp>
        <p:nvSpPr>
          <p:cNvPr id="497" name="Google Shape;497;p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498" name="Google Shape;498;p57"/>
          <p:cNvSpPr/>
          <p:nvPr/>
        </p:nvSpPr>
        <p:spPr>
          <a:xfrm>
            <a:off x="269950" y="1579444"/>
            <a:ext cx="8605381" cy="3699112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7"/>
          <p:cNvSpPr/>
          <p:nvPr/>
        </p:nvSpPr>
        <p:spPr>
          <a:xfrm>
            <a:off x="4635208" y="3274954"/>
            <a:ext cx="3281819" cy="1828800"/>
          </a:xfrm>
          <a:prstGeom prst="rect">
            <a:avLst/>
          </a:prstGeom>
          <a:solidFill>
            <a:schemeClr val="accen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7"/>
          <p:cNvSpPr/>
          <p:nvPr/>
        </p:nvSpPr>
        <p:spPr>
          <a:xfrm>
            <a:off x="3876989" y="4080442"/>
            <a:ext cx="776550" cy="120875"/>
          </a:xfrm>
          <a:prstGeom prst="rect">
            <a:avLst/>
          </a:prstGeom>
          <a:solidFill>
            <a:srgbClr val="0C0C0C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57"/>
          <p:cNvSpPr/>
          <p:nvPr/>
        </p:nvSpPr>
        <p:spPr>
          <a:xfrm>
            <a:off x="300547" y="4080442"/>
            <a:ext cx="1353530" cy="120875"/>
          </a:xfrm>
          <a:prstGeom prst="rect">
            <a:avLst/>
          </a:prstGeom>
          <a:solidFill>
            <a:srgbClr val="0C0C0C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7"/>
          <p:cNvSpPr/>
          <p:nvPr/>
        </p:nvSpPr>
        <p:spPr>
          <a:xfrm>
            <a:off x="1805004" y="1579444"/>
            <a:ext cx="59575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Movable capacitance plate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7"/>
          <p:cNvSpPr/>
          <p:nvPr/>
        </p:nvSpPr>
        <p:spPr>
          <a:xfrm>
            <a:off x="5748022" y="3451641"/>
            <a:ext cx="100380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7"/>
          <p:cNvSpPr/>
          <p:nvPr/>
        </p:nvSpPr>
        <p:spPr>
          <a:xfrm>
            <a:off x="6180996" y="2445907"/>
            <a:ext cx="62630" cy="67135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" name="Google Shape;505;p57"/>
          <p:cNvCxnSpPr/>
          <p:nvPr/>
        </p:nvCxnSpPr>
        <p:spPr>
          <a:xfrm>
            <a:off x="3924677" y="2835428"/>
            <a:ext cx="2256319" cy="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06" name="Google Shape;506;p57"/>
          <p:cNvSpPr/>
          <p:nvPr/>
        </p:nvSpPr>
        <p:spPr>
          <a:xfrm>
            <a:off x="219586" y="2475770"/>
            <a:ext cx="334444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p57"/>
          <p:cNvCxnSpPr/>
          <p:nvPr/>
        </p:nvCxnSpPr>
        <p:spPr>
          <a:xfrm>
            <a:off x="6380997" y="3274953"/>
            <a:ext cx="249433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8" name="Google Shape;508;p57"/>
          <p:cNvSpPr/>
          <p:nvPr/>
        </p:nvSpPr>
        <p:spPr>
          <a:xfrm>
            <a:off x="7960490" y="2159527"/>
            <a:ext cx="6767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7"/>
          <p:cNvSpPr/>
          <p:nvPr/>
        </p:nvSpPr>
        <p:spPr>
          <a:xfrm rot="5400000">
            <a:off x="4892343" y="1089731"/>
            <a:ext cx="300939" cy="2384968"/>
          </a:xfrm>
          <a:prstGeom prst="leftBrace">
            <a:avLst>
              <a:gd fmla="val 8333" name="adj1"/>
              <a:gd fmla="val 52107" name="adj2"/>
            </a:avLst>
          </a:prstGeom>
          <a:noFill/>
          <a:ln cap="flat" cmpd="sng" w="38100">
            <a:solidFill>
              <a:srgbClr val="5597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57"/>
          <p:cNvSpPr/>
          <p:nvPr/>
        </p:nvSpPr>
        <p:spPr>
          <a:xfrm>
            <a:off x="3858658" y="2445906"/>
            <a:ext cx="62630" cy="67135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7"/>
          <p:cNvSpPr/>
          <p:nvPr/>
        </p:nvSpPr>
        <p:spPr>
          <a:xfrm>
            <a:off x="343256" y="5374435"/>
            <a:ext cx="829576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measuring the capacitance, we can calculate the value of X which helps to infer the acceleration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7"/>
          <p:cNvSpPr/>
          <p:nvPr/>
        </p:nvSpPr>
        <p:spPr>
          <a:xfrm>
            <a:off x="1667322" y="3782727"/>
            <a:ext cx="2241744" cy="742968"/>
          </a:xfrm>
          <a:custGeom>
            <a:rect b="b" l="l" r="r" t="t"/>
            <a:pathLst>
              <a:path extrusionOk="0" h="958890" w="2654300">
                <a:moveTo>
                  <a:pt x="0" y="400072"/>
                </a:moveTo>
                <a:cubicBezTo>
                  <a:pt x="77258" y="205603"/>
                  <a:pt x="154517" y="11134"/>
                  <a:pt x="219075" y="98447"/>
                </a:cubicBezTo>
                <a:cubicBezTo>
                  <a:pt x="283633" y="185759"/>
                  <a:pt x="303213" y="931885"/>
                  <a:pt x="387350" y="923947"/>
                </a:cubicBezTo>
                <a:cubicBezTo>
                  <a:pt x="471488" y="916010"/>
                  <a:pt x="626533" y="48176"/>
                  <a:pt x="723900" y="50822"/>
                </a:cubicBezTo>
                <a:cubicBezTo>
                  <a:pt x="821267" y="53468"/>
                  <a:pt x="890058" y="943526"/>
                  <a:pt x="971550" y="939822"/>
                </a:cubicBezTo>
                <a:cubicBezTo>
                  <a:pt x="1053042" y="936118"/>
                  <a:pt x="1121833" y="30714"/>
                  <a:pt x="1212850" y="28597"/>
                </a:cubicBezTo>
                <a:cubicBezTo>
                  <a:pt x="1303867" y="26480"/>
                  <a:pt x="1437217" y="931884"/>
                  <a:pt x="1517650" y="927122"/>
                </a:cubicBezTo>
                <a:cubicBezTo>
                  <a:pt x="1598083" y="922360"/>
                  <a:pt x="1625600" y="-5270"/>
                  <a:pt x="1695450" y="22"/>
                </a:cubicBezTo>
                <a:cubicBezTo>
                  <a:pt x="1765300" y="5314"/>
                  <a:pt x="1872721" y="954109"/>
                  <a:pt x="1936750" y="958872"/>
                </a:cubicBezTo>
                <a:cubicBezTo>
                  <a:pt x="2000779" y="963635"/>
                  <a:pt x="1996017" y="40239"/>
                  <a:pt x="2079625" y="28597"/>
                </a:cubicBezTo>
                <a:cubicBezTo>
                  <a:pt x="2163233" y="16955"/>
                  <a:pt x="2342621" y="882672"/>
                  <a:pt x="2438400" y="889022"/>
                </a:cubicBezTo>
                <a:cubicBezTo>
                  <a:pt x="2534179" y="895372"/>
                  <a:pt x="2594239" y="481034"/>
                  <a:pt x="2654300" y="66697"/>
                </a:cubicBezTo>
              </a:path>
            </a:pathLst>
          </a:custGeom>
          <a:noFill/>
          <a:ln cap="flat" cmpd="sng" w="762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57"/>
          <p:cNvSpPr/>
          <p:nvPr/>
        </p:nvSpPr>
        <p:spPr>
          <a:xfrm>
            <a:off x="4783766" y="2131745"/>
            <a:ext cx="518091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8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Accelerometer Structure</a:t>
            </a:r>
            <a:endParaRPr/>
          </a:p>
        </p:txBody>
      </p:sp>
      <p:pic>
        <p:nvPicPr>
          <p:cNvPr id="520" name="Google Shape;520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106" y="1545095"/>
            <a:ext cx="8523787" cy="479463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59"/>
          <p:cNvPicPr preferRelativeResize="0"/>
          <p:nvPr/>
        </p:nvPicPr>
        <p:blipFill rotWithShape="1">
          <a:blip r:embed="rId3">
            <a:alphaModFix/>
          </a:blip>
          <a:srcRect b="9486" l="20439" r="18618" t="3840"/>
          <a:stretch/>
        </p:blipFill>
        <p:spPr>
          <a:xfrm>
            <a:off x="1011205" y="1734304"/>
            <a:ext cx="4164992" cy="444265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9"/>
          <p:cNvSpPr txBox="1"/>
          <p:nvPr>
            <p:ph idx="2" type="body"/>
          </p:nvPr>
        </p:nvSpPr>
        <p:spPr>
          <a:xfrm>
            <a:off x="3657600" y="1734304"/>
            <a:ext cx="4857750" cy="1476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Gyroscopes use the Coriolis effect to infer the rotate angle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28" name="Google Shape;528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solidFill>
                  <a:srgbClr val="888888"/>
                </a:solidFill>
              </a:rPr>
              <a:t>16</a:t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529" name="Google Shape;529;p59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Gyroscope Theory </a:t>
            </a:r>
            <a:endParaRPr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0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Gyroscope Structure</a:t>
            </a:r>
            <a:endParaRPr b="1"/>
          </a:p>
        </p:txBody>
      </p:sp>
      <p:sp>
        <p:nvSpPr>
          <p:cNvPr id="535" name="Google Shape;535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536" name="Google Shape;536;p60"/>
          <p:cNvSpPr txBox="1"/>
          <p:nvPr/>
        </p:nvSpPr>
        <p:spPr>
          <a:xfrm>
            <a:off x="488691" y="5839326"/>
            <a:ext cx="8026659" cy="779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gyroscope, the resulting physical displacement is then read using a capacitive sensing interface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7" name="Google Shape;537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451" y="1662695"/>
            <a:ext cx="7029097" cy="3898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1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MPU6050 Flow Chart</a:t>
            </a:r>
            <a:endParaRPr b="1"/>
          </a:p>
        </p:txBody>
      </p:sp>
      <p:sp>
        <p:nvSpPr>
          <p:cNvPr id="543" name="Google Shape;543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544" name="Google Shape;544;p61"/>
          <p:cNvSpPr/>
          <p:nvPr/>
        </p:nvSpPr>
        <p:spPr>
          <a:xfrm>
            <a:off x="3536238" y="4216133"/>
            <a:ext cx="51222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from -32768 to 32767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61"/>
          <p:cNvSpPr/>
          <p:nvPr/>
        </p:nvSpPr>
        <p:spPr>
          <a:xfrm>
            <a:off x="3536238" y="4967214"/>
            <a:ext cx="5361688" cy="181588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385" l="-2271" r="-1816" t="-36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61"/>
          <p:cNvSpPr/>
          <p:nvPr/>
        </p:nvSpPr>
        <p:spPr>
          <a:xfrm>
            <a:off x="4513376" y="2102562"/>
            <a:ext cx="2189118" cy="67540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Rate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1"/>
          <p:cNvSpPr/>
          <p:nvPr/>
        </p:nvSpPr>
        <p:spPr>
          <a:xfrm>
            <a:off x="4513376" y="1351481"/>
            <a:ext cx="2189118" cy="67540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Manager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1"/>
          <p:cNvSpPr/>
          <p:nvPr/>
        </p:nvSpPr>
        <p:spPr>
          <a:xfrm>
            <a:off x="4513376" y="2935324"/>
            <a:ext cx="2189118" cy="67540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Programmable Interrupt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9" name="Google Shape;549;p61"/>
          <p:cNvCxnSpPr/>
          <p:nvPr/>
        </p:nvCxnSpPr>
        <p:spPr>
          <a:xfrm flipH="1" rot="10800000">
            <a:off x="3324554" y="1681531"/>
            <a:ext cx="1188822" cy="7123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50" name="Google Shape;550;p61"/>
          <p:cNvPicPr preferRelativeResize="0"/>
          <p:nvPr/>
        </p:nvPicPr>
        <p:blipFill rotWithShape="1">
          <a:blip r:embed="rId4">
            <a:alphaModFix/>
          </a:blip>
          <a:srcRect b="0" l="0" r="6635" t="1938"/>
          <a:stretch/>
        </p:blipFill>
        <p:spPr>
          <a:xfrm>
            <a:off x="153381" y="1623980"/>
            <a:ext cx="3171173" cy="50974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1" name="Google Shape;551;p61"/>
          <p:cNvCxnSpPr/>
          <p:nvPr/>
        </p:nvCxnSpPr>
        <p:spPr>
          <a:xfrm>
            <a:off x="3324326" y="2414030"/>
            <a:ext cx="1189278" cy="90144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2" name="Google Shape;552;p61"/>
          <p:cNvCxnSpPr>
            <a:endCxn id="546" idx="1"/>
          </p:cNvCxnSpPr>
          <p:nvPr/>
        </p:nvCxnSpPr>
        <p:spPr>
          <a:xfrm>
            <a:off x="3359276" y="2400063"/>
            <a:ext cx="1154100" cy="4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61"/>
          <p:cNvCxnSpPr/>
          <p:nvPr/>
        </p:nvCxnSpPr>
        <p:spPr>
          <a:xfrm>
            <a:off x="3036093" y="4480520"/>
            <a:ext cx="504000" cy="1"/>
          </a:xfrm>
          <a:prstGeom prst="straightConnector1">
            <a:avLst/>
          </a:prstGeom>
          <a:noFill/>
          <a:ln cap="flat" cmpd="sng" w="57150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4" name="Google Shape;554;p61"/>
          <p:cNvCxnSpPr/>
          <p:nvPr/>
        </p:nvCxnSpPr>
        <p:spPr>
          <a:xfrm>
            <a:off x="3032238" y="5254328"/>
            <a:ext cx="504000" cy="1"/>
          </a:xfrm>
          <a:prstGeom prst="straightConnector1">
            <a:avLst/>
          </a:prstGeom>
          <a:noFill/>
          <a:ln cap="flat" cmpd="sng" w="57150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2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/>
              <a:t>Example2 - OLED&amp;MPU6050 Demo</a:t>
            </a:r>
            <a:endParaRPr/>
          </a:p>
        </p:txBody>
      </p:sp>
      <p:sp>
        <p:nvSpPr>
          <p:cNvPr id="560" name="Google Shape;560;p62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61" name="Google Shape;561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2" name="Google Shape;562;p62"/>
          <p:cNvPicPr preferRelativeResize="0"/>
          <p:nvPr/>
        </p:nvPicPr>
        <p:blipFill rotWithShape="1">
          <a:blip r:embed="rId3">
            <a:alphaModFix/>
          </a:blip>
          <a:srcRect b="17649" l="25270" r="8326" t="26124"/>
          <a:stretch/>
        </p:blipFill>
        <p:spPr>
          <a:xfrm>
            <a:off x="955964" y="1793175"/>
            <a:ext cx="6413224" cy="4072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0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568" name="Google Shape;568;p30"/>
          <p:cNvSpPr txBox="1"/>
          <p:nvPr>
            <p:ph idx="1" type="body"/>
          </p:nvPr>
        </p:nvSpPr>
        <p:spPr>
          <a:xfrm>
            <a:off x="628650" y="1509333"/>
            <a:ext cx="7886700" cy="4847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https://en.wikipedia.org/wiki/I%C2%B2C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https://www.nxp.com/docs/en/user-guide/UM10204.pdf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https://i2c.info/i2c-bus-specification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https://exploreembedded.com/wiki/OLED_Interface_With_8051</a:t>
            </a:r>
            <a:endParaRPr u="sng">
              <a:solidFill>
                <a:schemeClr val="hlink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Char char="•"/>
            </a:pPr>
            <a:r>
              <a:rPr lang="en-US" u="sng">
                <a:solidFill>
                  <a:schemeClr val="hlink"/>
                </a:solidFill>
              </a:rPr>
              <a:t>https://cdn-shop.adafruit.com/datasheets/SSD1305.pdf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Char char="•"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https://www.analog.com/en/technical-articles/mems-gyroscope-provides-precision-inertial-sensing.html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Char char="•"/>
            </a:pPr>
            <a:r>
              <a:rPr lang="en-US" u="sng">
                <a:solidFill>
                  <a:schemeClr val="hlink"/>
                </a:solidFill>
                <a:hlinkClick r:id="rId8"/>
              </a:rPr>
              <a:t>https://www.researchgate.net/figure/Principle-of-operation-for-MEMS-vibrating-gyroscope-125_fig11_299465820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Char char="•"/>
            </a:pPr>
            <a:r>
              <a:rPr lang="en-US" u="sng">
                <a:solidFill>
                  <a:schemeClr val="hlink"/>
                </a:solidFill>
                <a:hlinkClick r:id="rId9"/>
              </a:rPr>
              <a:t>https://www.youtube.com/watch?v=T_iXLNkkjFo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Char char="•"/>
            </a:pPr>
            <a:r>
              <a:rPr lang="en-US" u="sng">
                <a:solidFill>
                  <a:schemeClr val="hlink"/>
                </a:solidFill>
                <a:hlinkClick r:id="rId10"/>
              </a:rPr>
              <a:t>https://invensense.tdk.com/wp-content/uploads/2015/02/MPU-6000-Datasheet1.pdf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Char char="•"/>
            </a:pPr>
            <a:r>
              <a:rPr lang="en-US" u="sng">
                <a:solidFill>
                  <a:schemeClr val="hlink"/>
                </a:solidFill>
                <a:hlinkClick r:id="rId11"/>
              </a:rPr>
              <a:t>https://www.slideshare.net/ankushwawoo/mems-gyroscope-working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/>
          </a:p>
        </p:txBody>
      </p:sp>
      <p:sp>
        <p:nvSpPr>
          <p:cNvPr id="569" name="Google Shape;569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2015-02-24T08:12:54Z</dcterms:created>
  <dc:creator>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0x010100D2DFE5C12659264F9CD8B56860A4A801</vt:lpwstr>
  </property>
</Properties>
</file>