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2"/>
  </p:notesMasterIdLst>
  <p:sldIdLst>
    <p:sldId id="278" r:id="rId5"/>
    <p:sldId id="259" r:id="rId6"/>
    <p:sldId id="260" r:id="rId7"/>
    <p:sldId id="265" r:id="rId8"/>
    <p:sldId id="266" r:id="rId9"/>
    <p:sldId id="269" r:id="rId10"/>
    <p:sldId id="271" r:id="rId11"/>
    <p:sldId id="295" r:id="rId12"/>
    <p:sldId id="296" r:id="rId13"/>
    <p:sldId id="277" r:id="rId14"/>
    <p:sldId id="273" r:id="rId15"/>
    <p:sldId id="297" r:id="rId16"/>
    <p:sldId id="274" r:id="rId17"/>
    <p:sldId id="279" r:id="rId18"/>
    <p:sldId id="275" r:id="rId19"/>
    <p:sldId id="281" r:id="rId20"/>
    <p:sldId id="282" r:id="rId21"/>
    <p:sldId id="283" r:id="rId22"/>
    <p:sldId id="285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9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E40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6221" autoAdjust="0"/>
  </p:normalViewPr>
  <p:slideViewPr>
    <p:cSldViewPr snapToGrid="0">
      <p:cViewPr varScale="1">
        <p:scale>
          <a:sx n="110" d="100"/>
          <a:sy n="110" d="100"/>
        </p:scale>
        <p:origin x="1680" y="10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書磊 吳" userId="919c99f48e55a2c3" providerId="LiveId" clId="{20C0B1E1-9591-444C-ABDC-A817793F8EEA}"/>
    <pc:docChg chg="custSel modSld">
      <pc:chgData name="書磊 吳" userId="919c99f48e55a2c3" providerId="LiveId" clId="{20C0B1E1-9591-444C-ABDC-A817793F8EEA}" dt="2022-10-09T09:49:38.788" v="599" actId="1076"/>
      <pc:docMkLst>
        <pc:docMk/>
      </pc:docMkLst>
      <pc:sldChg chg="modTransition">
        <pc:chgData name="書磊 吳" userId="919c99f48e55a2c3" providerId="LiveId" clId="{20C0B1E1-9591-444C-ABDC-A817793F8EEA}" dt="2022-10-09T09:42:38.860" v="270"/>
        <pc:sldMkLst>
          <pc:docMk/>
          <pc:sldMk cId="3397165942" sldId="259"/>
        </pc:sldMkLst>
      </pc:sldChg>
      <pc:sldChg chg="modTransition">
        <pc:chgData name="書磊 吳" userId="919c99f48e55a2c3" providerId="LiveId" clId="{20C0B1E1-9591-444C-ABDC-A817793F8EEA}" dt="2022-10-09T09:42:38.860" v="271"/>
        <pc:sldMkLst>
          <pc:docMk/>
          <pc:sldMk cId="2021622799" sldId="260"/>
        </pc:sldMkLst>
      </pc:sldChg>
      <pc:sldChg chg="modTransition">
        <pc:chgData name="書磊 吳" userId="919c99f48e55a2c3" providerId="LiveId" clId="{20C0B1E1-9591-444C-ABDC-A817793F8EEA}" dt="2022-10-09T09:42:38.860" v="272"/>
        <pc:sldMkLst>
          <pc:docMk/>
          <pc:sldMk cId="1009165533" sldId="265"/>
        </pc:sldMkLst>
      </pc:sldChg>
      <pc:sldChg chg="addSp modSp mod modTransition">
        <pc:chgData name="書磊 吳" userId="919c99f48e55a2c3" providerId="LiveId" clId="{20C0B1E1-9591-444C-ABDC-A817793F8EEA}" dt="2022-10-09T09:49:38.788" v="599" actId="1076"/>
        <pc:sldMkLst>
          <pc:docMk/>
          <pc:sldMk cId="2537349604" sldId="266"/>
        </pc:sldMkLst>
        <pc:spChg chg="mod">
          <ac:chgData name="書磊 吳" userId="919c99f48e55a2c3" providerId="LiveId" clId="{20C0B1E1-9591-444C-ABDC-A817793F8EEA}" dt="2022-10-09T09:46:00.453" v="369" actId="1076"/>
          <ac:spMkLst>
            <pc:docMk/>
            <pc:sldMk cId="2537349604" sldId="266"/>
            <ac:spMk id="9" creationId="{00000000-0000-0000-0000-000000000000}"/>
          </ac:spMkLst>
        </pc:spChg>
        <pc:spChg chg="mod">
          <ac:chgData name="書磊 吳" userId="919c99f48e55a2c3" providerId="LiveId" clId="{20C0B1E1-9591-444C-ABDC-A817793F8EEA}" dt="2022-10-09T09:45:40.457" v="341" actId="1038"/>
          <ac:spMkLst>
            <pc:docMk/>
            <pc:sldMk cId="2537349604" sldId="266"/>
            <ac:spMk id="10" creationId="{00000000-0000-0000-0000-000000000000}"/>
          </ac:spMkLst>
        </pc:spChg>
        <pc:spChg chg="add mod">
          <ac:chgData name="書磊 吳" userId="919c99f48e55a2c3" providerId="LiveId" clId="{20C0B1E1-9591-444C-ABDC-A817793F8EEA}" dt="2022-10-09T09:49:32.849" v="598" actId="20577"/>
          <ac:spMkLst>
            <pc:docMk/>
            <pc:sldMk cId="2537349604" sldId="266"/>
            <ac:spMk id="18" creationId="{1F4F8D8A-B568-4EB8-021B-66B1929D7302}"/>
          </ac:spMkLst>
        </pc:spChg>
        <pc:spChg chg="add mod">
          <ac:chgData name="書磊 吳" userId="919c99f48e55a2c3" providerId="LiveId" clId="{20C0B1E1-9591-444C-ABDC-A817793F8EEA}" dt="2022-10-09T09:49:38.788" v="599" actId="1076"/>
          <ac:spMkLst>
            <pc:docMk/>
            <pc:sldMk cId="2537349604" sldId="266"/>
            <ac:spMk id="20" creationId="{99C250EA-FEE5-0D43-B1E8-EA500959FF35}"/>
          </ac:spMkLst>
        </pc:spChg>
        <pc:spChg chg="mod">
          <ac:chgData name="書磊 吳" userId="919c99f48e55a2c3" providerId="LiveId" clId="{20C0B1E1-9591-444C-ABDC-A817793F8EEA}" dt="2022-10-09T09:47:19.348" v="551" actId="1037"/>
          <ac:spMkLst>
            <pc:docMk/>
            <pc:sldMk cId="2537349604" sldId="266"/>
            <ac:spMk id="51" creationId="{00000000-0000-0000-0000-000000000000}"/>
          </ac:spMkLst>
        </pc:spChg>
        <pc:cxnChg chg="add mod">
          <ac:chgData name="書磊 吳" userId="919c99f48e55a2c3" providerId="LiveId" clId="{20C0B1E1-9591-444C-ABDC-A817793F8EEA}" dt="2022-10-09T09:47:03.289" v="545" actId="1038"/>
          <ac:cxnSpMkLst>
            <pc:docMk/>
            <pc:sldMk cId="2537349604" sldId="266"/>
            <ac:cxnSpMk id="2" creationId="{A6DF3BCE-F223-76CE-ED24-997446A3EDFF}"/>
          </ac:cxnSpMkLst>
        </pc:cxnChg>
        <pc:cxnChg chg="mod">
          <ac:chgData name="書磊 吳" userId="919c99f48e55a2c3" providerId="LiveId" clId="{20C0B1E1-9591-444C-ABDC-A817793F8EEA}" dt="2022-10-09T09:46:05.504" v="370" actId="1076"/>
          <ac:cxnSpMkLst>
            <pc:docMk/>
            <pc:sldMk cId="2537349604" sldId="266"/>
            <ac:cxnSpMk id="52" creationId="{00000000-0000-0000-0000-000000000000}"/>
          </ac:cxnSpMkLst>
        </pc:cxnChg>
      </pc:sldChg>
      <pc:sldChg chg="modTransition">
        <pc:chgData name="書磊 吳" userId="919c99f48e55a2c3" providerId="LiveId" clId="{20C0B1E1-9591-444C-ABDC-A817793F8EEA}" dt="2022-10-09T09:42:38.861" v="274"/>
        <pc:sldMkLst>
          <pc:docMk/>
          <pc:sldMk cId="1530789281" sldId="269"/>
        </pc:sldMkLst>
      </pc:sldChg>
      <pc:sldChg chg="modTransition">
        <pc:chgData name="書磊 吳" userId="919c99f48e55a2c3" providerId="LiveId" clId="{20C0B1E1-9591-444C-ABDC-A817793F8EEA}" dt="2022-10-09T09:42:38.861" v="275"/>
        <pc:sldMkLst>
          <pc:docMk/>
          <pc:sldMk cId="65009483" sldId="271"/>
        </pc:sldMkLst>
      </pc:sldChg>
      <pc:sldChg chg="modTransition">
        <pc:chgData name="書磊 吳" userId="919c99f48e55a2c3" providerId="LiveId" clId="{20C0B1E1-9591-444C-ABDC-A817793F8EEA}" dt="2022-10-09T09:42:38.861" v="277"/>
        <pc:sldMkLst>
          <pc:docMk/>
          <pc:sldMk cId="288335110" sldId="272"/>
        </pc:sldMkLst>
      </pc:sldChg>
      <pc:sldChg chg="modTransition">
        <pc:chgData name="書磊 吳" userId="919c99f48e55a2c3" providerId="LiveId" clId="{20C0B1E1-9591-444C-ABDC-A817793F8EEA}" dt="2022-10-09T09:42:38.861" v="279"/>
        <pc:sldMkLst>
          <pc:docMk/>
          <pc:sldMk cId="4004341203" sldId="273"/>
        </pc:sldMkLst>
      </pc:sldChg>
      <pc:sldChg chg="addSp delSp modSp mod modTransition modNotesTx">
        <pc:chgData name="書磊 吳" userId="919c99f48e55a2c3" providerId="LiveId" clId="{20C0B1E1-9591-444C-ABDC-A817793F8EEA}" dt="2022-10-09T09:42:38.861" v="281"/>
        <pc:sldMkLst>
          <pc:docMk/>
          <pc:sldMk cId="280687245" sldId="274"/>
        </pc:sldMkLst>
        <pc:spChg chg="mod">
          <ac:chgData name="書磊 吳" userId="919c99f48e55a2c3" providerId="LiveId" clId="{20C0B1E1-9591-444C-ABDC-A817793F8EEA}" dt="2022-10-09T09:32:51.994" v="8" actId="14100"/>
          <ac:spMkLst>
            <pc:docMk/>
            <pc:sldMk cId="280687245" sldId="274"/>
            <ac:spMk id="5" creationId="{00000000-0000-0000-0000-000000000000}"/>
          </ac:spMkLst>
        </pc:spChg>
        <pc:spChg chg="mod">
          <ac:chgData name="書磊 吳" userId="919c99f48e55a2c3" providerId="LiveId" clId="{20C0B1E1-9591-444C-ABDC-A817793F8EEA}" dt="2022-10-09T09:33:09.226" v="32" actId="1035"/>
          <ac:spMkLst>
            <pc:docMk/>
            <pc:sldMk cId="280687245" sldId="274"/>
            <ac:spMk id="8" creationId="{00000000-0000-0000-0000-000000000000}"/>
          </ac:spMkLst>
        </pc:spChg>
        <pc:picChg chg="del">
          <ac:chgData name="書磊 吳" userId="919c99f48e55a2c3" providerId="LiveId" clId="{20C0B1E1-9591-444C-ABDC-A817793F8EEA}" dt="2022-10-09T09:32:17.769" v="0" actId="478"/>
          <ac:picMkLst>
            <pc:docMk/>
            <pc:sldMk cId="280687245" sldId="274"/>
            <ac:picMk id="2" creationId="{00000000-0000-0000-0000-000000000000}"/>
          </ac:picMkLst>
        </pc:picChg>
        <pc:picChg chg="add mod ord">
          <ac:chgData name="書磊 吳" userId="919c99f48e55a2c3" providerId="LiveId" clId="{20C0B1E1-9591-444C-ABDC-A817793F8EEA}" dt="2022-10-09T09:33:00.484" v="24" actId="1036"/>
          <ac:picMkLst>
            <pc:docMk/>
            <pc:sldMk cId="280687245" sldId="274"/>
            <ac:picMk id="6" creationId="{200C32B5-92E0-9EBD-D5E2-27518CB4DB28}"/>
          </ac:picMkLst>
        </pc:picChg>
      </pc:sldChg>
      <pc:sldChg chg="modTransition">
        <pc:chgData name="書磊 吳" userId="919c99f48e55a2c3" providerId="LiveId" clId="{20C0B1E1-9591-444C-ABDC-A817793F8EEA}" dt="2022-10-09T09:42:38.863" v="283"/>
        <pc:sldMkLst>
          <pc:docMk/>
          <pc:sldMk cId="3284760962" sldId="275"/>
        </pc:sldMkLst>
      </pc:sldChg>
      <pc:sldChg chg="modSp mod modTransition modNotesTx">
        <pc:chgData name="書磊 吳" userId="919c99f48e55a2c3" providerId="LiveId" clId="{20C0B1E1-9591-444C-ABDC-A817793F8EEA}" dt="2022-10-09T09:42:38.861" v="280"/>
        <pc:sldMkLst>
          <pc:docMk/>
          <pc:sldMk cId="1322047185" sldId="276"/>
        </pc:sldMkLst>
        <pc:spChg chg="mod">
          <ac:chgData name="書磊 吳" userId="919c99f48e55a2c3" providerId="LiveId" clId="{20C0B1E1-9591-444C-ABDC-A817793F8EEA}" dt="2022-10-09T09:39:38.876" v="254" actId="20577"/>
          <ac:spMkLst>
            <pc:docMk/>
            <pc:sldMk cId="1322047185" sldId="276"/>
            <ac:spMk id="3" creationId="{00000000-0000-0000-0000-000000000000}"/>
          </ac:spMkLst>
        </pc:spChg>
        <pc:spChg chg="mod">
          <ac:chgData name="書磊 吳" userId="919c99f48e55a2c3" providerId="LiveId" clId="{20C0B1E1-9591-444C-ABDC-A817793F8EEA}" dt="2022-10-09T09:41:56.399" v="268" actId="20577"/>
          <ac:spMkLst>
            <pc:docMk/>
            <pc:sldMk cId="1322047185" sldId="276"/>
            <ac:spMk id="7" creationId="{00000000-0000-0000-0000-000000000000}"/>
          </ac:spMkLst>
        </pc:spChg>
      </pc:sldChg>
      <pc:sldChg chg="modTransition">
        <pc:chgData name="書磊 吳" userId="919c99f48e55a2c3" providerId="LiveId" clId="{20C0B1E1-9591-444C-ABDC-A817793F8EEA}" dt="2022-10-09T09:42:38.861" v="278"/>
        <pc:sldMkLst>
          <pc:docMk/>
          <pc:sldMk cId="3344485230" sldId="277"/>
        </pc:sldMkLst>
      </pc:sldChg>
      <pc:sldChg chg="modTransition">
        <pc:chgData name="書磊 吳" userId="919c99f48e55a2c3" providerId="LiveId" clId="{20C0B1E1-9591-444C-ABDC-A817793F8EEA}" dt="2022-10-09T09:42:38.859" v="269"/>
        <pc:sldMkLst>
          <pc:docMk/>
          <pc:sldMk cId="1846376586" sldId="278"/>
        </pc:sldMkLst>
      </pc:sldChg>
      <pc:sldChg chg="addSp delSp modSp mod modTransition">
        <pc:chgData name="書磊 吳" userId="919c99f48e55a2c3" providerId="LiveId" clId="{20C0B1E1-9591-444C-ABDC-A817793F8EEA}" dt="2022-10-09T09:42:38.862" v="282"/>
        <pc:sldMkLst>
          <pc:docMk/>
          <pc:sldMk cId="1021458571" sldId="279"/>
        </pc:sldMkLst>
        <pc:picChg chg="del">
          <ac:chgData name="書磊 吳" userId="919c99f48e55a2c3" providerId="LiveId" clId="{20C0B1E1-9591-444C-ABDC-A817793F8EEA}" dt="2022-10-09T09:33:27.904" v="33" actId="478"/>
          <ac:picMkLst>
            <pc:docMk/>
            <pc:sldMk cId="1021458571" sldId="279"/>
            <ac:picMk id="2" creationId="{00000000-0000-0000-0000-000000000000}"/>
          </ac:picMkLst>
        </pc:picChg>
        <pc:picChg chg="add mod">
          <ac:chgData name="書磊 吳" userId="919c99f48e55a2c3" providerId="LiveId" clId="{20C0B1E1-9591-444C-ABDC-A817793F8EEA}" dt="2022-10-09T09:34:27.973" v="37" actId="14100"/>
          <ac:picMkLst>
            <pc:docMk/>
            <pc:sldMk cId="1021458571" sldId="279"/>
            <ac:picMk id="6" creationId="{7FF8B8B1-4973-180B-E956-9382EEB79163}"/>
          </ac:picMkLst>
        </pc:picChg>
      </pc:sldChg>
      <pc:sldChg chg="modTransition">
        <pc:chgData name="書磊 吳" userId="919c99f48e55a2c3" providerId="LiveId" clId="{20C0B1E1-9591-444C-ABDC-A817793F8EEA}" dt="2022-10-09T09:42:38.861" v="276"/>
        <pc:sldMkLst>
          <pc:docMk/>
          <pc:sldMk cId="1526470806" sldId="280"/>
        </pc:sldMkLst>
      </pc:sldChg>
      <pc:sldChg chg="modTransition">
        <pc:chgData name="書磊 吳" userId="919c99f48e55a2c3" providerId="LiveId" clId="{20C0B1E1-9591-444C-ABDC-A817793F8EEA}" dt="2022-10-09T09:42:38.863" v="284"/>
        <pc:sldMkLst>
          <pc:docMk/>
          <pc:sldMk cId="1098139788" sldId="281"/>
        </pc:sldMkLst>
      </pc:sldChg>
      <pc:sldChg chg="modTransition">
        <pc:chgData name="書磊 吳" userId="919c99f48e55a2c3" providerId="LiveId" clId="{20C0B1E1-9591-444C-ABDC-A817793F8EEA}" dt="2022-10-09T09:42:38.863" v="285"/>
        <pc:sldMkLst>
          <pc:docMk/>
          <pc:sldMk cId="2038713431" sldId="282"/>
        </pc:sldMkLst>
      </pc:sldChg>
      <pc:sldChg chg="modTransition">
        <pc:chgData name="書磊 吳" userId="919c99f48e55a2c3" providerId="LiveId" clId="{20C0B1E1-9591-444C-ABDC-A817793F8EEA}" dt="2022-10-09T09:42:38.864" v="286"/>
        <pc:sldMkLst>
          <pc:docMk/>
          <pc:sldMk cId="4165371870" sldId="283"/>
        </pc:sldMkLst>
      </pc:sldChg>
      <pc:sldChg chg="modTransition">
        <pc:chgData name="書磊 吳" userId="919c99f48e55a2c3" providerId="LiveId" clId="{20C0B1E1-9591-444C-ABDC-A817793F8EEA}" dt="2022-10-09T09:42:38.864" v="287"/>
        <pc:sldMkLst>
          <pc:docMk/>
          <pc:sldMk cId="3306013139" sldId="285"/>
        </pc:sldMkLst>
      </pc:sldChg>
      <pc:sldChg chg="modTransition">
        <pc:chgData name="書磊 吳" userId="919c99f48e55a2c3" providerId="LiveId" clId="{20C0B1E1-9591-444C-ABDC-A817793F8EEA}" dt="2022-10-09T09:42:38.864" v="288"/>
        <pc:sldMkLst>
          <pc:docMk/>
          <pc:sldMk cId="2728466192" sldId="287"/>
        </pc:sldMkLst>
      </pc:sldChg>
      <pc:sldChg chg="modTransition">
        <pc:chgData name="書磊 吳" userId="919c99f48e55a2c3" providerId="LiveId" clId="{20C0B1E1-9591-444C-ABDC-A817793F8EEA}" dt="2022-10-09T09:42:38.865" v="289"/>
        <pc:sldMkLst>
          <pc:docMk/>
          <pc:sldMk cId="1804102380" sldId="288"/>
        </pc:sldMkLst>
      </pc:sldChg>
      <pc:sldChg chg="modTransition">
        <pc:chgData name="書磊 吳" userId="919c99f48e55a2c3" providerId="LiveId" clId="{20C0B1E1-9591-444C-ABDC-A817793F8EEA}" dt="2022-10-09T09:42:38.865" v="290"/>
        <pc:sldMkLst>
          <pc:docMk/>
          <pc:sldMk cId="1439699653" sldId="289"/>
        </pc:sldMkLst>
      </pc:sldChg>
      <pc:sldChg chg="modTransition">
        <pc:chgData name="書磊 吳" userId="919c99f48e55a2c3" providerId="LiveId" clId="{20C0B1E1-9591-444C-ABDC-A817793F8EEA}" dt="2022-10-09T09:42:38.865" v="291"/>
        <pc:sldMkLst>
          <pc:docMk/>
          <pc:sldMk cId="3969355078" sldId="290"/>
        </pc:sldMkLst>
      </pc:sldChg>
      <pc:sldChg chg="modTransition">
        <pc:chgData name="書磊 吳" userId="919c99f48e55a2c3" providerId="LiveId" clId="{20C0B1E1-9591-444C-ABDC-A817793F8EEA}" dt="2022-10-09T09:42:38.865" v="292"/>
        <pc:sldMkLst>
          <pc:docMk/>
          <pc:sldMk cId="155136701" sldId="291"/>
        </pc:sldMkLst>
      </pc:sldChg>
      <pc:sldChg chg="modTransition">
        <pc:chgData name="書磊 吳" userId="919c99f48e55a2c3" providerId="LiveId" clId="{20C0B1E1-9591-444C-ABDC-A817793F8EEA}" dt="2022-10-09T09:42:38.866" v="293"/>
        <pc:sldMkLst>
          <pc:docMk/>
          <pc:sldMk cId="3121092432" sldId="292"/>
        </pc:sldMkLst>
      </pc:sldChg>
      <pc:sldChg chg="modTransition">
        <pc:chgData name="書磊 吳" userId="919c99f48e55a2c3" providerId="LiveId" clId="{20C0B1E1-9591-444C-ABDC-A817793F8EEA}" dt="2022-10-09T09:42:38.866" v="294"/>
        <pc:sldMkLst>
          <pc:docMk/>
          <pc:sldMk cId="959518624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4BC19-9DB1-41DD-8FCA-0739D000353C}" type="datetimeFigureOut">
              <a:rPr lang="zh-TW" altLang="en-US" smtClean="0"/>
              <a:t>2023/10/12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832ED-D40A-4263-B431-F8820AA57C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554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920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832ED-D40A-4263-B431-F8820AA57C3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90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832ED-D40A-4263-B431-F8820AA57C3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952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832ED-D40A-4263-B431-F8820AA57C3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862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088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Order</a:t>
            </a:r>
            <a:r>
              <a:rPr lang="en-US" altLang="zh-TW" baseline="0" dirty="0"/>
              <a:t> correct?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180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638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395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664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882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269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06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E27E6-F328-4C6F-93EE-28A27F912CEC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74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8B354-B786-4422-9223-EEF615FCE630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24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9333"/>
            <a:ext cx="7886700" cy="466763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E7EB-9755-476F-9E2A-78AFDC37A840}" type="datetime1">
              <a:rPr lang="zh-TW" altLang="en-US" smtClean="0"/>
              <a:t>2023/10/12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E709601E-3B4E-4928-8AF0-88D45E7837C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37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E8FA-5ECC-4521-9E2F-19057160551C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16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AA4E-A1A0-4F53-9BE8-8ADF2A176007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8553" y="254612"/>
            <a:ext cx="1144207" cy="114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3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2CB06-B3AC-43B8-BA13-39489F34FD90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69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2C80-7D4E-4CC0-B596-5DD60B477B55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6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95345-1B0B-4F99-BEF9-848FC77B714F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36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221-B8B3-4E38-BD42-CA4452F1586D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26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9F1D-8944-4D2F-A281-FF9D6BD5E10D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919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45D5C-74C3-40D9-8261-A201B01BF5BB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953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5DA5-4C5F-43C3-91D2-6AB75B1F0CBE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2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39C6F-4F6D-48F8-B4AA-0955736F4857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2023/10/12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4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ishonp98/8051-timers-and-counters" TargetMode="External"/><Relationship Id="rId2" Type="http://schemas.openxmlformats.org/officeDocument/2006/relationships/hyperlink" Target="https://www.electronicwings.com/8051/8051-timers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tw.classf0001.uschoolnet.com/css000000183803/cm4k-1358643211-5690-3573.pdf" TargetMode="External"/><Relationship Id="rId4" Type="http://schemas.openxmlformats.org/officeDocument/2006/relationships/hyperlink" Target="http://dns2.asia.edu.tw/~rikki/mps107/mcs-ch07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tutorials.ws/electromagnetism/hall-effect.html" TargetMode="External"/><Relationship Id="rId2" Type="http://schemas.openxmlformats.org/officeDocument/2006/relationships/hyperlink" Target="https://www.allaboutcircuits.com/industry-articles/a-guide-to-the-applications-of-hall-effect-and-reed-switch-sensors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pulse/inductive-hall-effect-rpm-sensors-explained-kiril-mucevski?trk=mp-author-card" TargetMode="External"/><Relationship Id="rId5" Type="http://schemas.openxmlformats.org/officeDocument/2006/relationships/hyperlink" Target="https://howtomechatronics.com/how-it-works/electrical-engineering/hall-effect-hall-effect-sensors-work/" TargetMode="External"/><Relationship Id="rId4" Type="http://schemas.openxmlformats.org/officeDocument/2006/relationships/hyperlink" Target="https://www.ablic.com/en/semicon/products/sensor/magnetism-sensor-ic/intro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8307" y="743925"/>
            <a:ext cx="8524324" cy="1735137"/>
          </a:xfrm>
        </p:spPr>
        <p:txBody>
          <a:bodyPr>
            <a:noAutofit/>
          </a:bodyPr>
          <a:lstStyle/>
          <a:p>
            <a:pPr algn="l"/>
            <a:r>
              <a:rPr lang="en-US" altLang="zh-TW" b="1" dirty="0">
                <a:latin typeface="Vrinda" panose="020B0502040204020203" pitchFamily="34" charset="0"/>
                <a:cs typeface="Vrinda" panose="020B0502040204020203" pitchFamily="34" charset="0"/>
              </a:rPr>
              <a:t>Microprocessor Systems</a:t>
            </a:r>
            <a:endParaRPr lang="zh-TW" altLang="en-US" b="1" dirty="0">
              <a:latin typeface="Vrinda" panose="020B0502040204020203" pitchFamily="34" charset="0"/>
              <a:cs typeface="Vrinda" panose="020B0502040204020203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10490" y="4360130"/>
            <a:ext cx="2971800" cy="1655762"/>
          </a:xfrm>
        </p:spPr>
        <p:txBody>
          <a:bodyPr/>
          <a:lstStyle/>
          <a:p>
            <a:pPr algn="l"/>
            <a:r>
              <a:rPr lang="en-US" altLang="zh-TW" dirty="0"/>
              <a:t>Prof. Ren-</a:t>
            </a:r>
            <a:r>
              <a:rPr lang="en-US" altLang="zh-TW" dirty="0" err="1"/>
              <a:t>Shuo</a:t>
            </a:r>
            <a:r>
              <a:rPr lang="en-US" altLang="zh-TW" dirty="0"/>
              <a:t> Liu</a:t>
            </a:r>
          </a:p>
          <a:p>
            <a:pPr algn="l"/>
            <a:r>
              <a:rPr lang="en-US" altLang="zh-TW" dirty="0"/>
              <a:t>NTHU EE</a:t>
            </a:r>
          </a:p>
        </p:txBody>
      </p:sp>
      <p:sp>
        <p:nvSpPr>
          <p:cNvPr id="52" name="副標題 2"/>
          <p:cNvSpPr txBox="1">
            <a:spLocks/>
          </p:cNvSpPr>
          <p:nvPr/>
        </p:nvSpPr>
        <p:spPr>
          <a:xfrm>
            <a:off x="510490" y="2497870"/>
            <a:ext cx="8623592" cy="14014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4400" spc="-150" dirty="0">
                <a:ea typeface="新細明體"/>
                <a:cs typeface="Vrinda"/>
              </a:rPr>
              <a:t>Lab4 – 1 Timer and Interrupt Service Routine</a:t>
            </a:r>
            <a:endParaRPr lang="en-US" altLang="zh-TW" sz="32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B9126C-6111-4785-8EDF-2E3E64938C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14" y="3823857"/>
            <a:ext cx="4123617" cy="251701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CB2DB0-630F-49C0-94A8-8FD36B5A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z="1800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zh-TW" altLang="en-US" sz="18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37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929993F5-873B-4C73-90F7-88C748AB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n-lt"/>
              </a:rPr>
              <a:t>Introduction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8051 provides two timers/counters which enable</a:t>
            </a:r>
          </a:p>
          <a:p>
            <a:pPr lvl="1"/>
            <a:r>
              <a:rPr lang="en-US" altLang="zh-TW" sz="2800" dirty="0"/>
              <a:t>Counting external events</a:t>
            </a:r>
          </a:p>
          <a:p>
            <a:pPr lvl="1"/>
            <a:r>
              <a:rPr lang="en-US" altLang="zh-TW" sz="2800" dirty="0"/>
              <a:t>Timer interrupt service routine</a:t>
            </a:r>
          </a:p>
          <a:p>
            <a:r>
              <a:rPr lang="en-US" altLang="zh-TW" dirty="0"/>
              <a:t>The two timers, Timer 0 and Timer 1, are each composed of two 8-bit registers.</a:t>
            </a:r>
          </a:p>
          <a:p>
            <a:pPr lvl="1"/>
            <a:r>
              <a:rPr lang="en-US" altLang="zh-TW" dirty="0"/>
              <a:t>TH0, TL0: Registers of higher and lower 8 bits of Timer 0.</a:t>
            </a:r>
          </a:p>
          <a:p>
            <a:pPr lvl="1"/>
            <a:r>
              <a:rPr lang="en-US" altLang="zh-TW" dirty="0"/>
              <a:t>TH1, TL1: Registers of higher and lower 8 bits of Timer 1.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094434"/>
              </p:ext>
            </p:extLst>
          </p:nvPr>
        </p:nvGraphicFramePr>
        <p:xfrm>
          <a:off x="628650" y="4792407"/>
          <a:ext cx="79003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374">
                  <a:extLst>
                    <a:ext uri="{9D8B030D-6E8A-4147-A177-3AD203B41FA5}">
                      <a16:colId xmlns:a16="http://schemas.microsoft.com/office/drawing/2014/main" val="37902497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237164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507434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390202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365140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269445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004839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93153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77612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823158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678093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718516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39215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24334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295802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96318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772868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653352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28086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7345097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074342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693082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595723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04685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247423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4371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764737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83576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58312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98538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462354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59812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66960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Timer</a:t>
                      </a:r>
                      <a:endParaRPr lang="zh-TW" altLang="en-US" dirty="0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Timer 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Timer 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920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Reg. Name</a:t>
                      </a:r>
                      <a:endParaRPr lang="zh-TW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TH0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TL0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TH1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TL1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52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Bit NO.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833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16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BE2F6AF-C2DC-4DD8-8002-F3B03BF9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8051 takes an external crystal as the clock source of its timers. (1/12 of the</a:t>
            </a:r>
            <a:r>
              <a:rPr lang="zh-TW" altLang="en-US" dirty="0"/>
              <a:t> </a:t>
            </a:r>
            <a:r>
              <a:rPr lang="en-US" altLang="zh-TW" dirty="0"/>
              <a:t>crystal frequency)</a:t>
            </a:r>
          </a:p>
          <a:p>
            <a:r>
              <a:rPr lang="en-US" altLang="zh-TW" dirty="0"/>
              <a:t>An assembly instruction takes at least 12 crystal cycles to be executed, which means CPU machine cycle frequency is also 1/12 of the crystal frequency.</a:t>
            </a:r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FE724FA-2E4A-4436-A5A3-517EAD24E6B3}"/>
              </a:ext>
            </a:extLst>
          </p:cNvPr>
          <p:cNvGrpSpPr/>
          <p:nvPr/>
        </p:nvGrpSpPr>
        <p:grpSpPr>
          <a:xfrm>
            <a:off x="1192867" y="3725710"/>
            <a:ext cx="6758265" cy="2813203"/>
            <a:chOff x="3129626" y="3696398"/>
            <a:chExt cx="6758265" cy="2813203"/>
          </a:xfrm>
        </p:grpSpPr>
        <p:sp>
          <p:nvSpPr>
            <p:cNvPr id="7" name="文字方塊 6"/>
            <p:cNvSpPr txBox="1"/>
            <p:nvPr/>
          </p:nvSpPr>
          <p:spPr>
            <a:xfrm>
              <a:off x="3697157" y="4695992"/>
              <a:ext cx="1072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12MHz</a:t>
              </a:r>
              <a:endParaRPr lang="zh-TW" altLang="en-US" sz="2400" dirty="0"/>
            </a:p>
          </p:txBody>
        </p:sp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9626" y="4137468"/>
              <a:ext cx="6656648" cy="2218883"/>
            </a:xfrm>
            <a:prstGeom prst="rect">
              <a:avLst/>
            </a:prstGeom>
          </p:spPr>
        </p:pic>
        <p:sp>
          <p:nvSpPr>
            <p:cNvPr id="18" name="文字方塊 17"/>
            <p:cNvSpPr txBox="1"/>
            <p:nvPr/>
          </p:nvSpPr>
          <p:spPr>
            <a:xfrm>
              <a:off x="8436918" y="6047936"/>
              <a:ext cx="9172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1MHz</a:t>
              </a:r>
              <a:endParaRPr lang="zh-TW" altLang="en-US" sz="2400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769887" y="3696398"/>
              <a:ext cx="51180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altLang="zh-TW" sz="2400" dirty="0"/>
                <a:t>T=  1/(1</a:t>
              </a:r>
              <a:r>
                <a:rPr lang="en-US" altLang="zh-TW" sz="2400" dirty="0"/>
                <a:t>M</a:t>
              </a:r>
              <a:r>
                <a:rPr lang="de-DE" altLang="zh-TW" sz="2400" dirty="0"/>
                <a:t>Hz) = 1μs (one machine cycle)</a:t>
              </a:r>
              <a:endParaRPr lang="zh-TW" altLang="en-US" sz="2400" dirty="0"/>
            </a:p>
          </p:txBody>
        </p:sp>
      </p:grp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5A27A8-B967-4E18-A892-51367251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162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F93181-57F8-4717-B024-D8598783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Time Mode Control Register (TMOD) Mode Selection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4" y="2020640"/>
            <a:ext cx="8792397" cy="1360625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7" y="4179577"/>
            <a:ext cx="8963486" cy="199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6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7C0A8E1-CC19-4552-BF18-C2D672EB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Mode 1 (16-bit Counter)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流程圖: 延遲 4"/>
          <p:cNvSpPr/>
          <p:nvPr/>
        </p:nvSpPr>
        <p:spPr>
          <a:xfrm>
            <a:off x="2953119" y="3683022"/>
            <a:ext cx="432984" cy="473132"/>
          </a:xfrm>
          <a:prstGeom prst="flowChartDelay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月亮 7"/>
          <p:cNvSpPr/>
          <p:nvPr/>
        </p:nvSpPr>
        <p:spPr>
          <a:xfrm rot="10800000">
            <a:off x="1951531" y="4816696"/>
            <a:ext cx="461045" cy="473132"/>
          </a:xfrm>
          <a:prstGeom prst="moon">
            <a:avLst>
              <a:gd name="adj" fmla="val 8686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等腰三角形 8"/>
          <p:cNvSpPr/>
          <p:nvPr/>
        </p:nvSpPr>
        <p:spPr>
          <a:xfrm rot="5400000">
            <a:off x="1447984" y="4843622"/>
            <a:ext cx="236339" cy="297346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725448" y="4912052"/>
            <a:ext cx="132932" cy="14146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122013" y="1585907"/>
                <a:ext cx="818043" cy="44029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altLang="zh-TW" sz="2800" dirty="0">
                    <a:solidFill>
                      <a:schemeClr val="tx1"/>
                    </a:solidFill>
                  </a:rPr>
                  <a:t>12</a:t>
                </a:r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13" y="1585907"/>
                <a:ext cx="818043" cy="440297"/>
              </a:xfrm>
              <a:prstGeom prst="rect">
                <a:avLst/>
              </a:prstGeom>
              <a:blipFill>
                <a:blip r:embed="rId3"/>
                <a:stretch>
                  <a:fillRect t="-20000" r="-12409" b="-4533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292913" y="1828553"/>
            <a:ext cx="1182026" cy="96061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689817" y="1849044"/>
            <a:ext cx="1178558" cy="9262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TH0</a:t>
            </a:r>
          </a:p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(8 bits)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68375" y="1852060"/>
            <a:ext cx="1179150" cy="9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TL0</a:t>
            </a:r>
          </a:p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(8 bits)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20862" y="1847839"/>
            <a:ext cx="1178557" cy="9262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TF0</a:t>
            </a:r>
          </a:p>
        </p:txBody>
      </p:sp>
      <p:sp>
        <p:nvSpPr>
          <p:cNvPr id="16" name="矩形 15"/>
          <p:cNvSpPr/>
          <p:nvPr/>
        </p:nvSpPr>
        <p:spPr>
          <a:xfrm>
            <a:off x="104340" y="1582390"/>
            <a:ext cx="818043" cy="4438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OSC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rot="10800000" flipV="1">
            <a:off x="2175640" y="1826113"/>
            <a:ext cx="0" cy="37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913552" y="2343858"/>
            <a:ext cx="766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3579189" y="2303421"/>
            <a:ext cx="64668" cy="64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/>
          <p:cNvCxnSpPr>
            <a:stCxn id="23" idx="7"/>
          </p:cNvCxnSpPr>
          <p:nvPr/>
        </p:nvCxnSpPr>
        <p:spPr>
          <a:xfrm flipV="1">
            <a:off x="3634387" y="2126624"/>
            <a:ext cx="279186" cy="186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1575691" y="3783883"/>
            <a:ext cx="13832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 flipV="1">
            <a:off x="3913552" y="2126623"/>
            <a:ext cx="21" cy="2172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2174056" y="2553619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1363876" y="2913619"/>
            <a:ext cx="8101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2384095" y="2335018"/>
            <a:ext cx="11856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2292712" y="1865013"/>
                <a:ext cx="15755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zh-TW" sz="2800" kern="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C/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sz="2800" kern="10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T</m:t>
                        </m:r>
                      </m:e>
                    </m:acc>
                  </m:oMath>
                </a14:m>
                <a:r>
                  <a:rPr lang="en-US" altLang="zh-TW" sz="2800" kern="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=0 </a:t>
                </a:r>
                <a:endParaRPr lang="zh-TW" altLang="zh-TW" sz="2800" kern="1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712" y="1865013"/>
                <a:ext cx="1575594" cy="523220"/>
              </a:xfrm>
              <a:prstGeom prst="rect">
                <a:avLst/>
              </a:prstGeom>
              <a:blipFill>
                <a:blip r:embed="rId4"/>
                <a:stretch>
                  <a:fillRect l="-7722" t="-11628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2326426" y="2337431"/>
                <a:ext cx="15755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zh-TW" sz="2800" kern="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C/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sz="2800" kern="10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T</m:t>
                        </m:r>
                      </m:e>
                    </m:acc>
                  </m:oMath>
                </a14:m>
                <a:r>
                  <a:rPr lang="en-US" altLang="zh-TW" sz="2800" kern="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=1 </a:t>
                </a:r>
                <a:endParaRPr lang="zh-TW" altLang="zh-TW" sz="2800" kern="1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426" y="2337431"/>
                <a:ext cx="1575594" cy="523220"/>
              </a:xfrm>
              <a:prstGeom prst="rect">
                <a:avLst/>
              </a:prstGeom>
              <a:blipFill>
                <a:blip r:embed="rId5"/>
                <a:stretch>
                  <a:fillRect l="-8140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肘形接點 42"/>
          <p:cNvCxnSpPr/>
          <p:nvPr/>
        </p:nvCxnSpPr>
        <p:spPr>
          <a:xfrm rot="5400000">
            <a:off x="3018343" y="3159956"/>
            <a:ext cx="1134000" cy="378000"/>
          </a:xfrm>
          <a:prstGeom prst="bentConnector3">
            <a:avLst>
              <a:gd name="adj1" fmla="val 9928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 flipV="1">
            <a:off x="3773980" y="2465185"/>
            <a:ext cx="0" cy="324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721741" y="2744797"/>
            <a:ext cx="17455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latin typeface="Calibri" panose="020F0502020204030204" pitchFamily="34" charset="0"/>
                <a:cs typeface="Calibri" panose="020F0502020204030204" pitchFamily="34" charset="0"/>
              </a:rPr>
              <a:t>Control</a:t>
            </a:r>
            <a:endParaRPr lang="zh-TW" altLang="zh-TW" sz="2800" kern="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8" name="直線接點 47"/>
          <p:cNvCxnSpPr/>
          <p:nvPr/>
        </p:nvCxnSpPr>
        <p:spPr>
          <a:xfrm>
            <a:off x="1298386" y="5197917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81898" y="4680922"/>
            <a:ext cx="12435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latin typeface="Calibri" panose="020F0502020204030204" pitchFamily="34" charset="0"/>
                <a:cs typeface="Calibri" panose="020F0502020204030204" pitchFamily="34" charset="0"/>
              </a:rPr>
              <a:t>Gate</a:t>
            </a:r>
            <a:endParaRPr lang="zh-TW" altLang="zh-TW" sz="2800" kern="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910294" y="4992295"/>
            <a:ext cx="5071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2319427" y="2302618"/>
            <a:ext cx="64668" cy="64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1" name="直線接點 70"/>
          <p:cNvCxnSpPr/>
          <p:nvPr/>
        </p:nvCxnSpPr>
        <p:spPr>
          <a:xfrm flipH="1" flipV="1">
            <a:off x="2081900" y="2126623"/>
            <a:ext cx="230695" cy="1866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1940056" y="1835897"/>
            <a:ext cx="23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309002" y="2627185"/>
            <a:ext cx="12435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latin typeface="Calibri" panose="020F0502020204030204" pitchFamily="34" charset="0"/>
                <a:cs typeface="Calibri" panose="020F0502020204030204" pitchFamily="34" charset="0"/>
              </a:rPr>
              <a:t>T0 pin</a:t>
            </a:r>
            <a:endParaRPr lang="zh-TW" altLang="zh-TW" sz="2800" kern="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1" name="直線接點 80"/>
          <p:cNvCxnSpPr/>
          <p:nvPr/>
        </p:nvCxnSpPr>
        <p:spPr>
          <a:xfrm flipV="1">
            <a:off x="1124318" y="5197918"/>
            <a:ext cx="179655" cy="342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/>
              <p:cNvSpPr/>
              <p:nvPr/>
            </p:nvSpPr>
            <p:spPr>
              <a:xfrm>
                <a:off x="39973" y="5401571"/>
                <a:ext cx="14061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/>
                          <m:t>INT</m:t>
                        </m:r>
                        <m:r>
                          <m:rPr>
                            <m:nor/>
                          </m:rPr>
                          <a:rPr lang="zh-TW" altLang="en-US" sz="2800"/>
                          <m:t>0</m:t>
                        </m:r>
                      </m:e>
                    </m:acc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pin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86" name="矩形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3" y="5401571"/>
                <a:ext cx="1406154" cy="523220"/>
              </a:xfrm>
              <a:prstGeom prst="rect">
                <a:avLst/>
              </a:prstGeom>
              <a:blipFill>
                <a:blip r:embed="rId6"/>
                <a:stretch>
                  <a:fillRect t="-10465" r="-6957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/>
          <p:cNvSpPr/>
          <p:nvPr/>
        </p:nvSpPr>
        <p:spPr>
          <a:xfrm>
            <a:off x="549684" y="3459028"/>
            <a:ext cx="12435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latin typeface="Calibri" panose="020F0502020204030204" pitchFamily="34" charset="0"/>
                <a:cs typeface="Calibri" panose="020F0502020204030204" pitchFamily="34" charset="0"/>
              </a:rPr>
              <a:t>TR0</a:t>
            </a:r>
            <a:endParaRPr lang="zh-TW" altLang="zh-TW" sz="2800" kern="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9" name="直線接點 88"/>
          <p:cNvCxnSpPr/>
          <p:nvPr/>
        </p:nvCxnSpPr>
        <p:spPr>
          <a:xfrm rot="10800000">
            <a:off x="2665119" y="4050583"/>
            <a:ext cx="28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接點 91"/>
          <p:cNvCxnSpPr/>
          <p:nvPr/>
        </p:nvCxnSpPr>
        <p:spPr>
          <a:xfrm rot="5400000">
            <a:off x="2042878" y="4441534"/>
            <a:ext cx="1008000" cy="216000"/>
          </a:xfrm>
          <a:prstGeom prst="bentConnector3">
            <a:avLst>
              <a:gd name="adj1" fmla="val 9928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rot="10800000" flipV="1">
            <a:off x="8010140" y="2781751"/>
            <a:ext cx="0" cy="37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7398410" y="3238177"/>
            <a:ext cx="17455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latin typeface="Calibri" panose="020F0502020204030204" pitchFamily="34" charset="0"/>
                <a:cs typeface="Calibri" panose="020F0502020204030204" pitchFamily="34" charset="0"/>
              </a:rPr>
              <a:t>Interrupt</a:t>
            </a:r>
            <a:endParaRPr lang="zh-TW" altLang="zh-TW" sz="2800" kern="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5" name="直線單箭頭接點 94"/>
          <p:cNvCxnSpPr/>
          <p:nvPr/>
        </p:nvCxnSpPr>
        <p:spPr>
          <a:xfrm rot="5400000" flipV="1">
            <a:off x="7236525" y="2146018"/>
            <a:ext cx="0" cy="37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V="1">
            <a:off x="1021213" y="1717205"/>
            <a:ext cx="0" cy="2016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A6DF3BCE-F223-76CE-ED24-997446A3EDFF}"/>
              </a:ext>
            </a:extLst>
          </p:cNvPr>
          <p:cNvCxnSpPr>
            <a:cxnSpLocks/>
          </p:cNvCxnSpPr>
          <p:nvPr/>
        </p:nvCxnSpPr>
        <p:spPr>
          <a:xfrm>
            <a:off x="1869440" y="4978525"/>
            <a:ext cx="1368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1F4F8D8A-B568-4EB8-021B-66B1929D7302}"/>
              </a:ext>
            </a:extLst>
          </p:cNvPr>
          <p:cNvSpPr/>
          <p:nvPr/>
        </p:nvSpPr>
        <p:spPr>
          <a:xfrm>
            <a:off x="686969" y="6007578"/>
            <a:ext cx="2882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endParaRPr lang="zh-TW" altLang="zh-TW" sz="2800" kern="1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C250EA-FEE5-0D43-B1E8-EA500959FF35}"/>
              </a:ext>
            </a:extLst>
          </p:cNvPr>
          <p:cNvSpPr/>
          <p:nvPr/>
        </p:nvSpPr>
        <p:spPr>
          <a:xfrm>
            <a:off x="825930" y="4117826"/>
            <a:ext cx="2882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  <a:endParaRPr lang="zh-TW" altLang="zh-TW" sz="2800" kern="1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34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973A3-4094-48DC-B1DF-D6F3EE8D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Time Mode Control Register (TMOD)</a:t>
            </a:r>
            <a:br>
              <a:rPr lang="en-US" altLang="zh-TW" dirty="0"/>
            </a:br>
            <a:r>
              <a:rPr lang="en-US" altLang="zh-TW" dirty="0"/>
              <a:t>Enable and Clock Source Selection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7285054"/>
                  </p:ext>
                </p:extLst>
              </p:nvPr>
            </p:nvGraphicFramePr>
            <p:xfrm>
              <a:off x="180514" y="3535680"/>
              <a:ext cx="8792397" cy="2773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35810">
                      <a:extLst>
                        <a:ext uri="{9D8B030D-6E8A-4147-A177-3AD203B41FA5}">
                          <a16:colId xmlns:a16="http://schemas.microsoft.com/office/drawing/2014/main" val="2135183689"/>
                        </a:ext>
                      </a:extLst>
                    </a:gridCol>
                    <a:gridCol w="7256587">
                      <a:extLst>
                        <a:ext uri="{9D8B030D-6E8A-4147-A177-3AD203B41FA5}">
                          <a16:colId xmlns:a16="http://schemas.microsoft.com/office/drawing/2014/main" val="2193155225"/>
                        </a:ext>
                      </a:extLst>
                    </a:gridCol>
                  </a:tblGrid>
                  <a:tr h="37890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/>
                            <a:t>Description</a:t>
                          </a:r>
                          <a:endParaRPr lang="zh-TW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64980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/>
                            <a:t>Gate</a:t>
                          </a:r>
                          <a:r>
                            <a:rPr lang="en-US" altLang="zh-TW" sz="2400" baseline="0" dirty="0"/>
                            <a:t> = 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Timer is enabled</a:t>
                          </a:r>
                          <a:r>
                            <a:rPr lang="en-US" altLang="zh-TW" sz="2000" baseline="0" dirty="0"/>
                            <a:t> by setting TRX = 1. (X = 0 or 1)</a:t>
                          </a:r>
                          <a:endParaRPr lang="zh-TW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8519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/>
                            <a:t>Gate</a:t>
                          </a:r>
                          <a:r>
                            <a:rPr lang="en-US" altLang="zh-TW" sz="2400" baseline="0" dirty="0"/>
                            <a:t> = 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Timer is enabled</a:t>
                          </a:r>
                          <a:r>
                            <a:rPr lang="en-US" altLang="zh-TW" sz="2000" baseline="0" dirty="0"/>
                            <a:t> by setting both TRX = 1 and INTX = 1. (X = 0 or 1)</a:t>
                          </a:r>
                          <a:endParaRPr lang="zh-TW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9971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+mn-lt"/>
                            </a:rPr>
                            <a:t>C/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bar>
                            </m:oMath>
                          </a14:m>
                          <a:r>
                            <a:rPr lang="zh-TW" altLang="en-US" sz="2400" dirty="0"/>
                            <a:t> </a:t>
                          </a:r>
                          <a:r>
                            <a:rPr lang="en-US" altLang="zh-TW" sz="2400" dirty="0"/>
                            <a:t>=</a:t>
                          </a:r>
                          <a:r>
                            <a:rPr lang="en-US" altLang="zh-TW" sz="2400" baseline="0" dirty="0"/>
                            <a:t> 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Act</a:t>
                          </a:r>
                          <a:r>
                            <a:rPr lang="en-US" altLang="zh-TW" sz="2000" baseline="0" dirty="0"/>
                            <a:t> as a </a:t>
                          </a:r>
                          <a:r>
                            <a:rPr lang="en-US" altLang="zh-TW" sz="2000" dirty="0"/>
                            <a:t>timer</a:t>
                          </a:r>
                          <a:r>
                            <a:rPr lang="en-US" altLang="zh-TW" sz="2000" baseline="0" dirty="0"/>
                            <a:t>, which counts the number of machine cycles.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aseline="0" dirty="0"/>
                            <a:t>(Internal clock</a:t>
                          </a:r>
                          <a:r>
                            <a:rPr lang="zh-TW" altLang="en-US" sz="2000" baseline="0" dirty="0"/>
                            <a:t> </a:t>
                          </a:r>
                          <a:r>
                            <a:rPr lang="en-US" altLang="zh-TW" sz="2000" baseline="0" dirty="0"/>
                            <a:t>source)</a:t>
                          </a:r>
                          <a:endParaRPr lang="zh-TW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5204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+mn-lt"/>
                            </a:rPr>
                            <a:t>C/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bar>
                            </m:oMath>
                          </a14:m>
                          <a:r>
                            <a:rPr lang="zh-TW" altLang="en-US" sz="2400" dirty="0"/>
                            <a:t> </a:t>
                          </a:r>
                          <a:r>
                            <a:rPr lang="en-US" altLang="zh-TW" sz="2400" dirty="0"/>
                            <a:t>= 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Act as a </a:t>
                          </a:r>
                          <a:r>
                            <a:rPr lang="en-US" altLang="zh-TW" sz="2000" baseline="0" dirty="0"/>
                            <a:t>counter</a:t>
                          </a:r>
                          <a:r>
                            <a:rPr lang="en-US" altLang="zh-TW" sz="2000" dirty="0"/>
                            <a:t>, which counts negative transitions at pinT0</a:t>
                          </a:r>
                          <a:r>
                            <a:rPr lang="en-US" altLang="zh-TW" sz="2000" baseline="0" dirty="0"/>
                            <a:t> or T1.</a:t>
                          </a:r>
                        </a:p>
                        <a:p>
                          <a:r>
                            <a:rPr lang="en-US" altLang="zh-TW" sz="2000" baseline="0" dirty="0"/>
                            <a:t>(External clock source)</a:t>
                          </a:r>
                          <a:endParaRPr lang="zh-TW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74439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7285054"/>
                  </p:ext>
                </p:extLst>
              </p:nvPr>
            </p:nvGraphicFramePr>
            <p:xfrm>
              <a:off x="180514" y="3535680"/>
              <a:ext cx="8792397" cy="2773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35810">
                      <a:extLst>
                        <a:ext uri="{9D8B030D-6E8A-4147-A177-3AD203B41FA5}">
                          <a16:colId xmlns:a16="http://schemas.microsoft.com/office/drawing/2014/main" val="2135183689"/>
                        </a:ext>
                      </a:extLst>
                    </a:gridCol>
                    <a:gridCol w="7256587">
                      <a:extLst>
                        <a:ext uri="{9D8B030D-6E8A-4147-A177-3AD203B41FA5}">
                          <a16:colId xmlns:a16="http://schemas.microsoft.com/office/drawing/2014/main" val="219315522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Description</a:t>
                          </a:r>
                          <a:endParaRPr lang="zh-TW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64980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 smtClean="0"/>
                            <a:t>Gate</a:t>
                          </a:r>
                          <a:r>
                            <a:rPr lang="en-US" altLang="zh-TW" sz="2400" baseline="0" dirty="0" smtClean="0"/>
                            <a:t> = 0</a:t>
                          </a:r>
                          <a:endParaRPr lang="zh-TW" altLang="en-US" sz="2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Timer is enabled</a:t>
                          </a:r>
                          <a:r>
                            <a:rPr lang="en-US" altLang="zh-TW" sz="2000" baseline="0" dirty="0" smtClean="0"/>
                            <a:t> by setting TRX = 1. (X = 0 or 1)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851995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 smtClean="0"/>
                            <a:t>Gate</a:t>
                          </a:r>
                          <a:r>
                            <a:rPr lang="en-US" altLang="zh-TW" sz="2400" baseline="0" dirty="0" smtClean="0"/>
                            <a:t> = 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Timer is enabled</a:t>
                          </a:r>
                          <a:r>
                            <a:rPr lang="en-US" altLang="zh-TW" sz="2000" baseline="0" dirty="0" smtClean="0"/>
                            <a:t> by setting both TRX = 1 and INTX = 1. (X = 0 or 1)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997188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397" t="-202609" r="-473810" b="-1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Act</a:t>
                          </a:r>
                          <a:r>
                            <a:rPr lang="en-US" altLang="zh-TW" sz="2000" baseline="0" dirty="0" smtClean="0"/>
                            <a:t> as a </a:t>
                          </a:r>
                          <a:r>
                            <a:rPr lang="en-US" altLang="zh-TW" sz="2000" dirty="0" smtClean="0"/>
                            <a:t>timer</a:t>
                          </a:r>
                          <a:r>
                            <a:rPr lang="en-US" altLang="zh-TW" sz="2000" baseline="0" dirty="0" smtClean="0"/>
                            <a:t>, which counts the number of machine cycles.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aseline="0" dirty="0" smtClean="0"/>
                            <a:t>(Internal clock</a:t>
                          </a:r>
                          <a:r>
                            <a:rPr lang="zh-TW" altLang="en-US" sz="2000" baseline="0" dirty="0" smtClean="0"/>
                            <a:t> </a:t>
                          </a:r>
                          <a:r>
                            <a:rPr lang="en-US" altLang="zh-TW" sz="2000" baseline="0" dirty="0" smtClean="0"/>
                            <a:t>source)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520418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397" t="-302609" r="-473810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Act as a </a:t>
                          </a:r>
                          <a:r>
                            <a:rPr lang="en-US" altLang="zh-TW" sz="2000" baseline="0" dirty="0" smtClean="0"/>
                            <a:t>counter</a:t>
                          </a:r>
                          <a:r>
                            <a:rPr lang="en-US" altLang="zh-TW" sz="2000" dirty="0" smtClean="0"/>
                            <a:t>, which counts negative transitions at pinT0</a:t>
                          </a:r>
                          <a:r>
                            <a:rPr lang="en-US" altLang="zh-TW" sz="2000" baseline="0" dirty="0" smtClean="0"/>
                            <a:t> or T1.</a:t>
                          </a:r>
                        </a:p>
                        <a:p>
                          <a:r>
                            <a:rPr lang="en-US" altLang="zh-TW" sz="2000" baseline="0" dirty="0" smtClean="0"/>
                            <a:t>(External clock source)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74439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14" y="2020640"/>
            <a:ext cx="8792397" cy="13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8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2">
            <a:extLst>
              <a:ext uri="{FF2B5EF4-FFF2-40B4-BE49-F238E27FC236}">
                <a16:creationId xmlns:a16="http://schemas.microsoft.com/office/drawing/2014/main" id="{4007BE70-DFE4-4A25-9C8C-50430A70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Time Control Register (TCON)</a:t>
            </a:r>
            <a:endParaRPr lang="zh-TW" altLang="en-US" dirty="0"/>
          </a:p>
        </p:txBody>
      </p:sp>
      <p:sp>
        <p:nvSpPr>
          <p:cNvPr id="14" name="內容版面配置區 13">
            <a:extLst>
              <a:ext uri="{FF2B5EF4-FFF2-40B4-BE49-F238E27FC236}">
                <a16:creationId xmlns:a16="http://schemas.microsoft.com/office/drawing/2014/main" id="{07300642-BE0B-447D-B1E9-A251F69B6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altLang="zh-TW" dirty="0">
                <a:ln w="0"/>
              </a:rPr>
              <a:t>TF0/1: Timer0/1 overflow flag</a:t>
            </a:r>
          </a:p>
          <a:p>
            <a:pPr marL="914400" lvl="1" indent="-457200"/>
            <a:r>
              <a:rPr lang="en-US" altLang="zh-TW" dirty="0">
                <a:ln w="0"/>
              </a:rPr>
              <a:t>Set by hardware when the timer overflows.</a:t>
            </a:r>
          </a:p>
          <a:p>
            <a:pPr marL="914400" lvl="1" indent="-457200"/>
            <a:r>
              <a:rPr lang="en-US" altLang="zh-TW" dirty="0">
                <a:ln w="0"/>
              </a:rPr>
              <a:t>Cleared by hardware when the interrupt routine is served.</a:t>
            </a:r>
          </a:p>
          <a:p>
            <a:endParaRPr lang="en-US" altLang="zh-TW" dirty="0">
              <a:ln w="0"/>
            </a:endParaRPr>
          </a:p>
          <a:p>
            <a:pPr marL="457200" indent="-457200"/>
            <a:r>
              <a:rPr lang="en-US" altLang="zh-TW" dirty="0">
                <a:ln w="0"/>
              </a:rPr>
              <a:t>TR0/1: Timer0/1 run control bit</a:t>
            </a:r>
          </a:p>
          <a:p>
            <a:pPr marL="914400" lvl="1" indent="-457200"/>
            <a:r>
              <a:rPr lang="en-US" altLang="zh-TW" dirty="0">
                <a:ln w="0"/>
              </a:rPr>
              <a:t>Set/Cleared by software to turn the timer on/off. </a:t>
            </a:r>
            <a:endParaRPr lang="zh-TW" altLang="en-US" dirty="0">
              <a:ln w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5" name="內容版面配置區 4">
            <a:extLst>
              <a:ext uri="{FF2B5EF4-FFF2-40B4-BE49-F238E27FC236}">
                <a16:creationId xmlns:a16="http://schemas.microsoft.com/office/drawing/2014/main" id="{F3FB24A6-3495-4DEF-8577-51A13781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8" y="5129051"/>
            <a:ext cx="8936623" cy="8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FC781-EB0A-4497-B611-F5C711C0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Time Control Register (TCON)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F35E6-2525-4077-A815-D17B91803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altLang="zh-TW" dirty="0">
                <a:ln w="0"/>
              </a:rPr>
              <a:t>IE0/1: Timer0/1 interrupt enable flag</a:t>
            </a:r>
          </a:p>
          <a:p>
            <a:pPr marL="914400" lvl="1" indent="-457200"/>
            <a:r>
              <a:rPr lang="en-US" altLang="zh-TW" dirty="0">
                <a:ln w="0"/>
              </a:rPr>
              <a:t>Set by hardware when the interruption of INT0/1 is detected.</a:t>
            </a:r>
          </a:p>
          <a:p>
            <a:pPr marL="914400" lvl="1" indent="-457200"/>
            <a:r>
              <a:rPr lang="en-US" altLang="zh-TW" dirty="0">
                <a:ln w="0"/>
              </a:rPr>
              <a:t>Cleared by hardware when the interrupt routine is served.</a:t>
            </a:r>
          </a:p>
          <a:p>
            <a:endParaRPr lang="en-US" altLang="zh-TW" dirty="0">
              <a:ln w="0"/>
            </a:endParaRPr>
          </a:p>
          <a:p>
            <a:pPr marL="457200" indent="-457200"/>
            <a:r>
              <a:rPr lang="en-US" altLang="zh-TW" dirty="0">
                <a:ln w="0"/>
              </a:rPr>
              <a:t>IT0/1: Timer0/1 interrupt type</a:t>
            </a:r>
          </a:p>
          <a:p>
            <a:pPr marL="914400" lvl="1" indent="-457200"/>
            <a:r>
              <a:rPr lang="en-US" altLang="zh-TW" dirty="0">
                <a:ln w="0"/>
              </a:rPr>
              <a:t>Set to 1 means negative edge triggered.</a:t>
            </a:r>
          </a:p>
          <a:p>
            <a:pPr marL="914400" lvl="1" indent="-457200"/>
            <a:r>
              <a:rPr lang="en-US" altLang="zh-TW" dirty="0">
                <a:ln w="0"/>
              </a:rPr>
              <a:t>Set to 0 means low level triggered.</a:t>
            </a:r>
            <a:endParaRPr lang="zh-TW" altLang="en-US" dirty="0">
              <a:ln w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8504DC-2675-40A3-8705-4D72DE36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054017E-592B-448E-A2F7-0BB3C39E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8" y="5293652"/>
            <a:ext cx="8936623" cy="8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0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1CC02-4F89-4989-BF94-5B5B89F6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IE (Interrupt Enable) Register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99A1FE-28BB-4706-910E-B6C2B3B4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1EDE4C9-AA9A-48B4-8DF1-F0E3F5687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746599"/>
            <a:ext cx="7886701" cy="662147"/>
          </a:xfrm>
          <a:prstGeom prst="rect">
            <a:avLst/>
          </a:prstGeom>
        </p:spPr>
      </p:pic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E4FE7571-50E6-48EF-BD18-ECCEEAAD4CBF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3551D18-4A8E-4DC0-BCCB-31CFF8570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282845"/>
              </p:ext>
            </p:extLst>
          </p:nvPr>
        </p:nvGraphicFramePr>
        <p:xfrm>
          <a:off x="1682670" y="2646011"/>
          <a:ext cx="5778658" cy="3953106"/>
        </p:xfrm>
        <a:graphic>
          <a:graphicData uri="http://schemas.openxmlformats.org/drawingml/2006/table">
            <a:tbl>
              <a:tblPr/>
              <a:tblGrid>
                <a:gridCol w="679843">
                  <a:extLst>
                    <a:ext uri="{9D8B030D-6E8A-4147-A177-3AD203B41FA5}">
                      <a16:colId xmlns:a16="http://schemas.microsoft.com/office/drawing/2014/main" val="1118560299"/>
                    </a:ext>
                  </a:extLst>
                </a:gridCol>
                <a:gridCol w="5098815">
                  <a:extLst>
                    <a:ext uri="{9D8B030D-6E8A-4147-A177-3AD203B41FA5}">
                      <a16:colId xmlns:a16="http://schemas.microsoft.com/office/drawing/2014/main" val="2674298975"/>
                    </a:ext>
                  </a:extLst>
                </a:gridCol>
              </a:tblGrid>
              <a:tr h="4118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EA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Enables/disables all interrupt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760869"/>
                  </a:ext>
                </a:extLst>
              </a:tr>
              <a:tr h="4118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Reserved for future use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744586"/>
                  </a:ext>
                </a:extLst>
              </a:tr>
              <a:tr h="4118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-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Reserved for future use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618500"/>
                  </a:ext>
                </a:extLst>
              </a:tr>
              <a:tr h="4118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ES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Enables/disables serial port interrupt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913585"/>
                  </a:ext>
                </a:extLst>
              </a:tr>
              <a:tr h="434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ET1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Enables/disables timer1 overflow interrupt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222252"/>
                  </a:ext>
                </a:extLst>
              </a:tr>
              <a:tr h="4118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EX1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Enables/disables external interrupt1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850678"/>
                  </a:ext>
                </a:extLst>
              </a:tr>
              <a:tr h="417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ET0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Enables/disables timer0 overflow interrupt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64717"/>
                  </a:ext>
                </a:extLst>
              </a:tr>
              <a:tr h="4118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EX0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Enables/disables external interrupt0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96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792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580B93-F427-4E9D-8DA4-0398180D4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Interrupt Priority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87396"/>
              </p:ext>
            </p:extLst>
          </p:nvPr>
        </p:nvGraphicFramePr>
        <p:xfrm>
          <a:off x="757505" y="1779530"/>
          <a:ext cx="7628989" cy="4127235"/>
        </p:xfrm>
        <a:graphic>
          <a:graphicData uri="http://schemas.openxmlformats.org/drawingml/2006/table">
            <a:tbl>
              <a:tblPr/>
              <a:tblGrid>
                <a:gridCol w="3860419">
                  <a:extLst>
                    <a:ext uri="{9D8B030D-6E8A-4147-A177-3AD203B41FA5}">
                      <a16:colId xmlns:a16="http://schemas.microsoft.com/office/drawing/2014/main" val="2783065628"/>
                    </a:ext>
                  </a:extLst>
                </a:gridCol>
                <a:gridCol w="1422412">
                  <a:extLst>
                    <a:ext uri="{9D8B030D-6E8A-4147-A177-3AD203B41FA5}">
                      <a16:colId xmlns:a16="http://schemas.microsoft.com/office/drawing/2014/main" val="1794447250"/>
                    </a:ext>
                  </a:extLst>
                </a:gridCol>
                <a:gridCol w="2346158">
                  <a:extLst>
                    <a:ext uri="{9D8B030D-6E8A-4147-A177-3AD203B41FA5}">
                      <a16:colId xmlns:a16="http://schemas.microsoft.com/office/drawing/2014/main" val="711339106"/>
                    </a:ext>
                  </a:extLst>
                </a:gridCol>
              </a:tblGrid>
              <a:tr h="13432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Interrupt Source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Vector address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Interrupt priority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72728"/>
                  </a:ext>
                </a:extLst>
              </a:tr>
              <a:tr h="6500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External Interrupt 0 –INT0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0003H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8756"/>
                  </a:ext>
                </a:extLst>
              </a:tr>
              <a:tr h="501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30303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Timer 0 Interrupt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000BH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1992"/>
                  </a:ext>
                </a:extLst>
              </a:tr>
              <a:tr h="6298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External Interrupt 1 –INT1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0013H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418190"/>
                  </a:ext>
                </a:extLst>
              </a:tr>
              <a:tr h="501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Timer 1 Interrupt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001BH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</a:t>
                      </a:r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122915"/>
                  </a:ext>
                </a:extLst>
              </a:tr>
              <a:tr h="501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Serial Interrupt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0023H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89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48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820FA-4F09-403B-9617-6767B79A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Generate a square wave of 2ms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17C1770-66F4-4D79-86FE-6FCD8EE2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altLang="zh-TW" dirty="0">
                <a:solidFill>
                  <a:srgbClr val="000000"/>
                </a:solidFill>
              </a:rPr>
              <a:t>Assume crystal oscillator frequency of 12MHz</a:t>
            </a:r>
          </a:p>
          <a:p>
            <a:pPr marL="914400" lvl="1" indent="-457200"/>
            <a:r>
              <a:rPr lang="en-US" altLang="zh-TW" dirty="0">
                <a:solidFill>
                  <a:srgbClr val="000000"/>
                </a:solidFill>
              </a:rPr>
              <a:t>one timer cycle = </a:t>
            </a:r>
            <a:r>
              <a:rPr lang="de-DE" altLang="zh-TW" dirty="0"/>
              <a:t>1μs</a:t>
            </a:r>
          </a:p>
          <a:p>
            <a:pPr marL="914400" lvl="1" indent="-457200"/>
            <a:r>
              <a:rPr lang="de-DE" altLang="zh-TW" dirty="0"/>
              <a:t>count = </a:t>
            </a:r>
            <a:r>
              <a:rPr lang="en-US" altLang="zh-TW" dirty="0"/>
              <a:t>(1ms)/(1us) = </a:t>
            </a:r>
            <a:r>
              <a:rPr lang="de-DE" altLang="zh-TW" dirty="0"/>
              <a:t>(</a:t>
            </a:r>
            <a:r>
              <a:rPr lang="en-US" altLang="zh-TW" dirty="0"/>
              <a:t>1000us)/(1us) = 1000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46967E1-9259-477D-8C00-F5AE52A68BFD}"/>
              </a:ext>
            </a:extLst>
          </p:cNvPr>
          <p:cNvGrpSpPr/>
          <p:nvPr/>
        </p:nvGrpSpPr>
        <p:grpSpPr>
          <a:xfrm>
            <a:off x="1947198" y="3393861"/>
            <a:ext cx="5249603" cy="2783102"/>
            <a:chOff x="1610498" y="1690689"/>
            <a:chExt cx="5249603" cy="2783102"/>
          </a:xfrm>
        </p:grpSpPr>
        <p:cxnSp>
          <p:nvCxnSpPr>
            <p:cNvPr id="34" name="直線單箭頭接點 33"/>
            <p:cNvCxnSpPr/>
            <p:nvPr/>
          </p:nvCxnSpPr>
          <p:spPr>
            <a:xfrm>
              <a:off x="2857500" y="3825240"/>
              <a:ext cx="11616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>
              <a:off x="1695880" y="2933700"/>
              <a:ext cx="11616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圖片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63" t="19367" r="35610" b="10982"/>
            <a:stretch/>
          </p:blipFill>
          <p:spPr>
            <a:xfrm>
              <a:off x="1610498" y="1690689"/>
              <a:ext cx="5249603" cy="2783102"/>
            </a:xfrm>
            <a:prstGeom prst="rect">
              <a:avLst/>
            </a:prstGeom>
          </p:spPr>
        </p:pic>
        <p:cxnSp>
          <p:nvCxnSpPr>
            <p:cNvPr id="10" name="直線接點 9"/>
            <p:cNvCxnSpPr/>
            <p:nvPr/>
          </p:nvCxnSpPr>
          <p:spPr>
            <a:xfrm>
              <a:off x="4050977" y="4143017"/>
              <a:ext cx="0" cy="2640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1878983" y="2672088"/>
              <a:ext cx="79541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dirty="0">
                  <a:ln w="0"/>
                </a:rPr>
                <a:t>1ms</a:t>
              </a:r>
              <a:endParaRPr lang="zh-TW" altLang="en-US" sz="2800" cap="none" spc="0" dirty="0">
                <a:ln w="0"/>
                <a:solidFill>
                  <a:schemeClr val="tx1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3054250" y="3556010"/>
              <a:ext cx="79541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dirty="0">
                  <a:ln w="0"/>
                </a:rPr>
                <a:t>1ms</a:t>
              </a:r>
              <a:endParaRPr lang="zh-TW" altLang="en-US" sz="2800" cap="none" spc="0" dirty="0">
                <a:ln w="0"/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434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890D5-CEBD-48F2-9C56-F8F2C0F0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Generate a square wave of 2ms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1961A0-3BD7-4164-AD9A-4E1347BFC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de-DE" altLang="zh-TW" dirty="0"/>
              <a:t>Take </a:t>
            </a:r>
            <a:r>
              <a:rPr lang="en-US" altLang="zh-TW" dirty="0"/>
              <a:t>T</a:t>
            </a:r>
            <a:r>
              <a:rPr lang="de-DE" altLang="zh-TW" dirty="0"/>
              <a:t>imer0 mode1 as an example, the timer will increment from </a:t>
            </a:r>
            <a:r>
              <a:rPr lang="de-DE" altLang="zh-TW"/>
              <a:t>0 ~ 65535 </a:t>
            </a:r>
            <a:r>
              <a:rPr lang="de-DE" altLang="zh-TW" dirty="0"/>
              <a:t>.</a:t>
            </a:r>
          </a:p>
          <a:p>
            <a:pPr marL="457200" indent="-457200"/>
            <a:r>
              <a:rPr lang="en-US" altLang="zh-TW" dirty="0"/>
              <a:t>To interrupt after counting 1ms, the initial value to be set for the timer will be 1000 less than its maximum.</a:t>
            </a:r>
          </a:p>
          <a:p>
            <a:pPr marL="457200" indent="-457200"/>
            <a:r>
              <a:rPr lang="en-US" altLang="zh-TW" dirty="0"/>
              <a:t>i.e., set initial time value to (65535-1000), and map this 16-bit value into two 8-bit registers.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333239-81DD-49DB-A9DE-52A00523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985C04-8F2B-4873-8E8F-E4D1231C3076}"/>
              </a:ext>
            </a:extLst>
          </p:cNvPr>
          <p:cNvSpPr/>
          <p:nvPr/>
        </p:nvSpPr>
        <p:spPr>
          <a:xfrm>
            <a:off x="505790" y="4791968"/>
            <a:ext cx="8132419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>
                <a:ln w="0"/>
              </a:rPr>
              <a:t>TH0 = (65536-1000) / 256  = 0xFC      // 8 bit quotient</a:t>
            </a:r>
            <a:endParaRPr lang="zh-TW" altLang="en-US" sz="2800" dirty="0">
              <a:ln w="0"/>
            </a:endParaRPr>
          </a:p>
          <a:p>
            <a:endParaRPr lang="en-US" altLang="zh-TW" sz="2800" b="0" cap="none" spc="0" dirty="0">
              <a:ln w="0"/>
              <a:solidFill>
                <a:schemeClr val="tx1"/>
              </a:solidFill>
            </a:endParaRPr>
          </a:p>
          <a:p>
            <a:r>
              <a:rPr lang="en-US" altLang="zh-TW" sz="2800" b="0" cap="none" spc="0" dirty="0">
                <a:ln w="0"/>
                <a:solidFill>
                  <a:schemeClr val="tx1"/>
                </a:solidFill>
              </a:rPr>
              <a:t>TL0 = (65536-1000) % 256 = 0x18      // 8 bit remainder</a:t>
            </a:r>
          </a:p>
        </p:txBody>
      </p:sp>
    </p:spTree>
    <p:extLst>
      <p:ext uri="{BB962C8B-B14F-4D97-AF65-F5344CB8AC3E}">
        <p14:creationId xmlns:p14="http://schemas.microsoft.com/office/powerpoint/2010/main" val="3962617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8DBA109-D608-4356-B5E2-87D63D214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" y="1040321"/>
            <a:ext cx="7200000" cy="581767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448F955-86EA-4149-A0B0-B08ACA7C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Generate a square wave of 2ms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50466" y="1925312"/>
            <a:ext cx="1337730" cy="26887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448477" y="1191207"/>
            <a:ext cx="265733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5"/>
                </a:solidFill>
              </a:rPr>
              <a:t>interrupt priority</a:t>
            </a:r>
            <a:endParaRPr lang="zh-TW" altLang="en-US" sz="2800" b="0" cap="none" spc="0" dirty="0">
              <a:ln w="0"/>
              <a:solidFill>
                <a:schemeClr val="accent5"/>
              </a:solidFill>
            </a:endParaRPr>
          </a:p>
        </p:txBody>
      </p:sp>
      <p:cxnSp>
        <p:nvCxnSpPr>
          <p:cNvPr id="10" name="直線單箭頭接點 9"/>
          <p:cNvCxnSpPr>
            <a:cxnSpLocks/>
            <a:endCxn id="5" idx="0"/>
          </p:cNvCxnSpPr>
          <p:nvPr/>
        </p:nvCxnSpPr>
        <p:spPr>
          <a:xfrm flipH="1">
            <a:off x="3519331" y="1452817"/>
            <a:ext cx="929146" cy="4724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8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F13E8-AE3D-4DC7-B993-BDE7755F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Generate a square wave of 2ms</a:t>
            </a:r>
            <a:br>
              <a:rPr lang="en-US" altLang="zh-TW" dirty="0"/>
            </a:br>
            <a:r>
              <a:rPr lang="en-US" altLang="zh-TW" dirty="0"/>
              <a:t>(Polling)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C1BBD70-DDE3-4EDC-B2B1-664DA38B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6" y="1530453"/>
            <a:ext cx="7819748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5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C062F-F293-4E68-8796-306AE77A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https://www.electronicwings.com/8051/8051-timers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https://www.slideshare.net/ishonp98/8051-timers-and-counters</a:t>
            </a:r>
            <a:endParaRPr lang="en-US" altLang="zh-TW" dirty="0"/>
          </a:p>
          <a:p>
            <a:r>
              <a:rPr lang="en-US" altLang="zh-TW" dirty="0">
                <a:hlinkClick r:id="rId4"/>
              </a:rPr>
              <a:t>http://dns2.asia.edu.tw/~rikki/mps107/mcs-ch07.pdf</a:t>
            </a:r>
            <a:endParaRPr lang="en-US" altLang="zh-TW" dirty="0"/>
          </a:p>
          <a:p>
            <a:r>
              <a:rPr lang="en-US" altLang="zh-TW" dirty="0">
                <a:hlinkClick r:id="rId5"/>
              </a:rPr>
              <a:t>http://tw.classf0001.uschoolnet.com/css000000183803/cm4k-1358643211-5690-3573.pdf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76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8307" y="743925"/>
            <a:ext cx="8524324" cy="1735137"/>
          </a:xfrm>
        </p:spPr>
        <p:txBody>
          <a:bodyPr>
            <a:noAutofit/>
          </a:bodyPr>
          <a:lstStyle/>
          <a:p>
            <a:pPr algn="l"/>
            <a:r>
              <a:rPr lang="en-US" altLang="zh-TW" b="1">
                <a:latin typeface="Vrinda" panose="020B0502040204020203" pitchFamily="34" charset="0"/>
                <a:cs typeface="Vrinda" panose="020B0502040204020203" pitchFamily="34" charset="0"/>
              </a:rPr>
              <a:t>Microprocessor Systems</a:t>
            </a:r>
            <a:endParaRPr lang="zh-TW" altLang="en-US" b="1">
              <a:latin typeface="Vrinda" panose="020B0502040204020203" pitchFamily="34" charset="0"/>
              <a:cs typeface="Vrinda" panose="020B0502040204020203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10490" y="4360130"/>
            <a:ext cx="2971800" cy="1655762"/>
          </a:xfrm>
        </p:spPr>
        <p:txBody>
          <a:bodyPr/>
          <a:lstStyle/>
          <a:p>
            <a:pPr algn="l"/>
            <a:r>
              <a:rPr lang="en-US" altLang="zh-TW" dirty="0"/>
              <a:t>Prof. Ren-</a:t>
            </a:r>
            <a:r>
              <a:rPr lang="en-US" altLang="zh-TW" dirty="0" err="1"/>
              <a:t>Shuo</a:t>
            </a:r>
            <a:r>
              <a:rPr lang="en-US" altLang="zh-TW" dirty="0"/>
              <a:t> Liu</a:t>
            </a:r>
          </a:p>
          <a:p>
            <a:pPr algn="l"/>
            <a:r>
              <a:rPr lang="en-US" altLang="zh-TW" dirty="0"/>
              <a:t>NTHU EE</a:t>
            </a:r>
          </a:p>
        </p:txBody>
      </p:sp>
      <p:sp>
        <p:nvSpPr>
          <p:cNvPr id="52" name="副標題 2"/>
          <p:cNvSpPr txBox="1">
            <a:spLocks/>
          </p:cNvSpPr>
          <p:nvPr/>
        </p:nvSpPr>
        <p:spPr>
          <a:xfrm>
            <a:off x="510490" y="2497870"/>
            <a:ext cx="8623592" cy="14014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3200" spc="-150" dirty="0">
                <a:ea typeface="新細明體"/>
                <a:cs typeface="Vrinda"/>
              </a:rPr>
              <a:t>Lab4 – 2 </a:t>
            </a:r>
            <a:r>
              <a:rPr lang="zh-TW" altLang="en-US" sz="3200" spc="-150" dirty="0">
                <a:ea typeface="新細明體"/>
                <a:cs typeface="Vrinda"/>
              </a:rPr>
              <a:t> </a:t>
            </a:r>
            <a:r>
              <a:rPr lang="en-US" altLang="zh-TW" sz="3200" spc="-150" dirty="0">
                <a:ea typeface="新細明體"/>
                <a:cs typeface="Vrinda"/>
              </a:rPr>
              <a:t>Hall Magnetic Sensor </a:t>
            </a:r>
            <a:r>
              <a:rPr lang="en-US" altLang="zh-TW" sz="3200" spc="-150" dirty="0">
                <a:ea typeface="新細明體"/>
                <a:cs typeface="Vrinda" panose="020B0502040204020203" pitchFamily="34" charset="0"/>
              </a:rPr>
              <a:t>	</a:t>
            </a:r>
            <a:endParaRPr lang="en-US" altLang="zh-TW" sz="32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B9126C-6111-4785-8EDF-2E3E64938C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14" y="3823857"/>
            <a:ext cx="4123617" cy="251701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FBE03B-666C-48A2-B0B7-38CFB679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z="1800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zh-TW" altLang="en-US" sz="18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13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601F3-5864-49AC-8D94-29E166EC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Hall Effect </a:t>
            </a:r>
            <a:endParaRPr lang="zh-TW" altLang="en-US" b="1" dirty="0">
              <a:latin typeface="+mn-lt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9B5B15B7-262E-4F2C-8565-3907909A3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Discovered by Edwin Hall in 1879.</a:t>
            </a:r>
          </a:p>
          <a:p>
            <a:r>
              <a:rPr lang="en-US" altLang="zh-TW" dirty="0"/>
              <a:t>When magnetic flux goes through a conductive plate, it separates the positive and negative charges, creating Hall voltage.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0EF8C2-CB1E-439C-814B-F5D92EEF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933" y="3201348"/>
            <a:ext cx="3298120" cy="311513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85" y="3497797"/>
            <a:ext cx="3777164" cy="268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1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BA1FB-80FE-4655-BB4F-C47D07B8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Hall Magnetic Sensor</a:t>
            </a:r>
            <a:endParaRPr lang="zh-TW" altLang="en-US" b="1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EE8028-3C68-4506-BE13-8CA393A1F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 Hall magnetic sensor is a device which is activated by external magnetic fields.</a:t>
            </a:r>
          </a:p>
          <a:p>
            <a:r>
              <a:rPr lang="en-US" altLang="zh-TW" dirty="0"/>
              <a:t>It converts the magnetic flux density around it into output voltage (Hall voltage), which is usually  a few micro Volt per Gauss.</a:t>
            </a:r>
          </a:p>
          <a:p>
            <a:r>
              <a:rPr lang="en-US" altLang="zh-TW" dirty="0"/>
              <a:t>Hall sensors usually consist of a thin piece of rectangular p-type semiconductor material, where the Hall effect takes place.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E6C7BD-0D35-4201-833C-43A0EC89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537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pc="-150" dirty="0">
                <a:latin typeface="+mn-lt"/>
                <a:ea typeface="新細明體"/>
                <a:cs typeface="Vrinda"/>
              </a:rPr>
              <a:t>Hall Magnetic Sensor </a:t>
            </a:r>
            <a:endParaRPr lang="zh-TW" altLang="en-US" b="1" dirty="0">
              <a:latin typeface="+mn-lt"/>
            </a:endParaRP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D66811E3-186C-4FDB-98AF-BCD11E6A7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this course, we use </a:t>
            </a:r>
          </a:p>
          <a:p>
            <a:pPr marL="0" indent="0">
              <a:buNone/>
            </a:pPr>
            <a:r>
              <a:rPr lang="en-US" altLang="zh-TW" spc="-150" dirty="0">
                <a:ea typeface="新細明體"/>
                <a:cs typeface="Vrinda"/>
              </a:rPr>
              <a:t>   Hall Magnetic Sensor A3144E.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72" y="2992266"/>
            <a:ext cx="5453200" cy="3309475"/>
          </a:xfrm>
          <a:prstGeom prst="rect">
            <a:avLst/>
          </a:prstGeom>
        </p:spPr>
      </p:pic>
      <p:cxnSp>
        <p:nvCxnSpPr>
          <p:cNvPr id="12" name="直線單箭頭接點 11"/>
          <p:cNvCxnSpPr/>
          <p:nvPr/>
        </p:nvCxnSpPr>
        <p:spPr>
          <a:xfrm flipV="1">
            <a:off x="905608" y="1820008"/>
            <a:ext cx="5020407" cy="253218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712177" y="4000500"/>
            <a:ext cx="5213838" cy="94956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內容版面配置區 5">
            <a:extLst>
              <a:ext uri="{FF2B5EF4-FFF2-40B4-BE49-F238E27FC236}">
                <a16:creationId xmlns:a16="http://schemas.microsoft.com/office/drawing/2014/main" id="{FCF6F9E6-DF4F-4A8A-BCAE-7FE6B92F6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172" y="1683575"/>
            <a:ext cx="2764178" cy="467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1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0D4E3-4A7D-4BF0-A6D2-1BCFCFC3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Block Diagram</a:t>
            </a:r>
            <a:endParaRPr lang="zh-TW" altLang="en-US" b="1" dirty="0">
              <a:latin typeface="+mn-lt"/>
            </a:endParaRPr>
          </a:p>
        </p:txBody>
      </p:sp>
      <p:pic>
        <p:nvPicPr>
          <p:cNvPr id="14" name="內容版面配置區 5">
            <a:extLst>
              <a:ext uri="{FF2B5EF4-FFF2-40B4-BE49-F238E27FC236}">
                <a16:creationId xmlns:a16="http://schemas.microsoft.com/office/drawing/2014/main" id="{19D609B3-0D05-42F7-812F-0FEC7FA21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310" y="2270682"/>
            <a:ext cx="2047875" cy="34575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3362BFE-227B-4181-BD76-910C1C4891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 b="41016"/>
          <a:stretch/>
        </p:blipFill>
        <p:spPr>
          <a:xfrm>
            <a:off x="2173185" y="1723292"/>
            <a:ext cx="6856514" cy="4357049"/>
          </a:xfrm>
          <a:prstGeom prst="rect">
            <a:avLst/>
          </a:prstGeom>
        </p:spPr>
      </p:pic>
      <p:sp>
        <p:nvSpPr>
          <p:cNvPr id="16" name="流程圖: 程序 15">
            <a:extLst>
              <a:ext uri="{FF2B5EF4-FFF2-40B4-BE49-F238E27FC236}">
                <a16:creationId xmlns:a16="http://schemas.microsoft.com/office/drawing/2014/main" id="{784EA775-12B6-4BFB-A9B7-F3331A19072E}"/>
              </a:ext>
            </a:extLst>
          </p:cNvPr>
          <p:cNvSpPr/>
          <p:nvPr/>
        </p:nvSpPr>
        <p:spPr>
          <a:xfrm>
            <a:off x="5161084" y="3833446"/>
            <a:ext cx="1222131" cy="1283677"/>
          </a:xfrm>
          <a:prstGeom prst="flowChartProcess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41719C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5EC6722-F86B-4C97-9CAD-3A940F4AAE23}"/>
              </a:ext>
            </a:extLst>
          </p:cNvPr>
          <p:cNvSpPr txBox="1"/>
          <p:nvPr/>
        </p:nvSpPr>
        <p:spPr>
          <a:xfrm>
            <a:off x="4985238" y="2587445"/>
            <a:ext cx="23211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41719C"/>
                </a:solidFill>
              </a:rPr>
              <a:t>Schmitt trigger</a:t>
            </a:r>
          </a:p>
          <a:p>
            <a:endParaRPr lang="zh-TW" altLang="en-US" dirty="0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FB856D7-F119-47D2-98E0-7B10EE799443}"/>
              </a:ext>
            </a:extLst>
          </p:cNvPr>
          <p:cNvCxnSpPr>
            <a:stCxn id="16" idx="2"/>
          </p:cNvCxnSpPr>
          <p:nvPr/>
        </p:nvCxnSpPr>
        <p:spPr>
          <a:xfrm>
            <a:off x="5772150" y="5117123"/>
            <a:ext cx="7327" cy="611134"/>
          </a:xfrm>
          <a:prstGeom prst="line">
            <a:avLst/>
          </a:prstGeom>
          <a:ln w="38100" cap="flat" cmpd="sng" algn="ctr">
            <a:solidFill>
              <a:srgbClr val="41719C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026C97A8-F515-49E4-A6F4-5C1401244046}"/>
              </a:ext>
            </a:extLst>
          </p:cNvPr>
          <p:cNvCxnSpPr/>
          <p:nvPr/>
        </p:nvCxnSpPr>
        <p:spPr>
          <a:xfrm>
            <a:off x="5779477" y="3209192"/>
            <a:ext cx="1" cy="624254"/>
          </a:xfrm>
          <a:prstGeom prst="line">
            <a:avLst/>
          </a:prstGeom>
          <a:ln w="38100" cap="flat" cmpd="sng" algn="ctr">
            <a:solidFill>
              <a:srgbClr val="41719C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ABE647-5C1A-4676-9171-7E90B01E7E6A}"/>
              </a:ext>
            </a:extLst>
          </p:cNvPr>
          <p:cNvSpPr txBox="1"/>
          <p:nvPr/>
        </p:nvSpPr>
        <p:spPr>
          <a:xfrm>
            <a:off x="3730869" y="5341677"/>
            <a:ext cx="23211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41719C"/>
                </a:solidFill>
              </a:rPr>
              <a:t>Analog signal</a:t>
            </a:r>
          </a:p>
          <a:p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E0B249E-1EF6-4EFF-9FB2-C5A8B4EBAA70}"/>
              </a:ext>
            </a:extLst>
          </p:cNvPr>
          <p:cNvSpPr txBox="1"/>
          <p:nvPr/>
        </p:nvSpPr>
        <p:spPr>
          <a:xfrm>
            <a:off x="6052780" y="5341677"/>
            <a:ext cx="23211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41719C"/>
                </a:solidFill>
              </a:rPr>
              <a:t>Digital signal</a:t>
            </a:r>
          </a:p>
          <a:p>
            <a:endParaRPr lang="zh-TW" altLang="en-US" dirty="0"/>
          </a:p>
        </p:txBody>
      </p:sp>
      <p:sp>
        <p:nvSpPr>
          <p:cNvPr id="24" name="投影片編號版面配置區 3">
            <a:extLst>
              <a:ext uri="{FF2B5EF4-FFF2-40B4-BE49-F238E27FC236}">
                <a16:creationId xmlns:a16="http://schemas.microsoft.com/office/drawing/2014/main" id="{36524C91-9A71-4DEA-BD7F-F87929DA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E709601E-3B4E-4928-8AF0-88D45E7837C6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46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0D4E3-4A7D-4BF0-A6D2-1BCFCFC3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Types of Hall Effect 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497A55-0D42-4169-B429-54A7A1E01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Linear output type</a:t>
            </a:r>
            <a:r>
              <a:rPr lang="en-US" altLang="zh-TW" dirty="0"/>
              <a:t>: Used to obtain an output voltage that is directly proportional to the magnetic field strength.</a:t>
            </a:r>
          </a:p>
          <a:p>
            <a:r>
              <a:rPr lang="en-US" altLang="zh-TW" b="1" dirty="0"/>
              <a:t>Switching type: </a:t>
            </a:r>
            <a:r>
              <a:rPr lang="en-US" altLang="zh-TW" dirty="0"/>
              <a:t>Used to obtain an on/off signal.</a:t>
            </a:r>
          </a:p>
          <a:p>
            <a:pPr marL="0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616D13-658F-47EC-860D-1941CEB6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21</a:t>
            </a:fld>
            <a:endParaRPr lang="zh-TW" altLang="en-US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19" r="32240" b="45180"/>
          <a:stretch/>
        </p:blipFill>
        <p:spPr>
          <a:xfrm>
            <a:off x="4843604" y="3810003"/>
            <a:ext cx="2901112" cy="2651388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914" b="45180"/>
          <a:stretch/>
        </p:blipFill>
        <p:spPr>
          <a:xfrm>
            <a:off x="1132166" y="3802833"/>
            <a:ext cx="2938669" cy="265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0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0D4E3-4A7D-4BF0-A6D2-1BCFCFC3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Schmitt Trigger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C853C8-DA69-4F5D-8142-95406FB7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927" y="1509333"/>
            <a:ext cx="7920000" cy="4667630"/>
          </a:xfrm>
        </p:spPr>
        <p:txBody>
          <a:bodyPr/>
          <a:lstStyle/>
          <a:p>
            <a:r>
              <a:rPr lang="en-US" altLang="zh-TW" b="1" dirty="0"/>
              <a:t>Input signal &gt; Positive threshold: </a:t>
            </a:r>
            <a:r>
              <a:rPr lang="en-US" altLang="zh-TW" dirty="0"/>
              <a:t>Output signal = 0</a:t>
            </a:r>
            <a:endParaRPr lang="en-US" altLang="zh-TW" b="1" dirty="0"/>
          </a:p>
          <a:p>
            <a:r>
              <a:rPr lang="en-US" altLang="zh-TW" b="1" dirty="0"/>
              <a:t>Input signal &lt; Negative threshold: </a:t>
            </a:r>
            <a:r>
              <a:rPr lang="en-US" altLang="zh-TW" dirty="0"/>
              <a:t>Output signal = 1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616D13-658F-47EC-860D-1941CEB6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22</a:t>
            </a:fld>
            <a:endParaRPr lang="zh-TW" altLang="en-US"/>
          </a:p>
        </p:txBody>
      </p:sp>
      <p:grpSp>
        <p:nvGrpSpPr>
          <p:cNvPr id="31" name="群組 30"/>
          <p:cNvGrpSpPr/>
          <p:nvPr/>
        </p:nvGrpSpPr>
        <p:grpSpPr>
          <a:xfrm>
            <a:off x="706687" y="2655277"/>
            <a:ext cx="7808663" cy="3701074"/>
            <a:chOff x="429729" y="2676825"/>
            <a:chExt cx="7571271" cy="3624916"/>
          </a:xfrm>
        </p:grpSpPr>
        <p:pic>
          <p:nvPicPr>
            <p:cNvPr id="22" name="圖片 2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277" b="35552"/>
            <a:stretch/>
          </p:blipFill>
          <p:spPr>
            <a:xfrm>
              <a:off x="429729" y="2801603"/>
              <a:ext cx="7056921" cy="3500138"/>
            </a:xfrm>
            <a:prstGeom prst="rect">
              <a:avLst/>
            </a:prstGeom>
          </p:spPr>
        </p:pic>
        <p:sp>
          <p:nvSpPr>
            <p:cNvPr id="13" name="文字方塊 12"/>
            <p:cNvSpPr txBox="1"/>
            <p:nvPr/>
          </p:nvSpPr>
          <p:spPr>
            <a:xfrm>
              <a:off x="823347" y="5410877"/>
              <a:ext cx="3686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41719C"/>
                  </a:solidFill>
                </a:rPr>
                <a:t>1</a:t>
              </a:r>
              <a:endParaRPr lang="zh-TW" altLang="en-US" sz="2400" dirty="0">
                <a:solidFill>
                  <a:srgbClr val="41719C"/>
                </a:solidFill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2124114" y="5410878"/>
              <a:ext cx="3686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41719C"/>
                  </a:solidFill>
                </a:rPr>
                <a:t>0</a:t>
              </a:r>
              <a:endParaRPr lang="zh-TW" altLang="en-US" sz="2400" dirty="0">
                <a:solidFill>
                  <a:srgbClr val="41719C"/>
                </a:solidFill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3988268" y="5410877"/>
              <a:ext cx="3686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41719C"/>
                  </a:solidFill>
                </a:rPr>
                <a:t>1</a:t>
              </a:r>
              <a:endParaRPr lang="zh-TW" altLang="en-US" sz="2400" dirty="0">
                <a:solidFill>
                  <a:srgbClr val="41719C"/>
                </a:solidFill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087106" y="5410877"/>
              <a:ext cx="3686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41719C"/>
                  </a:solidFill>
                </a:rPr>
                <a:t>0</a:t>
              </a:r>
              <a:endParaRPr lang="zh-TW" altLang="en-US" sz="2400" dirty="0">
                <a:solidFill>
                  <a:srgbClr val="41719C"/>
                </a:solidFill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238890" y="5410876"/>
              <a:ext cx="3686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41719C"/>
                  </a:solidFill>
                </a:rPr>
                <a:t>1</a:t>
              </a:r>
              <a:endParaRPr lang="zh-TW" altLang="en-US" sz="2400" dirty="0">
                <a:solidFill>
                  <a:srgbClr val="41719C"/>
                </a:solidFill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356958" y="2676825"/>
              <a:ext cx="2402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b="1" dirty="0">
                  <a:solidFill>
                    <a:srgbClr val="1804AC"/>
                  </a:solidFill>
                </a:rPr>
                <a:t>Input signal</a:t>
              </a:r>
              <a:endParaRPr lang="zh-TW" altLang="en-US" sz="2400" b="1" baseline="-25000" dirty="0">
                <a:solidFill>
                  <a:srgbClr val="1804AC"/>
                </a:solidFill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7314307" y="3774112"/>
              <a:ext cx="6866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b="1" dirty="0" err="1">
                  <a:solidFill>
                    <a:srgbClr val="00B050"/>
                  </a:solidFill>
                </a:rPr>
                <a:t>N</a:t>
              </a:r>
              <a:r>
                <a:rPr lang="en-US" altLang="zh-TW" sz="2800" b="1" baseline="-25000" dirty="0" err="1">
                  <a:solidFill>
                    <a:srgbClr val="00B050"/>
                  </a:solidFill>
                </a:rPr>
                <a:t>Th</a:t>
              </a:r>
              <a:endParaRPr lang="zh-TW" altLang="en-US" sz="2800" b="1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7314307" y="3333114"/>
              <a:ext cx="6866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b="1" dirty="0" err="1">
                  <a:solidFill>
                    <a:srgbClr val="C00000"/>
                  </a:solidFill>
                </a:rPr>
                <a:t>P</a:t>
              </a:r>
              <a:r>
                <a:rPr lang="en-US" altLang="zh-TW" sz="2800" b="1" baseline="-25000" dirty="0" err="1">
                  <a:solidFill>
                    <a:srgbClr val="C00000"/>
                  </a:solidFill>
                </a:rPr>
                <a:t>Th</a:t>
              </a:r>
              <a:endParaRPr lang="zh-TW" altLang="en-US" sz="28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4356957" y="4757888"/>
              <a:ext cx="2402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b="1" dirty="0">
                  <a:solidFill>
                    <a:srgbClr val="0070C0"/>
                  </a:solidFill>
                </a:rPr>
                <a:t>Output signal</a:t>
              </a:r>
              <a:endParaRPr lang="zh-TW" altLang="en-US" sz="2400" b="1" baseline="-250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969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0D4E3-4A7D-4BF0-A6D2-1BCFCFC3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Type of Hall Effect IC Detection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F4E600F-CED7-44D7-BD86-441C55B3C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Unipolar Detection</a:t>
            </a:r>
          </a:p>
          <a:p>
            <a:pPr lvl="1"/>
            <a:r>
              <a:rPr lang="en-US" altLang="zh-TW" dirty="0"/>
              <a:t>Only one magnetic field pole (north or south) is detected.</a:t>
            </a:r>
          </a:p>
          <a:p>
            <a:pPr lvl="1"/>
            <a:r>
              <a:rPr lang="en-US" altLang="zh-TW" dirty="0"/>
              <a:t>ON/OFF operation is performed according to the magnetic flux density to output a high or low level signal.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616D13-658F-47EC-860D-1941CEB6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809213" y="6308080"/>
            <a:ext cx="23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chemeClr val="accent5"/>
                </a:solidFill>
              </a:rPr>
              <a:t>Hall Effect</a:t>
            </a:r>
            <a:r>
              <a:rPr lang="zh-TW" altLang="en-US" sz="2400" dirty="0">
                <a:solidFill>
                  <a:schemeClr val="accent5"/>
                </a:solidFill>
              </a:rPr>
              <a:t> </a:t>
            </a:r>
            <a:r>
              <a:rPr lang="en-US" altLang="zh-TW" sz="2400" dirty="0">
                <a:solidFill>
                  <a:schemeClr val="accent5"/>
                </a:solidFill>
              </a:rPr>
              <a:t>Sensor</a:t>
            </a:r>
            <a:endParaRPr lang="zh-TW" altLang="en-US" sz="2400" baseline="-25000" dirty="0">
              <a:solidFill>
                <a:schemeClr val="accent5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5E01F17-81AB-4699-BD84-8225BC432463}"/>
              </a:ext>
            </a:extLst>
          </p:cNvPr>
          <p:cNvGrpSpPr/>
          <p:nvPr/>
        </p:nvGrpSpPr>
        <p:grpSpPr>
          <a:xfrm>
            <a:off x="628650" y="3472693"/>
            <a:ext cx="3906759" cy="2883658"/>
            <a:chOff x="233369" y="3573961"/>
            <a:chExt cx="3906759" cy="2883658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A00D9D67-6EFA-41D9-94CE-147BE5256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369" y="3573961"/>
              <a:ext cx="1268078" cy="2883658"/>
            </a:xfrm>
            <a:prstGeom prst="rect">
              <a:avLst/>
            </a:prstGeom>
          </p:spPr>
        </p:pic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ED7191C2-EB3C-472B-A0A1-70ACB7128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78" r="32241" b="45180"/>
            <a:stretch/>
          </p:blipFill>
          <p:spPr>
            <a:xfrm>
              <a:off x="1501447" y="3797011"/>
              <a:ext cx="2638681" cy="2437557"/>
            </a:xfrm>
            <a:prstGeom prst="rect">
              <a:avLst/>
            </a:prstGeom>
          </p:spPr>
        </p:pic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6B84EA6-6A5A-4F87-98F5-3BFE6BDDE5E4}"/>
              </a:ext>
            </a:extLst>
          </p:cNvPr>
          <p:cNvGrpSpPr/>
          <p:nvPr/>
        </p:nvGrpSpPr>
        <p:grpSpPr>
          <a:xfrm>
            <a:off x="4911361" y="3472692"/>
            <a:ext cx="3603989" cy="2883658"/>
            <a:chOff x="8310558" y="-1263148"/>
            <a:chExt cx="3603989" cy="2883658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752C0611-B69B-413C-934F-763139899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10558" y="-1263148"/>
              <a:ext cx="1268078" cy="2883658"/>
            </a:xfrm>
            <a:prstGeom prst="rect">
              <a:avLst/>
            </a:prstGeom>
          </p:spPr>
        </p:pic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80382034-4BEB-4F8D-8BF1-65F6806406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8" t="1797" r="71442" b="49282"/>
            <a:stretch/>
          </p:blipFill>
          <p:spPr>
            <a:xfrm>
              <a:off x="9578636" y="-989275"/>
              <a:ext cx="2335911" cy="2335911"/>
            </a:xfrm>
            <a:prstGeom prst="rect">
              <a:avLst/>
            </a:prstGeom>
          </p:spPr>
        </p:pic>
      </p:grp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EF04F76-069B-480B-8C06-BCB9037CD689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1379466" y="5843863"/>
            <a:ext cx="429747" cy="69505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55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3"/>
          <a:srcRect r="50563" b="25202"/>
          <a:stretch/>
        </p:blipFill>
        <p:spPr>
          <a:xfrm>
            <a:off x="4885497" y="3987168"/>
            <a:ext cx="4258503" cy="269897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3036AB7-5715-4FE9-9C3A-A599617F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b="1" dirty="0">
                <a:latin typeface="+mn-lt"/>
              </a:rPr>
              <a:t>Applications of Hall Effect</a:t>
            </a:r>
            <a:r>
              <a:rPr lang="zh-TW" altLang="en-US" sz="4000" b="1" dirty="0">
                <a:latin typeface="+mn-lt"/>
              </a:rPr>
              <a:t> </a:t>
            </a:r>
            <a:r>
              <a:rPr lang="en-US" altLang="zh-TW" sz="4000" b="1" dirty="0">
                <a:latin typeface="+mn-lt"/>
              </a:rPr>
              <a:t>Sensors</a:t>
            </a:r>
            <a:endParaRPr lang="zh-TW" altLang="en-US" sz="4000" b="1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44D7B3-EC05-475A-B387-C491343AF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Proximity sensing</a:t>
            </a:r>
          </a:p>
          <a:p>
            <a:r>
              <a:rPr lang="en-US" altLang="zh-TW" dirty="0"/>
              <a:t>Positioning</a:t>
            </a:r>
          </a:p>
          <a:p>
            <a:r>
              <a:rPr lang="en-US" altLang="zh-TW" dirty="0"/>
              <a:t>Speed detection</a:t>
            </a:r>
          </a:p>
          <a:p>
            <a:r>
              <a:rPr lang="en-US" altLang="zh-TW" dirty="0"/>
              <a:t>Current sensing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037531-90FD-43A9-B7A5-30EC8775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816" y="1447799"/>
            <a:ext cx="2917999" cy="217252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672612" y="3982107"/>
            <a:ext cx="57853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A rotating 16-pole ring magnet </a:t>
            </a:r>
          </a:p>
          <a:p>
            <a:r>
              <a:rPr lang="en-US" altLang="zh-TW" sz="2400" b="1" dirty="0"/>
              <a:t>Red (north pole) </a:t>
            </a:r>
            <a:r>
              <a:rPr lang="en-US" altLang="zh-TW" sz="2400" dirty="0"/>
              <a:t>: Activate</a:t>
            </a:r>
          </a:p>
          <a:p>
            <a:r>
              <a:rPr lang="en-US" altLang="zh-TW" sz="2400" b="1" dirty="0"/>
              <a:t>White (south pole) </a:t>
            </a:r>
            <a:r>
              <a:rPr lang="en-US" altLang="zh-TW" sz="2400" dirty="0"/>
              <a:t>: Deactivate 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>
                <a:sym typeface="Wingdings" panose="05000000000000000000" pitchFamily="2" charset="2"/>
              </a:rPr>
              <a:t> </a:t>
            </a:r>
            <a:r>
              <a:rPr lang="en-US" altLang="zh-TW" sz="2400" dirty="0"/>
              <a:t>resulting in a very accurate speed signal 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513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>
                <a:latin typeface="+mn-lt"/>
              </a:rPr>
              <a:t>Applications of Hall Effect Sensors </a:t>
            </a:r>
            <a:endParaRPr lang="zh-TW" altLang="en-US" b="1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Wheel speed sensors – RPM</a:t>
            </a:r>
          </a:p>
          <a:p>
            <a:r>
              <a:rPr lang="en-US" altLang="zh-TW" dirty="0"/>
              <a:t>The frequency increases proportionally to rpm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54D7C16F-F513-47A2-8A9A-EAC6E1A71229}"/>
              </a:ext>
            </a:extLst>
          </p:cNvPr>
          <p:cNvGrpSpPr/>
          <p:nvPr/>
        </p:nvGrpSpPr>
        <p:grpSpPr>
          <a:xfrm>
            <a:off x="5770167" y="3669463"/>
            <a:ext cx="3103684" cy="2067779"/>
            <a:chOff x="5859939" y="3686421"/>
            <a:chExt cx="3103684" cy="2067779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635" b="74908"/>
            <a:stretch/>
          </p:blipFill>
          <p:spPr>
            <a:xfrm>
              <a:off x="5859939" y="3686421"/>
              <a:ext cx="3103684" cy="1442913"/>
            </a:xfrm>
            <a:prstGeom prst="rect">
              <a:avLst/>
            </a:prstGeom>
          </p:spPr>
        </p:pic>
        <p:grpSp>
          <p:nvGrpSpPr>
            <p:cNvPr id="31" name="群組 30"/>
            <p:cNvGrpSpPr/>
            <p:nvPr/>
          </p:nvGrpSpPr>
          <p:grpSpPr>
            <a:xfrm>
              <a:off x="6554665" y="5088626"/>
              <a:ext cx="674810" cy="665574"/>
              <a:chOff x="6238185" y="5182791"/>
              <a:chExt cx="869138" cy="665574"/>
            </a:xfrm>
          </p:grpSpPr>
          <p:cxnSp>
            <p:nvCxnSpPr>
              <p:cNvPr id="17" name="直線單箭頭接點 16"/>
              <p:cNvCxnSpPr/>
              <p:nvPr/>
            </p:nvCxnSpPr>
            <p:spPr>
              <a:xfrm flipV="1">
                <a:off x="6238185" y="5302950"/>
                <a:ext cx="869138" cy="4299"/>
              </a:xfrm>
              <a:prstGeom prst="straightConnector1">
                <a:avLst/>
              </a:prstGeom>
              <a:ln w="38100">
                <a:solidFill>
                  <a:srgbClr val="EB701D"/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/>
              <p:cNvCxnSpPr/>
              <p:nvPr/>
            </p:nvCxnSpPr>
            <p:spPr>
              <a:xfrm>
                <a:off x="6238185" y="5182791"/>
                <a:ext cx="0" cy="240318"/>
              </a:xfrm>
              <a:prstGeom prst="line">
                <a:avLst/>
              </a:prstGeom>
              <a:ln w="38100">
                <a:solidFill>
                  <a:srgbClr val="EB701D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>
              <a:xfrm>
                <a:off x="7107323" y="5182791"/>
                <a:ext cx="0" cy="240318"/>
              </a:xfrm>
              <a:prstGeom prst="line">
                <a:avLst/>
              </a:prstGeom>
              <a:ln w="38100">
                <a:solidFill>
                  <a:srgbClr val="EB701D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/>
              <p:cNvSpPr txBox="1"/>
              <p:nvPr/>
            </p:nvSpPr>
            <p:spPr>
              <a:xfrm>
                <a:off x="6510688" y="5386700"/>
                <a:ext cx="324499" cy="461665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srgbClr val="EB701D"/>
                    </a:solidFill>
                  </a:rPr>
                  <a:t>T</a:t>
                </a:r>
                <a:endParaRPr lang="zh-TW" altLang="en-US" sz="2400" baseline="-25000" dirty="0">
                  <a:solidFill>
                    <a:srgbClr val="EB701D"/>
                  </a:solidFill>
                </a:endParaRPr>
              </a:p>
            </p:txBody>
          </p:sp>
        </p:grpSp>
      </p:grpSp>
      <p:grpSp>
        <p:nvGrpSpPr>
          <p:cNvPr id="38" name="群組 37"/>
          <p:cNvGrpSpPr/>
          <p:nvPr/>
        </p:nvGrpSpPr>
        <p:grpSpPr>
          <a:xfrm>
            <a:off x="372138" y="2714546"/>
            <a:ext cx="6395063" cy="3824367"/>
            <a:chOff x="239771" y="2618692"/>
            <a:chExt cx="6783942" cy="4102784"/>
          </a:xfrm>
        </p:grpSpPr>
        <p:pic>
          <p:nvPicPr>
            <p:cNvPr id="10" name="圖片 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" t="4126" r="66827" b="39428"/>
            <a:stretch/>
          </p:blipFill>
          <p:spPr>
            <a:xfrm>
              <a:off x="239771" y="2618692"/>
              <a:ext cx="3998995" cy="4102784"/>
            </a:xfrm>
            <a:prstGeom prst="rect">
              <a:avLst/>
            </a:prstGeom>
          </p:spPr>
        </p:pic>
        <p:sp>
          <p:nvSpPr>
            <p:cNvPr id="11" name="文字方塊 10"/>
            <p:cNvSpPr txBox="1"/>
            <p:nvPr/>
          </p:nvSpPr>
          <p:spPr>
            <a:xfrm>
              <a:off x="4142682" y="2661181"/>
              <a:ext cx="1919452" cy="510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Output wires</a:t>
              </a:r>
              <a:endParaRPr lang="zh-TW" altLang="en-US" sz="2400" baseline="-25000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181103" y="4496825"/>
              <a:ext cx="2784947" cy="510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Permanent Magnet</a:t>
              </a:r>
              <a:endParaRPr lang="zh-TW" altLang="en-US" sz="2400" baseline="-250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3181103" y="5015912"/>
              <a:ext cx="2784947" cy="510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Hall Effect Sensor</a:t>
              </a:r>
              <a:endParaRPr lang="zh-TW" altLang="en-US" sz="2400" baseline="-250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238766" y="6086633"/>
              <a:ext cx="2784947" cy="510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Trigger Wheel</a:t>
              </a:r>
              <a:endParaRPr lang="zh-TW" altLang="en-US" sz="2400" baseline="-250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00926" y="4686018"/>
              <a:ext cx="2784947" cy="510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Gap</a:t>
              </a:r>
              <a:endParaRPr lang="zh-TW" altLang="en-US" sz="2400" baseline="-25000" dirty="0"/>
            </a:p>
          </p:txBody>
        </p:sp>
      </p:grpSp>
      <p:grpSp>
        <p:nvGrpSpPr>
          <p:cNvPr id="32" name="群組 31"/>
          <p:cNvGrpSpPr/>
          <p:nvPr/>
        </p:nvGrpSpPr>
        <p:grpSpPr>
          <a:xfrm rot="537764">
            <a:off x="1969621" y="5908519"/>
            <a:ext cx="466465" cy="376204"/>
            <a:chOff x="6238185" y="5182791"/>
            <a:chExt cx="869138" cy="240318"/>
          </a:xfrm>
        </p:grpSpPr>
        <p:cxnSp>
          <p:nvCxnSpPr>
            <p:cNvPr id="33" name="直線單箭頭接點 32"/>
            <p:cNvCxnSpPr/>
            <p:nvPr/>
          </p:nvCxnSpPr>
          <p:spPr>
            <a:xfrm flipV="1">
              <a:off x="6238185" y="5302950"/>
              <a:ext cx="869138" cy="4299"/>
            </a:xfrm>
            <a:prstGeom prst="straightConnector1">
              <a:avLst/>
            </a:prstGeom>
            <a:ln w="38100">
              <a:solidFill>
                <a:srgbClr val="EB701D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>
              <a:off x="6238185" y="5182791"/>
              <a:ext cx="0" cy="240318"/>
            </a:xfrm>
            <a:prstGeom prst="line">
              <a:avLst/>
            </a:prstGeom>
            <a:ln w="38100">
              <a:solidFill>
                <a:srgbClr val="EB701D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7107323" y="5182791"/>
              <a:ext cx="0" cy="240318"/>
            </a:xfrm>
            <a:prstGeom prst="line">
              <a:avLst/>
            </a:prstGeom>
            <a:ln w="38100">
              <a:solidFill>
                <a:srgbClr val="EB701D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109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FC138-B0C1-413C-8E1B-D176F658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Reference</a:t>
            </a:r>
            <a:endParaRPr lang="zh-TW" altLang="en-US" b="1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E65C8-AC1F-4D12-B818-F3406316B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9332"/>
            <a:ext cx="7886700" cy="5348667"/>
          </a:xfrm>
        </p:spPr>
        <p:txBody>
          <a:bodyPr>
            <a:normAutofit/>
          </a:bodyPr>
          <a:lstStyle/>
          <a:p>
            <a:r>
              <a:rPr lang="en-US" altLang="zh-TW" sz="2600" dirty="0">
                <a:hlinkClick r:id="rId2"/>
              </a:rPr>
              <a:t>https://www.allaboutcircuits.com/industry-articles/a-guide-to-the-applications-of-hall-effect-and-reed-switch-sensors/</a:t>
            </a:r>
            <a:endParaRPr lang="en-US" altLang="zh-TW" sz="2600" dirty="0"/>
          </a:p>
          <a:p>
            <a:r>
              <a:rPr lang="en-US" altLang="zh-TW" sz="2600" dirty="0">
                <a:hlinkClick r:id="rId3"/>
              </a:rPr>
              <a:t>https://www.electronics-tutorials.ws/electromagnetism/hall-effect.html</a:t>
            </a:r>
            <a:endParaRPr lang="en-US" altLang="zh-TW" sz="2600" dirty="0"/>
          </a:p>
          <a:p>
            <a:r>
              <a:rPr lang="en-US" altLang="zh-TW" sz="2600" dirty="0">
                <a:hlinkClick r:id="rId4"/>
              </a:rPr>
              <a:t>https://www.ablic.com/en/semicon/products/sensor/magnetism-sensor-ic/intro/</a:t>
            </a:r>
            <a:endParaRPr lang="en-US" altLang="zh-TW" sz="2600" dirty="0"/>
          </a:p>
          <a:p>
            <a:r>
              <a:rPr lang="en-US" altLang="zh-TW" sz="2600" dirty="0">
                <a:hlinkClick r:id="rId5"/>
              </a:rPr>
              <a:t>https://howtomechatronics.com/how-it-works/electrical-engineering/hall-effect-hall-effect-sensors-work/</a:t>
            </a:r>
            <a:endParaRPr lang="en-US" altLang="zh-TW" sz="2600" dirty="0"/>
          </a:p>
          <a:p>
            <a:r>
              <a:rPr lang="en-US" altLang="zh-TW" sz="2600" dirty="0">
                <a:hlinkClick r:id="rId6"/>
              </a:rPr>
              <a:t>https://www.linkedin.com/pulse/inductive-hall-effect-rpm-sensors-explained-kiril-mucevski?trk=mp-author-card</a:t>
            </a:r>
            <a:endParaRPr lang="en-US" altLang="zh-TW" sz="2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2C1433-D687-4182-972A-F82013FF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63013D-2824-4424-91F4-532B41BE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27</a:t>
            </a:fld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7E19222D-B86D-4A0B-A6F6-FBE53BEC05C8}"/>
              </a:ext>
            </a:extLst>
          </p:cNvPr>
          <p:cNvGrpSpPr/>
          <p:nvPr/>
        </p:nvGrpSpPr>
        <p:grpSpPr>
          <a:xfrm>
            <a:off x="2765649" y="2034306"/>
            <a:ext cx="7384601" cy="3600003"/>
            <a:chOff x="886050" y="2034310"/>
            <a:chExt cx="7384601" cy="360000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EB55A7F-C023-4A01-A186-DC3DAFAA80ED}"/>
                </a:ext>
              </a:extLst>
            </p:cNvPr>
            <p:cNvSpPr/>
            <p:nvPr/>
          </p:nvSpPr>
          <p:spPr>
            <a:xfrm>
              <a:off x="4268397" y="4519185"/>
              <a:ext cx="624098" cy="2150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06FBCBB4-959F-4CEA-A946-8EFB171E4A70}"/>
                </a:ext>
              </a:extLst>
            </p:cNvPr>
            <p:cNvGrpSpPr/>
            <p:nvPr/>
          </p:nvGrpSpPr>
          <p:grpSpPr>
            <a:xfrm>
              <a:off x="886050" y="2034310"/>
              <a:ext cx="7384601" cy="3600003"/>
              <a:chOff x="-5526027" y="2237510"/>
              <a:chExt cx="7384601" cy="3600003"/>
            </a:xfrm>
          </p:grpSpPr>
          <p:sp>
            <p:nvSpPr>
              <p:cNvPr id="8" name="弧形 7">
                <a:extLst>
                  <a:ext uri="{FF2B5EF4-FFF2-40B4-BE49-F238E27FC236}">
                    <a16:creationId xmlns:a16="http://schemas.microsoft.com/office/drawing/2014/main" id="{3845C194-AA9F-4D5E-82BB-BDFA83D0D5FD}"/>
                  </a:ext>
                </a:extLst>
              </p:cNvPr>
              <p:cNvSpPr/>
              <p:nvPr/>
            </p:nvSpPr>
            <p:spPr>
              <a:xfrm rot="13500000">
                <a:off x="-1741426" y="2237513"/>
                <a:ext cx="3600000" cy="360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弧形 8">
                <a:extLst>
                  <a:ext uri="{FF2B5EF4-FFF2-40B4-BE49-F238E27FC236}">
                    <a16:creationId xmlns:a16="http://schemas.microsoft.com/office/drawing/2014/main" id="{6D1F7082-3E0D-4253-8B00-DFB9D4AA6D2D}"/>
                  </a:ext>
                </a:extLst>
              </p:cNvPr>
              <p:cNvSpPr/>
              <p:nvPr/>
            </p:nvSpPr>
            <p:spPr>
              <a:xfrm rot="13500000">
                <a:off x="-1636990" y="2957514"/>
                <a:ext cx="2160000" cy="216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74A689D1-5F1F-4F29-9AEA-60D6C0B45C94}"/>
                  </a:ext>
                </a:extLst>
              </p:cNvPr>
              <p:cNvCxnSpPr/>
              <p:nvPr/>
            </p:nvCxnSpPr>
            <p:spPr>
              <a:xfrm>
                <a:off x="-1837346" y="2606858"/>
                <a:ext cx="11430" cy="286131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弧形 16">
                <a:extLst>
                  <a:ext uri="{FF2B5EF4-FFF2-40B4-BE49-F238E27FC236}">
                    <a16:creationId xmlns:a16="http://schemas.microsoft.com/office/drawing/2014/main" id="{FCF35D6E-EF0D-44A8-8C7F-85415DEDEEAE}"/>
                  </a:ext>
                </a:extLst>
              </p:cNvPr>
              <p:cNvSpPr/>
              <p:nvPr/>
            </p:nvSpPr>
            <p:spPr>
              <a:xfrm rot="8100000" flipH="1">
                <a:off x="-5526027" y="2237510"/>
                <a:ext cx="3600000" cy="360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弧形 17">
                <a:extLst>
                  <a:ext uri="{FF2B5EF4-FFF2-40B4-BE49-F238E27FC236}">
                    <a16:creationId xmlns:a16="http://schemas.microsoft.com/office/drawing/2014/main" id="{094D6303-79BC-4EB5-A4CB-4052166B1C5A}"/>
                  </a:ext>
                </a:extLst>
              </p:cNvPr>
              <p:cNvSpPr/>
              <p:nvPr/>
            </p:nvSpPr>
            <p:spPr>
              <a:xfrm rot="8100000" flipH="1">
                <a:off x="-4190463" y="2957541"/>
                <a:ext cx="2160000" cy="216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6D7B6EA1-E79B-4D8C-89C8-F95C08715F0D}"/>
                </a:ext>
              </a:extLst>
            </p:cNvPr>
            <p:cNvGrpSpPr/>
            <p:nvPr/>
          </p:nvGrpSpPr>
          <p:grpSpPr>
            <a:xfrm>
              <a:off x="4173616" y="3465034"/>
              <a:ext cx="791308" cy="738554"/>
              <a:chOff x="2778369" y="4053254"/>
              <a:chExt cx="958362" cy="9144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446904D-3E80-4505-B532-85A79C619637}"/>
                  </a:ext>
                </a:extLst>
              </p:cNvPr>
              <p:cNvSpPr/>
              <p:nvPr/>
            </p:nvSpPr>
            <p:spPr>
              <a:xfrm>
                <a:off x="2778369" y="4053254"/>
                <a:ext cx="958362" cy="457200"/>
              </a:xfrm>
              <a:prstGeom prst="rect">
                <a:avLst/>
              </a:prstGeom>
              <a:solidFill>
                <a:srgbClr val="4472C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S</a:t>
                </a:r>
                <a:endParaRPr lang="zh-TW" altLang="en-US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3D40C6A-6200-4353-94BA-A8A52C33A885}"/>
                  </a:ext>
                </a:extLst>
              </p:cNvPr>
              <p:cNvSpPr/>
              <p:nvPr/>
            </p:nvSpPr>
            <p:spPr>
              <a:xfrm>
                <a:off x="2778369" y="4510454"/>
                <a:ext cx="958362" cy="457200"/>
              </a:xfrm>
              <a:prstGeom prst="rect">
                <a:avLst/>
              </a:prstGeom>
              <a:solidFill>
                <a:srgbClr val="E40702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N</a:t>
                </a:r>
                <a:endParaRPr lang="zh-TW" altLang="en-US" dirty="0"/>
              </a:p>
            </p:txBody>
          </p:sp>
        </p:grp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E9EB4E5-CCCA-4776-AE83-D88492DD2481}"/>
              </a:ext>
            </a:extLst>
          </p:cNvPr>
          <p:cNvGrpSpPr/>
          <p:nvPr/>
        </p:nvGrpSpPr>
        <p:grpSpPr>
          <a:xfrm>
            <a:off x="-352965" y="2034304"/>
            <a:ext cx="7384601" cy="3600003"/>
            <a:chOff x="886050" y="2034310"/>
            <a:chExt cx="7384601" cy="3600003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E7552B2-D086-42A8-90E5-BADFB0E9C4F8}"/>
                </a:ext>
              </a:extLst>
            </p:cNvPr>
            <p:cNvSpPr/>
            <p:nvPr/>
          </p:nvSpPr>
          <p:spPr>
            <a:xfrm>
              <a:off x="4268397" y="4519185"/>
              <a:ext cx="624098" cy="2150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31D54266-39A3-4BEF-A54C-877D995F893A}"/>
                </a:ext>
              </a:extLst>
            </p:cNvPr>
            <p:cNvGrpSpPr/>
            <p:nvPr/>
          </p:nvGrpSpPr>
          <p:grpSpPr>
            <a:xfrm>
              <a:off x="886050" y="2034310"/>
              <a:ext cx="7384601" cy="3600003"/>
              <a:chOff x="-5526027" y="2237510"/>
              <a:chExt cx="7384601" cy="3600003"/>
            </a:xfrm>
          </p:grpSpPr>
          <p:sp>
            <p:nvSpPr>
              <p:cNvPr id="31" name="弧形 30">
                <a:extLst>
                  <a:ext uri="{FF2B5EF4-FFF2-40B4-BE49-F238E27FC236}">
                    <a16:creationId xmlns:a16="http://schemas.microsoft.com/office/drawing/2014/main" id="{5385F597-BF72-4B5E-8D3C-7C69C1FE133D}"/>
                  </a:ext>
                </a:extLst>
              </p:cNvPr>
              <p:cNvSpPr/>
              <p:nvPr/>
            </p:nvSpPr>
            <p:spPr>
              <a:xfrm rot="13500000">
                <a:off x="-1741426" y="2237513"/>
                <a:ext cx="3600000" cy="360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弧形 31">
                <a:extLst>
                  <a:ext uri="{FF2B5EF4-FFF2-40B4-BE49-F238E27FC236}">
                    <a16:creationId xmlns:a16="http://schemas.microsoft.com/office/drawing/2014/main" id="{740753B5-DCCC-4BBC-8157-6C7B009219DB}"/>
                  </a:ext>
                </a:extLst>
              </p:cNvPr>
              <p:cNvSpPr/>
              <p:nvPr/>
            </p:nvSpPr>
            <p:spPr>
              <a:xfrm rot="13500000">
                <a:off x="-1636990" y="2957514"/>
                <a:ext cx="2160000" cy="216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F840F33E-481C-4BFB-8718-64EC7E107DFF}"/>
                  </a:ext>
                </a:extLst>
              </p:cNvPr>
              <p:cNvCxnSpPr/>
              <p:nvPr/>
            </p:nvCxnSpPr>
            <p:spPr>
              <a:xfrm>
                <a:off x="-1837346" y="2606858"/>
                <a:ext cx="11430" cy="286131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弧形 33">
                <a:extLst>
                  <a:ext uri="{FF2B5EF4-FFF2-40B4-BE49-F238E27FC236}">
                    <a16:creationId xmlns:a16="http://schemas.microsoft.com/office/drawing/2014/main" id="{579AC8AA-BE7F-456D-AF9A-915BB8CAC0A8}"/>
                  </a:ext>
                </a:extLst>
              </p:cNvPr>
              <p:cNvSpPr/>
              <p:nvPr/>
            </p:nvSpPr>
            <p:spPr>
              <a:xfrm rot="8100000" flipH="1">
                <a:off x="-5526027" y="2237510"/>
                <a:ext cx="3600000" cy="360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弧形 34">
                <a:extLst>
                  <a:ext uri="{FF2B5EF4-FFF2-40B4-BE49-F238E27FC236}">
                    <a16:creationId xmlns:a16="http://schemas.microsoft.com/office/drawing/2014/main" id="{A59BD309-3AC2-40E7-8150-F4D8BD6470FB}"/>
                  </a:ext>
                </a:extLst>
              </p:cNvPr>
              <p:cNvSpPr/>
              <p:nvPr/>
            </p:nvSpPr>
            <p:spPr>
              <a:xfrm rot="8100000" flipH="1">
                <a:off x="-4190463" y="2957541"/>
                <a:ext cx="2160000" cy="2160000"/>
              </a:xfrm>
              <a:prstGeom prst="arc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FBD12CCC-1844-4747-A130-308C2EDAC001}"/>
                </a:ext>
              </a:extLst>
            </p:cNvPr>
            <p:cNvGrpSpPr/>
            <p:nvPr/>
          </p:nvGrpSpPr>
          <p:grpSpPr>
            <a:xfrm>
              <a:off x="4173616" y="3465034"/>
              <a:ext cx="791308" cy="738554"/>
              <a:chOff x="2778369" y="4053254"/>
              <a:chExt cx="958362" cy="914400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263C979-E161-41A3-A102-801BAFCAD1EC}"/>
                  </a:ext>
                </a:extLst>
              </p:cNvPr>
              <p:cNvSpPr/>
              <p:nvPr/>
            </p:nvSpPr>
            <p:spPr>
              <a:xfrm>
                <a:off x="2778369" y="4053254"/>
                <a:ext cx="958362" cy="457200"/>
              </a:xfrm>
              <a:prstGeom prst="rect">
                <a:avLst/>
              </a:prstGeom>
              <a:solidFill>
                <a:srgbClr val="E4070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N</a:t>
                </a:r>
                <a:endParaRPr lang="zh-TW" altLang="en-US" dirty="0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B1831E-D87F-4006-BD69-DE93D203307C}"/>
                  </a:ext>
                </a:extLst>
              </p:cNvPr>
              <p:cNvSpPr/>
              <p:nvPr/>
            </p:nvSpPr>
            <p:spPr>
              <a:xfrm>
                <a:off x="2778369" y="4510454"/>
                <a:ext cx="958362" cy="457200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S</a:t>
                </a:r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66319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2DFE5C12659264F9CD8B56860A4A801" ma:contentTypeVersion="6" ma:contentTypeDescription="建立新的文件。" ma:contentTypeScope="" ma:versionID="84ee901980b063a153aa5a810ac27522">
  <xsd:schema xmlns:xsd="http://www.w3.org/2001/XMLSchema" xmlns:xs="http://www.w3.org/2001/XMLSchema" xmlns:p="http://schemas.microsoft.com/office/2006/metadata/properties" xmlns:ns2="0ad0892e-a943-4ec0-99d1-6459c0d2b58a" targetNamespace="http://schemas.microsoft.com/office/2006/metadata/properties" ma:root="true" ma:fieldsID="5f786a610f6867c4c1be2fa0dd763314" ns2:_="">
    <xsd:import namespace="0ad0892e-a943-4ec0-99d1-6459c0d2b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d0892e-a943-4ec0-99d1-6459c0d2b5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F94C8-560C-461C-87D3-EEB00F3FABD2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0ad0892e-a943-4ec0-99d1-6459c0d2b58a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322D26A-4E39-4438-A890-F0554F5C3E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7F0749-25F9-40ED-BDA0-B3C9497C7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d0892e-a943-4ec0-99d1-6459c0d2b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3709</TotalTime>
  <Words>1178</Words>
  <Application>Microsoft Office PowerPoint</Application>
  <PresentationFormat>如螢幕大小 (4:3)</PresentationFormat>
  <Paragraphs>272</Paragraphs>
  <Slides>27</Slides>
  <Notes>12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4" baseType="lpstr">
      <vt:lpstr>新細明體</vt:lpstr>
      <vt:lpstr>Arial</vt:lpstr>
      <vt:lpstr>Calibri</vt:lpstr>
      <vt:lpstr>Cambria Math</vt:lpstr>
      <vt:lpstr>Vrinda</vt:lpstr>
      <vt:lpstr>Wingdings</vt:lpstr>
      <vt:lpstr>1_Office 佈景主題</vt:lpstr>
      <vt:lpstr>Microprocessor Systems</vt:lpstr>
      <vt:lpstr>Introduction</vt:lpstr>
      <vt:lpstr>Clock</vt:lpstr>
      <vt:lpstr>Time Mode Control Register (TMOD) Mode Selection</vt:lpstr>
      <vt:lpstr>Mode 1 (16-bit Counter)</vt:lpstr>
      <vt:lpstr>Time Mode Control Register (TMOD) Enable and Clock Source Selection</vt:lpstr>
      <vt:lpstr>Time Control Register (TCON)</vt:lpstr>
      <vt:lpstr>Time Control Register (TCON)</vt:lpstr>
      <vt:lpstr>IE (Interrupt Enable) Register</vt:lpstr>
      <vt:lpstr>Interrupt Priority</vt:lpstr>
      <vt:lpstr>Generate a square wave of 2ms</vt:lpstr>
      <vt:lpstr>Generate a square wave of 2ms</vt:lpstr>
      <vt:lpstr>Generate a square wave of 2ms</vt:lpstr>
      <vt:lpstr>Generate a square wave of 2ms (Polling)</vt:lpstr>
      <vt:lpstr>Reference</vt:lpstr>
      <vt:lpstr>Microprocessor Systems</vt:lpstr>
      <vt:lpstr>Hall Effect </vt:lpstr>
      <vt:lpstr>Hall Magnetic Sensor</vt:lpstr>
      <vt:lpstr>Hall Magnetic Sensor </vt:lpstr>
      <vt:lpstr>Block Diagram</vt:lpstr>
      <vt:lpstr>Types of Hall Effect ICs</vt:lpstr>
      <vt:lpstr>Schmitt Trigger</vt:lpstr>
      <vt:lpstr>Type of Hall Effect IC Detection</vt:lpstr>
      <vt:lpstr>Applications of Hall Effect Sensors</vt:lpstr>
      <vt:lpstr>Applications of Hall Effect Sensors </vt:lpstr>
      <vt:lpstr>Reference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</dc:title>
  <dc:creator>Gary Lee</dc:creator>
  <cp:lastModifiedBy>徐振維</cp:lastModifiedBy>
  <cp:revision>137</cp:revision>
  <dcterms:created xsi:type="dcterms:W3CDTF">2020-10-26T02:58:28Z</dcterms:created>
  <dcterms:modified xsi:type="dcterms:W3CDTF">2023-10-12T16:58:27Z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0x010100D2DFE5C12659264F9CD8B56860A4A801</vt:lpwstr>
  </property>
</Properties>
</file>