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jSHOVMDZpnh5b2wGZI3spG2a7TP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7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8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4" name="Google Shape;1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79F22C-31DE-4B64-BADE-26261F70D11A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3959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0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/>
          <p:nvPr/>
        </p:nvSpPr>
        <p:spPr>
          <a:xfrm>
            <a:off x="636671" y="1342670"/>
            <a:ext cx="7886700" cy="62390"/>
          </a:xfrm>
          <a:prstGeom prst="rect">
            <a:avLst/>
          </a:prstGeom>
          <a:solidFill>
            <a:srgbClr val="F3D2F4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body" idx="1"/>
          </p:nvPr>
        </p:nvSpPr>
        <p:spPr>
          <a:xfrm>
            <a:off x="628650" y="1509333"/>
            <a:ext cx="7886700" cy="46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2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3"/>
          <p:cNvSpPr txBox="1">
            <a:spLocks noGrp="1"/>
          </p:cNvSpPr>
          <p:nvPr>
            <p:ph type="body" idx="1"/>
          </p:nvPr>
        </p:nvSpPr>
        <p:spPr>
          <a:xfrm>
            <a:off x="628650" y="1509333"/>
            <a:ext cx="3886200" cy="46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2"/>
          </p:nvPr>
        </p:nvSpPr>
        <p:spPr>
          <a:xfrm>
            <a:off x="4629150" y="1509333"/>
            <a:ext cx="3886200" cy="46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33"/>
          <p:cNvSpPr/>
          <p:nvPr/>
        </p:nvSpPr>
        <p:spPr>
          <a:xfrm>
            <a:off x="636671" y="1342670"/>
            <a:ext cx="7886700" cy="62390"/>
          </a:xfrm>
          <a:prstGeom prst="rect">
            <a:avLst/>
          </a:prstGeom>
          <a:solidFill>
            <a:srgbClr val="F3D2F4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3"/>
          <p:cNvSpPr/>
          <p:nvPr/>
        </p:nvSpPr>
        <p:spPr>
          <a:xfrm>
            <a:off x="7678552" y="254610"/>
            <a:ext cx="1144207" cy="1144207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3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33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4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34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34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7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37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8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38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3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9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3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0"/>
          <p:cNvSpPr txBox="1">
            <a:spLocks noGrp="1"/>
          </p:cNvSpPr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0"/>
          <p:cNvSpPr txBox="1">
            <a:spLocks noGrp="1"/>
          </p:cNvSpPr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4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lobal.sharp/products/device/lineup/data/pdf/datasheet/gp2y0a51sk_e.pdf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Analog-to-digital_converter" TargetMode="External"/><Relationship Id="rId5" Type="http://schemas.openxmlformats.org/officeDocument/2006/relationships/hyperlink" Target="https://ww1.microchip.com/downloads/en/DeviceDoc/21034F.pdf" TargetMode="External"/><Relationship Id="rId4" Type="http://schemas.openxmlformats.org/officeDocument/2006/relationships/hyperlink" Target="https://www.researchgate.net/publication/279171564_Novel_Method_of_Detecting_Movement_of_the_Interference_Fringes_Using_One-Dimensional_PSD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vpN-myfTAOs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user.tw/datasheet/2/268/mic5270-1891236.pdf" TargetMode="External"/><Relationship Id="rId2" Type="http://schemas.openxmlformats.org/officeDocument/2006/relationships/hyperlink" Target="https://www.melexis.com/zh/documents/documentation/datasheets/datasheet-mlx9061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438307" y="743925"/>
            <a:ext cx="8524324" cy="173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Microprocessor Systems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>
            <a:spLocks noGrp="1"/>
          </p:cNvSpPr>
          <p:nvPr>
            <p:ph type="subTitle" idx="1"/>
          </p:nvPr>
        </p:nvSpPr>
        <p:spPr>
          <a:xfrm>
            <a:off x="510490" y="4360130"/>
            <a:ext cx="29718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Prof. Ren-Shuo Liu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NTHU EE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510490" y="2497870"/>
            <a:ext cx="8623592" cy="1401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Lab7-1 IR Distance Measuring Sensor-GP2Y0A51SK0F</a:t>
            </a:r>
            <a:endParaRPr sz="3000"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lang="zh-TW" altLang="en-US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 Analog Digital Convertor-MCP3202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39014" y="4016897"/>
            <a:ext cx="4123617" cy="251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66081" y="4128327"/>
            <a:ext cx="2729673" cy="272967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477729" y="1536638"/>
            <a:ext cx="8533106" cy="46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GP2Y0A51SK0F is a distance measuring sensor unit.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Composed of an integrated combination of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PSD (position sensitive detector)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IR-LED (infrared emitting diode)</a:t>
            </a: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Signal processing circuit</a:t>
            </a:r>
            <a:endParaRPr dirty="0"/>
          </a:p>
        </p:txBody>
      </p:sp>
      <p:sp>
        <p:nvSpPr>
          <p:cNvPr id="103" name="Google Shape;103;p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Features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body" idx="1"/>
          </p:nvPr>
        </p:nvSpPr>
        <p:spPr>
          <a:xfrm>
            <a:off x="628650" y="1509333"/>
            <a:ext cx="7886700" cy="46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Short measuring cycle (16.5ms)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Distance measuring range : 2 to 15 cm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Compact size (27.0 × 10.8 × 12.0mm)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Analog output type</a:t>
            </a:r>
            <a:endParaRPr/>
          </a:p>
        </p:txBody>
      </p:sp>
      <p:sp>
        <p:nvSpPr>
          <p:cNvPr id="110" name="Google Shape;110;p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IR Sensors Key Applications</a:t>
            </a:r>
            <a:endParaRPr/>
          </a:p>
        </p:txBody>
      </p:sp>
      <p:sp>
        <p:nvSpPr>
          <p:cNvPr id="116" name="Google Shape;116;p4"/>
          <p:cNvSpPr txBox="1">
            <a:spLocks noGrp="1"/>
          </p:cNvSpPr>
          <p:nvPr>
            <p:ph type="body" idx="1"/>
          </p:nvPr>
        </p:nvSpPr>
        <p:spPr>
          <a:xfrm>
            <a:off x="628650" y="1509333"/>
            <a:ext cx="7886700" cy="270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TVs, computers, laptops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Distance measurement (in this lab)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Security systems such as surveillance, burglar alarms, etc.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Monitoring and control applications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17" name="Google Shape;117;p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840" y="1345479"/>
            <a:ext cx="8200159" cy="519343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IR Sensors Key Applications</a:t>
            </a:r>
            <a:endParaRPr/>
          </a:p>
        </p:txBody>
      </p:sp>
      <p:sp>
        <p:nvSpPr>
          <p:cNvPr id="124" name="Google Shape;124;p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Appearance</a:t>
            </a:r>
            <a:endParaRPr/>
          </a:p>
        </p:txBody>
      </p:sp>
      <p:sp>
        <p:nvSpPr>
          <p:cNvPr id="130" name="Google Shape;130;p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 l="25206" t="15449" r="43577" b="47124"/>
          <a:stretch/>
        </p:blipFill>
        <p:spPr>
          <a:xfrm>
            <a:off x="3472383" y="1473580"/>
            <a:ext cx="5502941" cy="3711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6"/>
          <p:cNvPicPr preferRelativeResize="0"/>
          <p:nvPr/>
        </p:nvPicPr>
        <p:blipFill rotWithShape="1">
          <a:blip r:embed="rId4">
            <a:alphaModFix/>
          </a:blip>
          <a:srcRect l="6864" r="6955" b="10527"/>
          <a:stretch/>
        </p:blipFill>
        <p:spPr>
          <a:xfrm>
            <a:off x="81666" y="2683541"/>
            <a:ext cx="3320249" cy="246218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 txBox="1"/>
          <p:nvPr/>
        </p:nvSpPr>
        <p:spPr>
          <a:xfrm>
            <a:off x="674806" y="2315411"/>
            <a:ext cx="10669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2112435" y="2314209"/>
            <a:ext cx="10669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6"/>
          <p:cNvPicPr preferRelativeResize="0"/>
          <p:nvPr/>
        </p:nvPicPr>
        <p:blipFill rotWithShape="1">
          <a:blip r:embed="rId4">
            <a:alphaModFix/>
          </a:blip>
          <a:srcRect l="61337" t="61430" r="6956" b="10527"/>
          <a:stretch/>
        </p:blipFill>
        <p:spPr>
          <a:xfrm>
            <a:off x="8458293" y="3284738"/>
            <a:ext cx="685708" cy="77171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 txBox="1">
            <a:spLocks noGrp="1"/>
          </p:cNvSpPr>
          <p:nvPr>
            <p:ph type="body" idx="1"/>
          </p:nvPr>
        </p:nvSpPr>
        <p:spPr>
          <a:xfrm>
            <a:off x="264666" y="5282213"/>
            <a:ext cx="7886700" cy="143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 IR LED emitter lens that emits a light beam.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position-sensible photodetector (PSD) where the reflected beam will fall onto.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20620" t="29604" r="28049" b="10761"/>
          <a:stretch/>
        </p:blipFill>
        <p:spPr>
          <a:xfrm>
            <a:off x="355106" y="786245"/>
            <a:ext cx="8305253" cy="542755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Block Diagram</a:t>
            </a:r>
            <a:endParaRPr/>
          </a:p>
        </p:txBody>
      </p:sp>
      <p:sp>
        <p:nvSpPr>
          <p:cNvPr id="143" name="Google Shape;143;p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851535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Working Theory		</a:t>
            </a:r>
            <a:endParaRPr/>
          </a:p>
        </p:txBody>
      </p:sp>
      <p:sp>
        <p:nvSpPr>
          <p:cNvPr id="149" name="Google Shape;149;p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50" name="Google Shape;150;p8"/>
          <p:cNvSpPr txBox="1">
            <a:spLocks noGrp="1"/>
          </p:cNvSpPr>
          <p:nvPr>
            <p:ph type="body" idx="1"/>
          </p:nvPr>
        </p:nvSpPr>
        <p:spPr>
          <a:xfrm>
            <a:off x="600074" y="4927852"/>
            <a:ext cx="7743825" cy="1139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device outputs the voltage corresponding to the detection distance.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51" name="Google Shape;151;p8"/>
          <p:cNvPicPr preferRelativeResize="0"/>
          <p:nvPr/>
        </p:nvPicPr>
        <p:blipFill rotWithShape="1">
          <a:blip r:embed="rId3">
            <a:alphaModFix/>
          </a:blip>
          <a:srcRect l="71171" t="64815" r="13332" b="10555"/>
          <a:stretch/>
        </p:blipFill>
        <p:spPr>
          <a:xfrm>
            <a:off x="4429760" y="1517303"/>
            <a:ext cx="3666490" cy="32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51;p8"/>
          <p:cNvPicPr preferRelativeResize="0"/>
          <p:nvPr/>
        </p:nvPicPr>
        <p:blipFill rotWithShape="1">
          <a:blip r:embed="rId3">
            <a:alphaModFix/>
          </a:blip>
          <a:srcRect l="56876" t="64815" r="29846" b="14754"/>
          <a:stretch/>
        </p:blipFill>
        <p:spPr>
          <a:xfrm>
            <a:off x="1453501" y="1517303"/>
            <a:ext cx="3141478" cy="2718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Position Sensitive Detector</a:t>
            </a:r>
            <a:endParaRPr/>
          </a:p>
        </p:txBody>
      </p:sp>
      <p:sp>
        <p:nvSpPr>
          <p:cNvPr id="157" name="Google Shape;157;p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58" name="Google Shape;158;p9"/>
          <p:cNvPicPr preferRelativeResize="0"/>
          <p:nvPr/>
        </p:nvPicPr>
        <p:blipFill rotWithShape="1">
          <a:blip r:embed="rId3">
            <a:alphaModFix/>
          </a:blip>
          <a:srcRect l="28125" t="22964" r="29374" b="25185"/>
          <a:stretch/>
        </p:blipFill>
        <p:spPr>
          <a:xfrm>
            <a:off x="923924" y="1591186"/>
            <a:ext cx="6962405" cy="4778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Position Sensitive Detector</a:t>
            </a:r>
            <a:endParaRPr/>
          </a:p>
        </p:txBody>
      </p:sp>
      <p:sp>
        <p:nvSpPr>
          <p:cNvPr id="164" name="Google Shape;164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65" name="Google Shape;165;p10"/>
          <p:cNvSpPr txBox="1">
            <a:spLocks noGrp="1"/>
          </p:cNvSpPr>
          <p:nvPr>
            <p:ph type="body" idx="1"/>
          </p:nvPr>
        </p:nvSpPr>
        <p:spPr>
          <a:xfrm>
            <a:off x="628650" y="1509713"/>
            <a:ext cx="7886700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two output electrodes receive different intensities, I1 and I2, </a:t>
            </a:r>
            <a:r>
              <a:rPr lang="en-US" dirty="0"/>
              <a:t>which are based on the incident beam position x.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dirty="0"/>
              <a:t>The incident beam position x can be calculated with the formula below, and further used to determine the incident light spot distance.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10"/>
          <p:cNvPicPr preferRelativeResize="0"/>
          <p:nvPr/>
        </p:nvPicPr>
        <p:blipFill rotWithShape="1">
          <a:blip r:embed="rId3">
            <a:alphaModFix/>
          </a:blip>
          <a:srcRect l="28125" t="22964" r="29374" b="56194"/>
          <a:stretch/>
        </p:blipFill>
        <p:spPr>
          <a:xfrm>
            <a:off x="628650" y="3836765"/>
            <a:ext cx="7637906" cy="210696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0"/>
          <p:cNvSpPr txBox="1"/>
          <p:nvPr/>
        </p:nvSpPr>
        <p:spPr>
          <a:xfrm>
            <a:off x="3021090" y="6328173"/>
            <a:ext cx="52768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x=L*(I2-I1)/(I2+I1)</a:t>
            </a:r>
            <a:endParaRPr/>
          </a:p>
        </p:txBody>
      </p:sp>
      <p:cxnSp>
        <p:nvCxnSpPr>
          <p:cNvPr id="168" name="Google Shape;168;p10"/>
          <p:cNvCxnSpPr/>
          <p:nvPr/>
        </p:nvCxnSpPr>
        <p:spPr>
          <a:xfrm>
            <a:off x="2672179" y="6010183"/>
            <a:ext cx="2610035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69" name="Google Shape;169;p10"/>
          <p:cNvCxnSpPr/>
          <p:nvPr/>
        </p:nvCxnSpPr>
        <p:spPr>
          <a:xfrm>
            <a:off x="5282214" y="6010183"/>
            <a:ext cx="75460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70" name="Google Shape;170;p10"/>
          <p:cNvSpPr txBox="1"/>
          <p:nvPr/>
        </p:nvSpPr>
        <p:spPr>
          <a:xfrm>
            <a:off x="3870554" y="5962666"/>
            <a:ext cx="11540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5459767" y="5983106"/>
            <a:ext cx="11540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Triangulation Measurement</a:t>
            </a:r>
            <a:endParaRPr/>
          </a:p>
        </p:txBody>
      </p:sp>
      <p:sp>
        <p:nvSpPr>
          <p:cNvPr id="177" name="Google Shape;177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78" name="Google Shape;178;p11"/>
          <p:cNvSpPr txBox="1"/>
          <p:nvPr/>
        </p:nvSpPr>
        <p:spPr>
          <a:xfrm>
            <a:off x="628650" y="4917721"/>
            <a:ext cx="8277225" cy="1732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en-US" sz="259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angle between reflective light and PSD can be derived  knowing the centroid position of reflective light(X).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en-US" sz="259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distance between object and device can then be calculated by  triangulation.</a:t>
            </a:r>
            <a:endParaRPr sz="259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None/>
            </a:pPr>
            <a:endParaRPr sz="259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6055" y="1366297"/>
            <a:ext cx="3365714" cy="326374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1"/>
          <p:cNvSpPr/>
          <p:nvPr/>
        </p:nvSpPr>
        <p:spPr>
          <a:xfrm>
            <a:off x="2729562" y="3756646"/>
            <a:ext cx="1518309" cy="840083"/>
          </a:xfrm>
          <a:prstGeom prst="ellipse">
            <a:avLst/>
          </a:prstGeom>
          <a:noFill/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11"/>
          <p:cNvCxnSpPr/>
          <p:nvPr/>
        </p:nvCxnSpPr>
        <p:spPr>
          <a:xfrm rot="10800000" flipH="1">
            <a:off x="4096136" y="3947041"/>
            <a:ext cx="733036" cy="467775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2" name="Google Shape;182;p11"/>
          <p:cNvSpPr/>
          <p:nvPr/>
        </p:nvSpPr>
        <p:spPr>
          <a:xfrm>
            <a:off x="5114925" y="3762375"/>
            <a:ext cx="3790950" cy="184666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6686549" y="3661051"/>
            <a:ext cx="7858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PSD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11"/>
          <p:cNvCxnSpPr/>
          <p:nvPr/>
        </p:nvCxnSpPr>
        <p:spPr>
          <a:xfrm>
            <a:off x="5314376" y="2775283"/>
            <a:ext cx="2943799" cy="987091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5" name="Google Shape;185;p11"/>
          <p:cNvCxnSpPr/>
          <p:nvPr/>
        </p:nvCxnSpPr>
        <p:spPr>
          <a:xfrm>
            <a:off x="5286422" y="1551016"/>
            <a:ext cx="1114379" cy="2211358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6" name="Google Shape;186;p11"/>
          <p:cNvSpPr/>
          <p:nvPr/>
        </p:nvSpPr>
        <p:spPr>
          <a:xfrm rot="-5802025">
            <a:off x="7499839" y="3215431"/>
            <a:ext cx="1219201" cy="1019429"/>
          </a:xfrm>
          <a:prstGeom prst="arc">
            <a:avLst>
              <a:gd name="adj1" fmla="val 16200000"/>
              <a:gd name="adj2" fmla="val 17859430"/>
            </a:avLst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 rot="-5802025">
            <a:off x="5934073" y="3215430"/>
            <a:ext cx="1219201" cy="1019429"/>
          </a:xfrm>
          <a:prstGeom prst="arc">
            <a:avLst>
              <a:gd name="adj1" fmla="val 16200000"/>
              <a:gd name="adj2" fmla="val 19692086"/>
            </a:avLst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6634162" y="3393835"/>
            <a:ext cx="10178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Angle 1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 txBox="1"/>
          <p:nvPr/>
        </p:nvSpPr>
        <p:spPr>
          <a:xfrm>
            <a:off x="5385012" y="3387314"/>
            <a:ext cx="1017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Angle 2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11"/>
          <p:cNvCxnSpPr/>
          <p:nvPr/>
        </p:nvCxnSpPr>
        <p:spPr>
          <a:xfrm>
            <a:off x="5019676" y="4095750"/>
            <a:ext cx="1381125" cy="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91" name="Google Shape;191;p11"/>
          <p:cNvCxnSpPr/>
          <p:nvPr/>
        </p:nvCxnSpPr>
        <p:spPr>
          <a:xfrm>
            <a:off x="5019676" y="4335976"/>
            <a:ext cx="3238499" cy="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92" name="Google Shape;192;p11"/>
          <p:cNvSpPr txBox="1"/>
          <p:nvPr/>
        </p:nvSpPr>
        <p:spPr>
          <a:xfrm>
            <a:off x="6308618" y="3911084"/>
            <a:ext cx="5970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X2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 txBox="1"/>
          <p:nvPr/>
        </p:nvSpPr>
        <p:spPr>
          <a:xfrm>
            <a:off x="8173984" y="4151310"/>
            <a:ext cx="5970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X1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Timing Chart</a:t>
            </a:r>
            <a:endParaRPr/>
          </a:p>
        </p:txBody>
      </p:sp>
      <p:pic>
        <p:nvPicPr>
          <p:cNvPr id="199" name="Google Shape;199;p1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22271" t="33961" r="21014" b="28250"/>
          <a:stretch/>
        </p:blipFill>
        <p:spPr>
          <a:xfrm>
            <a:off x="0" y="1554154"/>
            <a:ext cx="9136875" cy="342438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628650" y="5157925"/>
            <a:ext cx="7886700" cy="1019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Measuring cycle 16.5ms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 output delay 5ms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of Output </a:t>
            </a:r>
            <a:endParaRPr/>
          </a:p>
        </p:txBody>
      </p:sp>
      <p:sp>
        <p:nvSpPr>
          <p:cNvPr id="207" name="Google Shape;207;p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08" name="Google Shape;208;p13"/>
          <p:cNvPicPr preferRelativeResize="0"/>
          <p:nvPr/>
        </p:nvPicPr>
        <p:blipFill rotWithShape="1">
          <a:blip r:embed="rId3">
            <a:alphaModFix/>
          </a:blip>
          <a:srcRect l="11631" t="553" r="7859" b="2794"/>
          <a:stretch/>
        </p:blipFill>
        <p:spPr>
          <a:xfrm>
            <a:off x="176515" y="1220615"/>
            <a:ext cx="4647744" cy="557961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3"/>
          <p:cNvSpPr txBox="1">
            <a:spLocks noGrp="1"/>
          </p:cNvSpPr>
          <p:nvPr>
            <p:ph type="body" idx="1"/>
          </p:nvPr>
        </p:nvSpPr>
        <p:spPr>
          <a:xfrm>
            <a:off x="4832512" y="1771649"/>
            <a:ext cx="3789370" cy="3740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X-axis:</a:t>
            </a:r>
            <a:r>
              <a:rPr lang="zh-TW" altLang="en-US" dirty="0"/>
              <a:t> </a:t>
            </a:r>
            <a:r>
              <a:rPr lang="en-US" dirty="0"/>
              <a:t>Distance to the reflective object(cm).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Y-axis:</a:t>
            </a:r>
            <a:r>
              <a:rPr lang="zh-TW" altLang="en-US" dirty="0"/>
              <a:t> </a:t>
            </a:r>
            <a:r>
              <a:rPr lang="en-US" dirty="0"/>
              <a:t>Analog voltage output(V)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Output voltage drops with greater distance.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Analog Digital Converter-MCP3202</a:t>
            </a:r>
            <a:endParaRPr/>
          </a:p>
        </p:txBody>
      </p:sp>
      <p:sp>
        <p:nvSpPr>
          <p:cNvPr id="215" name="Google Shape;215;p14"/>
          <p:cNvSpPr txBox="1">
            <a:spLocks noGrp="1"/>
          </p:cNvSpPr>
          <p:nvPr>
            <p:ph type="body" idx="1"/>
          </p:nvPr>
        </p:nvSpPr>
        <p:spPr>
          <a:xfrm>
            <a:off x="628650" y="1509333"/>
            <a:ext cx="7886700" cy="46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We need an ADC to convert the analog output from the IR distance sensor to digital values.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MCP3202 is a 12-bit resolution ADC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16" name="Google Shape;216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17" name="Google Shape;21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1193851" y="2399943"/>
            <a:ext cx="3391207" cy="452160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4"/>
          <p:cNvSpPr/>
          <p:nvPr/>
        </p:nvSpPr>
        <p:spPr>
          <a:xfrm>
            <a:off x="3685947" y="4918931"/>
            <a:ext cx="781050" cy="628651"/>
          </a:xfrm>
          <a:prstGeom prst="ellipse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14"/>
          <p:cNvCxnSpPr>
            <a:stCxn id="218" idx="6"/>
          </p:cNvCxnSpPr>
          <p:nvPr/>
        </p:nvCxnSpPr>
        <p:spPr>
          <a:xfrm rot="10800000" flipH="1">
            <a:off x="4466997" y="4690256"/>
            <a:ext cx="1133400" cy="5430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20" name="Google Shape;22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27220">
            <a:off x="5594685" y="3581883"/>
            <a:ext cx="2398882" cy="2578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ADC Introduction</a:t>
            </a:r>
            <a:endParaRPr/>
          </a:p>
        </p:txBody>
      </p:sp>
      <p:pic>
        <p:nvPicPr>
          <p:cNvPr id="226" name="Google Shape;226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10282" t="49617" r="68088" b="10201"/>
          <a:stretch/>
        </p:blipFill>
        <p:spPr>
          <a:xfrm>
            <a:off x="628650" y="2379216"/>
            <a:ext cx="2629455" cy="286273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28" name="Google Shape;228;p15"/>
          <p:cNvPicPr preferRelativeResize="0"/>
          <p:nvPr/>
        </p:nvPicPr>
        <p:blipFill rotWithShape="1">
          <a:blip r:embed="rId3">
            <a:alphaModFix/>
          </a:blip>
          <a:srcRect l="10282" t="49617" r="68088" b="10201"/>
          <a:stretch/>
        </p:blipFill>
        <p:spPr>
          <a:xfrm>
            <a:off x="222545" y="1462013"/>
            <a:ext cx="3613397" cy="3933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5"/>
          <p:cNvPicPr preferRelativeResize="0"/>
          <p:nvPr/>
        </p:nvPicPr>
        <p:blipFill rotWithShape="1">
          <a:blip r:embed="rId3">
            <a:alphaModFix/>
          </a:blip>
          <a:srcRect l="52837" t="52056" r="23641" b="11478"/>
          <a:stretch/>
        </p:blipFill>
        <p:spPr>
          <a:xfrm>
            <a:off x="5137393" y="2014239"/>
            <a:ext cx="3724667" cy="3277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5"/>
          <p:cNvPicPr preferRelativeResize="0"/>
          <p:nvPr/>
        </p:nvPicPr>
        <p:blipFill rotWithShape="1">
          <a:blip r:embed="rId3">
            <a:alphaModFix/>
          </a:blip>
          <a:srcRect l="69858" t="52056" r="23641" b="36665"/>
          <a:stretch/>
        </p:blipFill>
        <p:spPr>
          <a:xfrm>
            <a:off x="4628250" y="1589740"/>
            <a:ext cx="1018286" cy="1035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5"/>
          <p:cNvPicPr preferRelativeResize="0"/>
          <p:nvPr/>
        </p:nvPicPr>
        <p:blipFill rotWithShape="1">
          <a:blip r:embed="rId3">
            <a:alphaModFix/>
          </a:blip>
          <a:srcRect l="69858" t="52056" r="23641" b="36665"/>
          <a:stretch/>
        </p:blipFill>
        <p:spPr>
          <a:xfrm>
            <a:off x="4628250" y="2957231"/>
            <a:ext cx="1018286" cy="58124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5"/>
          <p:cNvSpPr txBox="1"/>
          <p:nvPr/>
        </p:nvSpPr>
        <p:spPr>
          <a:xfrm>
            <a:off x="4960736" y="1880113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4095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3598433" y="3233836"/>
            <a:ext cx="1776470" cy="22081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75B5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 txBox="1"/>
          <p:nvPr/>
        </p:nvSpPr>
        <p:spPr>
          <a:xfrm>
            <a:off x="3640781" y="2885541"/>
            <a:ext cx="2586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A/D Conversion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737287" y="5460376"/>
            <a:ext cx="778192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520013" y="5287235"/>
            <a:ext cx="7886700" cy="143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Sampling rate for MCP3202</a:t>
            </a:r>
            <a:endParaRPr dirty="0"/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Maximum 100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ksps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 VDD = 5V </a:t>
            </a:r>
            <a:endParaRPr dirty="0"/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altLang="zh-TW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Maximum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ksps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 VDD = 2.7V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5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N-bit Output Code</a:t>
            </a:r>
            <a:endParaRPr/>
          </a:p>
        </p:txBody>
      </p:sp>
      <p:sp>
        <p:nvSpPr>
          <p:cNvPr id="242" name="Google Shape;242;p16"/>
          <p:cNvSpPr txBox="1">
            <a:spLocks noGrp="1"/>
          </p:cNvSpPr>
          <p:nvPr>
            <p:ph type="sldNum" idx="12"/>
          </p:nvPr>
        </p:nvSpPr>
        <p:spPr>
          <a:xfrm>
            <a:off x="6457950" y="636530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43" name="Google Shape;243;p16"/>
          <p:cNvPicPr preferRelativeResize="0"/>
          <p:nvPr/>
        </p:nvPicPr>
        <p:blipFill rotWithShape="1">
          <a:blip r:embed="rId3">
            <a:alphaModFix/>
          </a:blip>
          <a:srcRect l="35750" t="34918" r="29374" b="19966"/>
          <a:stretch/>
        </p:blipFill>
        <p:spPr>
          <a:xfrm>
            <a:off x="892447" y="1854084"/>
            <a:ext cx="6697961" cy="4956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6"/>
          <p:cNvPicPr preferRelativeResize="0"/>
          <p:nvPr/>
        </p:nvPicPr>
        <p:blipFill rotWithShape="1">
          <a:blip r:embed="rId3">
            <a:alphaModFix/>
          </a:blip>
          <a:srcRect l="68040" t="34034" r="29375" b="52482"/>
          <a:stretch/>
        </p:blipFill>
        <p:spPr>
          <a:xfrm>
            <a:off x="992446" y="5542099"/>
            <a:ext cx="513280" cy="63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6"/>
          <p:cNvSpPr txBox="1"/>
          <p:nvPr/>
        </p:nvSpPr>
        <p:spPr>
          <a:xfrm>
            <a:off x="1161043" y="5624642"/>
            <a:ext cx="8893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6"/>
          <p:cNvSpPr txBox="1">
            <a:spLocks noGrp="1"/>
          </p:cNvSpPr>
          <p:nvPr>
            <p:ph type="body" idx="1"/>
          </p:nvPr>
        </p:nvSpPr>
        <p:spPr>
          <a:xfrm>
            <a:off x="2804994" y="5287254"/>
            <a:ext cx="4030825" cy="509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A unit step is VDD/2</a:t>
            </a:r>
            <a:r>
              <a:rPr lang="en-US" sz="2000" baseline="30000"/>
              <a:t>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baseline="3000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baseline="30000"/>
          </a:p>
        </p:txBody>
      </p:sp>
      <p:sp>
        <p:nvSpPr>
          <p:cNvPr id="248" name="Google Shape;248;p16"/>
          <p:cNvSpPr/>
          <p:nvPr/>
        </p:nvSpPr>
        <p:spPr>
          <a:xfrm>
            <a:off x="0" y="58050"/>
            <a:ext cx="65" cy="34109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634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16"/>
          <p:cNvPicPr preferRelativeResize="0"/>
          <p:nvPr/>
        </p:nvPicPr>
        <p:blipFill rotWithShape="1">
          <a:blip r:embed="rId3">
            <a:alphaModFix/>
          </a:blip>
          <a:srcRect l="68040" t="35869" r="29375" b="52482"/>
          <a:stretch/>
        </p:blipFill>
        <p:spPr>
          <a:xfrm>
            <a:off x="45585" y="1635496"/>
            <a:ext cx="513280" cy="509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6"/>
          <p:cNvPicPr preferRelativeResize="0"/>
          <p:nvPr/>
        </p:nvPicPr>
        <p:blipFill rotWithShape="1">
          <a:blip r:embed="rId3">
            <a:alphaModFix/>
          </a:blip>
          <a:srcRect l="68040" t="34034" r="29375" b="52482"/>
          <a:stretch/>
        </p:blipFill>
        <p:spPr>
          <a:xfrm>
            <a:off x="926332" y="1712704"/>
            <a:ext cx="513280" cy="63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6"/>
          <p:cNvSpPr txBox="1"/>
          <p:nvPr/>
        </p:nvSpPr>
        <p:spPr>
          <a:xfrm>
            <a:off x="938897" y="1831352"/>
            <a:ext cx="8893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 txBox="1"/>
          <p:nvPr/>
        </p:nvSpPr>
        <p:spPr>
          <a:xfrm>
            <a:off x="1505727" y="1492798"/>
            <a:ext cx="5270736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Converted Voltage= Converted Value*VDD/2</a:t>
            </a:r>
            <a:r>
              <a:rPr lang="en-US" sz="20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 txBox="1"/>
          <p:nvPr/>
        </p:nvSpPr>
        <p:spPr>
          <a:xfrm>
            <a:off x="6229297" y="1890340"/>
            <a:ext cx="3110870" cy="783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our case, n=12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7"/>
          <p:cNvPicPr preferRelativeResize="0"/>
          <p:nvPr/>
        </p:nvPicPr>
        <p:blipFill rotWithShape="1">
          <a:blip r:embed="rId3">
            <a:alphaModFix/>
          </a:blip>
          <a:srcRect l="16408" t="30331" r="49999" b="12676"/>
          <a:stretch/>
        </p:blipFill>
        <p:spPr>
          <a:xfrm>
            <a:off x="4125995" y="1932608"/>
            <a:ext cx="5018005" cy="4788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7"/>
          <p:cNvPicPr preferRelativeResize="0"/>
          <p:nvPr/>
        </p:nvPicPr>
        <p:blipFill rotWithShape="1">
          <a:blip r:embed="rId4">
            <a:alphaModFix/>
          </a:blip>
          <a:srcRect l="60008" t="37012" r="13477" b="41413"/>
          <a:stretch/>
        </p:blipFill>
        <p:spPr>
          <a:xfrm>
            <a:off x="465414" y="3097717"/>
            <a:ext cx="3733163" cy="20773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0" name="Google Shape;260;p17"/>
          <p:cNvCxnSpPr/>
          <p:nvPr/>
        </p:nvCxnSpPr>
        <p:spPr>
          <a:xfrm>
            <a:off x="3539255" y="4213862"/>
            <a:ext cx="1261302" cy="0"/>
          </a:xfrm>
          <a:prstGeom prst="straightConnector1">
            <a:avLst/>
          </a:prstGeom>
          <a:noFill/>
          <a:ln w="76200" cap="flat" cmpd="sng">
            <a:solidFill>
              <a:srgbClr val="2E75B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1" name="Google Shape;261;p17"/>
          <p:cNvSpPr/>
          <p:nvPr/>
        </p:nvSpPr>
        <p:spPr>
          <a:xfrm>
            <a:off x="137074" y="3097717"/>
            <a:ext cx="4061503" cy="224663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Block Diagram</a:t>
            </a:r>
            <a:endParaRPr/>
          </a:p>
        </p:txBody>
      </p:sp>
      <p:sp>
        <p:nvSpPr>
          <p:cNvPr id="263" name="Google Shape;263;p1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64" name="Google Shape;264;p17"/>
          <p:cNvSpPr txBox="1"/>
          <p:nvPr/>
        </p:nvSpPr>
        <p:spPr>
          <a:xfrm>
            <a:off x="292330" y="1409713"/>
            <a:ext cx="8342132" cy="783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SPI interface, same as MAX7219 in LAB2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Timing Diagram</a:t>
            </a:r>
            <a:endParaRPr/>
          </a:p>
        </p:txBody>
      </p:sp>
      <p:sp>
        <p:nvSpPr>
          <p:cNvPr id="270" name="Google Shape;270;p18"/>
          <p:cNvSpPr txBox="1">
            <a:spLocks noGrp="1"/>
          </p:cNvSpPr>
          <p:nvPr>
            <p:ph type="body" idx="1"/>
          </p:nvPr>
        </p:nvSpPr>
        <p:spPr>
          <a:xfrm>
            <a:off x="282424" y="5699855"/>
            <a:ext cx="8652013" cy="103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Char char="•"/>
            </a:pPr>
            <a:r>
              <a:rPr lang="en-US" sz="2380" dirty="0"/>
              <a:t>The first DIN with CS low consists of a start bit.</a:t>
            </a:r>
            <a:endParaRPr dirty="0"/>
          </a:p>
          <a:p>
            <a:pPr marL="228600" lvl="0" indent="-2286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Char char="•"/>
            </a:pPr>
            <a:r>
              <a:rPr lang="en-US" sz="2380" dirty="0"/>
              <a:t>Sampling time = 1.5 cycles.</a:t>
            </a:r>
            <a:endParaRPr sz="2380" dirty="0"/>
          </a:p>
        </p:txBody>
      </p:sp>
      <p:sp>
        <p:nvSpPr>
          <p:cNvPr id="271" name="Google Shape;271;p1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272" name="Google Shape;272;p18"/>
          <p:cNvPicPr preferRelativeResize="0"/>
          <p:nvPr/>
        </p:nvPicPr>
        <p:blipFill rotWithShape="1">
          <a:blip r:embed="rId3">
            <a:alphaModFix/>
          </a:blip>
          <a:srcRect l="14757" t="21825" r="17235" b="23633"/>
          <a:stretch/>
        </p:blipFill>
        <p:spPr>
          <a:xfrm>
            <a:off x="0" y="1574793"/>
            <a:ext cx="9144000" cy="41250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3" name="Google Shape;273;p18"/>
          <p:cNvCxnSpPr/>
          <p:nvPr/>
        </p:nvCxnSpPr>
        <p:spPr>
          <a:xfrm rot="10800000">
            <a:off x="1358284" y="1660126"/>
            <a:ext cx="0" cy="2080024"/>
          </a:xfrm>
          <a:prstGeom prst="straightConnector1">
            <a:avLst/>
          </a:prstGeom>
          <a:noFill/>
          <a:ln w="38100" cap="flat" cmpd="sng">
            <a:solidFill>
              <a:srgbClr val="2E75B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74" name="Google Shape;274;p18"/>
          <p:cNvSpPr txBox="1"/>
          <p:nvPr/>
        </p:nvSpPr>
        <p:spPr>
          <a:xfrm>
            <a:off x="1065320" y="1380339"/>
            <a:ext cx="7634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2068507" y="2872739"/>
            <a:ext cx="552770" cy="1996441"/>
          </a:xfrm>
          <a:prstGeom prst="rect">
            <a:avLst/>
          </a:prstGeom>
          <a:noFill/>
          <a:ln w="19050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Work Mode</a:t>
            </a:r>
            <a:endParaRPr/>
          </a:p>
        </p:txBody>
      </p:sp>
      <p:sp>
        <p:nvSpPr>
          <p:cNvPr id="281" name="Google Shape;281;p19"/>
          <p:cNvSpPr txBox="1">
            <a:spLocks noGrp="1"/>
          </p:cNvSpPr>
          <p:nvPr>
            <p:ph type="body" idx="1"/>
          </p:nvPr>
        </p:nvSpPr>
        <p:spPr>
          <a:xfrm>
            <a:off x="380874" y="5432433"/>
            <a:ext cx="6334251" cy="126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Single-ended(1)/Channel select(0 or 1)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Pseudo-Differtial(0)/Polarity(+ or -)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82" name="Google Shape;282;p1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283" name="Google Shape;283;p19"/>
          <p:cNvPicPr preferRelativeResize="0"/>
          <p:nvPr/>
        </p:nvPicPr>
        <p:blipFill rotWithShape="1">
          <a:blip r:embed="rId3">
            <a:alphaModFix/>
          </a:blip>
          <a:srcRect l="21748" t="28726" r="47199" b="37271"/>
          <a:stretch/>
        </p:blipFill>
        <p:spPr>
          <a:xfrm>
            <a:off x="3266950" y="1625596"/>
            <a:ext cx="5855786" cy="3606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9"/>
          <p:cNvPicPr preferRelativeResize="0"/>
          <p:nvPr/>
        </p:nvPicPr>
        <p:blipFill rotWithShape="1">
          <a:blip r:embed="rId4">
            <a:alphaModFix/>
          </a:blip>
          <a:srcRect l="15483" t="23842" r="65103" b="32597"/>
          <a:stretch/>
        </p:blipFill>
        <p:spPr>
          <a:xfrm>
            <a:off x="149978" y="1625596"/>
            <a:ext cx="2788421" cy="351981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9"/>
          <p:cNvSpPr/>
          <p:nvPr/>
        </p:nvSpPr>
        <p:spPr>
          <a:xfrm>
            <a:off x="1733550" y="3385501"/>
            <a:ext cx="819150" cy="1019429"/>
          </a:xfrm>
          <a:prstGeom prst="rect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19"/>
          <p:cNvCxnSpPr>
            <a:endCxn id="283" idx="1"/>
          </p:cNvCxnSpPr>
          <p:nvPr/>
        </p:nvCxnSpPr>
        <p:spPr>
          <a:xfrm flipV="1">
            <a:off x="2552649" y="3429000"/>
            <a:ext cx="714301" cy="142800"/>
          </a:xfrm>
          <a:prstGeom prst="straightConnector1">
            <a:avLst/>
          </a:prstGeom>
          <a:noFill/>
          <a:ln w="38100" cap="flat" cmpd="sng">
            <a:solidFill>
              <a:srgbClr val="2E75B5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Work Mode</a:t>
            </a:r>
            <a:endParaRPr/>
          </a:p>
        </p:txBody>
      </p:sp>
      <p:sp>
        <p:nvSpPr>
          <p:cNvPr id="292" name="Google Shape;292;p20"/>
          <p:cNvSpPr txBox="1">
            <a:spLocks noGrp="1"/>
          </p:cNvSpPr>
          <p:nvPr>
            <p:ph type="body" idx="1"/>
          </p:nvPr>
        </p:nvSpPr>
        <p:spPr>
          <a:xfrm>
            <a:off x="628650" y="4369648"/>
            <a:ext cx="7886700" cy="224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MSBF bit is transmitted and used to enable the LSB-first format.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If the MSBF bit is low, the device will output the converted word LSB first after the word has been transmitted in the MSB-first format.</a:t>
            </a:r>
            <a:endParaRPr dirty="0"/>
          </a:p>
        </p:txBody>
      </p:sp>
      <p:sp>
        <p:nvSpPr>
          <p:cNvPr id="293" name="Google Shape;293;p2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294" name="Google Shape;294;p20"/>
          <p:cNvPicPr preferRelativeResize="0"/>
          <p:nvPr/>
        </p:nvPicPr>
        <p:blipFill rotWithShape="1">
          <a:blip r:embed="rId3">
            <a:alphaModFix/>
          </a:blip>
          <a:srcRect l="11359" t="59450" r="15922" b="14142"/>
          <a:stretch/>
        </p:blipFill>
        <p:spPr>
          <a:xfrm>
            <a:off x="162573" y="1640432"/>
            <a:ext cx="8608566" cy="2327886"/>
          </a:xfrm>
          <a:prstGeom prst="rect">
            <a:avLst/>
          </a:prstGeom>
          <a:noFill/>
          <a:ln w="9525" cap="flat" cmpd="sng">
            <a:solidFill>
              <a:srgbClr val="2E75B5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5" name="Google Shape;295;p20"/>
          <p:cNvSpPr/>
          <p:nvPr/>
        </p:nvSpPr>
        <p:spPr>
          <a:xfrm>
            <a:off x="1777938" y="1714501"/>
            <a:ext cx="272803" cy="657310"/>
          </a:xfrm>
          <a:prstGeom prst="rect">
            <a:avLst/>
          </a:prstGeom>
          <a:noFill/>
          <a:ln w="19050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5086905" y="2583402"/>
            <a:ext cx="3169328" cy="1383436"/>
          </a:xfrm>
          <a:prstGeom prst="rect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2247530" y="2584882"/>
            <a:ext cx="2839375" cy="1383436"/>
          </a:xfrm>
          <a:prstGeom prst="rect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20"/>
          <p:cNvCxnSpPr/>
          <p:nvPr/>
        </p:nvCxnSpPr>
        <p:spPr>
          <a:xfrm>
            <a:off x="2050741" y="2371810"/>
            <a:ext cx="834502" cy="211592"/>
          </a:xfrm>
          <a:prstGeom prst="straightConnector1">
            <a:avLst/>
          </a:prstGeom>
          <a:noFill/>
          <a:ln w="19050" cap="flat" cmpd="sng">
            <a:solidFill>
              <a:srgbClr val="2E75B5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Communicate with 8 bit MCU</a:t>
            </a:r>
            <a:endParaRPr/>
          </a:p>
        </p:txBody>
      </p:sp>
      <p:pic>
        <p:nvPicPr>
          <p:cNvPr id="304" name="Google Shape;304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10152" t="19798" r="43884" b="47983"/>
          <a:stretch/>
        </p:blipFill>
        <p:spPr>
          <a:xfrm>
            <a:off x="92106" y="1482570"/>
            <a:ext cx="8007052" cy="3533313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648625" y="5326602"/>
            <a:ext cx="7341278" cy="1029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is transmitted from ADC on falling edges of SCLK.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is received by MCU on rising edges of SCLK.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Communicate with 8 bit MCU</a:t>
            </a:r>
            <a:endParaRPr/>
          </a:p>
        </p:txBody>
      </p:sp>
      <p:sp>
        <p:nvSpPr>
          <p:cNvPr id="312" name="Google Shape;312;p2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313" name="Google Shape;313;p22"/>
          <p:cNvPicPr preferRelativeResize="0"/>
          <p:nvPr/>
        </p:nvPicPr>
        <p:blipFill rotWithShape="1">
          <a:blip r:embed="rId3">
            <a:alphaModFix/>
          </a:blip>
          <a:srcRect l="12500" t="31296" r="9791" b="11111"/>
          <a:stretch/>
        </p:blipFill>
        <p:spPr>
          <a:xfrm>
            <a:off x="88432" y="1384555"/>
            <a:ext cx="8967136" cy="37383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314" name="Google Shape;314;p22"/>
          <p:cNvCxnSpPr/>
          <p:nvPr/>
        </p:nvCxnSpPr>
        <p:spPr>
          <a:xfrm>
            <a:off x="251460" y="5113020"/>
            <a:ext cx="858012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5" name="Google Shape;315;p22"/>
          <p:cNvSpPr/>
          <p:nvPr/>
        </p:nvSpPr>
        <p:spPr>
          <a:xfrm>
            <a:off x="4709160" y="3870960"/>
            <a:ext cx="3680459" cy="609547"/>
          </a:xfrm>
          <a:prstGeom prst="rect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p22"/>
          <p:cNvCxnSpPr>
            <a:cxnSpLocks/>
            <a:endCxn id="317" idx="0"/>
          </p:cNvCxnSpPr>
          <p:nvPr/>
        </p:nvCxnSpPr>
        <p:spPr>
          <a:xfrm>
            <a:off x="6756658" y="4468859"/>
            <a:ext cx="632449" cy="713501"/>
          </a:xfrm>
          <a:prstGeom prst="straightConnector1">
            <a:avLst/>
          </a:prstGeom>
          <a:noFill/>
          <a:ln w="12700" cap="flat" cmpd="sng">
            <a:solidFill>
              <a:srgbClr val="2E75B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17" name="Google Shape;317;p22"/>
          <p:cNvSpPr txBox="1"/>
          <p:nvPr/>
        </p:nvSpPr>
        <p:spPr>
          <a:xfrm>
            <a:off x="5834639" y="5182360"/>
            <a:ext cx="310893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1bit null+12bit ADC output</a:t>
            </a:r>
            <a:endParaRPr sz="200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3794760" y="3482340"/>
            <a:ext cx="777240" cy="487664"/>
          </a:xfrm>
          <a:prstGeom prst="rect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p22"/>
          <p:cNvCxnSpPr>
            <a:cxnSpLocks/>
            <a:endCxn id="320" idx="0"/>
          </p:cNvCxnSpPr>
          <p:nvPr/>
        </p:nvCxnSpPr>
        <p:spPr>
          <a:xfrm flipH="1">
            <a:off x="3546379" y="3948513"/>
            <a:ext cx="463862" cy="1233847"/>
          </a:xfrm>
          <a:prstGeom prst="straightConnector1">
            <a:avLst/>
          </a:prstGeom>
          <a:noFill/>
          <a:ln w="12700" cap="flat" cmpd="sng">
            <a:solidFill>
              <a:srgbClr val="2E75B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0" name="Google Shape;320;p22"/>
          <p:cNvSpPr txBox="1"/>
          <p:nvPr/>
        </p:nvSpPr>
        <p:spPr>
          <a:xfrm>
            <a:off x="1912846" y="5182360"/>
            <a:ext cx="326706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2bit choose mode+1bit MSBF</a:t>
            </a:r>
            <a:endParaRPr sz="200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3268980" y="3350231"/>
            <a:ext cx="281940" cy="520729"/>
          </a:xfrm>
          <a:prstGeom prst="rect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22"/>
          <p:cNvCxnSpPr>
            <a:endCxn id="323" idx="0"/>
          </p:cNvCxnSpPr>
          <p:nvPr/>
        </p:nvCxnSpPr>
        <p:spPr>
          <a:xfrm flipH="1">
            <a:off x="755173" y="3677741"/>
            <a:ext cx="1741500" cy="1508700"/>
          </a:xfrm>
          <a:prstGeom prst="straightConnector1">
            <a:avLst/>
          </a:prstGeom>
          <a:noFill/>
          <a:ln w="12700" cap="flat" cmpd="sng">
            <a:solidFill>
              <a:srgbClr val="2E75B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3" name="Google Shape;323;p22"/>
          <p:cNvSpPr txBox="1"/>
          <p:nvPr/>
        </p:nvSpPr>
        <p:spPr>
          <a:xfrm>
            <a:off x="88432" y="5186441"/>
            <a:ext cx="13334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1bit start</a:t>
            </a:r>
            <a:endParaRPr sz="200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2"/>
          <p:cNvSpPr txBox="1">
            <a:spLocks noGrp="1"/>
          </p:cNvSpPr>
          <p:nvPr>
            <p:ph type="body" idx="1"/>
          </p:nvPr>
        </p:nvSpPr>
        <p:spPr>
          <a:xfrm>
            <a:off x="88432" y="5667537"/>
            <a:ext cx="8967136" cy="1221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It is required to send groups of 8 bits, how do we deal with it?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In order to get these 17 bits, we need 8*3=24cycles.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/>
              <a:t>8 Bit MCU Transmission Arrangement</a:t>
            </a:r>
            <a:endParaRPr sz="3959"/>
          </a:p>
        </p:txBody>
      </p:sp>
      <p:sp>
        <p:nvSpPr>
          <p:cNvPr id="330" name="Google Shape;330;p23"/>
          <p:cNvSpPr txBox="1">
            <a:spLocks noGrp="1"/>
          </p:cNvSpPr>
          <p:nvPr>
            <p:ph type="body" idx="1"/>
          </p:nvPr>
        </p:nvSpPr>
        <p:spPr>
          <a:xfrm>
            <a:off x="628650" y="5140171"/>
            <a:ext cx="7886700" cy="148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US" sz="2590" dirty="0"/>
              <a:t>First byte transmitted to the A/D converter contains seven leading zeros before the start bit.</a:t>
            </a:r>
            <a:endParaRPr dirty="0"/>
          </a:p>
          <a:p>
            <a:pPr marL="228600" lvl="0" indent="-2286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US" sz="2590" dirty="0"/>
              <a:t>This way produces the output 12 bits to fall in positions easily manipulated by the MCU.</a:t>
            </a:r>
            <a:endParaRPr dirty="0"/>
          </a:p>
        </p:txBody>
      </p:sp>
      <p:sp>
        <p:nvSpPr>
          <p:cNvPr id="331" name="Google Shape;331;p2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332" name="Google Shape;332;p23"/>
          <p:cNvPicPr preferRelativeResize="0"/>
          <p:nvPr/>
        </p:nvPicPr>
        <p:blipFill rotWithShape="1">
          <a:blip r:embed="rId3">
            <a:alphaModFix/>
          </a:blip>
          <a:srcRect l="14078" t="34107" r="55801" b="20583"/>
          <a:stretch/>
        </p:blipFill>
        <p:spPr>
          <a:xfrm>
            <a:off x="1445395" y="1297410"/>
            <a:ext cx="5785086" cy="3751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/>
              <a:t>8 Bit MCU Transmission Arrangement</a:t>
            </a:r>
            <a:endParaRPr sz="3959"/>
          </a:p>
        </p:txBody>
      </p:sp>
      <p:sp>
        <p:nvSpPr>
          <p:cNvPr id="338" name="Google Shape;338;p2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339" name="Google Shape;339;p2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44531" t="39370" r="35263" b="21856"/>
          <a:stretch/>
        </p:blipFill>
        <p:spPr>
          <a:xfrm>
            <a:off x="2320816" y="1384555"/>
            <a:ext cx="4598144" cy="3707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4"/>
          <p:cNvPicPr preferRelativeResize="0"/>
          <p:nvPr/>
        </p:nvPicPr>
        <p:blipFill rotWithShape="1">
          <a:blip r:embed="rId3">
            <a:alphaModFix/>
          </a:blip>
          <a:srcRect l="14078" t="58244" r="79480" b="36462"/>
          <a:stretch/>
        </p:blipFill>
        <p:spPr>
          <a:xfrm>
            <a:off x="922921" y="3058331"/>
            <a:ext cx="1237479" cy="438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4"/>
          <p:cNvPicPr preferRelativeResize="0"/>
          <p:nvPr/>
        </p:nvPicPr>
        <p:blipFill rotWithShape="1">
          <a:blip r:embed="rId3">
            <a:alphaModFix/>
          </a:blip>
          <a:srcRect l="14078" t="51223" r="79480" b="41715"/>
          <a:stretch/>
        </p:blipFill>
        <p:spPr>
          <a:xfrm>
            <a:off x="855994" y="2410744"/>
            <a:ext cx="1237479" cy="584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4"/>
          <p:cNvPicPr preferRelativeResize="0"/>
          <p:nvPr/>
        </p:nvPicPr>
        <p:blipFill rotWithShape="1">
          <a:blip r:embed="rId3">
            <a:alphaModFix/>
          </a:blip>
          <a:srcRect l="14078" t="42674" r="79022" b="49886"/>
          <a:stretch/>
        </p:blipFill>
        <p:spPr>
          <a:xfrm>
            <a:off x="955243" y="1731887"/>
            <a:ext cx="1325482" cy="615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4"/>
          <p:cNvPicPr preferRelativeResize="0"/>
          <p:nvPr/>
        </p:nvPicPr>
        <p:blipFill rotWithShape="1">
          <a:blip r:embed="rId3">
            <a:alphaModFix/>
          </a:blip>
          <a:srcRect l="14243" t="62847" r="75773" b="29777"/>
          <a:stretch/>
        </p:blipFill>
        <p:spPr>
          <a:xfrm>
            <a:off x="383195" y="3705918"/>
            <a:ext cx="1917576" cy="610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4"/>
          <p:cNvPicPr preferRelativeResize="0"/>
          <p:nvPr/>
        </p:nvPicPr>
        <p:blipFill rotWithShape="1">
          <a:blip r:embed="rId3">
            <a:alphaModFix/>
          </a:blip>
          <a:srcRect l="14243" t="70330" r="75773" b="23216"/>
          <a:stretch/>
        </p:blipFill>
        <p:spPr>
          <a:xfrm>
            <a:off x="175897" y="4402107"/>
            <a:ext cx="1917576" cy="534184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4"/>
          <p:cNvSpPr txBox="1"/>
          <p:nvPr/>
        </p:nvSpPr>
        <p:spPr>
          <a:xfrm>
            <a:off x="580763" y="5381474"/>
            <a:ext cx="7886700" cy="1476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en-US" sz="259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MCU receive buffer will contain three unknown bits until the null bit is clocked out.</a:t>
            </a:r>
            <a:endParaRPr dirty="0"/>
          </a:p>
          <a:p>
            <a:pPr marL="228600" marR="0" lvl="0" indent="-2286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en-US" sz="259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 byte consists of Null bit and the highest order four bits of the conversion.</a:t>
            </a:r>
            <a:endParaRPr dirty="0"/>
          </a:p>
        </p:txBody>
      </p:sp>
      <p:sp>
        <p:nvSpPr>
          <p:cNvPr id="346" name="Google Shape;346;p24"/>
          <p:cNvSpPr txBox="1"/>
          <p:nvPr/>
        </p:nvSpPr>
        <p:spPr>
          <a:xfrm>
            <a:off x="4619888" y="4943967"/>
            <a:ext cx="43738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Highest order four bits of the conversion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4686300" y="4402107"/>
            <a:ext cx="2232660" cy="464179"/>
          </a:xfrm>
          <a:prstGeom prst="rect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4686300" y="5012142"/>
            <a:ext cx="3924826" cy="232808"/>
          </a:xfrm>
          <a:prstGeom prst="rect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/>
              <a:t>8 Bit MCU Transmission Arrangement</a:t>
            </a:r>
            <a:endParaRPr sz="3959"/>
          </a:p>
        </p:txBody>
      </p:sp>
      <p:sp>
        <p:nvSpPr>
          <p:cNvPr id="354" name="Google Shape;354;p25"/>
          <p:cNvSpPr txBox="1">
            <a:spLocks noGrp="1"/>
          </p:cNvSpPr>
          <p:nvPr>
            <p:ph type="body" idx="1"/>
          </p:nvPr>
        </p:nvSpPr>
        <p:spPr>
          <a:xfrm>
            <a:off x="628650" y="5222463"/>
            <a:ext cx="7886700" cy="1499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US" sz="2590" dirty="0"/>
              <a:t>Third byte consists of lowest order eight bits of the conversion.</a:t>
            </a:r>
            <a:endParaRPr dirty="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US" sz="2590" dirty="0"/>
              <a:t>Easier manipulation of the converted data can be obtained by using this method.</a:t>
            </a:r>
            <a:endParaRPr sz="2590" dirty="0"/>
          </a:p>
          <a:p>
            <a:pPr marL="228600" lvl="0" indent="-64135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endParaRPr sz="2590" dirty="0"/>
          </a:p>
          <a:p>
            <a:pPr marL="228600" lvl="0" indent="-64135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endParaRPr sz="2590" dirty="0"/>
          </a:p>
        </p:txBody>
      </p:sp>
      <p:sp>
        <p:nvSpPr>
          <p:cNvPr id="355" name="Google Shape;355;p2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356" name="Google Shape;356;p25"/>
          <p:cNvPicPr preferRelativeResize="0"/>
          <p:nvPr/>
        </p:nvPicPr>
        <p:blipFill rotWithShape="1">
          <a:blip r:embed="rId3">
            <a:alphaModFix/>
          </a:blip>
          <a:srcRect l="14078" t="58244" r="79480" b="36462"/>
          <a:stretch/>
        </p:blipFill>
        <p:spPr>
          <a:xfrm>
            <a:off x="1006622" y="3089953"/>
            <a:ext cx="1237479" cy="438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5"/>
          <p:cNvPicPr preferRelativeResize="0"/>
          <p:nvPr/>
        </p:nvPicPr>
        <p:blipFill rotWithShape="1">
          <a:blip r:embed="rId3">
            <a:alphaModFix/>
          </a:blip>
          <a:srcRect l="14078" t="51223" r="79480" b="41715"/>
          <a:stretch/>
        </p:blipFill>
        <p:spPr>
          <a:xfrm>
            <a:off x="962621" y="2442624"/>
            <a:ext cx="1237479" cy="584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5"/>
          <p:cNvPicPr preferRelativeResize="0"/>
          <p:nvPr/>
        </p:nvPicPr>
        <p:blipFill rotWithShape="1">
          <a:blip r:embed="rId3">
            <a:alphaModFix/>
          </a:blip>
          <a:srcRect l="14078" t="42674" r="79022" b="49886"/>
          <a:stretch/>
        </p:blipFill>
        <p:spPr>
          <a:xfrm>
            <a:off x="962621" y="1674685"/>
            <a:ext cx="1325482" cy="615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5"/>
          <p:cNvPicPr preferRelativeResize="0"/>
          <p:nvPr/>
        </p:nvPicPr>
        <p:blipFill rotWithShape="1">
          <a:blip r:embed="rId3">
            <a:alphaModFix/>
          </a:blip>
          <a:srcRect l="14243" t="62847" r="75773" b="29777"/>
          <a:stretch/>
        </p:blipFill>
        <p:spPr>
          <a:xfrm>
            <a:off x="537095" y="3679759"/>
            <a:ext cx="1917576" cy="610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5"/>
          <p:cNvPicPr preferRelativeResize="0"/>
          <p:nvPr/>
        </p:nvPicPr>
        <p:blipFill rotWithShape="1">
          <a:blip r:embed="rId3">
            <a:alphaModFix/>
          </a:blip>
          <a:srcRect l="65038" t="39037" r="9792" b="21123"/>
          <a:stretch/>
        </p:blipFill>
        <p:spPr>
          <a:xfrm>
            <a:off x="2454671" y="1414314"/>
            <a:ext cx="4786901" cy="3572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5"/>
          <p:cNvPicPr preferRelativeResize="0"/>
          <p:nvPr/>
        </p:nvPicPr>
        <p:blipFill rotWithShape="1">
          <a:blip r:embed="rId3">
            <a:alphaModFix/>
          </a:blip>
          <a:srcRect l="14243" t="70330" r="75773" b="23216"/>
          <a:stretch/>
        </p:blipFill>
        <p:spPr>
          <a:xfrm>
            <a:off x="370527" y="4368746"/>
            <a:ext cx="1917576" cy="534184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5"/>
          <p:cNvSpPr/>
          <p:nvPr/>
        </p:nvSpPr>
        <p:spPr>
          <a:xfrm>
            <a:off x="2542674" y="4298537"/>
            <a:ext cx="3682866" cy="369332"/>
          </a:xfrm>
          <a:prstGeom prst="rect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5"/>
          <p:cNvSpPr txBox="1"/>
          <p:nvPr/>
        </p:nvSpPr>
        <p:spPr>
          <a:xfrm>
            <a:off x="2656742" y="4765429"/>
            <a:ext cx="43738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lowest order eight bits of the conversion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5"/>
          <p:cNvSpPr/>
          <p:nvPr/>
        </p:nvSpPr>
        <p:spPr>
          <a:xfrm>
            <a:off x="2542674" y="4838947"/>
            <a:ext cx="4056246" cy="245658"/>
          </a:xfrm>
          <a:prstGeom prst="rect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370" name="Google Shape;370;p26"/>
          <p:cNvSpPr txBox="1">
            <a:spLocks noGrp="1"/>
          </p:cNvSpPr>
          <p:nvPr>
            <p:ph type="body" idx="1"/>
          </p:nvPr>
        </p:nvSpPr>
        <p:spPr>
          <a:xfrm>
            <a:off x="628650" y="1509333"/>
            <a:ext cx="7886700" cy="46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https://global.sharp/products/device/lineup/data/pdf/datasheet/gp2y0a51sk_e.pdf</a:t>
            </a:r>
            <a:endParaRPr dirty="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 dirty="0">
                <a:solidFill>
                  <a:schemeClr val="hlink"/>
                </a:solidFill>
                <a:hlinkClick r:id="rId4"/>
              </a:rPr>
              <a:t>https://www.researchgate.net/publication/279171564_Novel_Method_of_Detecting_Movement_of_the_Interference_Fringes_Using_One-Dimensional_PSD</a:t>
            </a:r>
            <a:endParaRPr dirty="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 dirty="0">
                <a:solidFill>
                  <a:schemeClr val="hlink"/>
                </a:solidFill>
                <a:hlinkClick r:id="rId5"/>
              </a:rPr>
              <a:t>https://ww1.microchip.com/downloads/en/DeviceDoc/21034F.pdf</a:t>
            </a:r>
            <a:endParaRPr dirty="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 dirty="0">
                <a:solidFill>
                  <a:schemeClr val="hlink"/>
                </a:solidFill>
                <a:hlinkClick r:id="rId6"/>
              </a:rPr>
              <a:t>https://en.wikipedia.org/wiki/Analog-to-digital_converter</a:t>
            </a:r>
            <a:endParaRPr dirty="0"/>
          </a:p>
          <a:p>
            <a:pPr marL="228600" lvl="0" indent="-508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371" name="Google Shape;371;p2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IR Sensor Operating Interval</a:t>
            </a:r>
            <a:endParaRPr/>
          </a:p>
        </p:txBody>
      </p:sp>
      <p:sp>
        <p:nvSpPr>
          <p:cNvPr id="377" name="Google Shape;377;p2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378" name="Google Shape;378;p27"/>
          <p:cNvPicPr preferRelativeResize="0"/>
          <p:nvPr/>
        </p:nvPicPr>
        <p:blipFill rotWithShape="1">
          <a:blip r:embed="rId3">
            <a:alphaModFix/>
          </a:blip>
          <a:srcRect l="25104" t="24240" r="39891" b="45094"/>
          <a:stretch/>
        </p:blipFill>
        <p:spPr>
          <a:xfrm>
            <a:off x="628650" y="1609473"/>
            <a:ext cx="7886700" cy="4219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7"/>
          <p:cNvPicPr preferRelativeResize="0"/>
          <p:nvPr/>
        </p:nvPicPr>
        <p:blipFill rotWithShape="1">
          <a:blip r:embed="rId4">
            <a:alphaModFix/>
          </a:blip>
          <a:srcRect l="67426" t="25139" r="27187" b="71111"/>
          <a:stretch/>
        </p:blipFill>
        <p:spPr>
          <a:xfrm>
            <a:off x="7270750" y="1609473"/>
            <a:ext cx="1244600" cy="487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IR Sensor Measuring Interval</a:t>
            </a:r>
            <a:endParaRPr/>
          </a:p>
        </p:txBody>
      </p:sp>
      <p:sp>
        <p:nvSpPr>
          <p:cNvPr id="385" name="Google Shape;385;p2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386" name="Google Shape;386;p28"/>
          <p:cNvPicPr preferRelativeResize="0"/>
          <p:nvPr/>
        </p:nvPicPr>
        <p:blipFill rotWithShape="1">
          <a:blip r:embed="rId3">
            <a:alphaModFix/>
          </a:blip>
          <a:srcRect l="20889" t="52705" r="23034" b="17470"/>
          <a:stretch/>
        </p:blipFill>
        <p:spPr>
          <a:xfrm>
            <a:off x="628650" y="1700516"/>
            <a:ext cx="7886700" cy="3305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8307" y="743925"/>
            <a:ext cx="8524324" cy="1735137"/>
          </a:xfrm>
        </p:spPr>
        <p:txBody>
          <a:bodyPr>
            <a:noAutofit/>
          </a:bodyPr>
          <a:lstStyle/>
          <a:p>
            <a:pPr algn="l"/>
            <a:r>
              <a:rPr lang="en-US" altLang="zh-TW" b="1" dirty="0">
                <a:latin typeface="Vrinda" panose="020B0502040204020203" pitchFamily="34" charset="0"/>
                <a:cs typeface="Vrinda" panose="020B0502040204020203" pitchFamily="34" charset="0"/>
              </a:rPr>
              <a:t>Microprocessor Systems</a:t>
            </a:r>
            <a:endParaRPr lang="zh-TW" altLang="en-US" b="1" dirty="0">
              <a:latin typeface="Vrinda" panose="020B0502040204020203" pitchFamily="34" charset="0"/>
              <a:cs typeface="Vrinda" panose="020B0502040204020203" pitchFamily="34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10490" y="4360130"/>
            <a:ext cx="2971800" cy="1655762"/>
          </a:xfrm>
        </p:spPr>
        <p:txBody>
          <a:bodyPr/>
          <a:lstStyle/>
          <a:p>
            <a:pPr algn="l"/>
            <a:r>
              <a:rPr lang="en-US" altLang="zh-TW" dirty="0"/>
              <a:t>Prof. Ren-</a:t>
            </a:r>
            <a:r>
              <a:rPr lang="en-US" altLang="zh-TW" dirty="0" err="1"/>
              <a:t>Shuo</a:t>
            </a:r>
            <a:r>
              <a:rPr lang="en-US" altLang="zh-TW" dirty="0"/>
              <a:t> Liu</a:t>
            </a:r>
          </a:p>
          <a:p>
            <a:pPr algn="l"/>
            <a:r>
              <a:rPr lang="en-US" altLang="zh-TW" dirty="0"/>
              <a:t>NTHU EE</a:t>
            </a:r>
          </a:p>
        </p:txBody>
      </p:sp>
      <p:sp>
        <p:nvSpPr>
          <p:cNvPr id="52" name="副標題 2"/>
          <p:cNvSpPr txBox="1">
            <a:spLocks/>
          </p:cNvSpPr>
          <p:nvPr/>
        </p:nvSpPr>
        <p:spPr>
          <a:xfrm>
            <a:off x="486211" y="2686913"/>
            <a:ext cx="6858000" cy="1401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3000" spc="-150" dirty="0">
                <a:cs typeface="Vrinda" panose="020B0502040204020203" pitchFamily="34" charset="0"/>
              </a:rPr>
              <a:t>Lab7-2 MLX90614 IR Thermometer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DB9126C-6111-4785-8EDF-2E3E64938C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014" y="3823857"/>
            <a:ext cx="4123617" cy="251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8442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MLX90614 is an Infrared thermometer for noncontact temperature measurements</a:t>
            </a:r>
          </a:p>
          <a:p>
            <a:r>
              <a:rPr lang="en-US" altLang="zh-TW" dirty="0"/>
              <a:t>MLX90614  is built with 2 chips</a:t>
            </a:r>
          </a:p>
          <a:p>
            <a:pPr lvl="1"/>
            <a:r>
              <a:rPr lang="en-US" altLang="zh-TW" dirty="0"/>
              <a:t>Infrared thermopile detector MLX81101</a:t>
            </a:r>
          </a:p>
          <a:p>
            <a:pPr lvl="1"/>
            <a:r>
              <a:rPr lang="en-US" altLang="zh-TW" dirty="0"/>
              <a:t>Single conditioning ASSP MLX90302</a:t>
            </a:r>
            <a:endParaRPr lang="zh-TW" altLang="en-US" dirty="0"/>
          </a:p>
          <a:p>
            <a:pPr marL="457200" lvl="1" indent="0">
              <a:buNone/>
            </a:pPr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3997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Features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Measuring ambient temperature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TW" dirty="0"/>
                  <a:t>) and object temperature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zh-TW" dirty="0"/>
                  <a:t>)</a:t>
                </a:r>
              </a:p>
              <a:p>
                <a:r>
                  <a:rPr lang="en-US" altLang="zh-TW" dirty="0"/>
                  <a:t>Factory calibrated in wide temperature range</a:t>
                </a:r>
              </a:p>
              <a:p>
                <a:pPr lvl="1"/>
                <a:r>
                  <a:rPr lang="en-US" altLang="zh-TW" dirty="0"/>
                  <a:t>-40°C ~ +125˚C for sensor temperature </a:t>
                </a:r>
                <a:r>
                  <a:rPr lang="en-US" altLang="zh-TW" sz="2000" i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TW" sz="2000" i="1" dirty="0"/>
                  <a:t>)</a:t>
                </a:r>
              </a:p>
              <a:p>
                <a:pPr lvl="1"/>
                <a:r>
                  <a:rPr lang="en-US" altLang="zh-TW" dirty="0"/>
                  <a:t>-70°C ~ +380˚C for object temperature </a:t>
                </a:r>
                <a:r>
                  <a:rPr lang="en-US" altLang="zh-TW" sz="2000" i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zh-TW" sz="2000" i="1" dirty="0"/>
                  <a:t>)</a:t>
                </a:r>
              </a:p>
              <a:p>
                <a:r>
                  <a:rPr lang="en-US" altLang="zh-TW" dirty="0"/>
                  <a:t>Measurement resolution of 0.02°C </a:t>
                </a:r>
              </a:p>
              <a:p>
                <a:r>
                  <a:rPr lang="en-US" altLang="zh-TW" dirty="0"/>
                  <a:t>Sleep mode for reduced power consumption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75468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Applications of MLX90614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Non-contact thermometer​ (Lab project)</a:t>
            </a:r>
          </a:p>
          <a:p>
            <a:r>
              <a:rPr lang="en-US" altLang="zh-TW" dirty="0"/>
              <a:t>Temperature Measurement of moving objects</a:t>
            </a:r>
          </a:p>
          <a:p>
            <a:r>
              <a:rPr lang="en-US" altLang="zh-TW" dirty="0"/>
              <a:t>Industrial Thermal Gun</a:t>
            </a:r>
          </a:p>
          <a:p>
            <a:r>
              <a:rPr lang="en-US" altLang="zh-TW" dirty="0"/>
              <a:t>Human Body Temperature Measurement</a:t>
            </a:r>
          </a:p>
          <a:p>
            <a:r>
              <a:rPr lang="en-US" altLang="zh-TW" dirty="0"/>
              <a:t>Home/Office Temperature Control</a:t>
            </a:r>
          </a:p>
          <a:p>
            <a:r>
              <a:rPr lang="en-US" altLang="zh-TW" dirty="0"/>
              <a:t>Livestock Monitoring</a:t>
            </a:r>
          </a:p>
          <a:p>
            <a:r>
              <a:rPr lang="en-US" altLang="zh-TW" dirty="0"/>
              <a:t>Movement Detection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96911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Block Diagram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33</a:t>
            </a:fld>
            <a:endParaRPr lang="zh-TW" altLang="en-US"/>
          </a:p>
        </p:txBody>
      </p:sp>
      <p:pic>
        <p:nvPicPr>
          <p:cNvPr id="5" name="內容版面配置區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389" y="1889294"/>
            <a:ext cx="7491222" cy="369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8250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MLX90614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8326" y="2061381"/>
            <a:ext cx="3232062" cy="3701493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34</a:t>
            </a:fld>
            <a:endParaRPr lang="zh-TW" altLang="en-US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78" t="28864" r="30889" b="28469"/>
          <a:stretch/>
        </p:blipFill>
        <p:spPr>
          <a:xfrm rot="5400000">
            <a:off x="4914064" y="2287344"/>
            <a:ext cx="3023903" cy="3249569"/>
          </a:xfrm>
          <a:prstGeom prst="rect">
            <a:avLst/>
          </a:prstGeom>
        </p:spPr>
      </p:pic>
      <p:sp>
        <p:nvSpPr>
          <p:cNvPr id="12" name="橢圓 11"/>
          <p:cNvSpPr/>
          <p:nvPr/>
        </p:nvSpPr>
        <p:spPr>
          <a:xfrm>
            <a:off x="2349427" y="2033492"/>
            <a:ext cx="579120" cy="57912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6283758" y="2801111"/>
            <a:ext cx="263346" cy="26334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98055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MLX90614 With PCB 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35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3" t="19778" r="40674" b="26000"/>
          <a:stretch/>
        </p:blipFill>
        <p:spPr>
          <a:xfrm rot="5400000">
            <a:off x="5333228" y="4298737"/>
            <a:ext cx="2153204" cy="2153639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113" y="4136598"/>
            <a:ext cx="3262189" cy="2477917"/>
          </a:xfrm>
          <a:prstGeom prst="rect">
            <a:avLst/>
          </a:prstGeom>
        </p:spPr>
      </p:pic>
      <p:pic>
        <p:nvPicPr>
          <p:cNvPr id="11" name="內容版面配置區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5" t="13320" r="12430" b="6840"/>
          <a:stretch/>
        </p:blipFill>
        <p:spPr>
          <a:xfrm>
            <a:off x="5298611" y="1778472"/>
            <a:ext cx="2188039" cy="1989596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0113" y="1549310"/>
            <a:ext cx="3335118" cy="244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097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Connection with MCU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020" y="2556510"/>
            <a:ext cx="8624560" cy="2202357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76715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Field of View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0004" y="1663588"/>
            <a:ext cx="7306083" cy="3439354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37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760005" y="5631561"/>
            <a:ext cx="57741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How Field Of View For Infrared Temperature Sensors Is Determined</a:t>
            </a:r>
          </a:p>
          <a:p>
            <a:r>
              <a:rPr lang="en-US" altLang="zh-TW" sz="1600" dirty="0">
                <a:hlinkClick r:id="rId3"/>
              </a:rPr>
              <a:t>https://youtu.be/vpN-myfTAOs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725833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err="1"/>
              <a:t>SMBus</a:t>
            </a:r>
            <a:r>
              <a:rPr lang="en-US" altLang="zh-TW" sz="4000" dirty="0"/>
              <a:t> Compatible 2-wire Interface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Slave address: 0x5A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38</a:t>
            </a:fld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2"/>
          <a:srcRect t="1" b="565"/>
          <a:stretch/>
        </p:blipFill>
        <p:spPr>
          <a:xfrm>
            <a:off x="78658" y="2103041"/>
            <a:ext cx="8894630" cy="3245626"/>
          </a:xfrm>
          <a:prstGeom prst="rect">
            <a:avLst/>
          </a:prstGeom>
        </p:spPr>
      </p:pic>
      <p:sp>
        <p:nvSpPr>
          <p:cNvPr id="7" name="圓角矩形 6"/>
          <p:cNvSpPr/>
          <p:nvPr/>
        </p:nvSpPr>
        <p:spPr>
          <a:xfrm>
            <a:off x="160878" y="5084590"/>
            <a:ext cx="8747147" cy="24441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8839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Electrical Specifications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Typical Supply current = 1.3mA</a:t>
            </a:r>
          </a:p>
          <a:p>
            <a:r>
              <a:rPr lang="en-US" altLang="zh-TW" dirty="0"/>
              <a:t>Sleep mode current = 2.5uA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39</a:t>
            </a:fld>
            <a:endParaRPr lang="zh-TW" altLang="en-US"/>
          </a:p>
        </p:txBody>
      </p:sp>
      <p:pic>
        <p:nvPicPr>
          <p:cNvPr id="5" name="內容版面配置區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0" y="2631587"/>
            <a:ext cx="9052730" cy="2363199"/>
          </a:xfrm>
          <a:prstGeom prst="rect">
            <a:avLst/>
          </a:prstGeom>
        </p:spPr>
      </p:pic>
      <p:sp>
        <p:nvSpPr>
          <p:cNvPr id="6" name="圓角矩形 5"/>
          <p:cNvSpPr/>
          <p:nvPr/>
        </p:nvSpPr>
        <p:spPr>
          <a:xfrm>
            <a:off x="6775449" y="4457083"/>
            <a:ext cx="785555" cy="273051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圓角矩形 6"/>
          <p:cNvSpPr/>
          <p:nvPr/>
        </p:nvSpPr>
        <p:spPr>
          <a:xfrm>
            <a:off x="6775450" y="3709004"/>
            <a:ext cx="785556" cy="273051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69516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EEPROM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446354"/>
            <a:ext cx="7886700" cy="4667630"/>
          </a:xfrm>
        </p:spPr>
        <p:txBody>
          <a:bodyPr/>
          <a:lstStyle/>
          <a:p>
            <a:r>
              <a:rPr lang="en-US" altLang="zh-TW" dirty="0"/>
              <a:t>Size : 32x16 bits ( 32 register , 16 bit/register 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40</a:t>
            </a:fld>
            <a:endParaRPr lang="zh-TW" altLang="en-US"/>
          </a:p>
        </p:txBody>
      </p:sp>
      <p:pic>
        <p:nvPicPr>
          <p:cNvPr id="5" name="內容版面配置區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343" y="2042409"/>
            <a:ext cx="6788810" cy="47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0980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436522"/>
            <a:ext cx="7886700" cy="4667630"/>
          </a:xfrm>
        </p:spPr>
        <p:txBody>
          <a:bodyPr/>
          <a:lstStyle/>
          <a:p>
            <a:r>
              <a:rPr lang="en-US" altLang="zh-TW" dirty="0"/>
              <a:t>Size : 32x16 bits ( 32 register , 16 bit/register )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41</a:t>
            </a:fld>
            <a:endParaRPr lang="zh-TW" altLang="en-US"/>
          </a:p>
        </p:txBody>
      </p:sp>
      <p:pic>
        <p:nvPicPr>
          <p:cNvPr id="5" name="內容版面配置區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748" y="2186978"/>
            <a:ext cx="6652504" cy="396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941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Command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sz="2400" i="1" dirty="0"/>
              <a:t>Note *: The </a:t>
            </a:r>
            <a:r>
              <a:rPr lang="en-US" altLang="zh-TW" sz="2400" i="1" dirty="0" err="1"/>
              <a:t>xxxxx</a:t>
            </a:r>
            <a:r>
              <a:rPr lang="en-US" altLang="zh-TW" sz="2400" i="1" dirty="0"/>
              <a:t> represent the 5 </a:t>
            </a:r>
            <a:r>
              <a:rPr lang="en-US" altLang="zh-TW" sz="2400" i="1" dirty="0" err="1"/>
              <a:t>LSBits</a:t>
            </a:r>
            <a:r>
              <a:rPr lang="en-US" altLang="zh-TW" sz="2400" i="1" dirty="0"/>
              <a:t> of the memory map address to be read / written</a:t>
            </a:r>
          </a:p>
          <a:p>
            <a:r>
              <a:rPr lang="en-US" altLang="zh-TW" sz="2400" i="1" dirty="0"/>
              <a:t>Note **: Behaves like read command. The difference is that the read flags does not have a repeated start bit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42</a:t>
            </a:fld>
            <a:endParaRPr lang="zh-TW" altLang="en-US"/>
          </a:p>
        </p:txBody>
      </p:sp>
      <p:pic>
        <p:nvPicPr>
          <p:cNvPr id="5" name="內容版面配置區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6" y="1918049"/>
            <a:ext cx="9074947" cy="181965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7" name="圓角矩形 6"/>
          <p:cNvSpPr/>
          <p:nvPr/>
        </p:nvSpPr>
        <p:spPr>
          <a:xfrm>
            <a:off x="658146" y="2436345"/>
            <a:ext cx="636094" cy="190100"/>
          </a:xfrm>
          <a:prstGeom prst="round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/>
          <p:cNvCxnSpPr>
            <a:cxnSpLocks/>
            <a:stCxn id="7" idx="0"/>
            <a:endCxn id="11" idx="1"/>
          </p:cNvCxnSpPr>
          <p:nvPr/>
        </p:nvCxnSpPr>
        <p:spPr>
          <a:xfrm flipV="1">
            <a:off x="976193" y="1783675"/>
            <a:ext cx="1491658" cy="65267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467851" y="1599009"/>
            <a:ext cx="3775633" cy="36933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solidFill>
                  <a:schemeClr val="tx1"/>
                </a:solidFill>
              </a:rPr>
              <a:t>Five bits correspond to 32 registers 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sp>
        <p:nvSpPr>
          <p:cNvPr id="9" name="圓角矩形 6">
            <a:extLst>
              <a:ext uri="{FF2B5EF4-FFF2-40B4-BE49-F238E27FC236}">
                <a16:creationId xmlns:a16="http://schemas.microsoft.com/office/drawing/2014/main" id="{1D247A19-59AA-6779-31E0-24D90149B9F6}"/>
              </a:ext>
            </a:extLst>
          </p:cNvPr>
          <p:cNvSpPr/>
          <p:nvPr/>
        </p:nvSpPr>
        <p:spPr>
          <a:xfrm>
            <a:off x="648314" y="2765217"/>
            <a:ext cx="636094" cy="190100"/>
          </a:xfrm>
          <a:prstGeom prst="round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6697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Bit Transfer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0641" y="1561486"/>
            <a:ext cx="6836339" cy="5052380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97194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Read Word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Access RAM, read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44</a:t>
            </a:fld>
            <a:endParaRPr lang="zh-TW" altLang="en-US"/>
          </a:p>
        </p:txBody>
      </p:sp>
      <p:pic>
        <p:nvPicPr>
          <p:cNvPr id="5" name="內容版面配置區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2572595"/>
            <a:ext cx="8646824" cy="210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0181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Write Word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Write data in EEPROM</a:t>
            </a:r>
          </a:p>
          <a:p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45</a:t>
            </a:fld>
            <a:endParaRPr lang="zh-TW" altLang="en-US"/>
          </a:p>
        </p:txBody>
      </p:sp>
      <p:pic>
        <p:nvPicPr>
          <p:cNvPr id="5" name="內容版面配置區 4"/>
          <p:cNvPicPr>
            <a:picLocks noChangeAspect="1"/>
          </p:cNvPicPr>
          <p:nvPr/>
        </p:nvPicPr>
        <p:blipFill rotWithShape="1">
          <a:blip r:embed="rId2"/>
          <a:srcRect l="531"/>
          <a:stretch/>
        </p:blipFill>
        <p:spPr>
          <a:xfrm>
            <a:off x="649605" y="2195519"/>
            <a:ext cx="7844790" cy="248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213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SMBus</a:t>
            </a:r>
            <a:r>
              <a:rPr lang="en-US" altLang="zh-TW" dirty="0"/>
              <a:t> Communication Example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46</a:t>
            </a:fld>
            <a:endParaRPr lang="zh-TW" altLang="en-US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860" r="744"/>
          <a:stretch/>
        </p:blipFill>
        <p:spPr>
          <a:xfrm>
            <a:off x="209550" y="2847045"/>
            <a:ext cx="8724900" cy="145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5926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SMBus</a:t>
            </a:r>
            <a:r>
              <a:rPr lang="en-US" altLang="zh-TW" dirty="0"/>
              <a:t> Communication Example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228" y="2667304"/>
            <a:ext cx="8885543" cy="1798015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47</a:t>
            </a:fld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3912464" y="4714535"/>
            <a:ext cx="3230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/>
              <a:t>Command 0x22 = 0010_0010</a:t>
            </a:r>
            <a:endParaRPr lang="zh-TW" altLang="en-US" sz="1800" dirty="0"/>
          </a:p>
        </p:txBody>
      </p:sp>
      <p:sp>
        <p:nvSpPr>
          <p:cNvPr id="6" name="圓角矩形 5"/>
          <p:cNvSpPr/>
          <p:nvPr/>
        </p:nvSpPr>
        <p:spPr>
          <a:xfrm>
            <a:off x="6433262" y="4761051"/>
            <a:ext cx="709574" cy="276299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/>
          <p:cNvCxnSpPr/>
          <p:nvPr/>
        </p:nvCxnSpPr>
        <p:spPr>
          <a:xfrm flipH="1" flipV="1">
            <a:off x="6049671" y="4465322"/>
            <a:ext cx="548639" cy="295729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785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600" dirty="0"/>
              <a:t>Computation of Ambient and Object Temperatures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/>
                  <a:t>Thermopile output signal: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𝐼𝑅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TW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zh-TW" sz="2400" dirty="0"/>
                  <a:t>) = </a:t>
                </a:r>
                <a:r>
                  <a:rPr lang="en-US" altLang="zh-TW" dirty="0"/>
                  <a:t>A x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altLang="zh-TW" dirty="0"/>
                  <a:t>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  <m:sup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altLang="zh-TW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altLang="zh-TW" i="1" dirty="0"/>
                  <a:t>Absolute object temperature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altLang="zh-TW" i="1" dirty="0"/>
                  <a:t>Sensor die absolute temperature</a:t>
                </a:r>
              </a:p>
              <a:p>
                <a:pPr lvl="1"/>
                <a:r>
                  <a:rPr lang="en-US" altLang="zh-TW" i="1" dirty="0"/>
                  <a:t>A: Sensitivity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TW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are derived from RAM</a:t>
                </a:r>
                <a:endParaRPr lang="en-US" altLang="zh-TW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TW" sz="1600" dirty="0"/>
                  <a:t> </a:t>
                </a:r>
                <a:r>
                  <a:rPr lang="en-US" altLang="zh-TW" dirty="0"/>
                  <a:t>[°C]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𝑟𝑒𝑔</m:t>
                        </m:r>
                      </m:sub>
                    </m:sSub>
                  </m:oMath>
                </a14:m>
                <a:r>
                  <a:rPr lang="en-US" altLang="zh-TW" dirty="0"/>
                  <a:t> x 0.02 – 273.15</a:t>
                </a:r>
              </a:p>
              <a:p>
                <a:pPr lvl="2"/>
                <a:r>
                  <a:rPr lang="en-US" altLang="zh-TW" dirty="0"/>
                  <a:t>0x06 = 0x2DE4 (11748d) corresponds to -38.2 °C</a:t>
                </a:r>
              </a:p>
              <a:p>
                <a:pPr lvl="2"/>
                <a:r>
                  <a:rPr lang="en-US" altLang="zh-TW" dirty="0"/>
                  <a:t>0x06 = 0x4DC4 (19908d)corresponds to +125 °C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zh-TW" sz="1600" dirty="0"/>
                  <a:t> </a:t>
                </a:r>
                <a:r>
                  <a:rPr lang="en-US" altLang="zh-TW" dirty="0"/>
                  <a:t>[°C]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𝑜𝑟𝑒𝑔</m:t>
                        </m:r>
                      </m:sub>
                    </m:sSub>
                  </m:oMath>
                </a14:m>
                <a:r>
                  <a:rPr lang="en-US" altLang="zh-TW" dirty="0"/>
                  <a:t> x 0.02 – 273.15</a:t>
                </a:r>
              </a:p>
              <a:p>
                <a:pPr lvl="2"/>
                <a:r>
                  <a:rPr lang="en-US" altLang="zh-TW" dirty="0"/>
                  <a:t>0x27AD corresponds to -70 °C</a:t>
                </a:r>
              </a:p>
              <a:p>
                <a:pPr lvl="2"/>
                <a:r>
                  <a:rPr lang="en-US" altLang="zh-TW" dirty="0"/>
                  <a:t>0x</a:t>
                </a:r>
                <a:r>
                  <a:rPr lang="en-US" altLang="zh-TW" sz="2200" dirty="0"/>
                  <a:t>7FFF</a:t>
                </a:r>
                <a:r>
                  <a:rPr lang="en-US" altLang="zh-TW" dirty="0"/>
                  <a:t> corresponds to 382.19 °C</a:t>
                </a:r>
              </a:p>
              <a:p>
                <a:pPr lvl="2"/>
                <a:endParaRPr lang="en-US" altLang="zh-TW" dirty="0"/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67084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https://www.melexis.com/zh/documents/documentation/datasheets/datasheet-mlx90614</a:t>
            </a:r>
            <a:endParaRPr lang="en-US" altLang="zh-TW" dirty="0"/>
          </a:p>
          <a:p>
            <a:r>
              <a:rPr lang="en-US" altLang="zh-TW" dirty="0">
                <a:hlinkClick r:id="rId3"/>
              </a:rPr>
              <a:t>https://www.mouser.tw/datasheet/2/268/mic5270-1891236.pdf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2713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1237</Words>
  <Application>Microsoft Office PowerPoint</Application>
  <PresentationFormat>如螢幕大小 (4:3)</PresentationFormat>
  <Paragraphs>232</Paragraphs>
  <Slides>49</Slides>
  <Notes>29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49</vt:i4>
      </vt:variant>
    </vt:vector>
  </HeadingPairs>
  <TitlesOfParts>
    <vt:vector size="54" baseType="lpstr">
      <vt:lpstr>Arial</vt:lpstr>
      <vt:lpstr>Calibri</vt:lpstr>
      <vt:lpstr>Cambria Math</vt:lpstr>
      <vt:lpstr>Vrinda</vt:lpstr>
      <vt:lpstr>Office 佈景主題</vt:lpstr>
      <vt:lpstr>Microprocessor Systems</vt:lpstr>
      <vt:lpstr>Introduction</vt:lpstr>
      <vt:lpstr>Features</vt:lpstr>
      <vt:lpstr>IR Sensors Key Applications</vt:lpstr>
      <vt:lpstr>IR Sensors Key Applications</vt:lpstr>
      <vt:lpstr>Appearance</vt:lpstr>
      <vt:lpstr>Block Diagram</vt:lpstr>
      <vt:lpstr>Basic Working Theory  </vt:lpstr>
      <vt:lpstr>Position Sensitive Detector</vt:lpstr>
      <vt:lpstr>Position Sensitive Detector</vt:lpstr>
      <vt:lpstr>Triangulation Measurement</vt:lpstr>
      <vt:lpstr>Timing Chart</vt:lpstr>
      <vt:lpstr>Example of Output </vt:lpstr>
      <vt:lpstr>Analog Digital Converter-MCP3202</vt:lpstr>
      <vt:lpstr>ADC Introduction</vt:lpstr>
      <vt:lpstr>N-bit Output Code</vt:lpstr>
      <vt:lpstr>Block Diagram</vt:lpstr>
      <vt:lpstr>Timing Diagram</vt:lpstr>
      <vt:lpstr>Work Mode</vt:lpstr>
      <vt:lpstr>Work Mode</vt:lpstr>
      <vt:lpstr>Communicate with 8 bit MCU</vt:lpstr>
      <vt:lpstr>Communicate with 8 bit MCU</vt:lpstr>
      <vt:lpstr>8 Bit MCU Transmission Arrangement</vt:lpstr>
      <vt:lpstr>8 Bit MCU Transmission Arrangement</vt:lpstr>
      <vt:lpstr>8 Bit MCU Transmission Arrangement</vt:lpstr>
      <vt:lpstr>Reference</vt:lpstr>
      <vt:lpstr>IR Sensor Operating Interval</vt:lpstr>
      <vt:lpstr> IR Sensor Measuring Interval</vt:lpstr>
      <vt:lpstr>Microprocessor Systems</vt:lpstr>
      <vt:lpstr>Introduction</vt:lpstr>
      <vt:lpstr>Features</vt:lpstr>
      <vt:lpstr>Applications of MLX90614</vt:lpstr>
      <vt:lpstr>Block Diagram</vt:lpstr>
      <vt:lpstr>MLX90614</vt:lpstr>
      <vt:lpstr>MLX90614 With PCB  </vt:lpstr>
      <vt:lpstr>Connection with MCU</vt:lpstr>
      <vt:lpstr>Field of View</vt:lpstr>
      <vt:lpstr>SMBus Compatible 2-wire Interface</vt:lpstr>
      <vt:lpstr>Electrical Specifications</vt:lpstr>
      <vt:lpstr>EEPROM</vt:lpstr>
      <vt:lpstr>RAM</vt:lpstr>
      <vt:lpstr>Command</vt:lpstr>
      <vt:lpstr>Bit Transfer</vt:lpstr>
      <vt:lpstr>Read Word</vt:lpstr>
      <vt:lpstr>Write Word</vt:lpstr>
      <vt:lpstr>SMBus Communication Example</vt:lpstr>
      <vt:lpstr>SMBus Communication Example</vt:lpstr>
      <vt:lpstr>Computation of Ambient and Object Temperatures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Microprocessor Systems</dc:title>
  <dc:creator>n</dc:creator>
  <cp:lastModifiedBy>蔡博智</cp:lastModifiedBy>
  <cp:revision>38</cp:revision>
  <dcterms:created xsi:type="dcterms:W3CDTF">2015-02-24T08:12:54Z</dcterms:created>
  <dcterms:modified xsi:type="dcterms:W3CDTF">2023-11-18T15:19:07Z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0x010100D2DFE5C12659264F9CD8B56860A4A801</vt:lpwstr>
  </property>
</Properties>
</file>