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2" roundtripDataSignature="AMtx7mg7GM5UqHyU/RDIRjPbNtd5AVkj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customschemas.google.com/relationships/presentationmetadata" Target="metadata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4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4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5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5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5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5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5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5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5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5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9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9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0"/>
          <p:cNvSpPr/>
          <p:nvPr/>
        </p:nvSpPr>
        <p:spPr>
          <a:xfrm>
            <a:off x="636671" y="1342670"/>
            <a:ext cx="7886700" cy="62390"/>
          </a:xfrm>
          <a:prstGeom prst="rect">
            <a:avLst/>
          </a:prstGeom>
          <a:solidFill>
            <a:srgbClr val="F3D2F4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60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0"/>
          <p:cNvSpPr txBox="1"/>
          <p:nvPr>
            <p:ph idx="1" type="body"/>
          </p:nvPr>
        </p:nvSpPr>
        <p:spPr>
          <a:xfrm>
            <a:off x="628650" y="1509333"/>
            <a:ext cx="7886700" cy="46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6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1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1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6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2"/>
          <p:cNvSpPr txBox="1"/>
          <p:nvPr>
            <p:ph idx="1" type="body"/>
          </p:nvPr>
        </p:nvSpPr>
        <p:spPr>
          <a:xfrm>
            <a:off x="628650" y="1509333"/>
            <a:ext cx="3886200" cy="46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2"/>
          <p:cNvSpPr txBox="1"/>
          <p:nvPr>
            <p:ph idx="2" type="body"/>
          </p:nvPr>
        </p:nvSpPr>
        <p:spPr>
          <a:xfrm>
            <a:off x="4629150" y="1509333"/>
            <a:ext cx="3886200" cy="46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0" name="Google Shape;40;p62"/>
          <p:cNvSpPr/>
          <p:nvPr/>
        </p:nvSpPr>
        <p:spPr>
          <a:xfrm>
            <a:off x="636671" y="1342670"/>
            <a:ext cx="7886700" cy="62390"/>
          </a:xfrm>
          <a:prstGeom prst="rect">
            <a:avLst/>
          </a:prstGeom>
          <a:solidFill>
            <a:srgbClr val="F3D2F4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2"/>
          <p:cNvSpPr/>
          <p:nvPr/>
        </p:nvSpPr>
        <p:spPr>
          <a:xfrm>
            <a:off x="7678552" y="254610"/>
            <a:ext cx="1144207" cy="1144207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62"/>
          <p:cNvSpPr txBox="1"/>
          <p:nvPr>
            <p:ph type="title"/>
          </p:nvPr>
        </p:nvSpPr>
        <p:spPr>
          <a:xfrm>
            <a:off x="628650" y="365126"/>
            <a:ext cx="7886700" cy="1033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3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3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63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3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3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6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6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66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6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7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67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6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8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6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9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9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6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Relationship Id="rId4" Type="http://schemas.openxmlformats.org/officeDocument/2006/relationships/image" Target="../media/image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Relationship Id="rId4" Type="http://schemas.openxmlformats.org/officeDocument/2006/relationships/hyperlink" Target="https://www.keil.com/download/product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png"/><Relationship Id="rId4" Type="http://schemas.openxmlformats.org/officeDocument/2006/relationships/image" Target="../media/image3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438307" y="743925"/>
            <a:ext cx="8524324" cy="173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>
                <a:latin typeface="Arial"/>
                <a:ea typeface="Arial"/>
                <a:cs typeface="Arial"/>
                <a:sym typeface="Arial"/>
              </a:rPr>
              <a:t>Microprocessor Systems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510490" y="4360130"/>
            <a:ext cx="29718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zh-TW"/>
              <a:t>Prof. Ren-Shuo Liu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zh-TW"/>
              <a:t>NTHU EE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486211" y="2686913"/>
            <a:ext cx="6858000" cy="1401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zh-TW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Lab0 – Environment Setup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9014" y="3823857"/>
            <a:ext cx="4123617" cy="251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DFKai-SB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目錄</a:t>
            </a:r>
            <a:endParaRPr/>
          </a:p>
        </p:txBody>
      </p:sp>
      <p:sp>
        <p:nvSpPr>
          <p:cNvPr id="101" name="Google Shape;101;p2"/>
          <p:cNvSpPr txBox="1"/>
          <p:nvPr>
            <p:ph idx="1" type="body"/>
          </p:nvPr>
        </p:nvSpPr>
        <p:spPr>
          <a:xfrm>
            <a:off x="628650" y="1509333"/>
            <a:ext cx="7886700" cy="46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zh-TW" sz="3000">
                <a:latin typeface="Calibri"/>
                <a:ea typeface="Calibri"/>
                <a:cs typeface="Calibri"/>
                <a:sym typeface="Calibri"/>
              </a:rPr>
              <a:t>USB 驅動程式安裝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Win10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zh-TW">
                <a:latin typeface="Calibri"/>
                <a:ea typeface="Calibri"/>
                <a:cs typeface="Calibri"/>
                <a:sym typeface="Calibri"/>
              </a:rPr>
              <a:t>Win7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zh-TW" sz="3000">
                <a:latin typeface="Calibri"/>
                <a:ea typeface="Calibri"/>
                <a:cs typeface="Calibri"/>
                <a:sym typeface="Calibri"/>
              </a:rPr>
              <a:t>KEIL C51 安裝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zh-TW" sz="3000">
                <a:latin typeface="Calibri"/>
                <a:ea typeface="Calibri"/>
                <a:cs typeface="Calibri"/>
                <a:sym typeface="Calibri"/>
              </a:rPr>
              <a:t>KEIL C51  新增專案教學 &amp; 燒錄實驗板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idx="1" type="body"/>
          </p:nvPr>
        </p:nvSpPr>
        <p:spPr>
          <a:xfrm>
            <a:off x="628650" y="2867559"/>
            <a:ext cx="7886700" cy="1316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b="1" lang="zh-TW" sz="4400">
                <a:latin typeface="Calibri"/>
                <a:ea typeface="Calibri"/>
                <a:cs typeface="Calibri"/>
                <a:sym typeface="Calibri"/>
              </a:rPr>
              <a:t>USB 驅動程式安裝</a:t>
            </a:r>
            <a:br>
              <a:rPr b="1" lang="zh-TW" sz="4400">
                <a:latin typeface="Calibri"/>
                <a:ea typeface="Calibri"/>
                <a:cs typeface="Calibri"/>
                <a:sym typeface="Calibri"/>
              </a:rPr>
            </a:br>
            <a:r>
              <a:rPr b="1" lang="zh-TW" sz="4400">
                <a:latin typeface="Calibri"/>
                <a:ea typeface="Calibri"/>
                <a:cs typeface="Calibri"/>
                <a:sym typeface="Calibri"/>
              </a:rPr>
              <a:t>Win10</a:t>
            </a:r>
            <a:endParaRPr b="1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2785130" y="5244981"/>
            <a:ext cx="3827809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i="0" lang="zh-TW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按著Shift並將電腦重新開機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3998" y="1697093"/>
            <a:ext cx="6510071" cy="35478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USB 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驅動程式安裝</a:t>
            </a:r>
            <a:r>
              <a:rPr lang="zh-TW"/>
              <a:t>(Win10)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710" y="1752601"/>
            <a:ext cx="7698579" cy="460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1748856" y="3539969"/>
            <a:ext cx="2449285" cy="80826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USB 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驅動程式安裝</a:t>
            </a:r>
            <a:r>
              <a:rPr lang="zh-TW"/>
              <a:t>(Win10)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537" y="1751951"/>
            <a:ext cx="7699665" cy="460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/>
          <p:nvPr/>
        </p:nvSpPr>
        <p:spPr>
          <a:xfrm>
            <a:off x="1796143" y="3555448"/>
            <a:ext cx="2424793" cy="791936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USB 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驅動程式安裝</a:t>
            </a:r>
            <a:r>
              <a:rPr lang="zh-TW"/>
              <a:t>(Win10)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800" y="1655218"/>
            <a:ext cx="7700400" cy="432809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1739842" y="2584444"/>
            <a:ext cx="2416629" cy="74295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USB 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驅動程式安裝</a:t>
            </a:r>
            <a:r>
              <a:rPr lang="zh-TW"/>
              <a:t>(Win10)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46" name="Google Shape;1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167" y="1568253"/>
            <a:ext cx="7699666" cy="460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/>
          <p:nvPr/>
        </p:nvSpPr>
        <p:spPr>
          <a:xfrm>
            <a:off x="5952614" y="4127928"/>
            <a:ext cx="604157" cy="269421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USB 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驅動程式安裝</a:t>
            </a:r>
            <a:r>
              <a:rPr lang="zh-TW"/>
              <a:t>(Win10)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2682361" y="5987019"/>
            <a:ext cx="44165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2000" u="none" cap="none" strike="noStrik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按下鍵盤數字7停用驅動程式強制簽章</a:t>
            </a:r>
            <a:endParaRPr/>
          </a:p>
        </p:txBody>
      </p:sp>
      <p:pic>
        <p:nvPicPr>
          <p:cNvPr id="155" name="Google Shape;155;p9"/>
          <p:cNvPicPr preferRelativeResize="0"/>
          <p:nvPr/>
        </p:nvPicPr>
        <p:blipFill rotWithShape="1">
          <a:blip r:embed="rId3">
            <a:alphaModFix/>
          </a:blip>
          <a:srcRect b="13134" l="0" r="0" t="0"/>
          <a:stretch/>
        </p:blipFill>
        <p:spPr>
          <a:xfrm>
            <a:off x="1100937" y="1619005"/>
            <a:ext cx="6486449" cy="422583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USB 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驅動程式安裝</a:t>
            </a:r>
            <a:r>
              <a:rPr lang="zh-TW"/>
              <a:t>(Win10)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2" name="Google Shape;162;p10"/>
          <p:cNvSpPr txBox="1"/>
          <p:nvPr>
            <p:ph type="title"/>
          </p:nvPr>
        </p:nvSpPr>
        <p:spPr>
          <a:xfrm>
            <a:off x="628650" y="4964053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lang="zh-TW" sz="2000">
                <a:latin typeface="Calibri"/>
                <a:ea typeface="Calibri"/>
                <a:cs typeface="Calibri"/>
                <a:sym typeface="Calibri"/>
              </a:rPr>
              <a:t>電腦完成開機後，將 KT89S51 線上燒錄實驗板透過 USB 線連接到電腦之 USB 埠</a:t>
            </a:r>
            <a:endParaRPr b="0"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450" y="2244972"/>
            <a:ext cx="4175206" cy="2348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7748" y="2244972"/>
            <a:ext cx="4171045" cy="234621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0"/>
          <p:cNvSpPr txBox="1"/>
          <p:nvPr/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 txBox="1"/>
          <p:nvPr/>
        </p:nvSpPr>
        <p:spPr>
          <a:xfrm>
            <a:off x="420306" y="365125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zh-TW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USB 驅動程式安裝(Win10)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72" name="Google Shape;172;p11"/>
          <p:cNvPicPr preferRelativeResize="0"/>
          <p:nvPr/>
        </p:nvPicPr>
        <p:blipFill rotWithShape="1">
          <a:blip r:embed="rId3">
            <a:alphaModFix/>
          </a:blip>
          <a:srcRect b="0" l="0" r="56856" t="43042"/>
          <a:stretch/>
        </p:blipFill>
        <p:spPr>
          <a:xfrm>
            <a:off x="1879080" y="1586791"/>
            <a:ext cx="5004523" cy="412938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1"/>
          <p:cNvSpPr txBox="1"/>
          <p:nvPr/>
        </p:nvSpPr>
        <p:spPr>
          <a:xfrm>
            <a:off x="2803071" y="5474773"/>
            <a:ext cx="3502479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FKai-SB"/>
              <a:buNone/>
            </a:pPr>
            <a:r>
              <a:rPr b="0" lang="zh-TW" sz="2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插上板子後搜尋裝置管理員</a:t>
            </a:r>
            <a:endParaRPr/>
          </a:p>
        </p:txBody>
      </p:sp>
      <p:sp>
        <p:nvSpPr>
          <p:cNvPr id="174" name="Google Shape;174;p11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USB 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驅動程式安裝</a:t>
            </a:r>
            <a:r>
              <a:rPr lang="zh-TW"/>
              <a:t>(Win10)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80" name="Google Shape;180;p12"/>
          <p:cNvPicPr preferRelativeResize="0"/>
          <p:nvPr/>
        </p:nvPicPr>
        <p:blipFill rotWithShape="1">
          <a:blip r:embed="rId3">
            <a:alphaModFix/>
          </a:blip>
          <a:srcRect b="43941" l="1686" r="53638" t="931"/>
          <a:stretch/>
        </p:blipFill>
        <p:spPr>
          <a:xfrm>
            <a:off x="2338195" y="1688245"/>
            <a:ext cx="4467610" cy="401628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2"/>
          <p:cNvSpPr/>
          <p:nvPr/>
        </p:nvSpPr>
        <p:spPr>
          <a:xfrm>
            <a:off x="2874888" y="4517026"/>
            <a:ext cx="932341" cy="237853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2043102" y="5886688"/>
            <a:ext cx="50577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2000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點選</a:t>
            </a:r>
            <a:r>
              <a:rPr lang="zh-TW" sz="2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”</a:t>
            </a:r>
            <a:r>
              <a:rPr b="0" lang="zh-TW" sz="2000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其他裝置”確認板子是否有確實連接</a:t>
            </a:r>
            <a:endParaRPr b="0" sz="2000" cap="none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83" name="Google Shape;183;p12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USB 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驅動程式安裝</a:t>
            </a:r>
            <a:r>
              <a:rPr lang="zh-TW"/>
              <a:t>(Win10)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89" name="Google Shape;189;p13"/>
          <p:cNvPicPr preferRelativeResize="0"/>
          <p:nvPr/>
        </p:nvPicPr>
        <p:blipFill rotWithShape="1">
          <a:blip r:embed="rId3">
            <a:alphaModFix/>
          </a:blip>
          <a:srcRect b="27925" l="52405" r="21376" t="44796"/>
          <a:stretch/>
        </p:blipFill>
        <p:spPr>
          <a:xfrm>
            <a:off x="1198238" y="1642407"/>
            <a:ext cx="6747521" cy="438762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3"/>
          <p:cNvSpPr/>
          <p:nvPr/>
        </p:nvSpPr>
        <p:spPr>
          <a:xfrm>
            <a:off x="2556063" y="6138803"/>
            <a:ext cx="40318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選取裝置後右鍵選取更新驅動程式</a:t>
            </a:r>
            <a:endParaRPr b="0" sz="2000" cap="none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2556063" y="3807276"/>
            <a:ext cx="2373384" cy="374026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USB 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驅動程式安裝</a:t>
            </a:r>
            <a:r>
              <a:rPr lang="zh-TW"/>
              <a:t>(Win10)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98" name="Google Shape;198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7428" l="52939" r="6800" t="44296"/>
          <a:stretch/>
        </p:blipFill>
        <p:spPr>
          <a:xfrm>
            <a:off x="1707210" y="1564713"/>
            <a:ext cx="5761152" cy="431744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4"/>
          <p:cNvSpPr/>
          <p:nvPr/>
        </p:nvSpPr>
        <p:spPr>
          <a:xfrm>
            <a:off x="2421331" y="3891687"/>
            <a:ext cx="3913632" cy="738835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4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USB 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驅動程式安裝</a:t>
            </a:r>
            <a:r>
              <a:rPr lang="zh-TW"/>
              <a:t>(Win10)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06" name="Google Shape;206;p15"/>
          <p:cNvPicPr preferRelativeResize="0"/>
          <p:nvPr/>
        </p:nvPicPr>
        <p:blipFill rotWithShape="1">
          <a:blip r:embed="rId3">
            <a:alphaModFix/>
          </a:blip>
          <a:srcRect b="6645" l="52743" r="6505" t="44046"/>
          <a:stretch/>
        </p:blipFill>
        <p:spPr>
          <a:xfrm>
            <a:off x="1787133" y="1727316"/>
            <a:ext cx="5610506" cy="424286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5"/>
          <p:cNvSpPr/>
          <p:nvPr/>
        </p:nvSpPr>
        <p:spPr>
          <a:xfrm>
            <a:off x="1466021" y="6013590"/>
            <a:ext cx="621195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按瀏覽鈕，選取放置指定驅動程式的路徑\LTC_USBDRV</a:t>
            </a:r>
            <a:br>
              <a:rPr lang="zh-TW" sz="2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</a:br>
            <a:r>
              <a:rPr lang="zh-TW" sz="2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(去teams檔案區下載LTC_USBDRV資料夾)</a:t>
            </a:r>
            <a:endParaRPr b="0" sz="2000" cap="none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208" name="Google Shape;208;p15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USB 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驅動程式安裝</a:t>
            </a:r>
            <a:r>
              <a:rPr lang="zh-TW"/>
              <a:t>(Win10)</a:t>
            </a:r>
            <a:endParaRPr/>
          </a:p>
        </p:txBody>
      </p:sp>
      <p:sp>
        <p:nvSpPr>
          <p:cNvPr id="209" name="Google Shape;209;p15"/>
          <p:cNvSpPr/>
          <p:nvPr/>
        </p:nvSpPr>
        <p:spPr>
          <a:xfrm>
            <a:off x="4788131" y="2277687"/>
            <a:ext cx="1986742" cy="32419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15" name="Google Shape;215;p16"/>
          <p:cNvPicPr preferRelativeResize="0"/>
          <p:nvPr/>
        </p:nvPicPr>
        <p:blipFill rotWithShape="1">
          <a:blip r:embed="rId3">
            <a:alphaModFix/>
          </a:blip>
          <a:srcRect b="42820" l="13696" r="58076" t="29549"/>
          <a:stretch/>
        </p:blipFill>
        <p:spPr>
          <a:xfrm>
            <a:off x="1033418" y="2015873"/>
            <a:ext cx="7073669" cy="389467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6"/>
          <p:cNvSpPr/>
          <p:nvPr/>
        </p:nvSpPr>
        <p:spPr>
          <a:xfrm>
            <a:off x="1777768" y="4033289"/>
            <a:ext cx="5878254" cy="92940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2682557" y="6321366"/>
            <a:ext cx="37753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2000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安裝完成後點選關閉即完成安裝</a:t>
            </a:r>
            <a:endParaRPr b="0" sz="2000" cap="none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218" name="Google Shape;218;p16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USB 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驅動程式安裝</a:t>
            </a:r>
            <a:r>
              <a:rPr lang="zh-TW"/>
              <a:t>(Win10)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24" name="Google Shape;224;p17"/>
          <p:cNvSpPr txBox="1"/>
          <p:nvPr>
            <p:ph type="title"/>
          </p:nvPr>
        </p:nvSpPr>
        <p:spPr>
          <a:xfrm>
            <a:off x="628650" y="5456505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lang="zh-TW" sz="2000">
                <a:latin typeface="Calibri"/>
                <a:ea typeface="Calibri"/>
                <a:cs typeface="Calibri"/>
                <a:sym typeface="Calibri"/>
              </a:rPr>
              <a:t>按關閉鈕關閉對話盒即可，而裝置管理員視窗裡，也將出現 s51_pgm 的驅動程式，接著重新開機</a:t>
            </a:r>
            <a:endParaRPr b="0"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0756" y="1603154"/>
            <a:ext cx="5162487" cy="395201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7"/>
          <p:cNvSpPr txBox="1"/>
          <p:nvPr/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zh-TW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USB 驅動程式安裝(Win10)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6342611" y="5178829"/>
            <a:ext cx="698269" cy="216131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/>
          <p:nvPr>
            <p:ph idx="1" type="body"/>
          </p:nvPr>
        </p:nvSpPr>
        <p:spPr>
          <a:xfrm>
            <a:off x="628650" y="2867559"/>
            <a:ext cx="7886700" cy="1316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b="1" lang="zh-TW" sz="4400">
                <a:latin typeface="Calibri"/>
                <a:ea typeface="Calibri"/>
                <a:cs typeface="Calibri"/>
                <a:sym typeface="Calibri"/>
              </a:rPr>
              <a:t>USB 驅動程式安裝-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b="1" lang="zh-TW" sz="4400">
                <a:latin typeface="Calibri"/>
                <a:ea typeface="Calibri"/>
                <a:cs typeface="Calibri"/>
                <a:sym typeface="Calibri"/>
              </a:rPr>
              <a:t>Win7</a:t>
            </a:r>
            <a:endParaRPr b="1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9" name="Google Shape;239;p19"/>
          <p:cNvSpPr txBox="1"/>
          <p:nvPr>
            <p:ph type="title"/>
          </p:nvPr>
        </p:nvSpPr>
        <p:spPr>
          <a:xfrm>
            <a:off x="628650" y="4964053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lang="zh-TW" sz="2000">
                <a:latin typeface="Calibri"/>
                <a:ea typeface="Calibri"/>
                <a:cs typeface="Calibri"/>
                <a:sym typeface="Calibri"/>
              </a:rPr>
              <a:t>電腦完成開機後，將 KT89S51 線上燒錄實驗板透過 USB 線連接到電腦之 USB 埠</a:t>
            </a:r>
            <a:endParaRPr b="0"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450" y="2244972"/>
            <a:ext cx="4175206" cy="2348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7748" y="2244972"/>
            <a:ext cx="4171045" cy="2346213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9"/>
          <p:cNvSpPr txBox="1"/>
          <p:nvPr/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zh-TW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USB 驅動程式安裝(Win7)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628650" y="5493079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再按Windows鈕拉出開始功能表，指向電腦選項，按右鍵選取內容選項</a:t>
            </a:r>
            <a:endParaRPr b="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20"/>
          <p:cNvPicPr preferRelativeResize="0"/>
          <p:nvPr/>
        </p:nvPicPr>
        <p:blipFill rotWithShape="1">
          <a:blip r:embed="rId3">
            <a:alphaModFix/>
          </a:blip>
          <a:srcRect b="-408" l="0" r="71684" t="45612"/>
          <a:stretch/>
        </p:blipFill>
        <p:spPr>
          <a:xfrm>
            <a:off x="2927119" y="1580081"/>
            <a:ext cx="3289761" cy="397883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0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USB 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驅動程式安裝</a:t>
            </a:r>
            <a:r>
              <a:rPr lang="zh-TW"/>
              <a:t>(Win7)</a:t>
            </a:r>
            <a:endParaRPr/>
          </a:p>
        </p:txBody>
      </p:sp>
      <p:sp>
        <p:nvSpPr>
          <p:cNvPr id="251" name="Google Shape;251;p20"/>
          <p:cNvSpPr/>
          <p:nvPr/>
        </p:nvSpPr>
        <p:spPr>
          <a:xfrm>
            <a:off x="4971011" y="4189615"/>
            <a:ext cx="1245869" cy="174567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57" name="Google Shape;257;p21"/>
          <p:cNvSpPr txBox="1"/>
          <p:nvPr>
            <p:ph type="title"/>
          </p:nvPr>
        </p:nvSpPr>
        <p:spPr>
          <a:xfrm>
            <a:off x="628650" y="5468519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FKai-SB"/>
              <a:buNone/>
            </a:pPr>
            <a:r>
              <a:rPr b="0" lang="zh-TW" sz="2000">
                <a:latin typeface="DFKai-SB"/>
                <a:ea typeface="DFKai-SB"/>
                <a:cs typeface="DFKai-SB"/>
                <a:sym typeface="DFKai-SB"/>
              </a:rPr>
              <a:t>選取裝置管理員選項，開啟裝置管理員視窗</a:t>
            </a:r>
            <a:endParaRPr b="0" sz="2000"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258" name="Google Shape;258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7552" l="33503" r="26545" t="33639"/>
          <a:stretch/>
        </p:blipFill>
        <p:spPr>
          <a:xfrm>
            <a:off x="1481865" y="1870573"/>
            <a:ext cx="6180270" cy="375202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/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zh-TW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USB 驅動程式安裝(Win7)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1481865" y="2676698"/>
            <a:ext cx="845699" cy="307571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66" name="Google Shape;266;p22"/>
          <p:cNvSpPr txBox="1"/>
          <p:nvPr>
            <p:ph type="title"/>
          </p:nvPr>
        </p:nvSpPr>
        <p:spPr>
          <a:xfrm>
            <a:off x="628650" y="5602807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lang="zh-TW" sz="2000">
                <a:latin typeface="Calibri"/>
                <a:ea typeface="Calibri"/>
                <a:cs typeface="Calibri"/>
                <a:sym typeface="Calibri"/>
              </a:rPr>
              <a:t>在其他裝置項下方s51_pgm，右鍵選取更新驅動程式軟體選項</a:t>
            </a:r>
            <a:endParaRPr b="0"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6104" l="30714" r="28163" t="35930"/>
          <a:stretch/>
        </p:blipFill>
        <p:spPr>
          <a:xfrm>
            <a:off x="1680972" y="1631289"/>
            <a:ext cx="5765732" cy="420325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2"/>
          <p:cNvSpPr txBox="1"/>
          <p:nvPr/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zh-TW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USB 驅動程式安裝(Win7)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2610196" y="2901142"/>
            <a:ext cx="1504604" cy="26600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75" name="Google Shape;275;p23"/>
          <p:cNvSpPr txBox="1"/>
          <p:nvPr>
            <p:ph type="title"/>
          </p:nvPr>
        </p:nvSpPr>
        <p:spPr>
          <a:xfrm>
            <a:off x="628650" y="5229733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FKai-SB"/>
              <a:buNone/>
            </a:pPr>
            <a:r>
              <a:rPr b="0" lang="zh-TW" sz="2000">
                <a:latin typeface="DFKai-SB"/>
                <a:ea typeface="DFKai-SB"/>
                <a:cs typeface="DFKai-SB"/>
                <a:sym typeface="DFKai-SB"/>
              </a:rPr>
              <a:t>選取瀏覽電腦上的驅動程式軟體選項</a:t>
            </a:r>
            <a:endParaRPr b="0" sz="2000"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276" name="Google Shape;276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8334" l="34949" r="32347" t="42044"/>
          <a:stretch/>
        </p:blipFill>
        <p:spPr>
          <a:xfrm>
            <a:off x="1898904" y="1574446"/>
            <a:ext cx="5240731" cy="39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3"/>
          <p:cNvSpPr txBox="1"/>
          <p:nvPr/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zh-TW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USB 驅動程式安裝(Win7)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2269375" y="3566161"/>
            <a:ext cx="4048298" cy="73152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4" name="Google Shape;284;p24"/>
          <p:cNvSpPr txBox="1"/>
          <p:nvPr>
            <p:ph type="title"/>
          </p:nvPr>
        </p:nvSpPr>
        <p:spPr>
          <a:xfrm>
            <a:off x="628650" y="5361410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lang="zh-TW" sz="2000">
                <a:latin typeface="Calibri"/>
                <a:ea typeface="Calibri"/>
                <a:cs typeface="Calibri"/>
                <a:sym typeface="Calibri"/>
              </a:rPr>
              <a:t>按瀏覽鈕，選取放置指定驅動程式的路徑\LTC_USBDRV</a:t>
            </a:r>
            <a:br>
              <a:rPr b="0" lang="zh-TW" sz="2000">
                <a:latin typeface="Calibri"/>
                <a:ea typeface="Calibri"/>
                <a:cs typeface="Calibri"/>
                <a:sym typeface="Calibri"/>
              </a:rPr>
            </a:br>
            <a:r>
              <a:rPr b="0" lang="zh-TW" sz="2000">
                <a:latin typeface="Calibri"/>
                <a:ea typeface="Calibri"/>
                <a:cs typeface="Calibri"/>
                <a:sym typeface="Calibri"/>
              </a:rPr>
              <a:t>(LTC_USBDRV資料夾已附於Lab0資料夾)</a:t>
            </a:r>
            <a:endParaRPr b="0"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8061" l="35000" r="32347" t="42431"/>
          <a:stretch/>
        </p:blipFill>
        <p:spPr>
          <a:xfrm>
            <a:off x="2092032" y="1712934"/>
            <a:ext cx="4959936" cy="3750817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4"/>
          <p:cNvSpPr txBox="1"/>
          <p:nvPr/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zh-TW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USB 驅動程式安裝(Win7)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5494713" y="2917767"/>
            <a:ext cx="739832" cy="24106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93" name="Google Shape;293;p25"/>
          <p:cNvSpPr txBox="1"/>
          <p:nvPr>
            <p:ph type="title"/>
          </p:nvPr>
        </p:nvSpPr>
        <p:spPr>
          <a:xfrm>
            <a:off x="628650" y="501027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DFKai-SB"/>
              <a:buNone/>
            </a:pPr>
            <a:r>
              <a:rPr b="0" lang="zh-TW" sz="2000">
                <a:latin typeface="DFKai-SB"/>
                <a:ea typeface="DFKai-SB"/>
                <a:cs typeface="DFKai-SB"/>
                <a:sym typeface="DFKai-SB"/>
              </a:rPr>
              <a:t>選取仍然安裝此驅動程式軟體選項，即進行安裝</a:t>
            </a:r>
            <a:endParaRPr b="0" sz="2000"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294" name="Google Shape;294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8935" y="1706424"/>
            <a:ext cx="6219825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 txBox="1"/>
          <p:nvPr/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zh-TW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USB 驅動程式安裝(Win7)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2094807" y="3557847"/>
            <a:ext cx="5386648" cy="95596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02" name="Google Shape;302;p26"/>
          <p:cNvSpPr txBox="1"/>
          <p:nvPr>
            <p:ph type="title"/>
          </p:nvPr>
        </p:nvSpPr>
        <p:spPr>
          <a:xfrm>
            <a:off x="628650" y="5456505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0" lang="zh-TW" sz="2000">
                <a:latin typeface="Calibri"/>
                <a:ea typeface="Calibri"/>
                <a:cs typeface="Calibri"/>
                <a:sym typeface="Calibri"/>
              </a:rPr>
              <a:t>按關閉鈕關閉對話盒即可，而裝置管理員視窗裡，也將出現 s51_pgm 的驅動程式，接著重新開機</a:t>
            </a:r>
            <a:endParaRPr b="0"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0756" y="1603154"/>
            <a:ext cx="5162487" cy="3952018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6"/>
          <p:cNvSpPr txBox="1"/>
          <p:nvPr/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zh-TW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USB 驅動程式安裝(Win7)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6342611" y="5178829"/>
            <a:ext cx="698269" cy="216131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"/>
          <p:cNvSpPr txBox="1"/>
          <p:nvPr>
            <p:ph idx="1" type="body"/>
          </p:nvPr>
        </p:nvSpPr>
        <p:spPr>
          <a:xfrm>
            <a:off x="628650" y="2904134"/>
            <a:ext cx="7886700" cy="702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b="1" lang="zh-TW" sz="4400">
                <a:latin typeface="Calibri"/>
                <a:ea typeface="Calibri"/>
                <a:cs typeface="Calibri"/>
                <a:sym typeface="Calibri"/>
              </a:rPr>
              <a:t>KEIL C51 安裝</a:t>
            </a:r>
            <a:endParaRPr b="1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73" y="1337120"/>
            <a:ext cx="7140382" cy="4977504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18" name="Google Shape;318;p28"/>
          <p:cNvSpPr txBox="1"/>
          <p:nvPr/>
        </p:nvSpPr>
        <p:spPr>
          <a:xfrm>
            <a:off x="779414" y="468693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zh-TW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KEIL C51 安裝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2637003" y="6356351"/>
            <a:ext cx="41715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https://www.keil.com/download/product/</a:t>
            </a:r>
            <a:r>
              <a:rPr lang="zh-TW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4847092" y="2946860"/>
            <a:ext cx="2385812" cy="564435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KEIL C51 </a:t>
            </a:r>
            <a:r>
              <a:rPr lang="zh-TW">
                <a:latin typeface="DFKai-SB"/>
                <a:ea typeface="DFKai-SB"/>
                <a:cs typeface="DFKai-SB"/>
                <a:sym typeface="DFKai-SB"/>
              </a:rPr>
              <a:t>安裝</a:t>
            </a:r>
            <a:endParaRPr/>
          </a:p>
        </p:txBody>
      </p:sp>
      <p:pic>
        <p:nvPicPr>
          <p:cNvPr id="326" name="Google Shape;326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5414" y="1509713"/>
            <a:ext cx="4733171" cy="4846638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28" name="Google Shape;328;p29"/>
          <p:cNvSpPr/>
          <p:nvPr/>
        </p:nvSpPr>
        <p:spPr>
          <a:xfrm>
            <a:off x="3296398" y="6276917"/>
            <a:ext cx="27190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填入聯絡資料後Submit</a:t>
            </a:r>
            <a:endParaRPr b="0"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3182884" y="2681684"/>
            <a:ext cx="3117332" cy="1524556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3923548" y="5998463"/>
            <a:ext cx="712460" cy="305885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9"/>
          <p:cNvSpPr txBox="1"/>
          <p:nvPr/>
        </p:nvSpPr>
        <p:spPr>
          <a:xfrm>
            <a:off x="2823490" y="2557995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9"/>
          <p:cNvSpPr txBox="1"/>
          <p:nvPr/>
        </p:nvSpPr>
        <p:spPr>
          <a:xfrm>
            <a:off x="3553299" y="5935016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KEIL C51 安裝</a:t>
            </a:r>
            <a:endParaRPr/>
          </a:p>
        </p:txBody>
      </p:sp>
      <p:sp>
        <p:nvSpPr>
          <p:cNvPr id="338" name="Google Shape;338;p3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39" name="Google Shape;339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918901"/>
            <a:ext cx="7886700" cy="3848873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/>
          <p:nvPr/>
        </p:nvSpPr>
        <p:spPr>
          <a:xfrm>
            <a:off x="4050612" y="6276917"/>
            <a:ext cx="121058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點擊下載</a:t>
            </a:r>
            <a:endParaRPr b="0"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0"/>
          <p:cNvSpPr/>
          <p:nvPr/>
        </p:nvSpPr>
        <p:spPr>
          <a:xfrm>
            <a:off x="4655906" y="4416551"/>
            <a:ext cx="1104814" cy="305885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" name="Google Shape;342;p30"/>
          <p:cNvCxnSpPr/>
          <p:nvPr/>
        </p:nvCxnSpPr>
        <p:spPr>
          <a:xfrm flipH="1">
            <a:off x="1828801" y="4722436"/>
            <a:ext cx="2761487" cy="773108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3" name="Google Shape;343;p30"/>
          <p:cNvSpPr/>
          <p:nvPr/>
        </p:nvSpPr>
        <p:spPr>
          <a:xfrm>
            <a:off x="628649" y="5474121"/>
            <a:ext cx="1200151" cy="305885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0"/>
          <p:cNvSpPr txBox="1"/>
          <p:nvPr/>
        </p:nvSpPr>
        <p:spPr>
          <a:xfrm>
            <a:off x="4296512" y="4265540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0"/>
          <p:cNvSpPr txBox="1"/>
          <p:nvPr/>
        </p:nvSpPr>
        <p:spPr>
          <a:xfrm>
            <a:off x="269256" y="5442397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1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KEIL C51 安裝</a:t>
            </a:r>
            <a:endParaRPr/>
          </a:p>
        </p:txBody>
      </p:sp>
      <p:pic>
        <p:nvPicPr>
          <p:cNvPr id="351" name="Google Shape;351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6363" y="1561782"/>
            <a:ext cx="6611273" cy="4563112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53" name="Google Shape;353;p31"/>
          <p:cNvSpPr/>
          <p:nvPr/>
        </p:nvSpPr>
        <p:spPr>
          <a:xfrm>
            <a:off x="3922373" y="6276917"/>
            <a:ext cx="146706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執行安裝檔</a:t>
            </a:r>
            <a:endParaRPr b="0"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1"/>
          <p:cNvSpPr/>
          <p:nvPr/>
        </p:nvSpPr>
        <p:spPr>
          <a:xfrm>
            <a:off x="5808050" y="5504689"/>
            <a:ext cx="1004230" cy="37490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2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KEIL C51 安裝</a:t>
            </a:r>
            <a:endParaRPr/>
          </a:p>
        </p:txBody>
      </p:sp>
      <p:pic>
        <p:nvPicPr>
          <p:cNvPr id="360" name="Google Shape;360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416" y="1580835"/>
            <a:ext cx="6573167" cy="4525006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62" name="Google Shape;362;p32"/>
          <p:cNvSpPr/>
          <p:nvPr/>
        </p:nvSpPr>
        <p:spPr>
          <a:xfrm>
            <a:off x="3452760" y="6276917"/>
            <a:ext cx="24063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勾選I agree</a:t>
            </a:r>
            <a:r>
              <a:rPr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後按</a:t>
            </a:r>
            <a:r>
              <a:rPr b="0" lang="zh-TW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b="0"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2"/>
          <p:cNvSpPr/>
          <p:nvPr/>
        </p:nvSpPr>
        <p:spPr>
          <a:xfrm>
            <a:off x="5808050" y="5504689"/>
            <a:ext cx="1004230" cy="37490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2"/>
          <p:cNvSpPr/>
          <p:nvPr/>
        </p:nvSpPr>
        <p:spPr>
          <a:xfrm>
            <a:off x="1592666" y="4956049"/>
            <a:ext cx="3646846" cy="310895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2"/>
          <p:cNvSpPr txBox="1"/>
          <p:nvPr/>
        </p:nvSpPr>
        <p:spPr>
          <a:xfrm>
            <a:off x="1285416" y="4926830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2"/>
          <p:cNvSpPr txBox="1"/>
          <p:nvPr/>
        </p:nvSpPr>
        <p:spPr>
          <a:xfrm>
            <a:off x="5499666" y="5221883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3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KEIL C51 安裝</a:t>
            </a:r>
            <a:endParaRPr/>
          </a:p>
        </p:txBody>
      </p:sp>
      <p:pic>
        <p:nvPicPr>
          <p:cNvPr id="372" name="Google Shape;372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" l="628" r="0" t="128"/>
          <a:stretch/>
        </p:blipFill>
        <p:spPr>
          <a:xfrm>
            <a:off x="1298448" y="1581912"/>
            <a:ext cx="6588714" cy="4528692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74" name="Google Shape;374;p33"/>
          <p:cNvSpPr/>
          <p:nvPr/>
        </p:nvSpPr>
        <p:spPr>
          <a:xfrm>
            <a:off x="1289436" y="6276917"/>
            <a:ext cx="673293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強烈建議安裝在C槽，否則編譯器可能找不到相關設定檔</a:t>
            </a:r>
            <a:endParaRPr b="0"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5808050" y="5504689"/>
            <a:ext cx="1004230" cy="37490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3"/>
          <p:cNvSpPr/>
          <p:nvPr/>
        </p:nvSpPr>
        <p:spPr>
          <a:xfrm>
            <a:off x="1684106" y="3922777"/>
            <a:ext cx="1004230" cy="37490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3"/>
          <p:cNvSpPr txBox="1"/>
          <p:nvPr/>
        </p:nvSpPr>
        <p:spPr>
          <a:xfrm>
            <a:off x="1324712" y="3922777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3"/>
          <p:cNvSpPr txBox="1"/>
          <p:nvPr/>
        </p:nvSpPr>
        <p:spPr>
          <a:xfrm>
            <a:off x="5499666" y="5221883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4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KEIL C51 安裝</a:t>
            </a:r>
            <a:endParaRPr/>
          </a:p>
        </p:txBody>
      </p:sp>
      <p:sp>
        <p:nvSpPr>
          <p:cNvPr id="384" name="Google Shape;384;p3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85" name="Google Shape;385;p34"/>
          <p:cNvSpPr/>
          <p:nvPr/>
        </p:nvSpPr>
        <p:spPr>
          <a:xfrm>
            <a:off x="3152929" y="6276917"/>
            <a:ext cx="300595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這邊再一次填入聯絡資訊</a:t>
            </a:r>
            <a:endParaRPr b="0"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6" name="Google Shape;386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5890" y="1599887"/>
            <a:ext cx="6592220" cy="448690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4"/>
          <p:cNvSpPr/>
          <p:nvPr/>
        </p:nvSpPr>
        <p:spPr>
          <a:xfrm>
            <a:off x="5808050" y="5504689"/>
            <a:ext cx="1004230" cy="37490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4"/>
          <p:cNvSpPr/>
          <p:nvPr/>
        </p:nvSpPr>
        <p:spPr>
          <a:xfrm>
            <a:off x="1546946" y="3566160"/>
            <a:ext cx="5932846" cy="174839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4"/>
          <p:cNvSpPr txBox="1"/>
          <p:nvPr/>
        </p:nvSpPr>
        <p:spPr>
          <a:xfrm>
            <a:off x="1275890" y="3191364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4"/>
          <p:cNvSpPr txBox="1"/>
          <p:nvPr/>
        </p:nvSpPr>
        <p:spPr>
          <a:xfrm>
            <a:off x="5499666" y="5258459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5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/>
              <a:t>KEIL C51 安裝</a:t>
            </a:r>
            <a:endParaRPr/>
          </a:p>
        </p:txBody>
      </p:sp>
      <p:pic>
        <p:nvPicPr>
          <p:cNvPr id="396" name="Google Shape;396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408" r="0" t="1242"/>
          <a:stretch/>
        </p:blipFill>
        <p:spPr>
          <a:xfrm>
            <a:off x="1307591" y="1618488"/>
            <a:ext cx="6555755" cy="4506406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98" name="Google Shape;398;p35"/>
          <p:cNvSpPr/>
          <p:nvPr/>
        </p:nvSpPr>
        <p:spPr>
          <a:xfrm>
            <a:off x="5808050" y="5504689"/>
            <a:ext cx="1004230" cy="37490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5"/>
          <p:cNvSpPr/>
          <p:nvPr/>
        </p:nvSpPr>
        <p:spPr>
          <a:xfrm>
            <a:off x="4050622" y="6276917"/>
            <a:ext cx="121058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完成安裝</a:t>
            </a:r>
            <a:endParaRPr b="0"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6"/>
          <p:cNvSpPr txBox="1"/>
          <p:nvPr>
            <p:ph idx="1" type="body"/>
          </p:nvPr>
        </p:nvSpPr>
        <p:spPr>
          <a:xfrm>
            <a:off x="1590140" y="2969971"/>
            <a:ext cx="6174487" cy="702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b="1" lang="zh-TW" sz="4400"/>
              <a:t>KEIL C51 新增專案教學 &amp; </a:t>
            </a:r>
            <a:r>
              <a:rPr b="1" lang="zh-TW" sz="4400">
                <a:latin typeface="DFKai-SB"/>
                <a:ea typeface="DFKai-SB"/>
                <a:cs typeface="DFKai-SB"/>
                <a:sym typeface="DFKai-SB"/>
              </a:rPr>
              <a:t>燒錄實驗板</a:t>
            </a:r>
            <a:endParaRPr/>
          </a:p>
        </p:txBody>
      </p:sp>
      <p:sp>
        <p:nvSpPr>
          <p:cNvPr id="405" name="Google Shape;405;p3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7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zh-TW" sz="4000"/>
              <a:t>新增專案教學 &amp; 燒錄實驗</a:t>
            </a:r>
            <a:r>
              <a:rPr lang="zh-TW" sz="4000">
                <a:latin typeface="DFKai-SB"/>
                <a:ea typeface="DFKai-SB"/>
                <a:cs typeface="DFKai-SB"/>
                <a:sym typeface="DFKai-SB"/>
              </a:rPr>
              <a:t>板</a:t>
            </a:r>
            <a:endParaRPr sz="4000"/>
          </a:p>
        </p:txBody>
      </p:sp>
      <p:sp>
        <p:nvSpPr>
          <p:cNvPr id="411" name="Google Shape;411;p3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12" name="Google Shape;412;p37"/>
          <p:cNvSpPr/>
          <p:nvPr/>
        </p:nvSpPr>
        <p:spPr>
          <a:xfrm>
            <a:off x="2540509" y="6276917"/>
            <a:ext cx="423083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新增資料夾”lab0”，打開Keil uVision5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6681" y="2833547"/>
            <a:ext cx="4210638" cy="2019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8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zh-TW" sz="4000"/>
              <a:t>新增專案教學 &amp; 燒錄實驗</a:t>
            </a:r>
            <a:r>
              <a:rPr lang="zh-TW" sz="4000">
                <a:latin typeface="DFKai-SB"/>
                <a:ea typeface="DFKai-SB"/>
                <a:cs typeface="DFKai-SB"/>
                <a:sym typeface="DFKai-SB"/>
              </a:rPr>
              <a:t>板</a:t>
            </a:r>
            <a:endParaRPr sz="4000"/>
          </a:p>
        </p:txBody>
      </p:sp>
      <p:pic>
        <p:nvPicPr>
          <p:cNvPr id="419" name="Google Shape;419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377" r="0" t="0"/>
          <a:stretch/>
        </p:blipFill>
        <p:spPr>
          <a:xfrm>
            <a:off x="658368" y="1811999"/>
            <a:ext cx="7856982" cy="4062677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21" name="Google Shape;421;p38"/>
          <p:cNvSpPr/>
          <p:nvPr/>
        </p:nvSpPr>
        <p:spPr>
          <a:xfrm>
            <a:off x="1360170" y="2019660"/>
            <a:ext cx="2416302" cy="36692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8"/>
          <p:cNvSpPr/>
          <p:nvPr/>
        </p:nvSpPr>
        <p:spPr>
          <a:xfrm>
            <a:off x="2273412" y="6276917"/>
            <a:ext cx="4765023" cy="40011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7690" l="-1022" r="-765" t="-1076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9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zh-TW" sz="4000"/>
              <a:t>新增專案教學 &amp; 燒錄實驗板</a:t>
            </a:r>
            <a:endParaRPr sz="4000"/>
          </a:p>
        </p:txBody>
      </p:sp>
      <p:pic>
        <p:nvPicPr>
          <p:cNvPr id="428" name="Google Shape;428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285" r="0" t="0"/>
          <a:stretch/>
        </p:blipFill>
        <p:spPr>
          <a:xfrm>
            <a:off x="886967" y="1509713"/>
            <a:ext cx="7391145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30" name="Google Shape;430;p39"/>
          <p:cNvSpPr/>
          <p:nvPr/>
        </p:nvSpPr>
        <p:spPr>
          <a:xfrm>
            <a:off x="2815980" y="6276917"/>
            <a:ext cx="367991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將新project儲存在lab0資料夾中</a:t>
            </a:r>
            <a:endParaRPr b="0"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9"/>
          <p:cNvSpPr/>
          <p:nvPr/>
        </p:nvSpPr>
        <p:spPr>
          <a:xfrm>
            <a:off x="6261354" y="5765168"/>
            <a:ext cx="916686" cy="32004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9"/>
          <p:cNvSpPr/>
          <p:nvPr/>
        </p:nvSpPr>
        <p:spPr>
          <a:xfrm>
            <a:off x="4022710" y="1828800"/>
            <a:ext cx="633222" cy="32004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0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zh-TW" sz="4000"/>
              <a:t>新增專案教學 &amp; 燒錄實驗板</a:t>
            </a:r>
            <a:endParaRPr sz="4000"/>
          </a:p>
        </p:txBody>
      </p:sp>
      <p:pic>
        <p:nvPicPr>
          <p:cNvPr id="438" name="Google Shape;438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9745" y="1509713"/>
            <a:ext cx="6204510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40" name="Google Shape;440;p40"/>
          <p:cNvSpPr/>
          <p:nvPr/>
        </p:nvSpPr>
        <p:spPr>
          <a:xfrm>
            <a:off x="3476397" y="6276917"/>
            <a:ext cx="23591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搜尋並選擇AT89S51</a:t>
            </a:r>
            <a:endParaRPr b="0"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0"/>
          <p:cNvSpPr/>
          <p:nvPr/>
        </p:nvSpPr>
        <p:spPr>
          <a:xfrm>
            <a:off x="2102470" y="3099816"/>
            <a:ext cx="1061354" cy="28346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0"/>
          <p:cNvSpPr txBox="1"/>
          <p:nvPr/>
        </p:nvSpPr>
        <p:spPr>
          <a:xfrm>
            <a:off x="1707002" y="3013948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0"/>
          <p:cNvSpPr/>
          <p:nvPr/>
        </p:nvSpPr>
        <p:spPr>
          <a:xfrm>
            <a:off x="1992742" y="3771655"/>
            <a:ext cx="1061354" cy="28346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0"/>
          <p:cNvSpPr txBox="1"/>
          <p:nvPr/>
        </p:nvSpPr>
        <p:spPr>
          <a:xfrm>
            <a:off x="1597274" y="3685787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0"/>
          <p:cNvSpPr/>
          <p:nvPr/>
        </p:nvSpPr>
        <p:spPr>
          <a:xfrm>
            <a:off x="3531860" y="5839430"/>
            <a:ext cx="1061354" cy="28346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0"/>
          <p:cNvSpPr txBox="1"/>
          <p:nvPr/>
        </p:nvSpPr>
        <p:spPr>
          <a:xfrm>
            <a:off x="3136392" y="5753562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1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zh-TW" sz="4000"/>
              <a:t>新增專案教學 &amp; 燒錄實驗板</a:t>
            </a:r>
            <a:endParaRPr sz="4000"/>
          </a:p>
        </p:txBody>
      </p:sp>
      <p:pic>
        <p:nvPicPr>
          <p:cNvPr id="452" name="Google Shape;452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813181"/>
            <a:ext cx="7886700" cy="4060313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54" name="Google Shape;454;p41"/>
          <p:cNvSpPr/>
          <p:nvPr/>
        </p:nvSpPr>
        <p:spPr>
          <a:xfrm>
            <a:off x="1040344" y="6276917"/>
            <a:ext cx="72312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展開Project，對Target 1點擊右鍵選擇Options for Target ‘Target 1’</a:t>
            </a:r>
            <a:endParaRPr b="0"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1"/>
          <p:cNvSpPr/>
          <p:nvPr/>
        </p:nvSpPr>
        <p:spPr>
          <a:xfrm>
            <a:off x="628650" y="2679192"/>
            <a:ext cx="2599182" cy="484632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2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zh-TW" sz="4000"/>
              <a:t>新增專案教學 &amp; 燒錄實驗板</a:t>
            </a:r>
            <a:endParaRPr sz="4000"/>
          </a:p>
        </p:txBody>
      </p:sp>
      <p:pic>
        <p:nvPicPr>
          <p:cNvPr id="461" name="Google Shape;461;p4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9052" y="1509713"/>
            <a:ext cx="6185895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63" name="Google Shape;463;p42"/>
          <p:cNvSpPr/>
          <p:nvPr/>
        </p:nvSpPr>
        <p:spPr>
          <a:xfrm>
            <a:off x="2629051" y="6276917"/>
            <a:ext cx="405380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選擇Output，將Create HEX File打勾</a:t>
            </a:r>
            <a:endParaRPr b="0"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2"/>
          <p:cNvSpPr/>
          <p:nvPr/>
        </p:nvSpPr>
        <p:spPr>
          <a:xfrm>
            <a:off x="2413366" y="1828800"/>
            <a:ext cx="633222" cy="32004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2"/>
          <p:cNvSpPr/>
          <p:nvPr/>
        </p:nvSpPr>
        <p:spPr>
          <a:xfrm>
            <a:off x="1919590" y="3172968"/>
            <a:ext cx="1061354" cy="28346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2"/>
          <p:cNvSpPr txBox="1"/>
          <p:nvPr/>
        </p:nvSpPr>
        <p:spPr>
          <a:xfrm>
            <a:off x="2090873" y="1649412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2"/>
          <p:cNvSpPr txBox="1"/>
          <p:nvPr/>
        </p:nvSpPr>
        <p:spPr>
          <a:xfrm>
            <a:off x="1524122" y="3087100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42"/>
          <p:cNvSpPr/>
          <p:nvPr/>
        </p:nvSpPr>
        <p:spPr>
          <a:xfrm>
            <a:off x="3017520" y="5850605"/>
            <a:ext cx="1061354" cy="28346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2"/>
          <p:cNvSpPr txBox="1"/>
          <p:nvPr/>
        </p:nvSpPr>
        <p:spPr>
          <a:xfrm>
            <a:off x="2629051" y="5807631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4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818974"/>
            <a:ext cx="7886700" cy="4048727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3"/>
          <p:cNvSpPr txBox="1"/>
          <p:nvPr>
            <p:ph type="title"/>
          </p:nvPr>
        </p:nvSpPr>
        <p:spPr>
          <a:xfrm>
            <a:off x="489661" y="654491"/>
            <a:ext cx="833247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新增</a:t>
            </a:r>
            <a:r>
              <a:rPr lang="zh-TW"/>
              <a:t>專案教學 &amp; 燒錄實驗板</a:t>
            </a:r>
            <a:br>
              <a:rPr lang="zh-TW"/>
            </a:br>
            <a:endParaRPr/>
          </a:p>
        </p:txBody>
      </p:sp>
      <p:sp>
        <p:nvSpPr>
          <p:cNvPr id="476" name="Google Shape;476;p4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3783542" y="6276917"/>
            <a:ext cx="17447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點選File-&gt;New</a:t>
            </a:r>
            <a:endParaRPr b="0"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3"/>
          <p:cNvSpPr/>
          <p:nvPr/>
        </p:nvSpPr>
        <p:spPr>
          <a:xfrm>
            <a:off x="628650" y="1984248"/>
            <a:ext cx="1328166" cy="432262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483;p4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811915"/>
            <a:ext cx="7886700" cy="4062845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4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85" name="Google Shape;485;p44"/>
          <p:cNvSpPr/>
          <p:nvPr/>
        </p:nvSpPr>
        <p:spPr>
          <a:xfrm>
            <a:off x="3627569" y="6321366"/>
            <a:ext cx="205665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點選File-&gt;Save As</a:t>
            </a:r>
            <a:endParaRPr b="0"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4"/>
          <p:cNvSpPr txBox="1"/>
          <p:nvPr>
            <p:ph type="title"/>
          </p:nvPr>
        </p:nvSpPr>
        <p:spPr>
          <a:xfrm>
            <a:off x="489661" y="654491"/>
            <a:ext cx="833247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新增</a:t>
            </a:r>
            <a:r>
              <a:rPr lang="zh-TW"/>
              <a:t>專案教學 &amp; 燒錄實驗板</a:t>
            </a:r>
            <a:br>
              <a:rPr lang="zh-TW"/>
            </a:br>
            <a:endParaRPr/>
          </a:p>
        </p:txBody>
      </p:sp>
      <p:sp>
        <p:nvSpPr>
          <p:cNvPr id="487" name="Google Shape;487;p44"/>
          <p:cNvSpPr/>
          <p:nvPr/>
        </p:nvSpPr>
        <p:spPr>
          <a:xfrm>
            <a:off x="628650" y="2742036"/>
            <a:ext cx="1328166" cy="27548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4"/>
          <p:cNvSpPr/>
          <p:nvPr/>
        </p:nvSpPr>
        <p:spPr>
          <a:xfrm>
            <a:off x="544525" y="2020944"/>
            <a:ext cx="385775" cy="157942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4"/>
          <p:cNvSpPr txBox="1"/>
          <p:nvPr/>
        </p:nvSpPr>
        <p:spPr>
          <a:xfrm>
            <a:off x="185131" y="1915249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4"/>
          <p:cNvSpPr txBox="1"/>
          <p:nvPr/>
        </p:nvSpPr>
        <p:spPr>
          <a:xfrm>
            <a:off x="309964" y="2695112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4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44946" l="35221" r="35354" t="22461"/>
          <a:stretch/>
        </p:blipFill>
        <p:spPr>
          <a:xfrm>
            <a:off x="1620598" y="1720949"/>
            <a:ext cx="6070596" cy="42027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4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97" name="Google Shape;497;p45"/>
          <p:cNvSpPr/>
          <p:nvPr/>
        </p:nvSpPr>
        <p:spPr>
          <a:xfrm>
            <a:off x="2994488" y="6163527"/>
            <a:ext cx="31550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把檔案存在”lab0”資料夾中</a:t>
            </a:r>
            <a:endParaRPr b="0"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5"/>
          <p:cNvSpPr txBox="1"/>
          <p:nvPr>
            <p:ph type="title"/>
          </p:nvPr>
        </p:nvSpPr>
        <p:spPr>
          <a:xfrm>
            <a:off x="489661" y="654491"/>
            <a:ext cx="833247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新增</a:t>
            </a:r>
            <a:r>
              <a:rPr lang="zh-TW"/>
              <a:t>專案教學 &amp; 燒錄實驗板</a:t>
            </a:r>
            <a:br>
              <a:rPr lang="zh-TW"/>
            </a:b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04" name="Google Shape;504;p46"/>
          <p:cNvSpPr/>
          <p:nvPr/>
        </p:nvSpPr>
        <p:spPr>
          <a:xfrm>
            <a:off x="1655720" y="6138803"/>
            <a:ext cx="600036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檔名”lab0.c”</a:t>
            </a:r>
            <a:br>
              <a:rPr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請務必增加副檔名.c，否則編譯器會無法辨識程式碼</a:t>
            </a:r>
            <a:endParaRPr b="0"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46"/>
          <p:cNvSpPr txBox="1"/>
          <p:nvPr>
            <p:ph type="title"/>
          </p:nvPr>
        </p:nvSpPr>
        <p:spPr>
          <a:xfrm>
            <a:off x="489661" y="654491"/>
            <a:ext cx="833247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新增</a:t>
            </a:r>
            <a:r>
              <a:rPr lang="zh-TW"/>
              <a:t>專案教學 &amp; 燒錄實驗板</a:t>
            </a:r>
            <a:br>
              <a:rPr lang="zh-TW"/>
            </a:br>
            <a:endParaRPr/>
          </a:p>
        </p:txBody>
      </p:sp>
      <p:pic>
        <p:nvPicPr>
          <p:cNvPr id="506" name="Google Shape;506;p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248" y="1509713"/>
            <a:ext cx="7375503" cy="4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7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zh-TW" sz="4000"/>
              <a:t>新增專案教學 &amp; 燒錄實驗板</a:t>
            </a:r>
            <a:endParaRPr sz="4000"/>
          </a:p>
        </p:txBody>
      </p:sp>
      <p:pic>
        <p:nvPicPr>
          <p:cNvPr id="512" name="Google Shape;512;p4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811999"/>
            <a:ext cx="7886700" cy="4062677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14" name="Google Shape;514;p47"/>
          <p:cNvSpPr/>
          <p:nvPr/>
        </p:nvSpPr>
        <p:spPr>
          <a:xfrm>
            <a:off x="1868751" y="6276917"/>
            <a:ext cx="55744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對Source Group 1點擊右鍵選擇Add Existing Files…</a:t>
            </a:r>
            <a:endParaRPr b="0"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47"/>
          <p:cNvSpPr/>
          <p:nvPr/>
        </p:nvSpPr>
        <p:spPr>
          <a:xfrm>
            <a:off x="902970" y="3007212"/>
            <a:ext cx="965781" cy="1749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7"/>
          <p:cNvSpPr/>
          <p:nvPr/>
        </p:nvSpPr>
        <p:spPr>
          <a:xfrm>
            <a:off x="1195578" y="3496902"/>
            <a:ext cx="2334006" cy="197273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7"/>
          <p:cNvSpPr txBox="1"/>
          <p:nvPr/>
        </p:nvSpPr>
        <p:spPr>
          <a:xfrm>
            <a:off x="586113" y="2909996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47"/>
          <p:cNvSpPr txBox="1"/>
          <p:nvPr/>
        </p:nvSpPr>
        <p:spPr>
          <a:xfrm>
            <a:off x="873252" y="3410872"/>
            <a:ext cx="359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8"/>
          <p:cNvSpPr txBox="1"/>
          <p:nvPr>
            <p:ph type="title"/>
          </p:nvPr>
        </p:nvSpPr>
        <p:spPr>
          <a:xfrm>
            <a:off x="628650" y="365126"/>
            <a:ext cx="788670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zh-TW" sz="4000"/>
              <a:t>新增專案教學 &amp; 燒錄實驗板</a:t>
            </a:r>
            <a:endParaRPr sz="4000"/>
          </a:p>
        </p:txBody>
      </p:sp>
      <p:pic>
        <p:nvPicPr>
          <p:cNvPr id="524" name="Google Shape;524;p4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4022" y="1814230"/>
            <a:ext cx="6315956" cy="4058216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4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26" name="Google Shape;526;p48"/>
          <p:cNvSpPr/>
          <p:nvPr/>
        </p:nvSpPr>
        <p:spPr>
          <a:xfrm>
            <a:off x="1506474" y="3341454"/>
            <a:ext cx="907542" cy="27957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8"/>
          <p:cNvSpPr/>
          <p:nvPr/>
        </p:nvSpPr>
        <p:spPr>
          <a:xfrm>
            <a:off x="6224778" y="4585038"/>
            <a:ext cx="1145286" cy="398442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8"/>
          <p:cNvSpPr/>
          <p:nvPr/>
        </p:nvSpPr>
        <p:spPr>
          <a:xfrm>
            <a:off x="6224778" y="4983480"/>
            <a:ext cx="1145286" cy="398442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8"/>
          <p:cNvSpPr/>
          <p:nvPr/>
        </p:nvSpPr>
        <p:spPr>
          <a:xfrm>
            <a:off x="3199473" y="6276917"/>
            <a:ext cx="291297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選擇lab0.c -&gt; Add -&gt; Close</a:t>
            </a:r>
            <a:endParaRPr b="0"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35" name="Google Shape;535;p49"/>
          <p:cNvSpPr/>
          <p:nvPr/>
        </p:nvSpPr>
        <p:spPr>
          <a:xfrm>
            <a:off x="1281000" y="6176438"/>
            <a:ext cx="674825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接著完成程式碼</a:t>
            </a:r>
            <a:br>
              <a:rPr b="0" lang="zh-TW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zh-TW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可以直接複製</a:t>
            </a:r>
            <a:r>
              <a:rPr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資料夾Lab0-Example project/lab0.c內的程式碼</a:t>
            </a:r>
            <a:endParaRPr b="0"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49"/>
          <p:cNvSpPr txBox="1"/>
          <p:nvPr>
            <p:ph type="title"/>
          </p:nvPr>
        </p:nvSpPr>
        <p:spPr>
          <a:xfrm>
            <a:off x="489661" y="654491"/>
            <a:ext cx="833247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新增</a:t>
            </a:r>
            <a:r>
              <a:rPr lang="zh-TW"/>
              <a:t>專案教學 &amp; 燒錄實驗板</a:t>
            </a:r>
            <a:br>
              <a:rPr lang="zh-TW"/>
            </a:br>
            <a:endParaRPr/>
          </a:p>
        </p:txBody>
      </p:sp>
      <p:pic>
        <p:nvPicPr>
          <p:cNvPr id="537" name="Google Shape;537;p4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823168"/>
            <a:ext cx="7886700" cy="4040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5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4091" l="0" r="30406" t="0"/>
          <a:stretch/>
        </p:blipFill>
        <p:spPr>
          <a:xfrm>
            <a:off x="933208" y="1673920"/>
            <a:ext cx="7061454" cy="4466226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5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44" name="Google Shape;544;p50"/>
          <p:cNvSpPr/>
          <p:nvPr/>
        </p:nvSpPr>
        <p:spPr>
          <a:xfrm>
            <a:off x="1647191" y="6403207"/>
            <a:ext cx="601587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完成程式後點選Build Target，或Project -&gt; Build Target</a:t>
            </a:r>
            <a:endParaRPr b="0"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50"/>
          <p:cNvSpPr txBox="1"/>
          <p:nvPr>
            <p:ph type="title"/>
          </p:nvPr>
        </p:nvSpPr>
        <p:spPr>
          <a:xfrm>
            <a:off x="489661" y="654491"/>
            <a:ext cx="833247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新增</a:t>
            </a:r>
            <a:r>
              <a:rPr lang="zh-TW"/>
              <a:t>專案教學 &amp; 燒錄實驗板</a:t>
            </a:r>
            <a:br>
              <a:rPr lang="zh-TW"/>
            </a:br>
            <a:endParaRPr/>
          </a:p>
        </p:txBody>
      </p:sp>
      <p:sp>
        <p:nvSpPr>
          <p:cNvPr id="546" name="Google Shape;546;p50"/>
          <p:cNvSpPr/>
          <p:nvPr/>
        </p:nvSpPr>
        <p:spPr>
          <a:xfrm>
            <a:off x="1225479" y="2376855"/>
            <a:ext cx="228417" cy="24747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661" y="1673920"/>
            <a:ext cx="7924373" cy="4107691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5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53" name="Google Shape;553;p51"/>
          <p:cNvSpPr/>
          <p:nvPr/>
        </p:nvSpPr>
        <p:spPr>
          <a:xfrm>
            <a:off x="3197262" y="6321366"/>
            <a:ext cx="274947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確認程式是否編譯成功</a:t>
            </a:r>
            <a:endParaRPr b="0" sz="2000" cap="none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554" name="Google Shape;554;p51"/>
          <p:cNvSpPr txBox="1"/>
          <p:nvPr/>
        </p:nvSpPr>
        <p:spPr>
          <a:xfrm>
            <a:off x="489661" y="654491"/>
            <a:ext cx="833247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zh-TW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新增專案教學 &amp; 燒錄實驗板</a:t>
            </a:r>
            <a:br>
              <a:rPr b="1" lang="zh-TW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51"/>
          <p:cNvSpPr/>
          <p:nvPr/>
        </p:nvSpPr>
        <p:spPr>
          <a:xfrm>
            <a:off x="489661" y="5118810"/>
            <a:ext cx="2884475" cy="385878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p5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2525122"/>
            <a:ext cx="7886700" cy="2636432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5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62" name="Google Shape;562;p52"/>
          <p:cNvSpPr txBox="1"/>
          <p:nvPr/>
        </p:nvSpPr>
        <p:spPr>
          <a:xfrm>
            <a:off x="489661" y="654491"/>
            <a:ext cx="833247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zh-TW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新增專案教學 &amp; 燒錄實驗板</a:t>
            </a:r>
            <a:br>
              <a:rPr b="1" lang="zh-TW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52"/>
          <p:cNvSpPr/>
          <p:nvPr/>
        </p:nvSpPr>
        <p:spPr>
          <a:xfrm>
            <a:off x="2908055" y="6403207"/>
            <a:ext cx="349416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確認</a:t>
            </a:r>
            <a:r>
              <a:rPr b="0" lang="zh-TW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lab0/Objects中產生.hex檔</a:t>
            </a:r>
            <a:endParaRPr b="0" sz="20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52"/>
          <p:cNvSpPr/>
          <p:nvPr/>
        </p:nvSpPr>
        <p:spPr>
          <a:xfrm>
            <a:off x="1465817" y="4295850"/>
            <a:ext cx="4386343" cy="27615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70" name="Google Shape;570;p53"/>
          <p:cNvPicPr preferRelativeResize="0"/>
          <p:nvPr/>
        </p:nvPicPr>
        <p:blipFill rotWithShape="1">
          <a:blip r:embed="rId3">
            <a:alphaModFix/>
          </a:blip>
          <a:srcRect b="0" l="30259" r="0" t="0"/>
          <a:stretch/>
        </p:blipFill>
        <p:spPr>
          <a:xfrm>
            <a:off x="2178137" y="1804195"/>
            <a:ext cx="4955513" cy="3986785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53"/>
          <p:cNvSpPr/>
          <p:nvPr/>
        </p:nvSpPr>
        <p:spPr>
          <a:xfrm>
            <a:off x="3794120" y="1912091"/>
            <a:ext cx="1334833" cy="1753822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53"/>
          <p:cNvSpPr/>
          <p:nvPr/>
        </p:nvSpPr>
        <p:spPr>
          <a:xfrm>
            <a:off x="3794120" y="6138803"/>
            <a:ext cx="17235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zh-TW" sz="2000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打開燒錄程式</a:t>
            </a:r>
            <a:endParaRPr b="0" sz="2000" cap="none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573" name="Google Shape;573;p53"/>
          <p:cNvSpPr txBox="1"/>
          <p:nvPr>
            <p:ph type="title"/>
          </p:nvPr>
        </p:nvSpPr>
        <p:spPr>
          <a:xfrm>
            <a:off x="489661" y="654491"/>
            <a:ext cx="833247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新增</a:t>
            </a:r>
            <a:r>
              <a:rPr lang="zh-TW"/>
              <a:t>專案教學 &amp; 燒錄實驗板</a:t>
            </a:r>
            <a:br>
              <a:rPr lang="zh-TW"/>
            </a:b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42613" l="39257" r="28832" t="25488"/>
          <a:stretch/>
        </p:blipFill>
        <p:spPr>
          <a:xfrm>
            <a:off x="1245013" y="1745565"/>
            <a:ext cx="6821761" cy="4262079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5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80" name="Google Shape;580;p54"/>
          <p:cNvSpPr/>
          <p:nvPr/>
        </p:nvSpPr>
        <p:spPr>
          <a:xfrm>
            <a:off x="3409399" y="6318481"/>
            <a:ext cx="249299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點選檔案-&gt;載入程式</a:t>
            </a:r>
            <a:endParaRPr b="0" sz="2000" cap="none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581" name="Google Shape;581;p54"/>
          <p:cNvSpPr txBox="1"/>
          <p:nvPr>
            <p:ph type="title"/>
          </p:nvPr>
        </p:nvSpPr>
        <p:spPr>
          <a:xfrm>
            <a:off x="489661" y="654491"/>
            <a:ext cx="833247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新增</a:t>
            </a:r>
            <a:r>
              <a:rPr lang="zh-TW"/>
              <a:t>專案教學 &amp; 燒錄實驗板</a:t>
            </a:r>
            <a:br>
              <a:rPr lang="zh-TW"/>
            </a:br>
            <a:endParaRPr/>
          </a:p>
        </p:txBody>
      </p:sp>
      <p:sp>
        <p:nvSpPr>
          <p:cNvPr id="582" name="Google Shape;582;p54"/>
          <p:cNvSpPr/>
          <p:nvPr/>
        </p:nvSpPr>
        <p:spPr>
          <a:xfrm>
            <a:off x="1245013" y="2069870"/>
            <a:ext cx="2063452" cy="598516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88" name="Google Shape;588;p55"/>
          <p:cNvSpPr/>
          <p:nvPr/>
        </p:nvSpPr>
        <p:spPr>
          <a:xfrm>
            <a:off x="1530144" y="6286619"/>
            <a:ext cx="608371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請到剛剛存放程式碼的資料夾，找到編譯好的</a:t>
            </a:r>
            <a:r>
              <a:rPr lang="zh-TW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.hex</a:t>
            </a:r>
            <a:r>
              <a:rPr lang="zh-TW" sz="2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檔</a:t>
            </a:r>
            <a:endParaRPr b="0" sz="2000" cap="none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pic>
        <p:nvPicPr>
          <p:cNvPr id="589" name="Google Shape;589;p55"/>
          <p:cNvPicPr preferRelativeResize="0"/>
          <p:nvPr/>
        </p:nvPicPr>
        <p:blipFill rotWithShape="1">
          <a:blip r:embed="rId3">
            <a:alphaModFix/>
          </a:blip>
          <a:srcRect b="30041" l="31984" r="19923" t="28356"/>
          <a:stretch/>
        </p:blipFill>
        <p:spPr>
          <a:xfrm>
            <a:off x="1242503" y="1673920"/>
            <a:ext cx="6826785" cy="3690853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55"/>
          <p:cNvSpPr/>
          <p:nvPr/>
        </p:nvSpPr>
        <p:spPr>
          <a:xfrm>
            <a:off x="4655894" y="2607956"/>
            <a:ext cx="3706709" cy="285293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55"/>
          <p:cNvSpPr txBox="1"/>
          <p:nvPr>
            <p:ph type="title"/>
          </p:nvPr>
        </p:nvSpPr>
        <p:spPr>
          <a:xfrm>
            <a:off x="489661" y="654491"/>
            <a:ext cx="833247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新增</a:t>
            </a:r>
            <a:r>
              <a:rPr lang="zh-TW"/>
              <a:t>專案教學 &amp; 燒錄實驗板</a:t>
            </a:r>
            <a:br>
              <a:rPr lang="zh-TW"/>
            </a:b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Google Shape;596;p5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40904" l="32465" r="32368" t="24809"/>
          <a:stretch/>
        </p:blipFill>
        <p:spPr>
          <a:xfrm>
            <a:off x="934110" y="1673920"/>
            <a:ext cx="7443572" cy="4535687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5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98" name="Google Shape;598;p56"/>
          <p:cNvSpPr/>
          <p:nvPr/>
        </p:nvSpPr>
        <p:spPr>
          <a:xfrm>
            <a:off x="6900228" y="2253746"/>
            <a:ext cx="1279495" cy="439603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56"/>
          <p:cNvSpPr/>
          <p:nvPr/>
        </p:nvSpPr>
        <p:spPr>
          <a:xfrm>
            <a:off x="3786573" y="6321366"/>
            <a:ext cx="172354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點選燒錄程式</a:t>
            </a:r>
            <a:endParaRPr b="0" sz="2000" cap="none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600" name="Google Shape;600;p56"/>
          <p:cNvSpPr txBox="1"/>
          <p:nvPr>
            <p:ph type="title"/>
          </p:nvPr>
        </p:nvSpPr>
        <p:spPr>
          <a:xfrm>
            <a:off x="489661" y="654491"/>
            <a:ext cx="833247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zh-TW">
                <a:latin typeface="DFKai-SB"/>
                <a:ea typeface="DFKai-SB"/>
                <a:cs typeface="DFKai-SB"/>
                <a:sym typeface="DFKai-SB"/>
              </a:rPr>
              <a:t>新增</a:t>
            </a:r>
            <a:r>
              <a:rPr lang="zh-TW"/>
              <a:t>專案教學 &amp; 燒錄實驗板</a:t>
            </a:r>
            <a:br>
              <a:rPr lang="zh-TW"/>
            </a:b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5" name="Google Shape;605;p5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3650" y="1536828"/>
            <a:ext cx="6223000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5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07" name="Google Shape;607;p57"/>
          <p:cNvSpPr txBox="1"/>
          <p:nvPr/>
        </p:nvSpPr>
        <p:spPr>
          <a:xfrm>
            <a:off x="489661" y="654491"/>
            <a:ext cx="8332470" cy="1019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zh-TW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範例程式</a:t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1"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2015-02-24T08:12:54Z</dcterms:created>
  <dc:creator>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0x01010079B68CF223A7644AB6D9E84706076924</vt:lpwstr>
  </property>
</Properties>
</file>