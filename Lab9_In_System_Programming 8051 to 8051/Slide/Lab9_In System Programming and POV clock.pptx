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76" r:id="rId3"/>
    <p:sldId id="28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8" r:id="rId23"/>
    <p:sldId id="25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75" r:id="rId3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jU54atuxlS9zsEm1NSpPdl8YYi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CB7E61-44F8-477C-9F3D-CE014680312E}">
  <a:tblStyle styleId="{8BCB7E61-44F8-477C-9F3D-CE014680312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054" autoAdjust="0"/>
  </p:normalViewPr>
  <p:slideViewPr>
    <p:cSldViewPr snapToGrid="0">
      <p:cViewPr varScale="1">
        <p:scale>
          <a:sx n="99" d="100"/>
          <a:sy n="99" d="100"/>
        </p:scale>
        <p:origin x="14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6240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79F22C-31DE-4B64-BADE-26261F70D11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685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/>
          <p:nvPr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628650" y="1509333"/>
            <a:ext cx="3886200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29150" y="1509333"/>
            <a:ext cx="3886200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4"/>
          <p:cNvSpPr/>
          <p:nvPr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4"/>
          <p:cNvSpPr/>
          <p:nvPr/>
        </p:nvSpPr>
        <p:spPr>
          <a:xfrm>
            <a:off x="7678552" y="254610"/>
            <a:ext cx="1144207" cy="1144207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ineersgarage.com/tutorials/89s51-52-isp-programmer-basics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438307" y="743925"/>
            <a:ext cx="8524324" cy="173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Microprocessor Systems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subTitle" idx="1"/>
          </p:nvPr>
        </p:nvSpPr>
        <p:spPr>
          <a:xfrm>
            <a:off x="510490" y="4360130"/>
            <a:ext cx="29718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Prof. Ren-Shuo Liu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NTHU EE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510490" y="3004591"/>
            <a:ext cx="8337358" cy="83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Lab9 - In System Programming &amp; POV clock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9014" y="3823857"/>
            <a:ext cx="4123617" cy="251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6F9B5F-E74B-4A35-8522-B2C26EC7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 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F93946-9839-443F-8099-552090D4D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107000"/>
              <a:buFont typeface="Arial" panose="020B0604020202020204" pitchFamily="34" charset="0"/>
              <a:buChar char="•"/>
            </a:pPr>
            <a:r>
              <a:rPr lang="en-US" altLang="zh-TW" dirty="0"/>
              <a:t>In system programming</a:t>
            </a:r>
          </a:p>
          <a:p>
            <a:pPr>
              <a:buSzPct val="107000"/>
              <a:buFont typeface="Arial" panose="020B0604020202020204" pitchFamily="34" charset="0"/>
              <a:buChar char="•"/>
            </a:pPr>
            <a:r>
              <a:rPr lang="en-US" altLang="zh-TW" dirty="0"/>
              <a:t>POV clock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ACA61E-849A-409A-BBD5-C22610699E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4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64A9A-2FD2-4F36-9C24-F82394629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8"/>
            <a:ext cx="7886700" cy="1325563"/>
          </a:xfrm>
        </p:spPr>
        <p:txBody>
          <a:bodyPr/>
          <a:lstStyle/>
          <a:p>
            <a:pPr algn="ctr"/>
            <a:r>
              <a:rPr lang="en-US" altLang="zh-TW" spc="-150" dirty="0">
                <a:cs typeface="Vrinda" panose="020B0502040204020203" pitchFamily="34" charset="0"/>
              </a:rPr>
              <a:t>In System Programming (ISP)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3F811F3-E3D0-4816-91AC-0D32EE0C9D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smtClean="0"/>
              <a:t>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7564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Burner / Programmer</a:t>
            </a:r>
            <a:endParaRPr/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dirty="0"/>
              <a:t>A burner/programmer is a hardware device accompanied with software which is used to transfer the machine language code to the microcontroller/EEPROM from the PC.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dirty="0"/>
              <a:t>The API/software of the burner reads data from the hex file stored on the PC and feeds it into the controller’s memory.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dirty="0"/>
              <a:t>The software transfers the data from the PC to the hardware using serial, parallel or USB port.</a:t>
            </a:r>
            <a:endParaRPr dirty="0"/>
          </a:p>
        </p:txBody>
      </p:sp>
      <p:sp>
        <p:nvSpPr>
          <p:cNvPr id="109" name="Google Shape;109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In System Programming (ISP)</a:t>
            </a:r>
            <a:endParaRPr dirty="0"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628650" y="1509332"/>
            <a:ext cx="7886700" cy="521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ISP allows microcontrollers and external memory chips can be re-programmed without being removed from the circuit board.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For in-system programming, the following items are needed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 software tool running on the PC, which is able to control the programming interface via any standard port.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 programming adapter which allows to connect the programming interface to any standard port available at the PC, like USB.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 special programming interface like SPI (Serial Programming Interface).</a:t>
            </a: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31;p5">
            <a:extLst>
              <a:ext uri="{FF2B5EF4-FFF2-40B4-BE49-F238E27FC236}">
                <a16:creationId xmlns:a16="http://schemas.microsoft.com/office/drawing/2014/main" id="{BCA93B90-21D2-4F0C-9182-982763E73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415" r="3040" b="1768"/>
          <a:stretch/>
        </p:blipFill>
        <p:spPr>
          <a:xfrm>
            <a:off x="4285129" y="1420532"/>
            <a:ext cx="4849912" cy="540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8051 Memory I/O</a:t>
            </a:r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24" name="Google Shape;124;p4"/>
          <p:cNvSpPr txBox="1">
            <a:spLocks noGrp="1"/>
          </p:cNvSpPr>
          <p:nvPr>
            <p:ph type="body" idx="1"/>
          </p:nvPr>
        </p:nvSpPr>
        <p:spPr>
          <a:xfrm>
            <a:off x="93315" y="1609998"/>
            <a:ext cx="4478685" cy="4746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err="1"/>
              <a:t>Vcc</a:t>
            </a:r>
            <a:r>
              <a:rPr lang="en-US" dirty="0"/>
              <a:t>:</a:t>
            </a:r>
            <a:r>
              <a:rPr lang="zh-TW" altLang="en-US" dirty="0"/>
              <a:t> </a:t>
            </a:r>
            <a:r>
              <a:rPr lang="en-US" dirty="0"/>
              <a:t>Connected to +5V supply.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GND: Connected to ground.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RST: It tells the target controller that it is under the programming mode.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SCK: This pin is used to supply clock to the target microcontroller.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t="1415" r="3040" b="1768"/>
          <a:stretch/>
        </p:blipFill>
        <p:spPr>
          <a:xfrm>
            <a:off x="4285129" y="1420532"/>
            <a:ext cx="4849912" cy="540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8051 Memory I/O</a:t>
            </a:r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2" name="Google Shape;132;p5"/>
          <p:cNvSpPr txBox="1">
            <a:spLocks noGrp="1"/>
          </p:cNvSpPr>
          <p:nvPr>
            <p:ph type="body" idx="1"/>
          </p:nvPr>
        </p:nvSpPr>
        <p:spPr>
          <a:xfrm>
            <a:off x="135588" y="1598982"/>
            <a:ext cx="4382622" cy="521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MOSI: Master Out Slave In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This is the input pin of the target microcontroller.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Every signal including data, address and control are received on this pin of the target microcontroller.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MISO: Master In Slave Out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This is the output pin of the target microcontroller which sends the acknowledgement signals to the master controller.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8051 Memory I/O</a:t>
            </a:r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A1BABFD-5D2E-4DB8-A2B5-F7282506FF5A}"/>
              </a:ext>
            </a:extLst>
          </p:cNvPr>
          <p:cNvGrpSpPr/>
          <p:nvPr/>
        </p:nvGrpSpPr>
        <p:grpSpPr>
          <a:xfrm>
            <a:off x="0" y="1452158"/>
            <a:ext cx="6621780" cy="5405842"/>
            <a:chOff x="1219200" y="1392314"/>
            <a:chExt cx="6621780" cy="5405842"/>
          </a:xfrm>
        </p:grpSpPr>
        <p:pic>
          <p:nvPicPr>
            <p:cNvPr id="137" name="Google Shape;137;p6"/>
            <p:cNvPicPr preferRelativeResize="0"/>
            <p:nvPr/>
          </p:nvPicPr>
          <p:blipFill rotWithShape="1">
            <a:blip r:embed="rId3">
              <a:alphaModFix/>
            </a:blip>
            <a:srcRect l="73880" t="29956" r="25244" b="60630"/>
            <a:stretch/>
          </p:blipFill>
          <p:spPr>
            <a:xfrm>
              <a:off x="3079099" y="5521593"/>
              <a:ext cx="60960" cy="5562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6"/>
            <p:cNvPicPr preferRelativeResize="0"/>
            <p:nvPr/>
          </p:nvPicPr>
          <p:blipFill rotWithShape="1">
            <a:blip r:embed="rId3">
              <a:alphaModFix/>
            </a:blip>
            <a:srcRect l="2216" t="2545" r="2777" b="5980"/>
            <a:stretch/>
          </p:blipFill>
          <p:spPr>
            <a:xfrm>
              <a:off x="1219200" y="1392314"/>
              <a:ext cx="6621780" cy="5405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6"/>
            <p:cNvSpPr/>
            <p:nvPr/>
          </p:nvSpPr>
          <p:spPr>
            <a:xfrm rot="-5400000">
              <a:off x="1896429" y="5904549"/>
              <a:ext cx="165736" cy="201926"/>
            </a:xfrm>
            <a:prstGeom prst="arc">
              <a:avLst>
                <a:gd name="adj1" fmla="val 11058923"/>
                <a:gd name="adj2" fmla="val 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 rot="-5400000">
              <a:off x="4994277" y="6142992"/>
              <a:ext cx="151130" cy="204466"/>
            </a:xfrm>
            <a:prstGeom prst="arc">
              <a:avLst>
                <a:gd name="adj1" fmla="val 11058923"/>
                <a:gd name="adj2" fmla="val 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6"/>
            <p:cNvSpPr txBox="1"/>
            <p:nvPr/>
          </p:nvSpPr>
          <p:spPr>
            <a:xfrm>
              <a:off x="7021810" y="5697735"/>
              <a:ext cx="45531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RST</a:t>
              </a:r>
              <a:endParaRPr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6"/>
            <p:cNvSpPr txBox="1"/>
            <p:nvPr/>
          </p:nvSpPr>
          <p:spPr>
            <a:xfrm>
              <a:off x="3883299" y="5700591"/>
              <a:ext cx="45531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RST</a:t>
              </a:r>
              <a:endParaRPr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6"/>
            <p:cNvSpPr txBox="1"/>
            <p:nvPr/>
          </p:nvSpPr>
          <p:spPr>
            <a:xfrm>
              <a:off x="6198870" y="3503175"/>
              <a:ext cx="100059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P1.5/MOSI</a:t>
              </a:r>
              <a:endParaRPr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6"/>
            <p:cNvSpPr txBox="1"/>
            <p:nvPr/>
          </p:nvSpPr>
          <p:spPr>
            <a:xfrm>
              <a:off x="6198870" y="3678435"/>
              <a:ext cx="100059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P1.6/MISO</a:t>
              </a:r>
              <a:endParaRPr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6"/>
            <p:cNvSpPr txBox="1"/>
            <p:nvPr/>
          </p:nvSpPr>
          <p:spPr>
            <a:xfrm>
              <a:off x="6198870" y="3846075"/>
              <a:ext cx="86594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P1.7/SCK</a:t>
              </a:r>
              <a:endParaRPr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6"/>
            <p:cNvSpPr txBox="1"/>
            <p:nvPr/>
          </p:nvSpPr>
          <p:spPr>
            <a:xfrm>
              <a:off x="3059429" y="5678311"/>
              <a:ext cx="711059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XTAL1</a:t>
              </a:r>
              <a:endParaRPr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3059430" y="5480500"/>
              <a:ext cx="700878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XTAL2</a:t>
              </a:r>
              <a:endParaRPr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6"/>
            <p:cNvSpPr txBox="1"/>
            <p:nvPr/>
          </p:nvSpPr>
          <p:spPr>
            <a:xfrm>
              <a:off x="7009916" y="2961637"/>
              <a:ext cx="476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VCC</a:t>
              </a:r>
              <a:endParaRPr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3874750" y="2960445"/>
              <a:ext cx="476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VCC</a:t>
              </a:r>
              <a:endParaRPr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3059430" y="5818821"/>
              <a:ext cx="5309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GND</a:t>
              </a:r>
              <a:endParaRPr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6"/>
            <p:cNvSpPr txBox="1"/>
            <p:nvPr/>
          </p:nvSpPr>
          <p:spPr>
            <a:xfrm>
              <a:off x="6206489" y="5665094"/>
              <a:ext cx="7482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XTAL1</a:t>
              </a:r>
              <a:endParaRPr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6206489" y="5521910"/>
              <a:ext cx="78293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XTAL2</a:t>
              </a:r>
              <a:endParaRPr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6206490" y="5818821"/>
              <a:ext cx="5309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GND</a:t>
              </a:r>
              <a:endParaRPr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3238516" y="4317634"/>
              <a:ext cx="941668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Master</a:t>
              </a:r>
              <a:endParaRPr sz="2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6469396" y="4319539"/>
              <a:ext cx="7412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Slave</a:t>
              </a:r>
              <a:endParaRPr sz="2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8" name="Google Shape;158;p6"/>
            <p:cNvCxnSpPr/>
            <p:nvPr/>
          </p:nvCxnSpPr>
          <p:spPr>
            <a:xfrm>
              <a:off x="5680710" y="3670815"/>
              <a:ext cx="58674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59" name="Google Shape;159;p6"/>
            <p:cNvCxnSpPr/>
            <p:nvPr/>
          </p:nvCxnSpPr>
          <p:spPr>
            <a:xfrm rot="10800000">
              <a:off x="4308136" y="3830835"/>
              <a:ext cx="67056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680710" y="3983235"/>
              <a:ext cx="58674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1" name="Google Shape;161;p6"/>
            <p:cNvCxnSpPr/>
            <p:nvPr/>
          </p:nvCxnSpPr>
          <p:spPr>
            <a:xfrm rot="10800000">
              <a:off x="7425690" y="5844003"/>
              <a:ext cx="8382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pic>
          <p:nvPicPr>
            <p:cNvPr id="162" name="Google Shape;162;p6"/>
            <p:cNvPicPr preferRelativeResize="0"/>
            <p:nvPr/>
          </p:nvPicPr>
          <p:blipFill rotWithShape="1">
            <a:blip r:embed="rId3">
              <a:alphaModFix/>
            </a:blip>
            <a:srcRect l="2216" t="36662" r="88564" b="52849"/>
            <a:stretch/>
          </p:blipFill>
          <p:spPr>
            <a:xfrm>
              <a:off x="1228094" y="3329940"/>
              <a:ext cx="642620" cy="7081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6"/>
            <p:cNvPicPr preferRelativeResize="0"/>
            <p:nvPr/>
          </p:nvPicPr>
          <p:blipFill rotWithShape="1">
            <a:blip r:embed="rId3">
              <a:alphaModFix/>
            </a:blip>
            <a:srcRect l="73880" t="29956" r="25244" b="60630"/>
            <a:stretch/>
          </p:blipFill>
          <p:spPr>
            <a:xfrm>
              <a:off x="3079099" y="3807093"/>
              <a:ext cx="60960" cy="5562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6"/>
            <p:cNvPicPr preferRelativeResize="0"/>
            <p:nvPr/>
          </p:nvPicPr>
          <p:blipFill rotWithShape="1">
            <a:blip r:embed="rId3">
              <a:alphaModFix/>
            </a:blip>
            <a:srcRect l="73880" t="29956" r="25244" b="60630"/>
            <a:stretch/>
          </p:blipFill>
          <p:spPr>
            <a:xfrm>
              <a:off x="3079099" y="3014613"/>
              <a:ext cx="60960" cy="5562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6"/>
            <p:cNvPicPr preferRelativeResize="0"/>
            <p:nvPr/>
          </p:nvPicPr>
          <p:blipFill rotWithShape="1">
            <a:blip r:embed="rId3">
              <a:alphaModFix/>
            </a:blip>
            <a:srcRect l="76055" t="81329" r="10820" b="17380"/>
            <a:stretch/>
          </p:blipFill>
          <p:spPr>
            <a:xfrm>
              <a:off x="3247387" y="2939013"/>
              <a:ext cx="914400" cy="76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" name="圖片 31">
            <a:extLst>
              <a:ext uri="{FF2B5EF4-FFF2-40B4-BE49-F238E27FC236}">
                <a16:creationId xmlns:a16="http://schemas.microsoft.com/office/drawing/2014/main" id="{BDEF2A82-7A2E-4CF8-87E3-F14B0DA31C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13" r="12310"/>
          <a:stretch/>
        </p:blipFill>
        <p:spPr>
          <a:xfrm>
            <a:off x="6718413" y="1452158"/>
            <a:ext cx="2423003" cy="376429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064B2F8-A003-4E61-ABAC-F5CFC4821C20}"/>
              </a:ext>
            </a:extLst>
          </p:cNvPr>
          <p:cNvSpPr txBox="1"/>
          <p:nvPr/>
        </p:nvSpPr>
        <p:spPr>
          <a:xfrm>
            <a:off x="7238859" y="5219206"/>
            <a:ext cx="1382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/>
              <a:t>AT89S51 I/O</a:t>
            </a:r>
            <a:endParaRPr lang="zh-TW" altLang="en-US" sz="1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Serial Programming Algorithm</a:t>
            </a:r>
            <a:endParaRPr/>
          </a:p>
        </p:txBody>
      </p:sp>
      <p:sp>
        <p:nvSpPr>
          <p:cNvPr id="171" name="Google Shape;171;p7"/>
          <p:cNvSpPr txBox="1">
            <a:spLocks noGrp="1"/>
          </p:cNvSpPr>
          <p:nvPr>
            <p:ph type="body" idx="1"/>
          </p:nvPr>
        </p:nvSpPr>
        <p:spPr>
          <a:xfrm>
            <a:off x="628650" y="1509332"/>
            <a:ext cx="7886700" cy="521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dirty="0"/>
              <a:t>Power-up sequence: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Apply power between VCC and GND pins.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Set RST to high.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If a crystal is not connected across pins XTAL1 and XTAL2, apply a 3 MHz to 33 MHz clock to XTAL1 pin and wait for at least 10 milliseconds.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dirty="0"/>
              <a:t>Enable serial programming: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Send the Programming Enable serial instruction to pin MOSI/P1.5.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The frequency of the shift clock supplied at pin SCK/P1.7 needs to be less than the CPU clock at XTAL1 divided by 16. </a:t>
            </a:r>
            <a:endParaRPr dirty="0"/>
          </a:p>
        </p:txBody>
      </p:sp>
      <p:sp>
        <p:nvSpPr>
          <p:cNvPr id="172" name="Google Shape;172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Serial Programming Algorithm</a:t>
            </a:r>
            <a:endParaRPr/>
          </a:p>
        </p:txBody>
      </p:sp>
      <p:sp>
        <p:nvSpPr>
          <p:cNvPr id="178" name="Google Shape;178;p8"/>
          <p:cNvSpPr txBox="1">
            <a:spLocks noGrp="1"/>
          </p:cNvSpPr>
          <p:nvPr>
            <p:ph type="body" idx="1"/>
          </p:nvPr>
        </p:nvSpPr>
        <p:spPr>
          <a:xfrm>
            <a:off x="628649" y="1509333"/>
            <a:ext cx="8076079" cy="534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 startAt="3"/>
            </a:pPr>
            <a:r>
              <a:rPr lang="en-US" dirty="0"/>
              <a:t>The Code array is programmed one byte at a time in either the Byte or Page mode. 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The write cycle is self-timed and typically takes less than 0.5 </a:t>
            </a:r>
            <a:r>
              <a:rPr lang="en-US" dirty="0" err="1"/>
              <a:t>ms</a:t>
            </a:r>
            <a:r>
              <a:rPr lang="en-US" dirty="0"/>
              <a:t> at 5V.</a:t>
            </a:r>
            <a:endParaRPr dirty="0"/>
          </a:p>
          <a:p>
            <a:pPr marL="514350" lvl="0" indent="-5143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 startAt="3"/>
            </a:pPr>
            <a:r>
              <a:rPr lang="en-US" dirty="0"/>
              <a:t>Any memory location can be verified by using the Read instruction that returns the content at the selected address at serial output MISO/P1.6.</a:t>
            </a:r>
            <a:endParaRPr dirty="0"/>
          </a:p>
          <a:p>
            <a:pPr marL="514350" lvl="0" indent="-5143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 startAt="3"/>
            </a:pPr>
            <a:r>
              <a:rPr lang="en-US" dirty="0"/>
              <a:t>At the end of a programming session, RST can be set low to commence normal device operation.</a:t>
            </a:r>
            <a:endParaRPr dirty="0"/>
          </a:p>
          <a:p>
            <a:pPr marL="514350" lvl="0" indent="-5143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 startAt="3"/>
            </a:pPr>
            <a:r>
              <a:rPr lang="en-US" dirty="0"/>
              <a:t>Power-off sequence (if needed): 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Set XTAL1 to low (if a crystal is not used).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Set RST to low</a:t>
            </a:r>
            <a:r>
              <a:rPr lang="en-US" altLang="zh-TW" dirty="0"/>
              <a:t>.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Turn VCC power off.</a:t>
            </a:r>
            <a:endParaRPr dirty="0"/>
          </a:p>
        </p:txBody>
      </p:sp>
      <p:sp>
        <p:nvSpPr>
          <p:cNvPr id="179" name="Google Shape;179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Programming Enable</a:t>
            </a:r>
            <a:endParaRPr/>
          </a:p>
        </p:txBody>
      </p:sp>
      <p:graphicFrame>
        <p:nvGraphicFramePr>
          <p:cNvPr id="185" name="Google Shape;185;p9"/>
          <p:cNvGraphicFramePr/>
          <p:nvPr/>
        </p:nvGraphicFramePr>
        <p:xfrm>
          <a:off x="233082" y="1542895"/>
          <a:ext cx="8633000" cy="2011700"/>
        </p:xfrm>
        <a:graphic>
          <a:graphicData uri="http://schemas.openxmlformats.org/drawingml/2006/table">
            <a:tbl>
              <a:tblPr firstRow="1" bandRow="1">
                <a:noFill/>
                <a:tableStyleId>{8BCB7E61-44F8-477C-9F3D-CE014680312E}</a:tableStyleId>
              </a:tblPr>
              <a:tblGrid>
                <a:gridCol w="22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1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Instruction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Byte1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Byte3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Byte4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Programming Enable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1010 1100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0101 0011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xxxx xxxx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 err="1"/>
                        <a:t>xxxx</a:t>
                      </a:r>
                      <a:r>
                        <a:rPr lang="en-US" sz="2400" u="none" strike="noStrike" cap="none" dirty="0"/>
                        <a:t> </a:t>
                      </a:r>
                      <a:r>
                        <a:rPr lang="en-US" sz="2400" u="none" strike="noStrike" cap="none" dirty="0" err="1"/>
                        <a:t>xxxx</a:t>
                      </a:r>
                      <a:r>
                        <a:rPr lang="en-US" sz="2400" u="none" strike="noStrike" cap="none" dirty="0"/>
                        <a:t> 0110 1001 (Output)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6" name="Google Shape;186;p9"/>
          <p:cNvSpPr txBox="1">
            <a:spLocks noGrp="1"/>
          </p:cNvSpPr>
          <p:nvPr>
            <p:ph type="sldNum" idx="12"/>
          </p:nvPr>
        </p:nvSpPr>
        <p:spPr>
          <a:xfrm>
            <a:off x="6392634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628650" y="3712914"/>
            <a:ext cx="7886700" cy="3008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Serial Programming while RST is high </a:t>
            </a:r>
            <a:endParaRPr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BC25A731-42B0-4D67-A6FD-CB50A6B2018E}"/>
              </a:ext>
            </a:extLst>
          </p:cNvPr>
          <p:cNvGrpSpPr/>
          <p:nvPr/>
        </p:nvGrpSpPr>
        <p:grpSpPr>
          <a:xfrm>
            <a:off x="108858" y="4114930"/>
            <a:ext cx="8881447" cy="2241421"/>
            <a:chOff x="119741" y="4195226"/>
            <a:chExt cx="8881447" cy="2241421"/>
          </a:xfrm>
        </p:grpSpPr>
        <p:pic>
          <p:nvPicPr>
            <p:cNvPr id="188" name="Google Shape;188;p9"/>
            <p:cNvPicPr preferRelativeResize="0"/>
            <p:nvPr/>
          </p:nvPicPr>
          <p:blipFill rotWithShape="1">
            <a:blip r:embed="rId3">
              <a:alphaModFix/>
            </a:blip>
            <a:srcRect l="1950" r="33747" b="58164"/>
            <a:stretch/>
          </p:blipFill>
          <p:spPr>
            <a:xfrm>
              <a:off x="119741" y="4195226"/>
              <a:ext cx="5863885" cy="1182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9"/>
            <p:cNvPicPr preferRelativeResize="0"/>
            <p:nvPr/>
          </p:nvPicPr>
          <p:blipFill rotWithShape="1">
            <a:blip r:embed="rId3">
              <a:alphaModFix/>
            </a:blip>
            <a:srcRect l="20859" t="1395" r="36345" b="60825"/>
            <a:stretch/>
          </p:blipFill>
          <p:spPr>
            <a:xfrm>
              <a:off x="5068451" y="4228604"/>
              <a:ext cx="3914166" cy="1070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9"/>
            <p:cNvSpPr txBox="1"/>
            <p:nvPr/>
          </p:nvSpPr>
          <p:spPr>
            <a:xfrm>
              <a:off x="2015030" y="4572004"/>
              <a:ext cx="12811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1010 1100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9"/>
            <p:cNvSpPr txBox="1"/>
            <p:nvPr/>
          </p:nvSpPr>
          <p:spPr>
            <a:xfrm>
              <a:off x="3601734" y="4572004"/>
              <a:ext cx="12811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0101 0011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9"/>
            <p:cNvSpPr txBox="1"/>
            <p:nvPr/>
          </p:nvSpPr>
          <p:spPr>
            <a:xfrm>
              <a:off x="5317523" y="4550231"/>
              <a:ext cx="11272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xxxx xxxx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9"/>
            <p:cNvSpPr txBox="1"/>
            <p:nvPr/>
          </p:nvSpPr>
          <p:spPr>
            <a:xfrm>
              <a:off x="6943652" y="4550231"/>
              <a:ext cx="11272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xxxx xxxx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4" name="Google Shape;194;p9"/>
            <p:cNvPicPr preferRelativeResize="0"/>
            <p:nvPr/>
          </p:nvPicPr>
          <p:blipFill rotWithShape="1">
            <a:blip r:embed="rId3">
              <a:alphaModFix/>
            </a:blip>
            <a:srcRect l="1950" t="57662" r="33747"/>
            <a:stretch/>
          </p:blipFill>
          <p:spPr>
            <a:xfrm>
              <a:off x="145996" y="5236032"/>
              <a:ext cx="5863885" cy="1196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9"/>
            <p:cNvPicPr preferRelativeResize="0"/>
            <p:nvPr/>
          </p:nvPicPr>
          <p:blipFill rotWithShape="1">
            <a:blip r:embed="rId3">
              <a:alphaModFix/>
            </a:blip>
            <a:srcRect l="20859" t="57258" r="36345"/>
            <a:stretch/>
          </p:blipFill>
          <p:spPr>
            <a:xfrm>
              <a:off x="5087022" y="5225147"/>
              <a:ext cx="3914166" cy="121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9"/>
            <p:cNvSpPr txBox="1"/>
            <p:nvPr/>
          </p:nvSpPr>
          <p:spPr>
            <a:xfrm>
              <a:off x="6984509" y="5599300"/>
              <a:ext cx="12811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0110 1001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803571" y="5377547"/>
              <a:ext cx="1578429" cy="859967"/>
            </a:xfrm>
            <a:prstGeom prst="ellipse">
              <a:avLst/>
            </a:prstGeom>
            <a:noFill/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9"/>
            <p:cNvSpPr txBox="1"/>
            <p:nvPr/>
          </p:nvSpPr>
          <p:spPr>
            <a:xfrm>
              <a:off x="3543186" y="5118059"/>
              <a:ext cx="35487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Can check if enable or not</a:t>
              </a:r>
              <a:endParaRPr sz="2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Programming Enable</a:t>
            </a: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05" name="Google Shape;205;p10"/>
          <p:cNvPicPr preferRelativeResize="0"/>
          <p:nvPr/>
        </p:nvPicPr>
        <p:blipFill rotWithShape="1">
          <a:blip r:embed="rId3">
            <a:alphaModFix/>
          </a:blip>
          <a:srcRect l="1295" t="20062" b="3262"/>
          <a:stretch/>
        </p:blipFill>
        <p:spPr>
          <a:xfrm>
            <a:off x="384490" y="2098318"/>
            <a:ext cx="8607109" cy="402771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1317171" y="2247148"/>
            <a:ext cx="1542462" cy="385186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0"/>
          <p:cNvCxnSpPr/>
          <p:nvPr/>
        </p:nvCxnSpPr>
        <p:spPr>
          <a:xfrm rot="10800000" flipH="1">
            <a:off x="2859633" y="2439741"/>
            <a:ext cx="979714" cy="1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8" name="Google Shape;208;p10"/>
          <p:cNvSpPr txBox="1"/>
          <p:nvPr/>
        </p:nvSpPr>
        <p:spPr>
          <a:xfrm>
            <a:off x="3839347" y="2139324"/>
            <a:ext cx="194476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1010 1100</a:t>
            </a:r>
            <a:endParaRPr sz="32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5967879" y="2618827"/>
            <a:ext cx="194476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0101 0011</a:t>
            </a:r>
            <a:endParaRPr sz="32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4283047" y="3321273"/>
            <a:ext cx="195461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Don’t Care</a:t>
            </a:r>
            <a:endParaRPr sz="32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0"/>
          <p:cNvPicPr preferRelativeResize="0"/>
          <p:nvPr/>
        </p:nvPicPr>
        <p:blipFill rotWithShape="1">
          <a:blip r:embed="rId3">
            <a:alphaModFix/>
          </a:blip>
          <a:srcRect l="1295" t="3078" b="86569"/>
          <a:stretch/>
        </p:blipFill>
        <p:spPr>
          <a:xfrm>
            <a:off x="149398" y="1469568"/>
            <a:ext cx="8607109" cy="54373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1317173" y="2726123"/>
            <a:ext cx="1542462" cy="385186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0"/>
          <p:cNvCxnSpPr/>
          <p:nvPr/>
        </p:nvCxnSpPr>
        <p:spPr>
          <a:xfrm rot="10800000" flipH="1">
            <a:off x="2859635" y="2903712"/>
            <a:ext cx="3100914" cy="15006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4" name="Google Shape;214;p10"/>
          <p:cNvSpPr/>
          <p:nvPr/>
        </p:nvSpPr>
        <p:spPr>
          <a:xfrm>
            <a:off x="1317172" y="3226864"/>
            <a:ext cx="1542462" cy="385186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0"/>
          <p:cNvCxnSpPr>
            <a:endCxn id="210" idx="1"/>
          </p:cNvCxnSpPr>
          <p:nvPr/>
        </p:nvCxnSpPr>
        <p:spPr>
          <a:xfrm>
            <a:off x="2859547" y="3419561"/>
            <a:ext cx="1423500" cy="194100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6" name="Google Shape;216;p10"/>
          <p:cNvSpPr/>
          <p:nvPr/>
        </p:nvSpPr>
        <p:spPr>
          <a:xfrm>
            <a:off x="1317171" y="3716720"/>
            <a:ext cx="1542462" cy="385186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10"/>
          <p:cNvCxnSpPr>
            <a:endCxn id="210" idx="1"/>
          </p:cNvCxnSpPr>
          <p:nvPr/>
        </p:nvCxnSpPr>
        <p:spPr>
          <a:xfrm rot="10800000" flipH="1">
            <a:off x="2859547" y="3613661"/>
            <a:ext cx="1423500" cy="295800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sendbyte()</a:t>
            </a:r>
            <a:endParaRPr/>
          </a:p>
        </p:txBody>
      </p:sp>
      <p:sp>
        <p:nvSpPr>
          <p:cNvPr id="223" name="Google Shape;223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pic>
        <p:nvPicPr>
          <p:cNvPr id="224" name="Google Shape;224;p11"/>
          <p:cNvPicPr preferRelativeResize="0"/>
          <p:nvPr/>
        </p:nvPicPr>
        <p:blipFill rotWithShape="1">
          <a:blip r:embed="rId3">
            <a:alphaModFix/>
          </a:blip>
          <a:srcRect r="2813"/>
          <a:stretch/>
        </p:blipFill>
        <p:spPr>
          <a:xfrm>
            <a:off x="215203" y="1519024"/>
            <a:ext cx="8642657" cy="46495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11"/>
          <p:cNvCxnSpPr/>
          <p:nvPr/>
        </p:nvCxnSpPr>
        <p:spPr>
          <a:xfrm rot="10800000" flipH="1">
            <a:off x="2212039" y="3101787"/>
            <a:ext cx="6546478" cy="7282"/>
          </a:xfrm>
          <a:prstGeom prst="straightConnector1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6" name="Google Shape;226;p11"/>
          <p:cNvSpPr txBox="1"/>
          <p:nvPr/>
        </p:nvSpPr>
        <p:spPr>
          <a:xfrm>
            <a:off x="6713611" y="3109644"/>
            <a:ext cx="23146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1 byte = 8 bits</a:t>
            </a:r>
            <a:endParaRPr sz="12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5753224" y="3429000"/>
            <a:ext cx="11499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MSB</a:t>
            </a:r>
            <a:endParaRPr sz="12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6329081" y="1527989"/>
            <a:ext cx="1748118" cy="749045"/>
          </a:xfrm>
          <a:prstGeom prst="ellipse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5987679" y="4026011"/>
            <a:ext cx="2951630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4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0110011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endParaRPr sz="1200" b="1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5703477" y="4571950"/>
            <a:ext cx="278907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44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4400" dirty="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110011</a:t>
            </a:r>
            <a:endParaRPr dirty="0"/>
          </a:p>
        </p:txBody>
      </p:sp>
      <p:sp>
        <p:nvSpPr>
          <p:cNvPr id="231" name="Google Shape;231;p11"/>
          <p:cNvSpPr txBox="1"/>
          <p:nvPr/>
        </p:nvSpPr>
        <p:spPr>
          <a:xfrm>
            <a:off x="5424417" y="5118094"/>
            <a:ext cx="278907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r>
              <a:rPr lang="en-US" sz="4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4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10011</a:t>
            </a: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5146511" y="5664941"/>
            <a:ext cx="278907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001</a:t>
            </a:r>
            <a:r>
              <a:rPr lang="en-US" sz="4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4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0011</a:t>
            </a:r>
            <a:endParaRPr/>
          </a:p>
        </p:txBody>
      </p:sp>
      <p:cxnSp>
        <p:nvCxnSpPr>
          <p:cNvPr id="233" name="Google Shape;233;p11"/>
          <p:cNvCxnSpPr/>
          <p:nvPr/>
        </p:nvCxnSpPr>
        <p:spPr>
          <a:xfrm>
            <a:off x="6218884" y="3897081"/>
            <a:ext cx="0" cy="297478"/>
          </a:xfrm>
          <a:prstGeom prst="straightConnector1">
            <a:avLst/>
          </a:prstGeom>
          <a:noFill/>
          <a:ln w="1905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4" name="Google Shape;234;p11"/>
          <p:cNvSpPr txBox="1"/>
          <p:nvPr/>
        </p:nvSpPr>
        <p:spPr>
          <a:xfrm rot="5400000">
            <a:off x="6259348" y="6157202"/>
            <a:ext cx="66167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440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1"/>
          <p:cNvCxnSpPr/>
          <p:nvPr/>
        </p:nvCxnSpPr>
        <p:spPr>
          <a:xfrm flipH="1">
            <a:off x="5002997" y="4193986"/>
            <a:ext cx="1011577" cy="2116387"/>
          </a:xfrm>
          <a:prstGeom prst="straightConnector1">
            <a:avLst/>
          </a:prstGeom>
          <a:noFill/>
          <a:ln w="1905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6" name="Google Shape;236;p11"/>
          <p:cNvCxnSpPr/>
          <p:nvPr/>
        </p:nvCxnSpPr>
        <p:spPr>
          <a:xfrm>
            <a:off x="2259106" y="4528727"/>
            <a:ext cx="1801906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" name="Google Shape;237;p11"/>
          <p:cNvSpPr txBox="1"/>
          <p:nvPr/>
        </p:nvSpPr>
        <p:spPr>
          <a:xfrm>
            <a:off x="3924854" y="5568706"/>
            <a:ext cx="11499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m&lt;&lt;1</a:t>
            </a:r>
            <a:endParaRPr sz="14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12"/>
          <p:cNvPicPr preferRelativeResize="0"/>
          <p:nvPr/>
        </p:nvPicPr>
        <p:blipFill rotWithShape="1">
          <a:blip r:embed="rId3">
            <a:alphaModFix/>
          </a:blip>
          <a:srcRect t="1415" r="3040" b="1768"/>
          <a:stretch/>
        </p:blipFill>
        <p:spPr>
          <a:xfrm>
            <a:off x="4285129" y="1420532"/>
            <a:ext cx="4849912" cy="540161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sendbit()</a:t>
            </a:r>
            <a:endParaRPr/>
          </a:p>
        </p:txBody>
      </p:sp>
      <p:sp>
        <p:nvSpPr>
          <p:cNvPr id="243" name="Google Shape;243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  <p:pic>
        <p:nvPicPr>
          <p:cNvPr id="244" name="Google Shape;244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444" y="1647917"/>
            <a:ext cx="3899808" cy="40469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12"/>
          <p:cNvCxnSpPr/>
          <p:nvPr/>
        </p:nvCxnSpPr>
        <p:spPr>
          <a:xfrm rot="10800000" flipH="1">
            <a:off x="1264023" y="3092824"/>
            <a:ext cx="2510118" cy="155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7" name="Google Shape;247;p12"/>
          <p:cNvSpPr/>
          <p:nvPr/>
        </p:nvSpPr>
        <p:spPr>
          <a:xfrm>
            <a:off x="6617074" y="2832847"/>
            <a:ext cx="878541" cy="268942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EC5E3279-3E91-4DAF-A2DE-524E174D636D}"/>
              </a:ext>
            </a:extLst>
          </p:cNvPr>
          <p:cNvGrpSpPr/>
          <p:nvPr/>
        </p:nvGrpSpPr>
        <p:grpSpPr>
          <a:xfrm>
            <a:off x="100536" y="4480054"/>
            <a:ext cx="8898115" cy="2241421"/>
            <a:chOff x="119741" y="4522607"/>
            <a:chExt cx="8898115" cy="2241421"/>
          </a:xfrm>
        </p:grpSpPr>
        <p:pic>
          <p:nvPicPr>
            <p:cNvPr id="256" name="Google Shape;256;p13"/>
            <p:cNvPicPr preferRelativeResize="0"/>
            <p:nvPr/>
          </p:nvPicPr>
          <p:blipFill rotWithShape="1">
            <a:blip r:embed="rId3">
              <a:alphaModFix/>
            </a:blip>
            <a:srcRect l="1950" r="33747" b="58164"/>
            <a:stretch/>
          </p:blipFill>
          <p:spPr>
            <a:xfrm>
              <a:off x="119741" y="4522607"/>
              <a:ext cx="5863885" cy="1182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13"/>
            <p:cNvPicPr preferRelativeResize="0"/>
            <p:nvPr/>
          </p:nvPicPr>
          <p:blipFill rotWithShape="1">
            <a:blip r:embed="rId3">
              <a:alphaModFix/>
            </a:blip>
            <a:srcRect l="20859" t="1395" r="36345" b="60825"/>
            <a:stretch/>
          </p:blipFill>
          <p:spPr>
            <a:xfrm>
              <a:off x="5077435" y="4557887"/>
              <a:ext cx="3914166" cy="1070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13"/>
            <p:cNvSpPr txBox="1"/>
            <p:nvPr/>
          </p:nvSpPr>
          <p:spPr>
            <a:xfrm>
              <a:off x="2015030" y="4899385"/>
              <a:ext cx="12811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0010 0000</a:t>
              </a: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3"/>
            <p:cNvSpPr txBox="1"/>
            <p:nvPr/>
          </p:nvSpPr>
          <p:spPr>
            <a:xfrm>
              <a:off x="3558190" y="4888499"/>
              <a:ext cx="14494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xxxx</a:t>
              </a:r>
              <a:r>
                <a:rPr 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A[11:8]</a:t>
              </a: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3"/>
            <p:cNvSpPr txBox="1"/>
            <p:nvPr/>
          </p:nvSpPr>
          <p:spPr>
            <a:xfrm>
              <a:off x="5480810" y="4888498"/>
              <a:ext cx="81945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A[7:0]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3"/>
            <p:cNvSpPr txBox="1"/>
            <p:nvPr/>
          </p:nvSpPr>
          <p:spPr>
            <a:xfrm>
              <a:off x="6943652" y="4877612"/>
              <a:ext cx="11272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xxxx</a:t>
              </a:r>
              <a:r>
                <a:rPr 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xxxx</a:t>
              </a: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2" name="Google Shape;262;p13"/>
            <p:cNvPicPr preferRelativeResize="0"/>
            <p:nvPr/>
          </p:nvPicPr>
          <p:blipFill rotWithShape="1">
            <a:blip r:embed="rId3">
              <a:alphaModFix/>
            </a:blip>
            <a:srcRect l="1950" t="57662" r="33747"/>
            <a:stretch/>
          </p:blipFill>
          <p:spPr>
            <a:xfrm>
              <a:off x="145996" y="5563413"/>
              <a:ext cx="5863885" cy="1196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13"/>
            <p:cNvPicPr preferRelativeResize="0"/>
            <p:nvPr/>
          </p:nvPicPr>
          <p:blipFill rotWithShape="1">
            <a:blip r:embed="rId3">
              <a:alphaModFix/>
            </a:blip>
            <a:srcRect l="20859" t="57258" r="36345"/>
            <a:stretch/>
          </p:blipFill>
          <p:spPr>
            <a:xfrm>
              <a:off x="5103690" y="5552528"/>
              <a:ext cx="3914166" cy="121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13"/>
            <p:cNvSpPr txBox="1"/>
            <p:nvPr/>
          </p:nvSpPr>
          <p:spPr>
            <a:xfrm>
              <a:off x="7243413" y="5925306"/>
              <a:ext cx="827471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D[7:0]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 Program Memory (Byte)</a:t>
            </a:r>
            <a:endParaRPr/>
          </a:p>
        </p:txBody>
      </p:sp>
      <p:graphicFrame>
        <p:nvGraphicFramePr>
          <p:cNvPr id="253" name="Google Shape;253;p13"/>
          <p:cNvGraphicFramePr/>
          <p:nvPr>
            <p:extLst>
              <p:ext uri="{D42A27DB-BD31-4B8C-83A1-F6EECF244321}">
                <p14:modId xmlns:p14="http://schemas.microsoft.com/office/powerpoint/2010/main" val="3884628303"/>
              </p:ext>
            </p:extLst>
          </p:nvPr>
        </p:nvGraphicFramePr>
        <p:xfrm>
          <a:off x="233082" y="1542895"/>
          <a:ext cx="8633024" cy="2011700"/>
        </p:xfrm>
        <a:graphic>
          <a:graphicData uri="http://schemas.openxmlformats.org/drawingml/2006/table">
            <a:tbl>
              <a:tblPr firstRow="1" bandRow="1">
                <a:noFill/>
                <a:tableStyleId>{8BCB7E61-44F8-477C-9F3D-CE014680312E}</a:tableStyleId>
              </a:tblPr>
              <a:tblGrid>
                <a:gridCol w="22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0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Instruction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Byte1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Byte2</a:t>
                      </a:r>
                      <a:endParaRPr sz="18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Byte3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Byte4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Read Memory 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(Byte Mode)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0010 0000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 err="1"/>
                        <a:t>xxxx</a:t>
                      </a:r>
                      <a:r>
                        <a:rPr lang="en-US" sz="2400" u="none" strike="noStrike" cap="none" dirty="0"/>
                        <a:t> A</a:t>
                      </a:r>
                      <a:r>
                        <a:rPr lang="en-US" sz="2400" b="0" u="none" strike="noStrike" cap="none" dirty="0"/>
                        <a:t>[11:8]</a:t>
                      </a:r>
                      <a:endParaRPr sz="1400" b="1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A[7:0]</a:t>
                      </a:r>
                      <a:endParaRPr sz="28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 err="1"/>
                        <a:t>xxxx</a:t>
                      </a:r>
                      <a:r>
                        <a:rPr lang="en-US" sz="2400" u="none" strike="noStrike" cap="none" dirty="0"/>
                        <a:t> </a:t>
                      </a:r>
                      <a:r>
                        <a:rPr lang="en-US" sz="2400" u="none" strike="noStrike" cap="none" dirty="0" err="1"/>
                        <a:t>xxxx</a:t>
                      </a:r>
                      <a:endParaRPr sz="24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D[7:0]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(Output)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4" name="Google Shape;254;p13"/>
          <p:cNvSpPr txBox="1">
            <a:spLocks noGrp="1"/>
          </p:cNvSpPr>
          <p:nvPr>
            <p:ph type="sldNum" idx="12"/>
          </p:nvPr>
        </p:nvSpPr>
        <p:spPr>
          <a:xfrm>
            <a:off x="6392634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55" name="Google Shape;255;p13"/>
          <p:cNvSpPr txBox="1"/>
          <p:nvPr/>
        </p:nvSpPr>
        <p:spPr>
          <a:xfrm>
            <a:off x="628649" y="3712935"/>
            <a:ext cx="8362951" cy="3008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data from Program memory in the byte mode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A[11:0] : 12-bit address  , D[7:0] : 8-bit data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 Program Memory</a:t>
            </a:r>
            <a:endParaRPr/>
          </a:p>
        </p:txBody>
      </p:sp>
      <p:sp>
        <p:nvSpPr>
          <p:cNvPr id="270" name="Google Shape;270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71" name="Google Shape;271;p14"/>
          <p:cNvPicPr preferRelativeResize="0"/>
          <p:nvPr/>
        </p:nvPicPr>
        <p:blipFill rotWithShape="1">
          <a:blip r:embed="rId3">
            <a:alphaModFix/>
          </a:blip>
          <a:srcRect t="16660"/>
          <a:stretch/>
        </p:blipFill>
        <p:spPr>
          <a:xfrm>
            <a:off x="55233" y="1894111"/>
            <a:ext cx="9033534" cy="449728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4"/>
          <p:cNvSpPr/>
          <p:nvPr/>
        </p:nvSpPr>
        <p:spPr>
          <a:xfrm>
            <a:off x="3352799" y="2069987"/>
            <a:ext cx="1034143" cy="381372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4"/>
          <p:cNvCxnSpPr/>
          <p:nvPr/>
        </p:nvCxnSpPr>
        <p:spPr>
          <a:xfrm>
            <a:off x="4386942" y="2260673"/>
            <a:ext cx="797172" cy="0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4" name="Google Shape;274;p14"/>
          <p:cNvSpPr txBox="1"/>
          <p:nvPr/>
        </p:nvSpPr>
        <p:spPr>
          <a:xfrm>
            <a:off x="5223701" y="1964384"/>
            <a:ext cx="194476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0010 0000</a:t>
            </a:r>
            <a:endParaRPr sz="32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5212815" y="2918748"/>
            <a:ext cx="2813591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4"/>
          <p:cNvCxnSpPr/>
          <p:nvPr/>
        </p:nvCxnSpPr>
        <p:spPr>
          <a:xfrm>
            <a:off x="1028698" y="3889000"/>
            <a:ext cx="1948542" cy="0"/>
          </a:xfrm>
          <a:prstGeom prst="straightConnector1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" name="Google Shape;277;p14"/>
          <p:cNvSpPr txBox="1"/>
          <p:nvPr/>
        </p:nvSpPr>
        <p:spPr>
          <a:xfrm>
            <a:off x="3145968" y="3492637"/>
            <a:ext cx="53605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Read the data at address 0000 0000 0000 </a:t>
            </a:r>
            <a:endParaRPr sz="11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4"/>
          <p:cNvCxnSpPr/>
          <p:nvPr/>
        </p:nvCxnSpPr>
        <p:spPr>
          <a:xfrm>
            <a:off x="1028698" y="6249000"/>
            <a:ext cx="1948542" cy="0"/>
          </a:xfrm>
          <a:prstGeom prst="straightConnector1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9" name="Google Shape;279;p14"/>
          <p:cNvSpPr txBox="1"/>
          <p:nvPr/>
        </p:nvSpPr>
        <p:spPr>
          <a:xfrm>
            <a:off x="3145968" y="5876608"/>
            <a:ext cx="53605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Read the data at address 0000 0000 0001 </a:t>
            </a:r>
            <a:endParaRPr sz="11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3352801" y="2538076"/>
            <a:ext cx="1034143" cy="381372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4"/>
          <p:cNvCxnSpPr/>
          <p:nvPr/>
        </p:nvCxnSpPr>
        <p:spPr>
          <a:xfrm>
            <a:off x="4386944" y="2728762"/>
            <a:ext cx="797172" cy="0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2" name="Google Shape;282;p14"/>
          <p:cNvSpPr txBox="1"/>
          <p:nvPr/>
        </p:nvSpPr>
        <p:spPr>
          <a:xfrm>
            <a:off x="5223703" y="2421587"/>
            <a:ext cx="257955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xxxx  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3352803" y="3017046"/>
            <a:ext cx="1034143" cy="381372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4"/>
          <p:cNvCxnSpPr/>
          <p:nvPr/>
        </p:nvCxnSpPr>
        <p:spPr>
          <a:xfrm>
            <a:off x="4386946" y="3207732"/>
            <a:ext cx="797172" cy="0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85" name="Google Shape;285;p14"/>
          <p:cNvPicPr preferRelativeResize="0"/>
          <p:nvPr/>
        </p:nvPicPr>
        <p:blipFill rotWithShape="1">
          <a:blip r:embed="rId3">
            <a:alphaModFix/>
          </a:blip>
          <a:srcRect t="2592" b="89189"/>
          <a:stretch/>
        </p:blipFill>
        <p:spPr>
          <a:xfrm>
            <a:off x="55233" y="1505013"/>
            <a:ext cx="9033534" cy="443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sread()</a:t>
            </a:r>
            <a:endParaRPr/>
          </a:p>
        </p:txBody>
      </p:sp>
      <p:sp>
        <p:nvSpPr>
          <p:cNvPr id="291" name="Google Shape;291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664" y="1473531"/>
            <a:ext cx="7145188" cy="53518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p15"/>
          <p:cNvCxnSpPr/>
          <p:nvPr/>
        </p:nvCxnSpPr>
        <p:spPr>
          <a:xfrm rot="10800000" flipH="1">
            <a:off x="1055592" y="3470297"/>
            <a:ext cx="6546478" cy="7282"/>
          </a:xfrm>
          <a:prstGeom prst="straightConnector1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15"/>
          <p:cNvSpPr txBox="1"/>
          <p:nvPr/>
        </p:nvSpPr>
        <p:spPr>
          <a:xfrm>
            <a:off x="5557164" y="3478154"/>
            <a:ext cx="231465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1 byte = 8 bits</a:t>
            </a:r>
            <a:endParaRPr sz="12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5"/>
          <p:cNvCxnSpPr/>
          <p:nvPr/>
        </p:nvCxnSpPr>
        <p:spPr>
          <a:xfrm rot="10800000" flipH="1">
            <a:off x="1118345" y="3074894"/>
            <a:ext cx="4134973" cy="1624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6" name="Google Shape;296;p15"/>
          <p:cNvSpPr txBox="1"/>
          <p:nvPr/>
        </p:nvSpPr>
        <p:spPr>
          <a:xfrm>
            <a:off x="4319866" y="2228781"/>
            <a:ext cx="337185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unsigned char array</a:t>
            </a:r>
            <a:endParaRPr sz="12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read()</a:t>
            </a:r>
            <a:endParaRPr/>
          </a:p>
        </p:txBody>
      </p:sp>
      <p:sp>
        <p:nvSpPr>
          <p:cNvPr id="302" name="Google Shape;302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</a:t>
            </a:r>
            <a:endParaRPr/>
          </a:p>
        </p:txBody>
      </p:sp>
      <p:pic>
        <p:nvPicPr>
          <p:cNvPr id="303" name="Google Shape;30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094" y="1405864"/>
            <a:ext cx="8442353" cy="311514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6"/>
          <p:cNvSpPr txBox="1"/>
          <p:nvPr/>
        </p:nvSpPr>
        <p:spPr>
          <a:xfrm>
            <a:off x="4174911" y="4125977"/>
            <a:ext cx="2951630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4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0000000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endParaRPr sz="1200" b="1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3890710" y="4653991"/>
            <a:ext cx="278907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4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4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000000</a:t>
            </a:r>
            <a:endParaRPr/>
          </a:p>
        </p:txBody>
      </p:sp>
      <p:sp>
        <p:nvSpPr>
          <p:cNvPr id="306" name="Google Shape;306;p16"/>
          <p:cNvSpPr txBox="1"/>
          <p:nvPr/>
        </p:nvSpPr>
        <p:spPr>
          <a:xfrm>
            <a:off x="3611649" y="5218060"/>
            <a:ext cx="278907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r>
              <a:rPr lang="en-US" sz="4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4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00000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3333743" y="5764907"/>
            <a:ext cx="278907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001</a:t>
            </a:r>
            <a:r>
              <a:rPr lang="en-US" sz="4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4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0000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 rot="5400000">
            <a:off x="4446580" y="6257168"/>
            <a:ext cx="66167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4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6"/>
          <p:cNvCxnSpPr/>
          <p:nvPr/>
        </p:nvCxnSpPr>
        <p:spPr>
          <a:xfrm flipH="1">
            <a:off x="3190229" y="4293952"/>
            <a:ext cx="1011577" cy="2116387"/>
          </a:xfrm>
          <a:prstGeom prst="straightConnector1">
            <a:avLst/>
          </a:prstGeom>
          <a:noFill/>
          <a:ln w="1905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0" name="Google Shape;310;p16"/>
          <p:cNvSpPr txBox="1"/>
          <p:nvPr/>
        </p:nvSpPr>
        <p:spPr>
          <a:xfrm>
            <a:off x="434842" y="4862487"/>
            <a:ext cx="318130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output[count]&lt;&lt;1</a:t>
            </a:r>
            <a:endParaRPr sz="14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Write Program Memory (Byte)</a:t>
            </a:r>
            <a:endParaRPr/>
          </a:p>
        </p:txBody>
      </p:sp>
      <p:graphicFrame>
        <p:nvGraphicFramePr>
          <p:cNvPr id="316" name="Google Shape;316;p17"/>
          <p:cNvGraphicFramePr/>
          <p:nvPr>
            <p:extLst>
              <p:ext uri="{D42A27DB-BD31-4B8C-83A1-F6EECF244321}">
                <p14:modId xmlns:p14="http://schemas.microsoft.com/office/powerpoint/2010/main" val="3350186399"/>
              </p:ext>
            </p:extLst>
          </p:nvPr>
        </p:nvGraphicFramePr>
        <p:xfrm>
          <a:off x="233082" y="1542895"/>
          <a:ext cx="8633000" cy="1645940"/>
        </p:xfrm>
        <a:graphic>
          <a:graphicData uri="http://schemas.openxmlformats.org/drawingml/2006/table">
            <a:tbl>
              <a:tblPr firstRow="1" bandRow="1">
                <a:noFill/>
                <a:tableStyleId>{8BCB7E61-44F8-477C-9F3D-CE014680312E}</a:tableStyleId>
              </a:tblPr>
              <a:tblGrid>
                <a:gridCol w="22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Instruction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Byte1</a:t>
                      </a:r>
                      <a:endParaRPr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Byte2</a:t>
                      </a:r>
                      <a:endParaRPr sz="18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Byte3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Byte4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Write Memory (Byte Mode)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0100 0000</a:t>
                      </a: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 err="1"/>
                        <a:t>xxxx</a:t>
                      </a:r>
                      <a:r>
                        <a:rPr lang="en-US" sz="2400" u="none" strike="noStrike" cap="none" dirty="0"/>
                        <a:t> A</a:t>
                      </a:r>
                      <a:r>
                        <a:rPr lang="en-US" sz="2400" b="0" u="none" strike="noStrike" cap="none" dirty="0"/>
                        <a:t>[11:8]</a:t>
                      </a:r>
                      <a:endParaRPr sz="1400" b="1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A[7:0]</a:t>
                      </a:r>
                      <a:endParaRPr sz="28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D[7:0]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7" name="Google Shape;317;p17"/>
          <p:cNvSpPr txBox="1">
            <a:spLocks noGrp="1"/>
          </p:cNvSpPr>
          <p:nvPr>
            <p:ph type="sldNum" idx="12"/>
          </p:nvPr>
        </p:nvSpPr>
        <p:spPr>
          <a:xfrm>
            <a:off x="6392634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18" name="Google Shape;318;p17"/>
          <p:cNvSpPr txBox="1"/>
          <p:nvPr/>
        </p:nvSpPr>
        <p:spPr>
          <a:xfrm>
            <a:off x="606232" y="3347175"/>
            <a:ext cx="7886700" cy="3008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data to Program memory in the byte mode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A[11:0] : 12-bit address, D[7:0] 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8-bit data </a:t>
            </a:r>
            <a:endParaRPr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918CE87D-A17B-434A-A99B-531623FC77B7}"/>
              </a:ext>
            </a:extLst>
          </p:cNvPr>
          <p:cNvGrpSpPr/>
          <p:nvPr/>
        </p:nvGrpSpPr>
        <p:grpSpPr>
          <a:xfrm>
            <a:off x="119741" y="4114622"/>
            <a:ext cx="8898115" cy="2241421"/>
            <a:chOff x="119741" y="4195226"/>
            <a:chExt cx="8898115" cy="2241421"/>
          </a:xfrm>
        </p:grpSpPr>
        <p:pic>
          <p:nvPicPr>
            <p:cNvPr id="319" name="Google Shape;319;p17"/>
            <p:cNvPicPr preferRelativeResize="0"/>
            <p:nvPr/>
          </p:nvPicPr>
          <p:blipFill rotWithShape="1">
            <a:blip r:embed="rId3">
              <a:alphaModFix/>
            </a:blip>
            <a:srcRect l="1950" r="33747" b="58164"/>
            <a:stretch/>
          </p:blipFill>
          <p:spPr>
            <a:xfrm>
              <a:off x="119741" y="4195226"/>
              <a:ext cx="5863885" cy="1182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17"/>
            <p:cNvPicPr preferRelativeResize="0"/>
            <p:nvPr/>
          </p:nvPicPr>
          <p:blipFill rotWithShape="1">
            <a:blip r:embed="rId3">
              <a:alphaModFix/>
            </a:blip>
            <a:srcRect l="20859" t="1395" r="36345" b="60825"/>
            <a:stretch/>
          </p:blipFill>
          <p:spPr>
            <a:xfrm>
              <a:off x="5077435" y="4230506"/>
              <a:ext cx="3914166" cy="1070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17"/>
            <p:cNvSpPr txBox="1"/>
            <p:nvPr/>
          </p:nvSpPr>
          <p:spPr>
            <a:xfrm>
              <a:off x="2015030" y="4572004"/>
              <a:ext cx="12811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0010 0000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7"/>
            <p:cNvSpPr txBox="1"/>
            <p:nvPr/>
          </p:nvSpPr>
          <p:spPr>
            <a:xfrm>
              <a:off x="3558190" y="4561118"/>
              <a:ext cx="14494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xxxx A[11:8]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7"/>
            <p:cNvSpPr txBox="1"/>
            <p:nvPr/>
          </p:nvSpPr>
          <p:spPr>
            <a:xfrm>
              <a:off x="5480810" y="4561117"/>
              <a:ext cx="81945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A[7:0]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4" name="Google Shape;324;p17"/>
            <p:cNvPicPr preferRelativeResize="0"/>
            <p:nvPr/>
          </p:nvPicPr>
          <p:blipFill rotWithShape="1">
            <a:blip r:embed="rId3">
              <a:alphaModFix/>
            </a:blip>
            <a:srcRect l="1950" t="57662" r="33747"/>
            <a:stretch/>
          </p:blipFill>
          <p:spPr>
            <a:xfrm>
              <a:off x="145996" y="5236032"/>
              <a:ext cx="5863885" cy="1196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17"/>
            <p:cNvPicPr preferRelativeResize="0"/>
            <p:nvPr/>
          </p:nvPicPr>
          <p:blipFill rotWithShape="1">
            <a:blip r:embed="rId3">
              <a:alphaModFix/>
            </a:blip>
            <a:srcRect l="20859" t="57258" r="36345"/>
            <a:stretch/>
          </p:blipFill>
          <p:spPr>
            <a:xfrm>
              <a:off x="5103690" y="5225147"/>
              <a:ext cx="3914166" cy="121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17"/>
            <p:cNvSpPr txBox="1"/>
            <p:nvPr/>
          </p:nvSpPr>
          <p:spPr>
            <a:xfrm>
              <a:off x="7091011" y="4552892"/>
              <a:ext cx="827471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D[7:0]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18"/>
          <p:cNvPicPr preferRelativeResize="0"/>
          <p:nvPr/>
        </p:nvPicPr>
        <p:blipFill rotWithShape="1">
          <a:blip r:embed="rId3">
            <a:alphaModFix/>
          </a:blip>
          <a:srcRect l="5006" t="17268" r="4272"/>
          <a:stretch/>
        </p:blipFill>
        <p:spPr>
          <a:xfrm>
            <a:off x="511631" y="1930304"/>
            <a:ext cx="8632369" cy="46086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Write Program Memory</a:t>
            </a:r>
            <a:endParaRPr/>
          </a:p>
        </p:txBody>
      </p:sp>
      <p:sp>
        <p:nvSpPr>
          <p:cNvPr id="333" name="Google Shape;333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34" name="Google Shape;334;p18"/>
          <p:cNvPicPr preferRelativeResize="0"/>
          <p:nvPr/>
        </p:nvPicPr>
        <p:blipFill rotWithShape="1">
          <a:blip r:embed="rId3">
            <a:alphaModFix/>
          </a:blip>
          <a:srcRect t="746" b="91492"/>
          <a:stretch/>
        </p:blipFill>
        <p:spPr>
          <a:xfrm>
            <a:off x="65313" y="1423717"/>
            <a:ext cx="8915402" cy="40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8"/>
          <p:cNvSpPr/>
          <p:nvPr/>
        </p:nvSpPr>
        <p:spPr>
          <a:xfrm>
            <a:off x="3516310" y="1987677"/>
            <a:ext cx="1131889" cy="430003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8"/>
          <p:cNvCxnSpPr/>
          <p:nvPr/>
        </p:nvCxnSpPr>
        <p:spPr>
          <a:xfrm rot="10800000" flipH="1">
            <a:off x="4637311" y="2196108"/>
            <a:ext cx="881746" cy="1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7" name="Google Shape;337;p18"/>
          <p:cNvSpPr txBox="1"/>
          <p:nvPr/>
        </p:nvSpPr>
        <p:spPr>
          <a:xfrm>
            <a:off x="5552773" y="1910290"/>
            <a:ext cx="194476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0010 0000</a:t>
            </a:r>
            <a:endParaRPr sz="32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8"/>
          <p:cNvCxnSpPr/>
          <p:nvPr/>
        </p:nvCxnSpPr>
        <p:spPr>
          <a:xfrm>
            <a:off x="1077686" y="3914951"/>
            <a:ext cx="3750129" cy="13653"/>
          </a:xfrm>
          <a:prstGeom prst="straightConnector1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9" name="Google Shape;339;p18"/>
          <p:cNvSpPr txBox="1"/>
          <p:nvPr/>
        </p:nvSpPr>
        <p:spPr>
          <a:xfrm>
            <a:off x="1349830" y="3961898"/>
            <a:ext cx="763088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Write data 1110 1110 at address 0000 0000 0000 </a:t>
            </a:r>
            <a:endParaRPr sz="11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 txBox="1"/>
          <p:nvPr/>
        </p:nvSpPr>
        <p:spPr>
          <a:xfrm>
            <a:off x="1349830" y="6407948"/>
            <a:ext cx="763088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Write data 0001 0010 at address 0000 0000 0001 </a:t>
            </a:r>
            <a:endParaRPr sz="11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3516310" y="2488422"/>
            <a:ext cx="1131889" cy="430003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18"/>
          <p:cNvCxnSpPr/>
          <p:nvPr/>
        </p:nvCxnSpPr>
        <p:spPr>
          <a:xfrm rot="10800000" flipH="1">
            <a:off x="4637311" y="2696853"/>
            <a:ext cx="881746" cy="1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3" name="Google Shape;343;p18"/>
          <p:cNvSpPr txBox="1"/>
          <p:nvPr/>
        </p:nvSpPr>
        <p:spPr>
          <a:xfrm>
            <a:off x="5552773" y="2411035"/>
            <a:ext cx="257955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xxxx  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3516311" y="2989165"/>
            <a:ext cx="1131889" cy="430003"/>
          </a:xfrm>
          <a:prstGeom prst="rect">
            <a:avLst/>
          </a:prstGeom>
          <a:noFill/>
          <a:ln w="1905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18"/>
          <p:cNvCxnSpPr/>
          <p:nvPr/>
        </p:nvCxnSpPr>
        <p:spPr>
          <a:xfrm rot="10800000" flipH="1">
            <a:off x="4637312" y="3197596"/>
            <a:ext cx="881746" cy="1"/>
          </a:xfrm>
          <a:prstGeom prst="straightConnector1">
            <a:avLst/>
          </a:prstGeom>
          <a:noFill/>
          <a:ln w="38100" cap="flat" cmpd="sng">
            <a:solidFill>
              <a:srgbClr val="2E75B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6" name="Google Shape;346;p18"/>
          <p:cNvSpPr txBox="1"/>
          <p:nvPr/>
        </p:nvSpPr>
        <p:spPr>
          <a:xfrm>
            <a:off x="5552774" y="2911778"/>
            <a:ext cx="28264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8"/>
          <p:cNvCxnSpPr/>
          <p:nvPr/>
        </p:nvCxnSpPr>
        <p:spPr>
          <a:xfrm>
            <a:off x="1066800" y="6418661"/>
            <a:ext cx="3750129" cy="13653"/>
          </a:xfrm>
          <a:prstGeom prst="straightConnector1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PCB prototype JLCPCB homemade POV clock PCB">
            <a:extLst>
              <a:ext uri="{FF2B5EF4-FFF2-40B4-BE49-F238E27FC236}">
                <a16:creationId xmlns:a16="http://schemas.microsoft.com/office/drawing/2014/main" id="{962DB0D6-915C-4131-8B13-24C814C84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733" y="2012677"/>
            <a:ext cx="4158534" cy="4021685"/>
          </a:xfrm>
          <a:prstGeom prst="rect">
            <a:avLst/>
          </a:prstGeom>
          <a:noFill/>
          <a:extLst/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9CDC7F3-A2F9-429B-9CE3-E28F8F6E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>
            <a:spAutoFit/>
          </a:bodyPr>
          <a:lstStyle/>
          <a:p>
            <a:r>
              <a:rPr lang="en-US" altLang="zh-TW" spc="-150" dirty="0">
                <a:cs typeface="Vrinda" panose="020B0502040204020203" pitchFamily="34" charset="0"/>
              </a:rPr>
              <a:t>Persistence of Vision Clock (POV clock)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F4DA57-CE25-4C59-83EE-92643E82A9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smtClean="0"/>
              <a:t>21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04143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7567FA-7230-4549-83E4-0B3CEB83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</p:spPr>
        <p:txBody>
          <a:bodyPr/>
          <a:lstStyle/>
          <a:p>
            <a:r>
              <a:rPr lang="en-US" altLang="zh-TW" dirty="0"/>
              <a:t>Required Components  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7CE3BBF-FA49-4194-B818-0B05B75DA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00" y="1994820"/>
            <a:ext cx="1621304" cy="449805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F394DA-4A22-4A55-8DCE-D01882DE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06FA0F82-F193-4AFE-A3EA-8BA5DF2E3C1C}"/>
              </a:ext>
            </a:extLst>
          </p:cNvPr>
          <p:cNvSpPr txBox="1">
            <a:spLocks/>
          </p:cNvSpPr>
          <p:nvPr/>
        </p:nvSpPr>
        <p:spPr>
          <a:xfrm>
            <a:off x="530867" y="1490600"/>
            <a:ext cx="2166169" cy="504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Plastic Bottle</a:t>
            </a:r>
          </a:p>
        </p:txBody>
      </p:sp>
      <p:pic>
        <p:nvPicPr>
          <p:cNvPr id="13" name="內容版面配置區 5">
            <a:extLst>
              <a:ext uri="{FF2B5EF4-FFF2-40B4-BE49-F238E27FC236}">
                <a16:creationId xmlns:a16="http://schemas.microsoft.com/office/drawing/2014/main" id="{D4ADF65A-EB6F-4FCB-A251-E202C89D91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77" r="4051" b="14366"/>
          <a:stretch/>
        </p:blipFill>
        <p:spPr>
          <a:xfrm>
            <a:off x="3993590" y="2128350"/>
            <a:ext cx="4347110" cy="3410464"/>
          </a:xfrm>
          <a:prstGeom prst="rect">
            <a:avLst/>
          </a:prstGeom>
        </p:spPr>
      </p:pic>
      <p:sp>
        <p:nvSpPr>
          <p:cNvPr id="14" name="副標題 2">
            <a:extLst>
              <a:ext uri="{FF2B5EF4-FFF2-40B4-BE49-F238E27FC236}">
                <a16:creationId xmlns:a16="http://schemas.microsoft.com/office/drawing/2014/main" id="{503DE871-0AE7-441B-9C13-975EC0582104}"/>
              </a:ext>
            </a:extLst>
          </p:cNvPr>
          <p:cNvSpPr txBox="1">
            <a:spLocks/>
          </p:cNvSpPr>
          <p:nvPr/>
        </p:nvSpPr>
        <p:spPr>
          <a:xfrm>
            <a:off x="5084060" y="1490600"/>
            <a:ext cx="2166169" cy="504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Velcro Strap </a:t>
            </a:r>
          </a:p>
        </p:txBody>
      </p:sp>
    </p:spTree>
    <p:extLst>
      <p:ext uri="{BB962C8B-B14F-4D97-AF65-F5344CB8AC3E}">
        <p14:creationId xmlns:p14="http://schemas.microsoft.com/office/powerpoint/2010/main" val="1263073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8F7F8F-46ED-4188-84F0-BB4B5124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Required Components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97141D-D039-473B-94CA-2C001F9E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23</a:t>
            </a:fld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C95EF57-5C62-4F54-A8D8-C9D3760C93C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9" t="24564" r="30005" b="10239"/>
          <a:stretch/>
        </p:blipFill>
        <p:spPr>
          <a:xfrm>
            <a:off x="628650" y="2056418"/>
            <a:ext cx="2770101" cy="4498054"/>
          </a:xfrm>
          <a:prstGeom prst="rect">
            <a:avLst/>
          </a:prstGeom>
        </p:spPr>
      </p:pic>
      <p:sp>
        <p:nvSpPr>
          <p:cNvPr id="17" name="副標題 2">
            <a:extLst>
              <a:ext uri="{FF2B5EF4-FFF2-40B4-BE49-F238E27FC236}">
                <a16:creationId xmlns:a16="http://schemas.microsoft.com/office/drawing/2014/main" id="{D340DC09-F948-4E72-9271-26B489B69B60}"/>
              </a:ext>
            </a:extLst>
          </p:cNvPr>
          <p:cNvSpPr txBox="1">
            <a:spLocks/>
          </p:cNvSpPr>
          <p:nvPr/>
        </p:nvSpPr>
        <p:spPr>
          <a:xfrm>
            <a:off x="28745" y="1523683"/>
            <a:ext cx="5052622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AC/DC Switching Adaptor</a:t>
            </a:r>
          </a:p>
        </p:txBody>
      </p:sp>
      <p:pic>
        <p:nvPicPr>
          <p:cNvPr id="41" name="內容版面配置區 40">
            <a:extLst>
              <a:ext uri="{FF2B5EF4-FFF2-40B4-BE49-F238E27FC236}">
                <a16:creationId xmlns:a16="http://schemas.microsoft.com/office/drawing/2014/main" id="{CE88025A-34B4-4C19-BB51-AB39AA971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7"/>
          <a:stretch/>
        </p:blipFill>
        <p:spPr>
          <a:xfrm>
            <a:off x="4763805" y="2118016"/>
            <a:ext cx="3574229" cy="4436456"/>
          </a:xfrm>
        </p:spPr>
      </p:pic>
      <p:sp>
        <p:nvSpPr>
          <p:cNvPr id="42" name="副標題 2">
            <a:extLst>
              <a:ext uri="{FF2B5EF4-FFF2-40B4-BE49-F238E27FC236}">
                <a16:creationId xmlns:a16="http://schemas.microsoft.com/office/drawing/2014/main" id="{7390DF3C-4EE4-4EB6-837B-0C0B2D8FD200}"/>
              </a:ext>
            </a:extLst>
          </p:cNvPr>
          <p:cNvSpPr txBox="1">
            <a:spLocks/>
          </p:cNvSpPr>
          <p:nvPr/>
        </p:nvSpPr>
        <p:spPr>
          <a:xfrm>
            <a:off x="4483342" y="1523683"/>
            <a:ext cx="5052622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POV Module prepared by TA</a:t>
            </a:r>
          </a:p>
        </p:txBody>
      </p:sp>
    </p:spTree>
    <p:extLst>
      <p:ext uri="{BB962C8B-B14F-4D97-AF65-F5344CB8AC3E}">
        <p14:creationId xmlns:p14="http://schemas.microsoft.com/office/powerpoint/2010/main" val="3412904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A2C99C-99F9-43A6-A856-8D04B8FA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POV Clock Module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732191A-80C8-4DDB-A5AC-FE1991315D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2" t="10534" r="20743" b="3429"/>
          <a:stretch/>
        </p:blipFill>
        <p:spPr>
          <a:xfrm>
            <a:off x="3348990" y="1450093"/>
            <a:ext cx="1946626" cy="5271383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DC0DC3-A087-4905-A0EE-9A66517C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EEC2C0-C5BB-48A2-A367-CF54C2FA7C82}"/>
              </a:ext>
            </a:extLst>
          </p:cNvPr>
          <p:cNvSpPr/>
          <p:nvPr/>
        </p:nvSpPr>
        <p:spPr>
          <a:xfrm>
            <a:off x="4053840" y="1655832"/>
            <a:ext cx="403860" cy="2055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69BE67F8-1600-4598-BF02-0D8DD21578B7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4472940" y="2667000"/>
            <a:ext cx="1181402" cy="11091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C6CC516B-E145-409E-8257-D1CB6B2640B6}"/>
              </a:ext>
            </a:extLst>
          </p:cNvPr>
          <p:cNvSpPr txBox="1">
            <a:spLocks/>
          </p:cNvSpPr>
          <p:nvPr/>
        </p:nvSpPr>
        <p:spPr>
          <a:xfrm>
            <a:off x="5630019" y="2567460"/>
            <a:ext cx="3509010" cy="239552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15 LED on both sides</a:t>
            </a:r>
          </a:p>
          <a:p>
            <a:r>
              <a:rPr lang="en-US" altLang="zh-TW" sz="2000" dirty="0"/>
              <a:t>P0_0 ~ P0_7</a:t>
            </a:r>
          </a:p>
          <a:p>
            <a:r>
              <a:rPr lang="en-US" altLang="zh-TW" sz="2000" dirty="0"/>
              <a:t>P1_0 ~ P1_7</a:t>
            </a:r>
          </a:p>
          <a:p>
            <a:r>
              <a:rPr lang="en-US" altLang="zh-TW" sz="2000" dirty="0"/>
              <a:t>P2_0 ~ P2_7</a:t>
            </a:r>
          </a:p>
          <a:p>
            <a:r>
              <a:rPr lang="en-US" altLang="zh-TW" sz="2000" dirty="0"/>
              <a:t>P3_0 ~ P3_1</a:t>
            </a:r>
          </a:p>
          <a:p>
            <a:r>
              <a:rPr lang="en-US" altLang="zh-TW" sz="2000" dirty="0"/>
              <a:t>P3_4 ~ P3_7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DCFF22-D36B-4109-8637-1D89CD2BDC34}"/>
              </a:ext>
            </a:extLst>
          </p:cNvPr>
          <p:cNvSpPr/>
          <p:nvPr/>
        </p:nvSpPr>
        <p:spPr>
          <a:xfrm>
            <a:off x="3451860" y="5326380"/>
            <a:ext cx="403860" cy="6934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81ED75-BBEF-4889-9AA6-F328D222EBF6}"/>
              </a:ext>
            </a:extLst>
          </p:cNvPr>
          <p:cNvSpPr/>
          <p:nvPr/>
        </p:nvSpPr>
        <p:spPr>
          <a:xfrm>
            <a:off x="3918443" y="5783580"/>
            <a:ext cx="403860" cy="3124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BE578D-C8AB-4EBC-86C8-A671C3292EAB}"/>
              </a:ext>
            </a:extLst>
          </p:cNvPr>
          <p:cNvSpPr/>
          <p:nvPr/>
        </p:nvSpPr>
        <p:spPr>
          <a:xfrm>
            <a:off x="4086083" y="1397510"/>
            <a:ext cx="312420" cy="1927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C13162D-8ED3-4246-B4FA-D87DA00E69EE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398503" y="1450093"/>
            <a:ext cx="1301257" cy="558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52926DC7-FC60-4FDD-A6C2-FDAF2EB053BD}"/>
              </a:ext>
            </a:extLst>
          </p:cNvPr>
          <p:cNvSpPr txBox="1">
            <a:spLocks/>
          </p:cNvSpPr>
          <p:nvPr/>
        </p:nvSpPr>
        <p:spPr>
          <a:xfrm>
            <a:off x="5707379" y="1555557"/>
            <a:ext cx="2182761" cy="88537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/>
              <a:t>Hall sensor</a:t>
            </a:r>
          </a:p>
          <a:p>
            <a:r>
              <a:rPr lang="en-US" altLang="zh-TW" sz="2400" dirty="0"/>
              <a:t>P3_2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9015652-622C-45B2-B85B-679E1A77F58A}"/>
              </a:ext>
            </a:extLst>
          </p:cNvPr>
          <p:cNvCxnSpPr>
            <a:cxnSpLocks/>
          </p:cNvCxnSpPr>
          <p:nvPr/>
        </p:nvCxnSpPr>
        <p:spPr>
          <a:xfrm flipH="1" flipV="1">
            <a:off x="3040380" y="5509260"/>
            <a:ext cx="437142" cy="2743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91928B02-1FFA-4354-85CA-E85210130906}"/>
              </a:ext>
            </a:extLst>
          </p:cNvPr>
          <p:cNvSpPr txBox="1">
            <a:spLocks/>
          </p:cNvSpPr>
          <p:nvPr/>
        </p:nvSpPr>
        <p:spPr>
          <a:xfrm>
            <a:off x="40419" y="4349704"/>
            <a:ext cx="3332742" cy="239552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5 pins for programming</a:t>
            </a:r>
          </a:p>
          <a:p>
            <a:r>
              <a:rPr lang="en-US" altLang="zh-TW" sz="2000" dirty="0"/>
              <a:t>MOSI (P1_5)</a:t>
            </a:r>
          </a:p>
          <a:p>
            <a:r>
              <a:rPr lang="en-US" altLang="zh-TW" sz="2000" dirty="0"/>
              <a:t>MISO (P1_6)</a:t>
            </a:r>
          </a:p>
          <a:p>
            <a:r>
              <a:rPr lang="en-US" altLang="zh-TW" sz="2000" dirty="0"/>
              <a:t>SCK (P1_7)</a:t>
            </a:r>
          </a:p>
          <a:p>
            <a:r>
              <a:rPr lang="en-US" altLang="zh-TW" sz="2000" dirty="0"/>
              <a:t>RST</a:t>
            </a:r>
          </a:p>
          <a:p>
            <a:r>
              <a:rPr lang="en-US" altLang="zh-TW" sz="2000" dirty="0"/>
              <a:t>GND</a:t>
            </a:r>
            <a:endParaRPr lang="en-US" altLang="zh-TW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620B2A-D9C8-4CA6-A6C9-94AFF0D94B7F}"/>
              </a:ext>
            </a:extLst>
          </p:cNvPr>
          <p:cNvSpPr/>
          <p:nvPr/>
        </p:nvSpPr>
        <p:spPr>
          <a:xfrm>
            <a:off x="5654342" y="2550289"/>
            <a:ext cx="3411553" cy="24516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46B0F30-CB23-4AAF-99C2-A3232C9FC485}"/>
              </a:ext>
            </a:extLst>
          </p:cNvPr>
          <p:cNvSpPr/>
          <p:nvPr/>
        </p:nvSpPr>
        <p:spPr>
          <a:xfrm>
            <a:off x="78105" y="4343400"/>
            <a:ext cx="3183255" cy="23297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4B589828-8EBC-41D7-AC1F-084EBADE02D4}"/>
              </a:ext>
            </a:extLst>
          </p:cNvPr>
          <p:cNvCxnSpPr>
            <a:cxnSpLocks/>
          </p:cNvCxnSpPr>
          <p:nvPr/>
        </p:nvCxnSpPr>
        <p:spPr>
          <a:xfrm flipV="1">
            <a:off x="4362166" y="5840164"/>
            <a:ext cx="1226820" cy="114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B056BDAD-7DC6-4C68-8E03-CB1F8FDD7DCE}"/>
              </a:ext>
            </a:extLst>
          </p:cNvPr>
          <p:cNvSpPr/>
          <p:nvPr/>
        </p:nvSpPr>
        <p:spPr>
          <a:xfrm>
            <a:off x="5699760" y="1573122"/>
            <a:ext cx="2198001" cy="871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6C905514-3F34-4C49-8534-4C1C2A4C7720}"/>
              </a:ext>
            </a:extLst>
          </p:cNvPr>
          <p:cNvSpPr txBox="1">
            <a:spLocks/>
          </p:cNvSpPr>
          <p:nvPr/>
        </p:nvSpPr>
        <p:spPr>
          <a:xfrm>
            <a:off x="5588986" y="5595821"/>
            <a:ext cx="2926364" cy="36933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32Mhz Crystal Clock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E3383B-FA2D-4E78-89B8-D1795DE4CB5A}"/>
              </a:ext>
            </a:extLst>
          </p:cNvPr>
          <p:cNvSpPr/>
          <p:nvPr/>
        </p:nvSpPr>
        <p:spPr>
          <a:xfrm>
            <a:off x="3451860" y="4977581"/>
            <a:ext cx="403860" cy="2954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676CF48-A41F-492C-AE0A-FAF21EEEB2D8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2891506" y="3790335"/>
            <a:ext cx="762284" cy="11872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FC140CD5-B18D-47B7-9BF9-BF55BE22529D}"/>
              </a:ext>
            </a:extLst>
          </p:cNvPr>
          <p:cNvSpPr/>
          <p:nvPr/>
        </p:nvSpPr>
        <p:spPr>
          <a:xfrm>
            <a:off x="5654342" y="5547468"/>
            <a:ext cx="2693245" cy="472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0A122B1-84CC-40A1-B4F8-A28C2706123B}"/>
              </a:ext>
            </a:extLst>
          </p:cNvPr>
          <p:cNvSpPr/>
          <p:nvPr/>
        </p:nvSpPr>
        <p:spPr>
          <a:xfrm>
            <a:off x="117585" y="3062607"/>
            <a:ext cx="3021713" cy="8525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內容版面配置區 2">
            <a:extLst>
              <a:ext uri="{FF2B5EF4-FFF2-40B4-BE49-F238E27FC236}">
                <a16:creationId xmlns:a16="http://schemas.microsoft.com/office/drawing/2014/main" id="{A758B19F-B484-46EF-9424-778A9CCAD481}"/>
              </a:ext>
            </a:extLst>
          </p:cNvPr>
          <p:cNvSpPr txBox="1">
            <a:spLocks/>
          </p:cNvSpPr>
          <p:nvPr/>
        </p:nvSpPr>
        <p:spPr>
          <a:xfrm>
            <a:off x="153435" y="3121070"/>
            <a:ext cx="2886945" cy="75713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/>
              <a:t>P3_3 Button for user use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06E4487-4610-402F-A072-A036AF9CC310}"/>
              </a:ext>
            </a:extLst>
          </p:cNvPr>
          <p:cNvSpPr/>
          <p:nvPr/>
        </p:nvSpPr>
        <p:spPr>
          <a:xfrm>
            <a:off x="3988193" y="3763522"/>
            <a:ext cx="692391" cy="19545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240BAC7F-69F1-4747-A7C1-AB5DCA74DFA3}"/>
              </a:ext>
            </a:extLst>
          </p:cNvPr>
          <p:cNvCxnSpPr>
            <a:cxnSpLocks/>
          </p:cNvCxnSpPr>
          <p:nvPr/>
        </p:nvCxnSpPr>
        <p:spPr>
          <a:xfrm flipH="1" flipV="1">
            <a:off x="2839065" y="2388555"/>
            <a:ext cx="1258975" cy="17467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7E5A03C3-F2E3-4B19-9431-610B49C0AC44}"/>
              </a:ext>
            </a:extLst>
          </p:cNvPr>
          <p:cNvSpPr/>
          <p:nvPr/>
        </p:nvSpPr>
        <p:spPr>
          <a:xfrm>
            <a:off x="88200" y="1594467"/>
            <a:ext cx="3021713" cy="8525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內容版面配置區 2">
            <a:extLst>
              <a:ext uri="{FF2B5EF4-FFF2-40B4-BE49-F238E27FC236}">
                <a16:creationId xmlns:a16="http://schemas.microsoft.com/office/drawing/2014/main" id="{D7EC9EB0-C411-43D6-8C5E-C29E8A0A2053}"/>
              </a:ext>
            </a:extLst>
          </p:cNvPr>
          <p:cNvSpPr txBox="1">
            <a:spLocks/>
          </p:cNvSpPr>
          <p:nvPr/>
        </p:nvSpPr>
        <p:spPr>
          <a:xfrm>
            <a:off x="72907" y="1600204"/>
            <a:ext cx="3332742" cy="88537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/>
              <a:t>Microprocessor </a:t>
            </a:r>
          </a:p>
          <a:p>
            <a:pPr marL="0" indent="0">
              <a:buNone/>
            </a:pPr>
            <a:r>
              <a:rPr lang="en-US" altLang="zh-TW" sz="2400" dirty="0"/>
              <a:t>   AT89S52</a:t>
            </a:r>
          </a:p>
        </p:txBody>
      </p:sp>
    </p:spTree>
    <p:extLst>
      <p:ext uri="{BB962C8B-B14F-4D97-AF65-F5344CB8AC3E}">
        <p14:creationId xmlns:p14="http://schemas.microsoft.com/office/powerpoint/2010/main" val="3311517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76FC51-8122-41D3-B5FC-F6B4AF6FD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Programming code in POV module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F4C4E7F-4A1F-4826-8116-4F457EA79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" r="-279" b="25015"/>
          <a:stretch/>
        </p:blipFill>
        <p:spPr>
          <a:xfrm>
            <a:off x="447954" y="1563329"/>
            <a:ext cx="3915756" cy="5045402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011FE2-25BA-48CD-90CC-26587253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A7A1F5E-79C7-4A07-9C51-AF1C2BFD0F63}"/>
              </a:ext>
            </a:extLst>
          </p:cNvPr>
          <p:cNvSpPr txBox="1">
            <a:spLocks/>
          </p:cNvSpPr>
          <p:nvPr/>
        </p:nvSpPr>
        <p:spPr>
          <a:xfrm>
            <a:off x="4363710" y="1716429"/>
            <a:ext cx="4837472" cy="431400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/>
              <a:t>Remove 8051 on the board first</a:t>
            </a:r>
          </a:p>
          <a:p>
            <a:r>
              <a:rPr lang="en-US" altLang="zh-TW" sz="2400" dirty="0"/>
              <a:t>Connect 5 pins to programming board </a:t>
            </a:r>
          </a:p>
          <a:p>
            <a:r>
              <a:rPr lang="en-US" altLang="zh-TW" sz="2400" dirty="0"/>
              <a:t>MOSI (P1_5)</a:t>
            </a:r>
          </a:p>
          <a:p>
            <a:r>
              <a:rPr lang="en-US" altLang="zh-TW" sz="2400" dirty="0"/>
              <a:t>MISO (P1_6)</a:t>
            </a:r>
          </a:p>
          <a:p>
            <a:r>
              <a:rPr lang="en-US" altLang="zh-TW" sz="2400" dirty="0"/>
              <a:t>SCK (P1_7)</a:t>
            </a:r>
          </a:p>
          <a:p>
            <a:r>
              <a:rPr lang="en-US" altLang="zh-TW" sz="2400" dirty="0"/>
              <a:t>RST</a:t>
            </a:r>
          </a:p>
          <a:p>
            <a:r>
              <a:rPr lang="en-US" altLang="zh-TW" sz="2400" dirty="0"/>
              <a:t>GND</a:t>
            </a:r>
          </a:p>
          <a:p>
            <a:r>
              <a:rPr lang="en-US" altLang="zh-TW" sz="2400" dirty="0"/>
              <a:t>Using 89S51</a:t>
            </a:r>
            <a:r>
              <a:rPr lang="zh-TW" altLang="en-US" sz="2400" dirty="0"/>
              <a:t>燒錄軟體 </a:t>
            </a:r>
            <a:r>
              <a:rPr lang="en-US" altLang="zh-TW" sz="2400" dirty="0"/>
              <a:t>to program code (same as before) </a:t>
            </a:r>
          </a:p>
        </p:txBody>
      </p:sp>
    </p:spTree>
    <p:extLst>
      <p:ext uri="{BB962C8B-B14F-4D97-AF65-F5344CB8AC3E}">
        <p14:creationId xmlns:p14="http://schemas.microsoft.com/office/powerpoint/2010/main" val="1013723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813B7D-3313-4668-92AB-11ED0680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Assemble the Components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FA8EC6-617B-4554-A0B6-AC28B55B0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107000"/>
            </a:pPr>
            <a:r>
              <a:rPr lang="en-US" altLang="zh-TW" dirty="0"/>
              <a:t>Step1: Fasten </a:t>
            </a:r>
            <a:r>
              <a:rPr lang="en-US" altLang="zh-TW" dirty="0" err="1"/>
              <a:t>velcro</a:t>
            </a:r>
            <a:r>
              <a:rPr lang="en-US" altLang="zh-TW" dirty="0"/>
              <a:t> strap on the POV module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42635F-F81E-40FC-8000-8FB01C35D9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5A8609F-513D-4ACE-97B9-E15A453A62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11401" r="-466" b="20538"/>
          <a:stretch/>
        </p:blipFill>
        <p:spPr>
          <a:xfrm>
            <a:off x="2634200" y="2053846"/>
            <a:ext cx="3875600" cy="466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13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D4D133-5583-4192-8FA7-AF7B1414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Assemble the Components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ED2567-CA00-4F5C-A039-95692A01F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107000"/>
            </a:pPr>
            <a:r>
              <a:rPr lang="en-US" altLang="zh-TW" dirty="0"/>
              <a:t>Step2 : Fasten the POV module on plastic bottle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4CFC2B-8883-4500-ACAB-65AB615663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6B9C9D1-C863-4951-8281-C21A088FFD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16775" r="17542" b="11936"/>
          <a:stretch/>
        </p:blipFill>
        <p:spPr>
          <a:xfrm>
            <a:off x="1526288" y="2288475"/>
            <a:ext cx="2819209" cy="4348935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06DF20B-6ECB-488A-B493-95E00F5CB9EB}"/>
              </a:ext>
            </a:extLst>
          </p:cNvPr>
          <p:cNvSpPr txBox="1">
            <a:spLocks/>
          </p:cNvSpPr>
          <p:nvPr/>
        </p:nvSpPr>
        <p:spPr>
          <a:xfrm>
            <a:off x="5152718" y="3895467"/>
            <a:ext cx="3362632" cy="8615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rgbClr val="FF0000"/>
                </a:solidFill>
              </a:rPr>
              <a:t>Remember to fasten    tightly for safety!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9C14AB5-25CE-4FD8-A604-83FFE1D7EBD3}"/>
              </a:ext>
            </a:extLst>
          </p:cNvPr>
          <p:cNvCxnSpPr>
            <a:cxnSpLocks/>
          </p:cNvCxnSpPr>
          <p:nvPr/>
        </p:nvCxnSpPr>
        <p:spPr>
          <a:xfrm flipV="1">
            <a:off x="3850547" y="4284406"/>
            <a:ext cx="1302171" cy="17853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561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4B98E4-341B-4A73-8CFD-22147B1E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Assemble the Components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F8ACE3-48D9-44CB-9ED3-2DA6ABEB6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107000"/>
            </a:pPr>
            <a:r>
              <a:rPr lang="en-US" altLang="zh-TW" dirty="0"/>
              <a:t>Step3: Connect power supply and POV module through switching adaptor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BEDDE0-24D1-49A8-9A6C-4A4F7B6EA2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28</a:t>
            </a:fld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29B83795-21CA-41D2-A201-664D3092E959}"/>
              </a:ext>
            </a:extLst>
          </p:cNvPr>
          <p:cNvGrpSpPr/>
          <p:nvPr/>
        </p:nvGrpSpPr>
        <p:grpSpPr>
          <a:xfrm>
            <a:off x="3091704" y="2679679"/>
            <a:ext cx="2960591" cy="3859234"/>
            <a:chOff x="862552" y="2902591"/>
            <a:chExt cx="2960591" cy="3859234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3C9DCB44-F743-4404-AECE-E8A90613BF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1039" b="25914"/>
            <a:stretch/>
          </p:blipFill>
          <p:spPr>
            <a:xfrm>
              <a:off x="862552" y="2902591"/>
              <a:ext cx="2960591" cy="3859234"/>
            </a:xfrm>
            <a:prstGeom prst="rect">
              <a:avLst/>
            </a:prstGeom>
          </p:spPr>
        </p:pic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74522CCD-0730-46B0-9A61-E6756C75D626}"/>
                </a:ext>
              </a:extLst>
            </p:cNvPr>
            <p:cNvSpPr/>
            <p:nvPr/>
          </p:nvSpPr>
          <p:spPr>
            <a:xfrm>
              <a:off x="1222833" y="4982222"/>
              <a:ext cx="907971" cy="732889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91785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A12675-5BD2-4444-A624-91865033C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Alert LED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5711B2C-50A9-4FF0-AD0B-EB2F32C3D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84" y="1544157"/>
            <a:ext cx="3711537" cy="4948717"/>
          </a:xfr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800F7EFE-FD05-4518-898F-F16B358A89E4}"/>
              </a:ext>
            </a:extLst>
          </p:cNvPr>
          <p:cNvSpPr/>
          <p:nvPr/>
        </p:nvSpPr>
        <p:spPr>
          <a:xfrm>
            <a:off x="2175791" y="3050838"/>
            <a:ext cx="988142" cy="81853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835D36-7644-4FA0-A63A-6D23BB275312}"/>
              </a:ext>
            </a:extLst>
          </p:cNvPr>
          <p:cNvSpPr txBox="1">
            <a:spLocks/>
          </p:cNvSpPr>
          <p:nvPr/>
        </p:nvSpPr>
        <p:spPr>
          <a:xfrm>
            <a:off x="4240282" y="1546391"/>
            <a:ext cx="4572000" cy="2487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7000"/>
            </a:pPr>
            <a:r>
              <a:rPr lang="en-US" altLang="zh-TW" dirty="0"/>
              <a:t>LED1 will light up if the module is powered up</a:t>
            </a:r>
            <a:endParaRPr lang="zh-TW" altLang="en-US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E13BD54-569D-4D9B-A465-1D5083AB2137}"/>
              </a:ext>
            </a:extLst>
          </p:cNvPr>
          <p:cNvSpPr/>
          <p:nvPr/>
        </p:nvSpPr>
        <p:spPr>
          <a:xfrm>
            <a:off x="2175791" y="5034188"/>
            <a:ext cx="988142" cy="81853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554C1AB-9C05-448B-B98B-84C93E1224E5}"/>
              </a:ext>
            </a:extLst>
          </p:cNvPr>
          <p:cNvGrpSpPr/>
          <p:nvPr/>
        </p:nvGrpSpPr>
        <p:grpSpPr>
          <a:xfrm>
            <a:off x="4071221" y="2654897"/>
            <a:ext cx="4654816" cy="3690061"/>
            <a:chOff x="4071221" y="2654897"/>
            <a:chExt cx="4654816" cy="3690061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93A2193-692D-449D-8A39-69914FA460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59" t="9851" r="14395" b="13435"/>
            <a:stretch/>
          </p:blipFill>
          <p:spPr>
            <a:xfrm>
              <a:off x="4071221" y="2654897"/>
              <a:ext cx="3831241" cy="3690061"/>
            </a:xfrm>
            <a:prstGeom prst="rect">
              <a:avLst/>
            </a:prstGeom>
          </p:spPr>
        </p:pic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E665A89B-25A5-467B-9899-F0D897D643F6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7646526" y="2988170"/>
              <a:ext cx="343120" cy="977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36AB577F-A8DF-4766-BFCD-A4CC9F1ADBB8}"/>
                </a:ext>
              </a:extLst>
            </p:cNvPr>
            <p:cNvCxnSpPr>
              <a:cxnSpLocks/>
              <a:endCxn id="24" idx="3"/>
            </p:cNvCxnSpPr>
            <p:nvPr/>
          </p:nvCxnSpPr>
          <p:spPr>
            <a:xfrm>
              <a:off x="7646526" y="3574378"/>
              <a:ext cx="343120" cy="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BF726A97-D8BD-4BFD-BBB0-A96C8BD93B6E}"/>
                </a:ext>
              </a:extLst>
            </p:cNvPr>
            <p:cNvSpPr/>
            <p:nvPr/>
          </p:nvSpPr>
          <p:spPr>
            <a:xfrm>
              <a:off x="7863301" y="2866762"/>
              <a:ext cx="862736" cy="82902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內容版面配置區 2">
              <a:extLst>
                <a:ext uri="{FF2B5EF4-FFF2-40B4-BE49-F238E27FC236}">
                  <a16:creationId xmlns:a16="http://schemas.microsoft.com/office/drawing/2014/main" id="{471E9C00-6D8E-4588-81CC-E18AFA00BB37}"/>
                </a:ext>
              </a:extLst>
            </p:cNvPr>
            <p:cNvSpPr txBox="1">
              <a:spLocks/>
            </p:cNvSpPr>
            <p:nvPr/>
          </p:nvSpPr>
          <p:spPr>
            <a:xfrm>
              <a:off x="7829638" y="3113118"/>
              <a:ext cx="896399" cy="369332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zh-TW" sz="2000" b="1" dirty="0"/>
                <a:t>Motor</a:t>
              </a:r>
              <a:endParaRPr lang="zh-TW" altLang="en-US" sz="2000" b="1" dirty="0"/>
            </a:p>
          </p:txBody>
        </p:sp>
      </p:grpSp>
      <p:sp>
        <p:nvSpPr>
          <p:cNvPr id="17" name="投影片編號版面配置區 3">
            <a:extLst>
              <a:ext uri="{FF2B5EF4-FFF2-40B4-BE49-F238E27FC236}">
                <a16:creationId xmlns:a16="http://schemas.microsoft.com/office/drawing/2014/main" id="{FCA47AD9-09C3-450D-A867-8B0AAD472C9E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E709601E-3B4E-4928-8AF0-88D45E7837C6}" type="slidenum">
              <a:rPr lang="zh-TW" altLang="en-US" smtClean="0"/>
              <a:pPr/>
              <a:t>29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74207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0D4CD885-9868-44E7-83CD-DF5C514686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94" b="12033"/>
          <a:stretch/>
        </p:blipFill>
        <p:spPr>
          <a:xfrm>
            <a:off x="5181860" y="3695639"/>
            <a:ext cx="3175046" cy="297373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1A522A3-C0E1-46DE-B7AB-204B8803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Alert LED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AEE152-980B-49B1-8D23-B56FB379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30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6192A1C1-AA32-4AAA-B658-48C83379D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84" r="9252" b="15097"/>
          <a:stretch/>
        </p:blipFill>
        <p:spPr>
          <a:xfrm>
            <a:off x="628650" y="1497330"/>
            <a:ext cx="4037942" cy="5095875"/>
          </a:xfr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47D1A65B-8267-49F2-B745-5B4B6FB8863F}"/>
              </a:ext>
            </a:extLst>
          </p:cNvPr>
          <p:cNvSpPr/>
          <p:nvPr/>
        </p:nvSpPr>
        <p:spPr>
          <a:xfrm>
            <a:off x="2647621" y="2131555"/>
            <a:ext cx="988142" cy="81853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80DE74B0-FD38-4754-A887-F81B40E067C4}"/>
              </a:ext>
            </a:extLst>
          </p:cNvPr>
          <p:cNvSpPr txBox="1">
            <a:spLocks/>
          </p:cNvSpPr>
          <p:nvPr/>
        </p:nvSpPr>
        <p:spPr>
          <a:xfrm>
            <a:off x="4836630" y="1563888"/>
            <a:ext cx="4572000" cy="2487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7000"/>
            </a:pPr>
            <a:r>
              <a:rPr lang="en-US" altLang="zh-TW" dirty="0"/>
              <a:t>LED2 will light up if the motor switch is turned on</a:t>
            </a:r>
          </a:p>
          <a:p>
            <a:r>
              <a:rPr lang="en-US" altLang="zh-TW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 careful of your hands</a:t>
            </a:r>
            <a:r>
              <a:rPr lang="en-US" altLang="zh-TW" dirty="0"/>
              <a:t>! The motor is turning now.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DEEAF708-51C9-4ED9-8FDE-9234E12E8D56}"/>
              </a:ext>
            </a:extLst>
          </p:cNvPr>
          <p:cNvSpPr/>
          <p:nvPr/>
        </p:nvSpPr>
        <p:spPr>
          <a:xfrm>
            <a:off x="1382700" y="5072875"/>
            <a:ext cx="1040459" cy="90120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C60AC10-4044-4C41-8F15-B150F57FE333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2423159" y="4588778"/>
            <a:ext cx="4372614" cy="9347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圖片 22">
            <a:extLst>
              <a:ext uri="{FF2B5EF4-FFF2-40B4-BE49-F238E27FC236}">
                <a16:creationId xmlns:a16="http://schemas.microsoft.com/office/drawing/2014/main" id="{6562A7B4-AB0A-40D0-BFCA-D12FE952C6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225" b="89511"/>
          <a:stretch/>
        </p:blipFill>
        <p:spPr>
          <a:xfrm>
            <a:off x="6782554" y="3981408"/>
            <a:ext cx="340076" cy="212925"/>
          </a:xfrm>
          <a:prstGeom prst="rect">
            <a:avLst/>
          </a:prstGeom>
        </p:spPr>
      </p:pic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95CCDA73-8CC2-43C3-BE01-4E87713F9F9A}"/>
              </a:ext>
            </a:extLst>
          </p:cNvPr>
          <p:cNvCxnSpPr>
            <a:cxnSpLocks/>
          </p:cNvCxnSpPr>
          <p:nvPr/>
        </p:nvCxnSpPr>
        <p:spPr>
          <a:xfrm>
            <a:off x="6795773" y="4498817"/>
            <a:ext cx="445685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162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F41865B9-1BAE-4726-85D9-3D337DBB94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28" r="11923" b="17742"/>
          <a:stretch/>
        </p:blipFill>
        <p:spPr>
          <a:xfrm>
            <a:off x="628650" y="2270910"/>
            <a:ext cx="2796626" cy="397567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649B180-9535-4D78-9482-3A16B87AC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POV Clock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6583F0-55A2-4700-AA79-CD5F33C90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SzPct val="107000"/>
            </a:pPr>
            <a:r>
              <a:rPr lang="en-US" altLang="zh-TW" dirty="0"/>
              <a:t>Using hall sensor to record the time per spin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270BA2-002E-452C-A60D-0BE5BB7716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A71794BB-C1B6-42A2-897E-EA617CB187CB}"/>
              </a:ext>
            </a:extLst>
          </p:cNvPr>
          <p:cNvSpPr/>
          <p:nvPr/>
        </p:nvSpPr>
        <p:spPr>
          <a:xfrm>
            <a:off x="1633129" y="3926049"/>
            <a:ext cx="833236" cy="79916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2215373-302B-4C03-9199-77DB85E7EC6A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2541864" y="3843148"/>
            <a:ext cx="1548355" cy="2926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8AAF38DC-E073-45BB-A084-829D30A457EE}"/>
              </a:ext>
            </a:extLst>
          </p:cNvPr>
          <p:cNvSpPr txBox="1">
            <a:spLocks/>
          </p:cNvSpPr>
          <p:nvPr/>
        </p:nvSpPr>
        <p:spPr>
          <a:xfrm>
            <a:off x="4090219" y="3215284"/>
            <a:ext cx="4722558" cy="125572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LED1 will light up whenever the hall sensor pass through the magnet.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8989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E76914-9592-4AD8-A23E-5AC05AA6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POV Clock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43BBF8-FDA0-46A2-94BA-24D76AE1F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97" y="1411686"/>
            <a:ext cx="7886700" cy="4847018"/>
          </a:xfrm>
        </p:spPr>
        <p:txBody>
          <a:bodyPr/>
          <a:lstStyle/>
          <a:p>
            <a:pPr>
              <a:buSzPct val="107000"/>
            </a:pPr>
            <a:r>
              <a:rPr lang="en-US" altLang="zh-TW" dirty="0"/>
              <a:t>P3_2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8BD87-2EC3-43DF-B658-757C281E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601E-3B4E-4928-8AF0-88D45E7837C6}" type="slidenum">
              <a:rPr lang="zh-TW" altLang="en-US" smtClean="0"/>
              <a:pPr/>
              <a:t>32</a:t>
            </a:fld>
            <a:endParaRPr lang="zh-TW" altLang="en-US"/>
          </a:p>
        </p:txBody>
      </p: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D3FDBFFE-DAED-4D46-8586-8DBE5CF48925}"/>
              </a:ext>
            </a:extLst>
          </p:cNvPr>
          <p:cNvCxnSpPr>
            <a:cxnSpLocks/>
          </p:cNvCxnSpPr>
          <p:nvPr/>
        </p:nvCxnSpPr>
        <p:spPr>
          <a:xfrm>
            <a:off x="781665" y="2696348"/>
            <a:ext cx="1393722" cy="585766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7990BE5A-44B2-4435-885F-3F37269DE0B0}"/>
              </a:ext>
            </a:extLst>
          </p:cNvPr>
          <p:cNvCxnSpPr>
            <a:cxnSpLocks/>
          </p:cNvCxnSpPr>
          <p:nvPr/>
        </p:nvCxnSpPr>
        <p:spPr>
          <a:xfrm flipV="1">
            <a:off x="2175387" y="2696348"/>
            <a:ext cx="700548" cy="585767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198AE944-40C8-42D2-A0CF-F034A3FC89F8}"/>
              </a:ext>
            </a:extLst>
          </p:cNvPr>
          <p:cNvCxnSpPr>
            <a:cxnSpLocks/>
          </p:cNvCxnSpPr>
          <p:nvPr/>
        </p:nvCxnSpPr>
        <p:spPr>
          <a:xfrm flipV="1">
            <a:off x="7439738" y="2696348"/>
            <a:ext cx="777876" cy="612059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接點: 肘形 32">
            <a:extLst>
              <a:ext uri="{FF2B5EF4-FFF2-40B4-BE49-F238E27FC236}">
                <a16:creationId xmlns:a16="http://schemas.microsoft.com/office/drawing/2014/main" id="{AFF1FEED-1A6F-4CC2-A671-69FA017E882B}"/>
              </a:ext>
            </a:extLst>
          </p:cNvPr>
          <p:cNvCxnSpPr>
            <a:cxnSpLocks/>
          </p:cNvCxnSpPr>
          <p:nvPr/>
        </p:nvCxnSpPr>
        <p:spPr>
          <a:xfrm>
            <a:off x="6079099" y="2696348"/>
            <a:ext cx="1511709" cy="612059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479D10F4-E6B9-474D-9CCF-F4777CF7EEB8}"/>
              </a:ext>
            </a:extLst>
          </p:cNvPr>
          <p:cNvCxnSpPr>
            <a:cxnSpLocks/>
          </p:cNvCxnSpPr>
          <p:nvPr/>
        </p:nvCxnSpPr>
        <p:spPr>
          <a:xfrm>
            <a:off x="2816942" y="2696348"/>
            <a:ext cx="3262157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1E30EAC6-8B0F-4410-8FBD-87C38D40F099}"/>
              </a:ext>
            </a:extLst>
          </p:cNvPr>
          <p:cNvCxnSpPr>
            <a:cxnSpLocks/>
          </p:cNvCxnSpPr>
          <p:nvPr/>
        </p:nvCxnSpPr>
        <p:spPr>
          <a:xfrm flipH="1" flipV="1">
            <a:off x="1482213" y="2530722"/>
            <a:ext cx="5390535" cy="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54039CA4-AFFF-46E5-845E-25C4DC8F0AD7}"/>
              </a:ext>
            </a:extLst>
          </p:cNvPr>
          <p:cNvSpPr/>
          <p:nvPr/>
        </p:nvSpPr>
        <p:spPr>
          <a:xfrm>
            <a:off x="3017547" y="2036576"/>
            <a:ext cx="2319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the time per spin</a:t>
            </a:r>
            <a:endParaRPr lang="zh-TW" altLang="en-US" sz="2400" dirty="0"/>
          </a:p>
        </p:txBody>
      </p: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72F53E8F-78D1-4B44-92F2-D8E1114EC758}"/>
              </a:ext>
            </a:extLst>
          </p:cNvPr>
          <p:cNvCxnSpPr>
            <a:cxnSpLocks/>
          </p:cNvCxnSpPr>
          <p:nvPr/>
        </p:nvCxnSpPr>
        <p:spPr>
          <a:xfrm flipH="1">
            <a:off x="1522771" y="3575886"/>
            <a:ext cx="1039760" cy="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4E55C5E6-4216-45F7-9F29-441857339D8F}"/>
                  </a:ext>
                </a:extLst>
              </p:cNvPr>
              <p:cNvSpPr/>
              <p:nvPr/>
            </p:nvSpPr>
            <p:spPr>
              <a:xfrm>
                <a:off x="229040" y="3710607"/>
                <a:ext cx="4184672" cy="405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zh-TW" sz="2000" dirty="0"/>
                  <a:t> time pass through magnet 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4E55C5E6-4216-45F7-9F29-441857339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40" y="3710607"/>
                <a:ext cx="4184672" cy="405624"/>
              </a:xfrm>
              <a:prstGeom prst="rect">
                <a:avLst/>
              </a:prstGeom>
              <a:blipFill>
                <a:blip r:embed="rId2"/>
                <a:stretch>
                  <a:fillRect l="-1603" t="-7576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4F05BCA6-EA2D-45E2-AE91-755F2E47906F}"/>
                  </a:ext>
                </a:extLst>
              </p:cNvPr>
              <p:cNvSpPr/>
              <p:nvPr/>
            </p:nvSpPr>
            <p:spPr>
              <a:xfrm>
                <a:off x="4448020" y="3704620"/>
                <a:ext cx="4739503" cy="405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altLang="zh-TW" sz="2000" dirty="0"/>
                  <a:t> time pass through magnet 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4F05BCA6-EA2D-45E2-AE91-755F2E4790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020" y="3704620"/>
                <a:ext cx="4739503" cy="405624"/>
              </a:xfrm>
              <a:prstGeom prst="rect">
                <a:avLst/>
              </a:prstGeom>
              <a:blipFill>
                <a:blip r:embed="rId3"/>
                <a:stretch>
                  <a:fillRect l="-1416" t="-7576" r="-386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A1AB5D92-3A06-4E65-B0E1-1AECBC179FEC}"/>
              </a:ext>
            </a:extLst>
          </p:cNvPr>
          <p:cNvCxnSpPr>
            <a:cxnSpLocks/>
          </p:cNvCxnSpPr>
          <p:nvPr/>
        </p:nvCxnSpPr>
        <p:spPr>
          <a:xfrm flipH="1">
            <a:off x="6805556" y="3575886"/>
            <a:ext cx="106833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內容版面配置區 2">
            <a:extLst>
              <a:ext uri="{FF2B5EF4-FFF2-40B4-BE49-F238E27FC236}">
                <a16:creationId xmlns:a16="http://schemas.microsoft.com/office/drawing/2014/main" id="{DB7B0419-B4D1-43E0-9FB1-5C65DB2F8D76}"/>
              </a:ext>
            </a:extLst>
          </p:cNvPr>
          <p:cNvSpPr txBox="1">
            <a:spLocks/>
          </p:cNvSpPr>
          <p:nvPr/>
        </p:nvSpPr>
        <p:spPr>
          <a:xfrm>
            <a:off x="628649" y="4494442"/>
            <a:ext cx="7588965" cy="2129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7000"/>
            </a:pPr>
            <a:r>
              <a:rPr lang="en-US" altLang="zh-TW" dirty="0"/>
              <a:t>Using timer to record time between 2 passes.</a:t>
            </a:r>
          </a:p>
          <a:p>
            <a:pPr>
              <a:buSzPct val="107000"/>
            </a:pPr>
            <a:r>
              <a:rPr lang="en-US" altLang="zh-TW" dirty="0"/>
              <a:t>Determine the position where you want the led light up by calculating the timing.</a:t>
            </a:r>
          </a:p>
        </p:txBody>
      </p:sp>
    </p:spTree>
    <p:extLst>
      <p:ext uri="{BB962C8B-B14F-4D97-AF65-F5344CB8AC3E}">
        <p14:creationId xmlns:p14="http://schemas.microsoft.com/office/powerpoint/2010/main" val="113588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1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ct val="107000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https://www.keil.com/dd/docs/datashts/atmel/at89s51_ds.pdf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https://www.keil.com/dd/docs/datashts/atmel/at89s52_ds.pdf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https://www.engineersgarage.com/tutorials/</a:t>
            </a:r>
            <a:r>
              <a:rPr lang="en-US" u="sng">
                <a:solidFill>
                  <a:schemeClr val="hlink"/>
                </a:solidFill>
                <a:hlinkClick r:id="rId3"/>
              </a:rPr>
              <a:t>89s51-52-isp-programmer-basics/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54" name="Google Shape;354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1194</Words>
  <Application>Microsoft Office PowerPoint</Application>
  <PresentationFormat>如螢幕大小 (4:3)</PresentationFormat>
  <Paragraphs>258</Paragraphs>
  <Slides>33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9" baseType="lpstr">
      <vt:lpstr>新細明體</vt:lpstr>
      <vt:lpstr>Arial</vt:lpstr>
      <vt:lpstr>Calibri</vt:lpstr>
      <vt:lpstr>Cambria Math</vt:lpstr>
      <vt:lpstr>Vrinda</vt:lpstr>
      <vt:lpstr>Office 佈景主題</vt:lpstr>
      <vt:lpstr>Microprocessor Systems</vt:lpstr>
      <vt:lpstr>Outline </vt:lpstr>
      <vt:lpstr>In System Programming (ISP)</vt:lpstr>
      <vt:lpstr>Burner / Programmer</vt:lpstr>
      <vt:lpstr>In System Programming (ISP)</vt:lpstr>
      <vt:lpstr>8051 Memory I/O</vt:lpstr>
      <vt:lpstr>8051 Memory I/O</vt:lpstr>
      <vt:lpstr>8051 Memory I/O</vt:lpstr>
      <vt:lpstr>Serial Programming Algorithm</vt:lpstr>
      <vt:lpstr>Serial Programming Algorithm</vt:lpstr>
      <vt:lpstr>Programming Enable</vt:lpstr>
      <vt:lpstr>Programming Enable</vt:lpstr>
      <vt:lpstr>sendbyte()</vt:lpstr>
      <vt:lpstr>sendbit()</vt:lpstr>
      <vt:lpstr>Read Program Memory (Byte)</vt:lpstr>
      <vt:lpstr>Read Program Memory</vt:lpstr>
      <vt:lpstr>sread()</vt:lpstr>
      <vt:lpstr>read()</vt:lpstr>
      <vt:lpstr>Write Program Memory (Byte)</vt:lpstr>
      <vt:lpstr>Write Program Memory</vt:lpstr>
      <vt:lpstr>Persistence of Vision Clock (POV clock)</vt:lpstr>
      <vt:lpstr>Required Components  </vt:lpstr>
      <vt:lpstr>Required Components </vt:lpstr>
      <vt:lpstr>POV Clock Module</vt:lpstr>
      <vt:lpstr>Programming code in POV module</vt:lpstr>
      <vt:lpstr>Assemble the Components</vt:lpstr>
      <vt:lpstr>Assemble the Components</vt:lpstr>
      <vt:lpstr>Assemble the Components</vt:lpstr>
      <vt:lpstr>Alert LED</vt:lpstr>
      <vt:lpstr>Alert LED</vt:lpstr>
      <vt:lpstr>POV Clock</vt:lpstr>
      <vt:lpstr>POV Clock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Microprocessor Systems</dc:title>
  <dc:creator>n</dc:creator>
  <cp:lastModifiedBy>徐振維</cp:lastModifiedBy>
  <cp:revision>52</cp:revision>
  <dcterms:created xsi:type="dcterms:W3CDTF">2015-02-24T08:12:54Z</dcterms:created>
  <dcterms:modified xsi:type="dcterms:W3CDTF">2023-12-06T05:41:19Z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0x01010079B68CF223A7644AB6D9E84706076924</vt:lpwstr>
  </property>
</Properties>
</file>