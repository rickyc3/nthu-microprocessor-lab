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gVDZf3nxU6MRRH4iDN4TvO0Tqk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2050640-4A7E-47B1-A43F-CA128A589E7A}">
  <a:tblStyle styleId="{42050640-4A7E-47B1-A43F-CA128A589E7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p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投影片" type="title">
  <p:cSld name="TITLE">
    <p:spTree>
      <p:nvGrpSpPr>
        <p:cNvPr id="15" name="Shape 15"/>
        <p:cNvGrpSpPr/>
        <p:nvPr/>
      </p:nvGrpSpPr>
      <p:grpSpPr>
        <a:xfrm>
          <a:off x="0" y="0"/>
          <a:ext cx="0" cy="0"/>
          <a:chOff x="0" y="0"/>
          <a:chExt cx="0" cy="0"/>
        </a:xfrm>
      </p:grpSpPr>
      <p:sp>
        <p:nvSpPr>
          <p:cNvPr id="16" name="Google Shape;16;p27"/>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7"/>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物件" type="obj">
  <p:cSld name="OBJECT">
    <p:spTree>
      <p:nvGrpSpPr>
        <p:cNvPr id="21" name="Shape 21"/>
        <p:cNvGrpSpPr/>
        <p:nvPr/>
      </p:nvGrpSpPr>
      <p:grpSpPr>
        <a:xfrm>
          <a:off x="0" y="0"/>
          <a:ext cx="0" cy="0"/>
          <a:chOff x="0" y="0"/>
          <a:chExt cx="0" cy="0"/>
        </a:xfrm>
      </p:grpSpPr>
      <p:sp>
        <p:nvSpPr>
          <p:cNvPr id="22" name="Google Shape;22;p2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
        <p:nvSpPr>
          <p:cNvPr id="27" name="Google Shape;27;p28"/>
          <p:cNvSpPr/>
          <p:nvPr/>
        </p:nvSpPr>
        <p:spPr>
          <a:xfrm>
            <a:off x="636671" y="1342670"/>
            <a:ext cx="7886700" cy="62390"/>
          </a:xfrm>
          <a:prstGeom prst="rect">
            <a:avLst/>
          </a:prstGeom>
          <a:solidFill>
            <a:srgbClr val="F3D2F4">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章節標題" type="secHead">
  <p:cSld name="SECTION_HEADER">
    <p:spTree>
      <p:nvGrpSpPr>
        <p:cNvPr id="28" name="Shape 28"/>
        <p:cNvGrpSpPr/>
        <p:nvPr/>
      </p:nvGrpSpPr>
      <p:grpSpPr>
        <a:xfrm>
          <a:off x="0" y="0"/>
          <a:ext cx="0" cy="0"/>
          <a:chOff x="0" y="0"/>
          <a:chExt cx="0" cy="0"/>
        </a:xfrm>
      </p:grpSpPr>
      <p:sp>
        <p:nvSpPr>
          <p:cNvPr id="29" name="Google Shape;29;p29"/>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9"/>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2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兩項物件" type="twoObj">
  <p:cSld name="TWO_OBJECTS">
    <p:spTree>
      <p:nvGrpSpPr>
        <p:cNvPr id="34" name="Shape 34"/>
        <p:cNvGrpSpPr/>
        <p:nvPr/>
      </p:nvGrpSpPr>
      <p:grpSpPr>
        <a:xfrm>
          <a:off x="0" y="0"/>
          <a:ext cx="0" cy="0"/>
          <a:chOff x="0" y="0"/>
          <a:chExt cx="0" cy="0"/>
        </a:xfrm>
      </p:grpSpPr>
      <p:sp>
        <p:nvSpPr>
          <p:cNvPr id="35" name="Google Shape;35;p3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30"/>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0"/>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3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
        <p:nvSpPr>
          <p:cNvPr id="41" name="Google Shape;41;p30"/>
          <p:cNvSpPr/>
          <p:nvPr/>
        </p:nvSpPr>
        <p:spPr>
          <a:xfrm>
            <a:off x="636671" y="1342670"/>
            <a:ext cx="7886700" cy="62390"/>
          </a:xfrm>
          <a:prstGeom prst="rect">
            <a:avLst/>
          </a:prstGeom>
          <a:solidFill>
            <a:srgbClr val="F3D2F4">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 name="Google Shape;42;p30"/>
          <p:cNvSpPr/>
          <p:nvPr/>
        </p:nvSpPr>
        <p:spPr>
          <a:xfrm>
            <a:off x="7678553" y="254612"/>
            <a:ext cx="1144207" cy="1144207"/>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對" type="twoTxTwoObj">
  <p:cSld name="TWO_OBJECTS_WITH_TEXT">
    <p:spTree>
      <p:nvGrpSpPr>
        <p:cNvPr id="43" name="Shape 43"/>
        <p:cNvGrpSpPr/>
        <p:nvPr/>
      </p:nvGrpSpPr>
      <p:grpSpPr>
        <a:xfrm>
          <a:off x="0" y="0"/>
          <a:ext cx="0" cy="0"/>
          <a:chOff x="0" y="0"/>
          <a:chExt cx="0" cy="0"/>
        </a:xfrm>
      </p:grpSpPr>
      <p:sp>
        <p:nvSpPr>
          <p:cNvPr id="44" name="Google Shape;44;p31"/>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31"/>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31"/>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31"/>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31"/>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3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只有標題" type="titleOnly">
  <p:cSld name="TITLE_ONLY">
    <p:spTree>
      <p:nvGrpSpPr>
        <p:cNvPr id="52" name="Shape 52"/>
        <p:cNvGrpSpPr/>
        <p:nvPr/>
      </p:nvGrpSpPr>
      <p:grpSpPr>
        <a:xfrm>
          <a:off x="0" y="0"/>
          <a:ext cx="0" cy="0"/>
          <a:chOff x="0" y="0"/>
          <a:chExt cx="0" cy="0"/>
        </a:xfrm>
      </p:grpSpPr>
      <p:sp>
        <p:nvSpPr>
          <p:cNvPr id="53" name="Google Shape;53;p3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3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7" name="Shape 57"/>
        <p:cNvGrpSpPr/>
        <p:nvPr/>
      </p:nvGrpSpPr>
      <p:grpSpPr>
        <a:xfrm>
          <a:off x="0" y="0"/>
          <a:ext cx="0" cy="0"/>
          <a:chOff x="0" y="0"/>
          <a:chExt cx="0" cy="0"/>
        </a:xfrm>
      </p:grpSpPr>
      <p:sp>
        <p:nvSpPr>
          <p:cNvPr id="58" name="Google Shape;58;p3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標題的內容" type="objTx">
  <p:cSld name="OBJECT_WITH_CAPTION_TEXT">
    <p:spTree>
      <p:nvGrpSpPr>
        <p:cNvPr id="61" name="Shape 61"/>
        <p:cNvGrpSpPr/>
        <p:nvPr/>
      </p:nvGrpSpPr>
      <p:grpSpPr>
        <a:xfrm>
          <a:off x="0" y="0"/>
          <a:ext cx="0" cy="0"/>
          <a:chOff x="0" y="0"/>
          <a:chExt cx="0" cy="0"/>
        </a:xfrm>
      </p:grpSpPr>
      <p:sp>
        <p:nvSpPr>
          <p:cNvPr id="62" name="Google Shape;62;p34"/>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4"/>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4" name="Google Shape;64;p34"/>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標題的圖片" type="picTx">
  <p:cSld name="PICTURE_WITH_CAPTION_TEXT">
    <p:spTree>
      <p:nvGrpSpPr>
        <p:cNvPr id="68" name="Shape 68"/>
        <p:cNvGrpSpPr/>
        <p:nvPr/>
      </p:nvGrpSpPr>
      <p:grpSpPr>
        <a:xfrm>
          <a:off x="0" y="0"/>
          <a:ext cx="0" cy="0"/>
          <a:chOff x="0" y="0"/>
          <a:chExt cx="0" cy="0"/>
        </a:xfrm>
      </p:grpSpPr>
      <p:sp>
        <p:nvSpPr>
          <p:cNvPr id="69" name="Google Shape;69;p35"/>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5"/>
          <p:cNvSpPr/>
          <p:nvPr>
            <p:ph idx="2" type="pic"/>
          </p:nvPr>
        </p:nvSpPr>
        <p:spPr>
          <a:xfrm>
            <a:off x="3887391" y="987426"/>
            <a:ext cx="4629150" cy="4873625"/>
          </a:xfrm>
          <a:prstGeom prst="rect">
            <a:avLst/>
          </a:prstGeom>
          <a:noFill/>
          <a:ln>
            <a:noFill/>
          </a:ln>
        </p:spPr>
      </p:sp>
      <p:sp>
        <p:nvSpPr>
          <p:cNvPr id="71" name="Google Shape;71;p35"/>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3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直排文字" type="vertTx">
  <p:cSld name="VERTICAL_TEXT">
    <p:spTree>
      <p:nvGrpSpPr>
        <p:cNvPr id="75" name="Shape 75"/>
        <p:cNvGrpSpPr/>
        <p:nvPr/>
      </p:nvGrpSpPr>
      <p:grpSpPr>
        <a:xfrm>
          <a:off x="0" y="0"/>
          <a:ext cx="0" cy="0"/>
          <a:chOff x="0" y="0"/>
          <a:chExt cx="0" cy="0"/>
        </a:xfrm>
      </p:grpSpPr>
      <p:sp>
        <p:nvSpPr>
          <p:cNvPr id="76" name="Google Shape;76;p3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36"/>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3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直排標題及文字" type="vertTitleAndTx">
  <p:cSld name="VERTICAL_TITLE_AND_VERTICAL_TEXT">
    <p:spTree>
      <p:nvGrpSpPr>
        <p:cNvPr id="81" name="Shape 81"/>
        <p:cNvGrpSpPr/>
        <p:nvPr/>
      </p:nvGrpSpPr>
      <p:grpSpPr>
        <a:xfrm>
          <a:off x="0" y="0"/>
          <a:ext cx="0" cy="0"/>
          <a:chOff x="0" y="0"/>
          <a:chExt cx="0" cy="0"/>
        </a:xfrm>
      </p:grpSpPr>
      <p:sp>
        <p:nvSpPr>
          <p:cNvPr id="82" name="Google Shape;82;p37"/>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37"/>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3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2.png"/><Relationship Id="rId4"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5.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www.formosaos.url.tw/my8051/8051_mcu.html" TargetMode="External"/><Relationship Id="rId4" Type="http://schemas.openxmlformats.org/officeDocument/2006/relationships/hyperlink" Target="http://www.finetech.idv.tw/techdoc/8051serial/8051serial.ht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txBox="1"/>
          <p:nvPr>
            <p:ph type="ctrTitle"/>
          </p:nvPr>
        </p:nvSpPr>
        <p:spPr>
          <a:xfrm>
            <a:off x="438307" y="743925"/>
            <a:ext cx="8524324" cy="1735137"/>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Arial"/>
              <a:buNone/>
            </a:pPr>
            <a:r>
              <a:rPr b="1" lang="en-US">
                <a:latin typeface="Arial"/>
                <a:ea typeface="Arial"/>
                <a:cs typeface="Arial"/>
                <a:sym typeface="Arial"/>
              </a:rPr>
              <a:t>Microprocessor Systems</a:t>
            </a:r>
            <a:endParaRPr b="1">
              <a:latin typeface="Arial"/>
              <a:ea typeface="Arial"/>
              <a:cs typeface="Arial"/>
              <a:sym typeface="Arial"/>
            </a:endParaRPr>
          </a:p>
        </p:txBody>
      </p:sp>
      <p:sp>
        <p:nvSpPr>
          <p:cNvPr id="93" name="Google Shape;93;p1"/>
          <p:cNvSpPr txBox="1"/>
          <p:nvPr>
            <p:ph idx="1" type="subTitle"/>
          </p:nvPr>
        </p:nvSpPr>
        <p:spPr>
          <a:xfrm>
            <a:off x="510490" y="4360130"/>
            <a:ext cx="2971800" cy="165576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Prof. Ren-Shuo Liu</a:t>
            </a:r>
            <a:endParaRPr/>
          </a:p>
          <a:p>
            <a:pPr indent="0" lvl="0" marL="0" rtl="0" algn="l">
              <a:lnSpc>
                <a:spcPct val="90000"/>
              </a:lnSpc>
              <a:spcBef>
                <a:spcPts val="1000"/>
              </a:spcBef>
              <a:spcAft>
                <a:spcPts val="0"/>
              </a:spcAft>
              <a:buClr>
                <a:schemeClr val="dk1"/>
              </a:buClr>
              <a:buSzPts val="2400"/>
              <a:buNone/>
            </a:pPr>
            <a:r>
              <a:rPr lang="en-US"/>
              <a:t>NTHU EE</a:t>
            </a:r>
            <a:endParaRPr/>
          </a:p>
        </p:txBody>
      </p:sp>
      <p:sp>
        <p:nvSpPr>
          <p:cNvPr id="94" name="Google Shape;94;p1"/>
          <p:cNvSpPr txBox="1"/>
          <p:nvPr/>
        </p:nvSpPr>
        <p:spPr>
          <a:xfrm>
            <a:off x="394727" y="2718876"/>
            <a:ext cx="8888573" cy="140143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Arial"/>
              <a:buNone/>
            </a:pPr>
            <a:r>
              <a:rPr b="0" i="0" lang="en-US" sz="3600" u="none" cap="none" strike="noStrike">
                <a:solidFill>
                  <a:schemeClr val="dk1"/>
                </a:solidFill>
                <a:latin typeface="Calibri"/>
                <a:ea typeface="Calibri"/>
                <a:cs typeface="Calibri"/>
                <a:sym typeface="Calibri"/>
              </a:rPr>
              <a:t>Lab5 - Universal Asynchronous Receiver Transmitter</a:t>
            </a:r>
            <a:r>
              <a:rPr b="0" i="0" lang="en-US" sz="3200" u="none" cap="none" strike="noStrike">
                <a:solidFill>
                  <a:schemeClr val="dk1"/>
                </a:solidFill>
                <a:latin typeface="Calibri"/>
                <a:ea typeface="Calibri"/>
                <a:cs typeface="Calibri"/>
                <a:sym typeface="Calibri"/>
              </a:rPr>
              <a:t>	  (UART)</a:t>
            </a:r>
            <a:endParaRPr b="0" i="0" sz="3200" u="none" cap="none" strike="noStrike">
              <a:solidFill>
                <a:schemeClr val="dk1"/>
              </a:solidFill>
              <a:latin typeface="Calibri"/>
              <a:ea typeface="Calibri"/>
              <a:cs typeface="Calibri"/>
              <a:sym typeface="Calibri"/>
            </a:endParaRPr>
          </a:p>
        </p:txBody>
      </p:sp>
      <p:pic>
        <p:nvPicPr>
          <p:cNvPr id="95" name="Google Shape;95;p1"/>
          <p:cNvPicPr preferRelativeResize="0"/>
          <p:nvPr/>
        </p:nvPicPr>
        <p:blipFill rotWithShape="1">
          <a:blip r:embed="rId3">
            <a:alphaModFix/>
          </a:blip>
          <a:srcRect b="0" l="0" r="0" t="0"/>
          <a:stretch/>
        </p:blipFill>
        <p:spPr>
          <a:xfrm>
            <a:off x="4839014" y="3823857"/>
            <a:ext cx="4123617" cy="251701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ph idx="1" type="body"/>
          </p:nvPr>
        </p:nvSpPr>
        <p:spPr>
          <a:xfrm>
            <a:off x="628650" y="1694784"/>
            <a:ext cx="7949293"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Universal asynchronous receiver-transmitter (UART)   is an asynchronous serial communication.</a:t>
            </a:r>
            <a:endParaRPr/>
          </a:p>
          <a:p>
            <a:pPr indent="-228600" lvl="0" marL="228600" rtl="0" algn="l">
              <a:lnSpc>
                <a:spcPct val="90000"/>
              </a:lnSpc>
              <a:spcBef>
                <a:spcPts val="1000"/>
              </a:spcBef>
              <a:spcAft>
                <a:spcPts val="0"/>
              </a:spcAft>
              <a:buClr>
                <a:schemeClr val="dk1"/>
              </a:buClr>
              <a:buSzPts val="2800"/>
              <a:buChar char="•"/>
            </a:pPr>
            <a:r>
              <a:rPr lang="en-US"/>
              <a:t>The data format and transmission speeds are configurable.</a:t>
            </a:r>
            <a:endParaRPr/>
          </a:p>
          <a:p>
            <a:pPr indent="-228600" lvl="0" marL="228600" rtl="0" algn="l">
              <a:lnSpc>
                <a:spcPct val="90000"/>
              </a:lnSpc>
              <a:spcBef>
                <a:spcPts val="1000"/>
              </a:spcBef>
              <a:spcAft>
                <a:spcPts val="0"/>
              </a:spcAft>
              <a:buClr>
                <a:schemeClr val="dk1"/>
              </a:buClr>
              <a:buSzPts val="2800"/>
              <a:buChar char="•"/>
            </a:pPr>
            <a:r>
              <a:rPr lang="en-US"/>
              <a:t>Asynchronous communication doesn’t require the clock to be connected between nodes.</a:t>
            </a:r>
            <a:endParaRPr/>
          </a:p>
          <a:p>
            <a:pPr indent="-228600" lvl="0" marL="228600" rtl="0" algn="l">
              <a:lnSpc>
                <a:spcPct val="90000"/>
              </a:lnSpc>
              <a:spcBef>
                <a:spcPts val="1000"/>
              </a:spcBef>
              <a:spcAft>
                <a:spcPts val="0"/>
              </a:spcAft>
              <a:buClr>
                <a:schemeClr val="dk1"/>
              </a:buClr>
              <a:buSzPts val="2800"/>
              <a:buChar char="•"/>
            </a:pPr>
            <a:r>
              <a:rPr lang="en-US"/>
              <a:t>An UART has one connection for transmitted data, called TX, and another for received data, called RX.</a:t>
            </a:r>
            <a:endParaRPr sz="2800"/>
          </a:p>
        </p:txBody>
      </p:sp>
      <p:sp>
        <p:nvSpPr>
          <p:cNvPr id="101" name="Google Shape;101;p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102" name="Google Shape;102;p2"/>
          <p:cNvSpPr txBox="1"/>
          <p:nvPr/>
        </p:nvSpPr>
        <p:spPr>
          <a:xfrm>
            <a:off x="628650" y="365126"/>
            <a:ext cx="7886700" cy="1019429"/>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libri"/>
              <a:buNone/>
            </a:pPr>
            <a:r>
              <a:rPr b="1" i="0" lang="en-US" sz="4400" u="none" cap="none" strike="noStrike">
                <a:solidFill>
                  <a:schemeClr val="dk1"/>
                </a:solidFill>
                <a:latin typeface="Calibri"/>
                <a:ea typeface="Calibri"/>
                <a:cs typeface="Calibri"/>
                <a:sym typeface="Calibri"/>
              </a:rPr>
              <a:t>Introduction</a:t>
            </a:r>
            <a:endParaRPr b="0" i="0" sz="44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Communication</a:t>
            </a:r>
            <a:endParaRPr b="1"/>
          </a:p>
        </p:txBody>
      </p:sp>
      <p:sp>
        <p:nvSpPr>
          <p:cNvPr id="108" name="Google Shape;108;p3"/>
          <p:cNvSpPr txBox="1"/>
          <p:nvPr>
            <p:ph idx="1" type="body"/>
          </p:nvPr>
        </p:nvSpPr>
        <p:spPr>
          <a:xfrm>
            <a:off x="628650" y="1555659"/>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Communication may be </a:t>
            </a:r>
            <a:r>
              <a:rPr i="1" lang="en-US"/>
              <a:t>simplex</a:t>
            </a:r>
            <a:r>
              <a:rPr lang="en-US"/>
              <a:t> , </a:t>
            </a:r>
            <a:r>
              <a:rPr i="1" lang="en-US"/>
              <a:t>full duplex</a:t>
            </a:r>
            <a:r>
              <a:rPr lang="en-US"/>
              <a:t> or </a:t>
            </a:r>
            <a:r>
              <a:rPr i="1" lang="en-US"/>
              <a:t>half duplex</a:t>
            </a:r>
            <a:r>
              <a:rPr lang="en-US"/>
              <a:t> .</a:t>
            </a:r>
            <a:endParaRPr/>
          </a:p>
        </p:txBody>
      </p:sp>
      <p:sp>
        <p:nvSpPr>
          <p:cNvPr id="109" name="Google Shape;109;p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pic>
        <p:nvPicPr>
          <p:cNvPr id="110" name="Google Shape;110;p3"/>
          <p:cNvPicPr preferRelativeResize="0"/>
          <p:nvPr/>
        </p:nvPicPr>
        <p:blipFill rotWithShape="1">
          <a:blip r:embed="rId3">
            <a:alphaModFix/>
          </a:blip>
          <a:srcRect b="0" l="0" r="0" t="0"/>
          <a:stretch/>
        </p:blipFill>
        <p:spPr>
          <a:xfrm>
            <a:off x="171450" y="5360010"/>
            <a:ext cx="4400550" cy="1257300"/>
          </a:xfrm>
          <a:prstGeom prst="rect">
            <a:avLst/>
          </a:prstGeom>
          <a:noFill/>
          <a:ln>
            <a:noFill/>
          </a:ln>
        </p:spPr>
      </p:pic>
      <p:pic>
        <p:nvPicPr>
          <p:cNvPr id="111" name="Google Shape;111;p3"/>
          <p:cNvPicPr preferRelativeResize="0"/>
          <p:nvPr/>
        </p:nvPicPr>
        <p:blipFill rotWithShape="1">
          <a:blip r:embed="rId4">
            <a:alphaModFix/>
          </a:blip>
          <a:srcRect b="108" l="0" r="0" t="-1"/>
          <a:stretch/>
        </p:blipFill>
        <p:spPr>
          <a:xfrm>
            <a:off x="4586083" y="3429000"/>
            <a:ext cx="4400550" cy="3006662"/>
          </a:xfrm>
          <a:prstGeom prst="rect">
            <a:avLst/>
          </a:prstGeom>
          <a:noFill/>
          <a:ln>
            <a:noFill/>
          </a:ln>
        </p:spPr>
      </p:pic>
      <p:sp>
        <p:nvSpPr>
          <p:cNvPr id="112" name="Google Shape;112;p3"/>
          <p:cNvSpPr txBox="1"/>
          <p:nvPr/>
        </p:nvSpPr>
        <p:spPr>
          <a:xfrm>
            <a:off x="1454535" y="2524737"/>
            <a:ext cx="1491480" cy="523220"/>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chemeClr val="dk1"/>
                </a:solidFill>
                <a:latin typeface="Calibri"/>
                <a:ea typeface="Calibri"/>
                <a:cs typeface="Calibri"/>
                <a:sym typeface="Calibri"/>
              </a:rPr>
              <a:t>Simplex</a:t>
            </a:r>
            <a:endParaRPr b="1" sz="2800">
              <a:solidFill>
                <a:schemeClr val="dk1"/>
              </a:solidFill>
              <a:latin typeface="Calibri"/>
              <a:ea typeface="Calibri"/>
              <a:cs typeface="Calibri"/>
              <a:sym typeface="Calibri"/>
            </a:endParaRPr>
          </a:p>
        </p:txBody>
      </p:sp>
      <p:sp>
        <p:nvSpPr>
          <p:cNvPr id="113" name="Google Shape;113;p3"/>
          <p:cNvSpPr txBox="1"/>
          <p:nvPr/>
        </p:nvSpPr>
        <p:spPr>
          <a:xfrm>
            <a:off x="1228316" y="4836790"/>
            <a:ext cx="1943917" cy="523220"/>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Full duplex</a:t>
            </a:r>
            <a:endParaRPr b="1" sz="2800">
              <a:solidFill>
                <a:schemeClr val="dk1"/>
              </a:solidFill>
              <a:latin typeface="Calibri"/>
              <a:ea typeface="Calibri"/>
              <a:cs typeface="Calibri"/>
              <a:sym typeface="Calibri"/>
            </a:endParaRPr>
          </a:p>
        </p:txBody>
      </p:sp>
      <p:pic>
        <p:nvPicPr>
          <p:cNvPr id="114" name="Google Shape;114;p3"/>
          <p:cNvPicPr preferRelativeResize="0"/>
          <p:nvPr/>
        </p:nvPicPr>
        <p:blipFill rotWithShape="1">
          <a:blip r:embed="rId4">
            <a:alphaModFix/>
          </a:blip>
          <a:srcRect b="58227" l="0" r="0" t="0"/>
          <a:stretch/>
        </p:blipFill>
        <p:spPr>
          <a:xfrm>
            <a:off x="0" y="3229071"/>
            <a:ext cx="4400550" cy="1257300"/>
          </a:xfrm>
          <a:prstGeom prst="rect">
            <a:avLst/>
          </a:prstGeom>
          <a:noFill/>
          <a:ln>
            <a:noFill/>
          </a:ln>
        </p:spPr>
      </p:pic>
      <p:sp>
        <p:nvSpPr>
          <p:cNvPr id="115" name="Google Shape;115;p3"/>
          <p:cNvSpPr txBox="1"/>
          <p:nvPr/>
        </p:nvSpPr>
        <p:spPr>
          <a:xfrm>
            <a:off x="5814399" y="2524737"/>
            <a:ext cx="1943917" cy="523220"/>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Half duplex</a:t>
            </a:r>
            <a:endParaRPr b="1" sz="2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Common Configurations</a:t>
            </a:r>
            <a:endParaRPr b="1"/>
          </a:p>
        </p:txBody>
      </p:sp>
      <p:sp>
        <p:nvSpPr>
          <p:cNvPr id="121" name="Google Shape;121;p4"/>
          <p:cNvSpPr txBox="1"/>
          <p:nvPr>
            <p:ph idx="1" type="body"/>
          </p:nvPr>
        </p:nvSpPr>
        <p:spPr>
          <a:xfrm>
            <a:off x="628650" y="1511526"/>
            <a:ext cx="7886700" cy="498134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Data rate (or baud rate) are predetermined.</a:t>
            </a:r>
            <a:endParaRPr/>
          </a:p>
          <a:p>
            <a:pPr indent="-228600" lvl="1" marL="685800" rtl="0" algn="l">
              <a:lnSpc>
                <a:spcPct val="90000"/>
              </a:lnSpc>
              <a:spcBef>
                <a:spcPts val="500"/>
              </a:spcBef>
              <a:spcAft>
                <a:spcPts val="0"/>
              </a:spcAft>
              <a:buClr>
                <a:schemeClr val="dk1"/>
              </a:buClr>
              <a:buSzPts val="2400"/>
              <a:buChar char="•"/>
            </a:pPr>
            <a:r>
              <a:rPr lang="en-US"/>
              <a:t>Both transmitter and receiver are pre-set to the same data rate.</a:t>
            </a:r>
            <a:endParaRPr/>
          </a:p>
          <a:p>
            <a:pPr indent="-228600" lvl="0" marL="228600" rtl="0" algn="l">
              <a:lnSpc>
                <a:spcPct val="90000"/>
              </a:lnSpc>
              <a:spcBef>
                <a:spcPts val="1000"/>
              </a:spcBef>
              <a:spcAft>
                <a:spcPts val="0"/>
              </a:spcAft>
              <a:buClr>
                <a:schemeClr val="dk1"/>
              </a:buClr>
              <a:buSzPts val="2800"/>
              <a:buChar char="•"/>
            </a:pPr>
            <a:r>
              <a:rPr lang="en-US"/>
              <a:t>Standard baud rates include 110, 300, 600, 1200, 2400, 4800, 9600, 14400, 19200, 38400, 57600, 115200, 128000 and 256000 bits per second (bps).</a:t>
            </a:r>
            <a:endParaRPr/>
          </a:p>
          <a:p>
            <a:pPr indent="-228600" lvl="0" marL="228600" rtl="0" algn="l">
              <a:lnSpc>
                <a:spcPct val="90000"/>
              </a:lnSpc>
              <a:spcBef>
                <a:spcPts val="1000"/>
              </a:spcBef>
              <a:spcAft>
                <a:spcPts val="0"/>
              </a:spcAft>
              <a:buClr>
                <a:schemeClr val="dk1"/>
              </a:buClr>
              <a:buSzPts val="2800"/>
              <a:buChar char="•"/>
            </a:pPr>
            <a:r>
              <a:rPr lang="en-US"/>
              <a:t>Data length are also predetermined to tell how many bits would transfer/receive (5 to 9 bits, typically).</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22" name="Google Shape;122;p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Data Frame</a:t>
            </a:r>
            <a:endParaRPr b="1"/>
          </a:p>
        </p:txBody>
      </p:sp>
      <p:sp>
        <p:nvSpPr>
          <p:cNvPr id="128" name="Google Shape;128;p5"/>
          <p:cNvSpPr txBox="1"/>
          <p:nvPr>
            <p:ph idx="1" type="body"/>
          </p:nvPr>
        </p:nvSpPr>
        <p:spPr>
          <a:xfrm>
            <a:off x="628650" y="1485991"/>
            <a:ext cx="8436973"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Idle: keep logic high.</a:t>
            </a:r>
            <a:endParaRPr/>
          </a:p>
          <a:p>
            <a:pPr indent="-228600" lvl="0" marL="228600" rtl="0" algn="l">
              <a:lnSpc>
                <a:spcPct val="90000"/>
              </a:lnSpc>
              <a:spcBef>
                <a:spcPts val="1000"/>
              </a:spcBef>
              <a:spcAft>
                <a:spcPts val="0"/>
              </a:spcAft>
              <a:buClr>
                <a:schemeClr val="dk1"/>
              </a:buClr>
              <a:buSzPts val="2800"/>
              <a:buChar char="•"/>
            </a:pPr>
            <a:r>
              <a:rPr lang="en-US"/>
              <a:t>The start bit (logic low) signals receiver that a data character is coming.</a:t>
            </a:r>
            <a:endParaRPr/>
          </a:p>
          <a:p>
            <a:pPr indent="-228600" lvl="0" marL="228600" rtl="0" algn="l">
              <a:lnSpc>
                <a:spcPct val="90000"/>
              </a:lnSpc>
              <a:spcBef>
                <a:spcPts val="1000"/>
              </a:spcBef>
              <a:spcAft>
                <a:spcPts val="0"/>
              </a:spcAft>
              <a:buClr>
                <a:schemeClr val="dk1"/>
              </a:buClr>
              <a:buSzPts val="2800"/>
              <a:buChar char="•"/>
            </a:pPr>
            <a:r>
              <a:rPr lang="en-US"/>
              <a:t>If parity bit is used, it would be placed after the data bits to keep the package odd or even logic high.</a:t>
            </a:r>
            <a:endParaRPr/>
          </a:p>
          <a:p>
            <a:pPr indent="-228600" lvl="0" marL="228600" rtl="0" algn="l">
              <a:lnSpc>
                <a:spcPct val="90000"/>
              </a:lnSpc>
              <a:spcBef>
                <a:spcPts val="1000"/>
              </a:spcBef>
              <a:spcAft>
                <a:spcPts val="0"/>
              </a:spcAft>
              <a:buClr>
                <a:schemeClr val="dk1"/>
              </a:buClr>
              <a:buSzPts val="2800"/>
              <a:buChar char="•"/>
            </a:pPr>
            <a:r>
              <a:rPr lang="en-US"/>
              <a:t>The final bit is the stop bit (logic high).</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29" name="Google Shape;129;p5"/>
          <p:cNvSpPr txBox="1"/>
          <p:nvPr>
            <p:ph idx="12" type="sldNum"/>
          </p:nvPr>
        </p:nvSpPr>
        <p:spPr>
          <a:xfrm>
            <a:off x="6773091" y="6365060"/>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pic>
        <p:nvPicPr>
          <p:cNvPr id="130" name="Google Shape;130;p5"/>
          <p:cNvPicPr preferRelativeResize="0"/>
          <p:nvPr/>
        </p:nvPicPr>
        <p:blipFill rotWithShape="1">
          <a:blip r:embed="rId3">
            <a:alphaModFix/>
          </a:blip>
          <a:srcRect b="27946" l="17619" r="4078" t="60879"/>
          <a:stretch/>
        </p:blipFill>
        <p:spPr>
          <a:xfrm>
            <a:off x="628650" y="4925605"/>
            <a:ext cx="7479029" cy="1439455"/>
          </a:xfrm>
          <a:prstGeom prst="rect">
            <a:avLst/>
          </a:prstGeom>
          <a:noFill/>
          <a:ln>
            <a:noFill/>
          </a:ln>
        </p:spPr>
      </p:pic>
      <p:sp>
        <p:nvSpPr>
          <p:cNvPr id="131" name="Google Shape;131;p5"/>
          <p:cNvSpPr txBox="1"/>
          <p:nvPr/>
        </p:nvSpPr>
        <p:spPr>
          <a:xfrm>
            <a:off x="416107" y="4560480"/>
            <a:ext cx="740228" cy="523220"/>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idle</a:t>
            </a:r>
            <a:endParaRPr b="1" sz="2800">
              <a:solidFill>
                <a:schemeClr val="dk1"/>
              </a:solidFill>
              <a:latin typeface="Calibri"/>
              <a:ea typeface="Calibri"/>
              <a:cs typeface="Calibri"/>
              <a:sym typeface="Calibri"/>
            </a:endParaRPr>
          </a:p>
        </p:txBody>
      </p:sp>
      <p:sp>
        <p:nvSpPr>
          <p:cNvPr id="132" name="Google Shape;132;p5"/>
          <p:cNvSpPr txBox="1"/>
          <p:nvPr/>
        </p:nvSpPr>
        <p:spPr>
          <a:xfrm>
            <a:off x="1684019" y="4536533"/>
            <a:ext cx="740228" cy="523220"/>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LSB</a:t>
            </a:r>
            <a:endParaRPr b="1" sz="2800">
              <a:solidFill>
                <a:schemeClr val="dk1"/>
              </a:solidFill>
              <a:latin typeface="Calibri"/>
              <a:ea typeface="Calibri"/>
              <a:cs typeface="Calibri"/>
              <a:sym typeface="Calibri"/>
            </a:endParaRPr>
          </a:p>
        </p:txBody>
      </p:sp>
      <p:sp>
        <p:nvSpPr>
          <p:cNvPr id="133" name="Google Shape;133;p5"/>
          <p:cNvSpPr txBox="1"/>
          <p:nvPr/>
        </p:nvSpPr>
        <p:spPr>
          <a:xfrm>
            <a:off x="6341133" y="4527191"/>
            <a:ext cx="863915" cy="523220"/>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MSB</a:t>
            </a:r>
            <a:endParaRPr b="1" sz="2800">
              <a:solidFill>
                <a:schemeClr val="dk1"/>
              </a:solidFill>
              <a:latin typeface="Calibri"/>
              <a:ea typeface="Calibri"/>
              <a:cs typeface="Calibri"/>
              <a:sym typeface="Calibri"/>
            </a:endParaRPr>
          </a:p>
        </p:txBody>
      </p:sp>
      <p:pic>
        <p:nvPicPr>
          <p:cNvPr id="134" name="Google Shape;134;p5"/>
          <p:cNvPicPr preferRelativeResize="0"/>
          <p:nvPr/>
        </p:nvPicPr>
        <p:blipFill rotWithShape="1">
          <a:blip r:embed="rId3">
            <a:alphaModFix/>
          </a:blip>
          <a:srcRect b="29663" l="79208" r="12860" t="62089"/>
          <a:stretch/>
        </p:blipFill>
        <p:spPr>
          <a:xfrm>
            <a:off x="7176678" y="5083700"/>
            <a:ext cx="757645" cy="1062446"/>
          </a:xfrm>
          <a:prstGeom prst="rect">
            <a:avLst/>
          </a:prstGeom>
          <a:noFill/>
          <a:ln>
            <a:noFill/>
          </a:ln>
        </p:spPr>
      </p:pic>
      <p:pic>
        <p:nvPicPr>
          <p:cNvPr id="135" name="Google Shape;135;p5"/>
          <p:cNvPicPr preferRelativeResize="0"/>
          <p:nvPr/>
        </p:nvPicPr>
        <p:blipFill rotWithShape="1">
          <a:blip r:embed="rId3">
            <a:alphaModFix/>
          </a:blip>
          <a:srcRect b="30323" l="86319" r="4079" t="60879"/>
          <a:stretch/>
        </p:blipFill>
        <p:spPr>
          <a:xfrm>
            <a:off x="7846284" y="4931794"/>
            <a:ext cx="917121" cy="1133158"/>
          </a:xfrm>
          <a:prstGeom prst="rect">
            <a:avLst/>
          </a:prstGeom>
          <a:noFill/>
          <a:ln>
            <a:noFill/>
          </a:ln>
        </p:spPr>
      </p:pic>
      <p:pic>
        <p:nvPicPr>
          <p:cNvPr id="136" name="Google Shape;136;p5"/>
          <p:cNvPicPr preferRelativeResize="0"/>
          <p:nvPr/>
        </p:nvPicPr>
        <p:blipFill rotWithShape="1">
          <a:blip r:embed="rId3">
            <a:alphaModFix/>
          </a:blip>
          <a:srcRect b="37575" l="88461" r="4079" t="60193"/>
          <a:stretch/>
        </p:blipFill>
        <p:spPr>
          <a:xfrm>
            <a:off x="7308401" y="5501640"/>
            <a:ext cx="537884" cy="287383"/>
          </a:xfrm>
          <a:prstGeom prst="rect">
            <a:avLst/>
          </a:prstGeom>
          <a:noFill/>
          <a:ln>
            <a:noFill/>
          </a:ln>
        </p:spPr>
      </p:pic>
      <p:sp>
        <p:nvSpPr>
          <p:cNvPr id="137" name="Google Shape;137;p5"/>
          <p:cNvSpPr txBox="1"/>
          <p:nvPr/>
        </p:nvSpPr>
        <p:spPr>
          <a:xfrm>
            <a:off x="7202806" y="5331692"/>
            <a:ext cx="75764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parity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bit</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6"/>
          <p:cNvPicPr preferRelativeResize="0"/>
          <p:nvPr/>
        </p:nvPicPr>
        <p:blipFill rotWithShape="1">
          <a:blip r:embed="rId3">
            <a:alphaModFix/>
          </a:blip>
          <a:srcRect b="27946" l="17619" r="4078" t="60879"/>
          <a:stretch/>
        </p:blipFill>
        <p:spPr>
          <a:xfrm>
            <a:off x="441126" y="4876938"/>
            <a:ext cx="8139828" cy="1566636"/>
          </a:xfrm>
          <a:prstGeom prst="rect">
            <a:avLst/>
          </a:prstGeom>
          <a:noFill/>
          <a:ln>
            <a:noFill/>
          </a:ln>
        </p:spPr>
      </p:pic>
      <p:sp>
        <p:nvSpPr>
          <p:cNvPr id="143" name="Google Shape;143;p6"/>
          <p:cNvSpPr txBox="1"/>
          <p:nvPr>
            <p:ph type="title"/>
          </p:nvPr>
        </p:nvSpPr>
        <p:spPr>
          <a:xfrm>
            <a:off x="628650" y="261631"/>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Receiver</a:t>
            </a:r>
            <a:endParaRPr b="1"/>
          </a:p>
        </p:txBody>
      </p:sp>
      <p:sp>
        <p:nvSpPr>
          <p:cNvPr id="144" name="Google Shape;144;p6"/>
          <p:cNvSpPr txBox="1"/>
          <p:nvPr>
            <p:ph idx="1" type="body"/>
          </p:nvPr>
        </p:nvSpPr>
        <p:spPr>
          <a:xfrm>
            <a:off x="628650" y="1441693"/>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After the receiver getting the start bit, it starts to sample bit0 after 1.5 bit time in order to ensure that the data is stable, and then sample succeeding data every 1 bit time.</a:t>
            </a:r>
            <a:endParaRPr/>
          </a:p>
          <a:p>
            <a:pPr indent="-228600" lvl="0" marL="228600" rtl="0" algn="l">
              <a:lnSpc>
                <a:spcPct val="90000"/>
              </a:lnSpc>
              <a:spcBef>
                <a:spcPts val="1000"/>
              </a:spcBef>
              <a:spcAft>
                <a:spcPts val="0"/>
              </a:spcAft>
              <a:buClr>
                <a:schemeClr val="dk1"/>
              </a:buClr>
              <a:buSzPts val="2800"/>
              <a:buChar char="•"/>
            </a:pPr>
            <a:r>
              <a:rPr lang="en-US"/>
              <a:t>After the required number of bit periods for the character length (5 to 9 bits) have elapsed, the contents of the shift register are made available.</a:t>
            </a:r>
            <a:endParaRPr/>
          </a:p>
        </p:txBody>
      </p:sp>
      <p:sp>
        <p:nvSpPr>
          <p:cNvPr id="145" name="Google Shape;145;p6"/>
          <p:cNvSpPr txBox="1"/>
          <p:nvPr>
            <p:ph idx="12" type="sldNum"/>
          </p:nvPr>
        </p:nvSpPr>
        <p:spPr>
          <a:xfrm>
            <a:off x="6396990" y="631031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cxnSp>
        <p:nvCxnSpPr>
          <p:cNvPr id="146" name="Google Shape;146;p6"/>
          <p:cNvCxnSpPr/>
          <p:nvPr/>
        </p:nvCxnSpPr>
        <p:spPr>
          <a:xfrm>
            <a:off x="918467" y="4956677"/>
            <a:ext cx="0" cy="1410788"/>
          </a:xfrm>
          <a:prstGeom prst="straightConnector1">
            <a:avLst/>
          </a:prstGeom>
          <a:noFill/>
          <a:ln cap="flat" cmpd="sng" w="38100">
            <a:solidFill>
              <a:schemeClr val="accent1"/>
            </a:solidFill>
            <a:prstDash val="solid"/>
            <a:miter lim="800000"/>
            <a:headEnd len="sm" w="sm" type="none"/>
            <a:tailEnd len="sm" w="sm" type="none"/>
          </a:ln>
        </p:spPr>
      </p:cxnSp>
      <p:cxnSp>
        <p:nvCxnSpPr>
          <p:cNvPr id="147" name="Google Shape;147;p6"/>
          <p:cNvCxnSpPr/>
          <p:nvPr/>
        </p:nvCxnSpPr>
        <p:spPr>
          <a:xfrm>
            <a:off x="2046225" y="4985547"/>
            <a:ext cx="0" cy="1410788"/>
          </a:xfrm>
          <a:prstGeom prst="straightConnector1">
            <a:avLst/>
          </a:prstGeom>
          <a:noFill/>
          <a:ln cap="flat" cmpd="sng" w="38100">
            <a:solidFill>
              <a:schemeClr val="accent1"/>
            </a:solidFill>
            <a:prstDash val="solid"/>
            <a:miter lim="800000"/>
            <a:headEnd len="sm" w="sm" type="none"/>
            <a:tailEnd len="sm" w="sm" type="none"/>
          </a:ln>
        </p:spPr>
      </p:cxnSp>
      <p:cxnSp>
        <p:nvCxnSpPr>
          <p:cNvPr id="148" name="Google Shape;148;p6"/>
          <p:cNvCxnSpPr/>
          <p:nvPr/>
        </p:nvCxnSpPr>
        <p:spPr>
          <a:xfrm>
            <a:off x="2790808" y="4985547"/>
            <a:ext cx="0" cy="1410788"/>
          </a:xfrm>
          <a:prstGeom prst="straightConnector1">
            <a:avLst/>
          </a:prstGeom>
          <a:noFill/>
          <a:ln cap="flat" cmpd="sng" w="38100">
            <a:solidFill>
              <a:schemeClr val="accent1"/>
            </a:solidFill>
            <a:prstDash val="solid"/>
            <a:miter lim="800000"/>
            <a:headEnd len="sm" w="sm" type="none"/>
            <a:tailEnd len="sm" w="sm" type="none"/>
          </a:ln>
        </p:spPr>
      </p:cxnSp>
      <p:cxnSp>
        <p:nvCxnSpPr>
          <p:cNvPr id="149" name="Google Shape;149;p6"/>
          <p:cNvCxnSpPr/>
          <p:nvPr/>
        </p:nvCxnSpPr>
        <p:spPr>
          <a:xfrm>
            <a:off x="874924" y="4864509"/>
            <a:ext cx="1197428" cy="0"/>
          </a:xfrm>
          <a:prstGeom prst="straightConnector1">
            <a:avLst/>
          </a:prstGeom>
          <a:noFill/>
          <a:ln cap="flat" cmpd="sng" w="38100">
            <a:solidFill>
              <a:schemeClr val="dk1"/>
            </a:solidFill>
            <a:prstDash val="solid"/>
            <a:miter lim="800000"/>
            <a:headEnd len="med" w="med" type="triangle"/>
            <a:tailEnd len="med" w="med" type="triangle"/>
          </a:ln>
        </p:spPr>
      </p:cxnSp>
      <p:sp>
        <p:nvSpPr>
          <p:cNvPr id="150" name="Google Shape;150;p6"/>
          <p:cNvSpPr txBox="1"/>
          <p:nvPr/>
        </p:nvSpPr>
        <p:spPr>
          <a:xfrm>
            <a:off x="634077" y="4347386"/>
            <a:ext cx="1679122" cy="461665"/>
          </a:xfrm>
          <a:prstGeom prst="rect">
            <a:avLst/>
          </a:prstGeom>
          <a:noFill/>
          <a:ln cap="flat" cmpd="sng" w="12700">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1.5 bit time  </a:t>
            </a:r>
            <a:endParaRPr sz="2400">
              <a:solidFill>
                <a:schemeClr val="dk1"/>
              </a:solidFill>
              <a:latin typeface="Calibri"/>
              <a:ea typeface="Calibri"/>
              <a:cs typeface="Calibri"/>
              <a:sym typeface="Calibri"/>
            </a:endParaRPr>
          </a:p>
        </p:txBody>
      </p:sp>
      <p:sp>
        <p:nvSpPr>
          <p:cNvPr id="151" name="Google Shape;151;p6"/>
          <p:cNvSpPr txBox="1"/>
          <p:nvPr/>
        </p:nvSpPr>
        <p:spPr>
          <a:xfrm>
            <a:off x="2353238" y="6396510"/>
            <a:ext cx="4437524" cy="461665"/>
          </a:xfrm>
          <a:prstGeom prst="rect">
            <a:avLst/>
          </a:prstGeom>
          <a:noFill/>
          <a:ln cap="flat" cmpd="sng" w="12700">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Receive data in the middle of bit  </a:t>
            </a:r>
            <a:endParaRPr sz="2400">
              <a:solidFill>
                <a:schemeClr val="dk1"/>
              </a:solidFill>
              <a:latin typeface="Calibri"/>
              <a:ea typeface="Calibri"/>
              <a:cs typeface="Calibri"/>
              <a:sym typeface="Calibri"/>
            </a:endParaRPr>
          </a:p>
        </p:txBody>
      </p:sp>
      <p:sp>
        <p:nvSpPr>
          <p:cNvPr id="152" name="Google Shape;152;p6"/>
          <p:cNvSpPr txBox="1"/>
          <p:nvPr/>
        </p:nvSpPr>
        <p:spPr>
          <a:xfrm>
            <a:off x="3920218" y="4405379"/>
            <a:ext cx="1679122" cy="461665"/>
          </a:xfrm>
          <a:prstGeom prst="rect">
            <a:avLst/>
          </a:prstGeom>
          <a:noFill/>
          <a:ln cap="flat" cmpd="sng" w="12700">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1 bit time  </a:t>
            </a:r>
            <a:endParaRPr sz="2400">
              <a:solidFill>
                <a:schemeClr val="dk1"/>
              </a:solidFill>
              <a:latin typeface="Calibri"/>
              <a:ea typeface="Calibri"/>
              <a:cs typeface="Calibri"/>
              <a:sym typeface="Calibri"/>
            </a:endParaRPr>
          </a:p>
        </p:txBody>
      </p:sp>
      <p:cxnSp>
        <p:nvCxnSpPr>
          <p:cNvPr id="153" name="Google Shape;153;p6"/>
          <p:cNvCxnSpPr/>
          <p:nvPr/>
        </p:nvCxnSpPr>
        <p:spPr>
          <a:xfrm>
            <a:off x="4262556" y="4887430"/>
            <a:ext cx="744583" cy="0"/>
          </a:xfrm>
          <a:prstGeom prst="straightConnector1">
            <a:avLst/>
          </a:prstGeom>
          <a:noFill/>
          <a:ln cap="flat" cmpd="sng" w="38100">
            <a:solidFill>
              <a:schemeClr val="dk1"/>
            </a:solidFill>
            <a:prstDash val="solid"/>
            <a:miter lim="800000"/>
            <a:headEnd len="med" w="med" type="triangle"/>
            <a:tailEnd len="med" w="med" type="triangle"/>
          </a:ln>
        </p:spPr>
      </p:cxnSp>
      <p:cxnSp>
        <p:nvCxnSpPr>
          <p:cNvPr id="154" name="Google Shape;154;p6"/>
          <p:cNvCxnSpPr/>
          <p:nvPr/>
        </p:nvCxnSpPr>
        <p:spPr>
          <a:xfrm>
            <a:off x="6505014" y="4985547"/>
            <a:ext cx="0" cy="1410788"/>
          </a:xfrm>
          <a:prstGeom prst="straightConnector1">
            <a:avLst/>
          </a:prstGeom>
          <a:noFill/>
          <a:ln cap="flat" cmpd="sng" w="38100">
            <a:solidFill>
              <a:schemeClr val="accent1"/>
            </a:solidFill>
            <a:prstDash val="solid"/>
            <a:miter lim="800000"/>
            <a:headEnd len="sm" w="sm" type="none"/>
            <a:tailEnd len="sm" w="sm" type="none"/>
          </a:ln>
        </p:spPr>
      </p:cxnSp>
      <p:cxnSp>
        <p:nvCxnSpPr>
          <p:cNvPr id="155" name="Google Shape;155;p6"/>
          <p:cNvCxnSpPr/>
          <p:nvPr/>
        </p:nvCxnSpPr>
        <p:spPr>
          <a:xfrm>
            <a:off x="5743014" y="4985547"/>
            <a:ext cx="0" cy="1410788"/>
          </a:xfrm>
          <a:prstGeom prst="straightConnector1">
            <a:avLst/>
          </a:prstGeom>
          <a:noFill/>
          <a:ln cap="flat" cmpd="sng" w="38100">
            <a:solidFill>
              <a:schemeClr val="accent1"/>
            </a:solidFill>
            <a:prstDash val="solid"/>
            <a:miter lim="800000"/>
            <a:headEnd len="sm" w="sm" type="none"/>
            <a:tailEnd len="sm" w="sm" type="none"/>
          </a:ln>
        </p:spPr>
      </p:cxnSp>
      <p:cxnSp>
        <p:nvCxnSpPr>
          <p:cNvPr id="156" name="Google Shape;156;p6"/>
          <p:cNvCxnSpPr/>
          <p:nvPr/>
        </p:nvCxnSpPr>
        <p:spPr>
          <a:xfrm>
            <a:off x="5007139" y="4985547"/>
            <a:ext cx="0" cy="1410788"/>
          </a:xfrm>
          <a:prstGeom prst="straightConnector1">
            <a:avLst/>
          </a:prstGeom>
          <a:noFill/>
          <a:ln cap="flat" cmpd="sng" w="38100">
            <a:solidFill>
              <a:schemeClr val="accent1"/>
            </a:solidFill>
            <a:prstDash val="solid"/>
            <a:miter lim="800000"/>
            <a:headEnd len="sm" w="sm" type="none"/>
            <a:tailEnd len="sm" w="sm" type="none"/>
          </a:ln>
        </p:spPr>
      </p:cxnSp>
      <p:cxnSp>
        <p:nvCxnSpPr>
          <p:cNvPr id="157" name="Google Shape;157;p6"/>
          <p:cNvCxnSpPr/>
          <p:nvPr/>
        </p:nvCxnSpPr>
        <p:spPr>
          <a:xfrm>
            <a:off x="4280536" y="4985547"/>
            <a:ext cx="0" cy="1410788"/>
          </a:xfrm>
          <a:prstGeom prst="straightConnector1">
            <a:avLst/>
          </a:prstGeom>
          <a:noFill/>
          <a:ln cap="flat" cmpd="sng" w="38100">
            <a:solidFill>
              <a:schemeClr val="accent1"/>
            </a:solidFill>
            <a:prstDash val="solid"/>
            <a:miter lim="800000"/>
            <a:headEnd len="sm" w="sm" type="none"/>
            <a:tailEnd len="sm" w="sm" type="none"/>
          </a:ln>
        </p:spPr>
      </p:cxnSp>
      <p:cxnSp>
        <p:nvCxnSpPr>
          <p:cNvPr id="158" name="Google Shape;158;p6"/>
          <p:cNvCxnSpPr/>
          <p:nvPr/>
        </p:nvCxnSpPr>
        <p:spPr>
          <a:xfrm>
            <a:off x="3509266" y="4985547"/>
            <a:ext cx="0" cy="1410788"/>
          </a:xfrm>
          <a:prstGeom prst="straightConnector1">
            <a:avLst/>
          </a:prstGeom>
          <a:noFill/>
          <a:ln cap="flat" cmpd="sng" w="38100">
            <a:solidFill>
              <a:schemeClr val="accent1"/>
            </a:solidFill>
            <a:prstDash val="solid"/>
            <a:miter lim="800000"/>
            <a:headEnd len="sm" w="sm" type="none"/>
            <a:tailEnd len="sm" w="sm" type="none"/>
          </a:ln>
        </p:spPr>
      </p:cxnSp>
      <p:cxnSp>
        <p:nvCxnSpPr>
          <p:cNvPr id="159" name="Google Shape;159;p6"/>
          <p:cNvCxnSpPr/>
          <p:nvPr/>
        </p:nvCxnSpPr>
        <p:spPr>
          <a:xfrm>
            <a:off x="7293139" y="4985547"/>
            <a:ext cx="0" cy="1410788"/>
          </a:xfrm>
          <a:prstGeom prst="straightConnector1">
            <a:avLst/>
          </a:prstGeom>
          <a:noFill/>
          <a:ln cap="flat" cmpd="sng" w="38100">
            <a:solidFill>
              <a:schemeClr val="accent1"/>
            </a:solidFill>
            <a:prstDash val="solid"/>
            <a:miter lim="800000"/>
            <a:headEnd len="sm" w="sm" type="none"/>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Transmitter</a:t>
            </a:r>
            <a:endParaRPr b="1"/>
          </a:p>
        </p:txBody>
      </p:sp>
      <p:sp>
        <p:nvSpPr>
          <p:cNvPr id="165" name="Google Shape;165;p7"/>
          <p:cNvSpPr txBox="1"/>
          <p:nvPr>
            <p:ph idx="1" type="body"/>
          </p:nvPr>
        </p:nvSpPr>
        <p:spPr>
          <a:xfrm>
            <a:off x="628650" y="1503408"/>
            <a:ext cx="7886700" cy="498946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As soon as the sending system deposits a character in the shift register, the UART generates a start bit.</a:t>
            </a:r>
            <a:endParaRPr/>
          </a:p>
          <a:p>
            <a:pPr indent="-228600" lvl="0" marL="228600" rtl="0" algn="l">
              <a:lnSpc>
                <a:spcPct val="90000"/>
              </a:lnSpc>
              <a:spcBef>
                <a:spcPts val="1000"/>
              </a:spcBef>
              <a:spcAft>
                <a:spcPts val="0"/>
              </a:spcAft>
              <a:buClr>
                <a:schemeClr val="dk1"/>
              </a:buClr>
              <a:buSzPts val="2800"/>
              <a:buChar char="•"/>
            </a:pPr>
            <a:r>
              <a:rPr lang="en-US"/>
              <a:t>Shifts the required number of data bits out to the line, generates and sends the parity bit (if used), and sends the stop bits.</a:t>
            </a:r>
            <a:endParaRPr/>
          </a:p>
        </p:txBody>
      </p:sp>
      <p:sp>
        <p:nvSpPr>
          <p:cNvPr id="166" name="Google Shape;166;p7"/>
          <p:cNvSpPr txBox="1"/>
          <p:nvPr>
            <p:ph idx="12" type="sldNum"/>
          </p:nvPr>
        </p:nvSpPr>
        <p:spPr>
          <a:xfrm>
            <a:off x="6392346" y="5886088"/>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pic>
        <p:nvPicPr>
          <p:cNvPr id="167" name="Google Shape;167;p7"/>
          <p:cNvPicPr preferRelativeResize="0"/>
          <p:nvPr/>
        </p:nvPicPr>
        <p:blipFill rotWithShape="1">
          <a:blip r:embed="rId3">
            <a:alphaModFix/>
          </a:blip>
          <a:srcRect b="27946" l="17619" r="4078" t="60879"/>
          <a:stretch/>
        </p:blipFill>
        <p:spPr>
          <a:xfrm>
            <a:off x="375522" y="4406675"/>
            <a:ext cx="8139828" cy="1566636"/>
          </a:xfrm>
          <a:prstGeom prst="rect">
            <a:avLst/>
          </a:prstGeom>
          <a:noFill/>
          <a:ln>
            <a:noFill/>
          </a:ln>
        </p:spPr>
      </p:pic>
      <p:cxnSp>
        <p:nvCxnSpPr>
          <p:cNvPr id="168" name="Google Shape;168;p7"/>
          <p:cNvCxnSpPr/>
          <p:nvPr/>
        </p:nvCxnSpPr>
        <p:spPr>
          <a:xfrm>
            <a:off x="844153" y="4486414"/>
            <a:ext cx="0" cy="1410788"/>
          </a:xfrm>
          <a:prstGeom prst="straightConnector1">
            <a:avLst/>
          </a:prstGeom>
          <a:noFill/>
          <a:ln cap="flat" cmpd="sng" w="38100">
            <a:solidFill>
              <a:schemeClr val="accent1"/>
            </a:solidFill>
            <a:prstDash val="solid"/>
            <a:miter lim="800000"/>
            <a:headEnd len="sm" w="sm" type="none"/>
            <a:tailEnd len="sm" w="sm" type="none"/>
          </a:ln>
        </p:spPr>
      </p:cxnSp>
      <p:cxnSp>
        <p:nvCxnSpPr>
          <p:cNvPr id="169" name="Google Shape;169;p7"/>
          <p:cNvCxnSpPr/>
          <p:nvPr/>
        </p:nvCxnSpPr>
        <p:spPr>
          <a:xfrm>
            <a:off x="1588736" y="4486414"/>
            <a:ext cx="0" cy="1410788"/>
          </a:xfrm>
          <a:prstGeom prst="straightConnector1">
            <a:avLst/>
          </a:prstGeom>
          <a:noFill/>
          <a:ln cap="flat" cmpd="sng" w="38100">
            <a:solidFill>
              <a:schemeClr val="accent1"/>
            </a:solidFill>
            <a:prstDash val="solid"/>
            <a:miter lim="800000"/>
            <a:headEnd len="sm" w="sm" type="none"/>
            <a:tailEnd len="sm" w="sm" type="none"/>
          </a:ln>
        </p:spPr>
      </p:cxnSp>
      <p:cxnSp>
        <p:nvCxnSpPr>
          <p:cNvPr id="170" name="Google Shape;170;p7"/>
          <p:cNvCxnSpPr/>
          <p:nvPr/>
        </p:nvCxnSpPr>
        <p:spPr>
          <a:xfrm>
            <a:off x="2333319" y="4486414"/>
            <a:ext cx="0" cy="1410788"/>
          </a:xfrm>
          <a:prstGeom prst="straightConnector1">
            <a:avLst/>
          </a:prstGeom>
          <a:noFill/>
          <a:ln cap="flat" cmpd="sng" w="38100">
            <a:solidFill>
              <a:schemeClr val="accent1"/>
            </a:solidFill>
            <a:prstDash val="solid"/>
            <a:miter lim="800000"/>
            <a:headEnd len="sm" w="sm" type="none"/>
            <a:tailEnd len="sm" w="sm" type="none"/>
          </a:ln>
        </p:spPr>
      </p:cxnSp>
      <p:sp>
        <p:nvSpPr>
          <p:cNvPr id="171" name="Google Shape;171;p7"/>
          <p:cNvSpPr txBox="1"/>
          <p:nvPr/>
        </p:nvSpPr>
        <p:spPr>
          <a:xfrm>
            <a:off x="1759164" y="6060158"/>
            <a:ext cx="4836387" cy="461665"/>
          </a:xfrm>
          <a:prstGeom prst="rect">
            <a:avLst/>
          </a:prstGeom>
          <a:noFill/>
          <a:ln cap="flat" cmpd="sng" w="12700">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All transmit data is the same bit time</a:t>
            </a:r>
            <a:endParaRPr sz="2400">
              <a:solidFill>
                <a:schemeClr val="dk1"/>
              </a:solidFill>
              <a:latin typeface="Calibri"/>
              <a:ea typeface="Calibri"/>
              <a:cs typeface="Calibri"/>
              <a:sym typeface="Calibri"/>
            </a:endParaRPr>
          </a:p>
        </p:txBody>
      </p:sp>
      <p:sp>
        <p:nvSpPr>
          <p:cNvPr id="172" name="Google Shape;172;p7"/>
          <p:cNvSpPr txBox="1"/>
          <p:nvPr/>
        </p:nvSpPr>
        <p:spPr>
          <a:xfrm>
            <a:off x="3541106" y="3834752"/>
            <a:ext cx="1679122" cy="461665"/>
          </a:xfrm>
          <a:prstGeom prst="rect">
            <a:avLst/>
          </a:prstGeom>
          <a:noFill/>
          <a:ln cap="flat" cmpd="sng" w="12700">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1 bit time  </a:t>
            </a:r>
            <a:endParaRPr sz="2400">
              <a:solidFill>
                <a:schemeClr val="dk1"/>
              </a:solidFill>
              <a:latin typeface="Calibri"/>
              <a:ea typeface="Calibri"/>
              <a:cs typeface="Calibri"/>
              <a:sym typeface="Calibri"/>
            </a:endParaRPr>
          </a:p>
        </p:txBody>
      </p:sp>
      <p:cxnSp>
        <p:nvCxnSpPr>
          <p:cNvPr id="173" name="Google Shape;173;p7"/>
          <p:cNvCxnSpPr/>
          <p:nvPr/>
        </p:nvCxnSpPr>
        <p:spPr>
          <a:xfrm>
            <a:off x="3805067" y="4388297"/>
            <a:ext cx="744583" cy="0"/>
          </a:xfrm>
          <a:prstGeom prst="straightConnector1">
            <a:avLst/>
          </a:prstGeom>
          <a:noFill/>
          <a:ln cap="flat" cmpd="sng" w="38100">
            <a:solidFill>
              <a:schemeClr val="dk1"/>
            </a:solidFill>
            <a:prstDash val="solid"/>
            <a:miter lim="800000"/>
            <a:headEnd len="med" w="med" type="triangle"/>
            <a:tailEnd len="med" w="med" type="triangle"/>
          </a:ln>
        </p:spPr>
      </p:cxnSp>
      <p:cxnSp>
        <p:nvCxnSpPr>
          <p:cNvPr id="174" name="Google Shape;174;p7"/>
          <p:cNvCxnSpPr/>
          <p:nvPr/>
        </p:nvCxnSpPr>
        <p:spPr>
          <a:xfrm>
            <a:off x="6047525" y="4486414"/>
            <a:ext cx="0" cy="1410788"/>
          </a:xfrm>
          <a:prstGeom prst="straightConnector1">
            <a:avLst/>
          </a:prstGeom>
          <a:noFill/>
          <a:ln cap="flat" cmpd="sng" w="38100">
            <a:solidFill>
              <a:schemeClr val="accent1"/>
            </a:solidFill>
            <a:prstDash val="solid"/>
            <a:miter lim="800000"/>
            <a:headEnd len="sm" w="sm" type="none"/>
            <a:tailEnd len="sm" w="sm" type="none"/>
          </a:ln>
        </p:spPr>
      </p:cxnSp>
      <p:cxnSp>
        <p:nvCxnSpPr>
          <p:cNvPr id="175" name="Google Shape;175;p7"/>
          <p:cNvCxnSpPr/>
          <p:nvPr/>
        </p:nvCxnSpPr>
        <p:spPr>
          <a:xfrm>
            <a:off x="5285525" y="4486414"/>
            <a:ext cx="0" cy="1410788"/>
          </a:xfrm>
          <a:prstGeom prst="straightConnector1">
            <a:avLst/>
          </a:prstGeom>
          <a:noFill/>
          <a:ln cap="flat" cmpd="sng" w="38100">
            <a:solidFill>
              <a:schemeClr val="accent1"/>
            </a:solidFill>
            <a:prstDash val="solid"/>
            <a:miter lim="800000"/>
            <a:headEnd len="sm" w="sm" type="none"/>
            <a:tailEnd len="sm" w="sm" type="none"/>
          </a:ln>
        </p:spPr>
      </p:cxnSp>
      <p:cxnSp>
        <p:nvCxnSpPr>
          <p:cNvPr id="176" name="Google Shape;176;p7"/>
          <p:cNvCxnSpPr/>
          <p:nvPr/>
        </p:nvCxnSpPr>
        <p:spPr>
          <a:xfrm>
            <a:off x="4549650" y="4486414"/>
            <a:ext cx="0" cy="1410788"/>
          </a:xfrm>
          <a:prstGeom prst="straightConnector1">
            <a:avLst/>
          </a:prstGeom>
          <a:noFill/>
          <a:ln cap="flat" cmpd="sng" w="38100">
            <a:solidFill>
              <a:schemeClr val="accent1"/>
            </a:solidFill>
            <a:prstDash val="solid"/>
            <a:miter lim="800000"/>
            <a:headEnd len="sm" w="sm" type="none"/>
            <a:tailEnd len="sm" w="sm" type="none"/>
          </a:ln>
        </p:spPr>
      </p:cxnSp>
      <p:cxnSp>
        <p:nvCxnSpPr>
          <p:cNvPr id="177" name="Google Shape;177;p7"/>
          <p:cNvCxnSpPr/>
          <p:nvPr/>
        </p:nvCxnSpPr>
        <p:spPr>
          <a:xfrm>
            <a:off x="3823047" y="4486414"/>
            <a:ext cx="0" cy="1410788"/>
          </a:xfrm>
          <a:prstGeom prst="straightConnector1">
            <a:avLst/>
          </a:prstGeom>
          <a:noFill/>
          <a:ln cap="flat" cmpd="sng" w="38100">
            <a:solidFill>
              <a:schemeClr val="accent1"/>
            </a:solidFill>
            <a:prstDash val="solid"/>
            <a:miter lim="800000"/>
            <a:headEnd len="sm" w="sm" type="none"/>
            <a:tailEnd len="sm" w="sm" type="none"/>
          </a:ln>
        </p:spPr>
      </p:cxnSp>
      <p:cxnSp>
        <p:nvCxnSpPr>
          <p:cNvPr id="178" name="Google Shape;178;p7"/>
          <p:cNvCxnSpPr/>
          <p:nvPr/>
        </p:nvCxnSpPr>
        <p:spPr>
          <a:xfrm>
            <a:off x="3051777" y="4486414"/>
            <a:ext cx="0" cy="1410788"/>
          </a:xfrm>
          <a:prstGeom prst="straightConnector1">
            <a:avLst/>
          </a:prstGeom>
          <a:noFill/>
          <a:ln cap="flat" cmpd="sng" w="38100">
            <a:solidFill>
              <a:schemeClr val="accent1"/>
            </a:solidFill>
            <a:prstDash val="solid"/>
            <a:miter lim="800000"/>
            <a:headEnd len="sm" w="sm" type="none"/>
            <a:tailEnd len="sm" w="sm" type="none"/>
          </a:ln>
        </p:spPr>
      </p:cxnSp>
      <p:cxnSp>
        <p:nvCxnSpPr>
          <p:cNvPr id="179" name="Google Shape;179;p7"/>
          <p:cNvCxnSpPr/>
          <p:nvPr/>
        </p:nvCxnSpPr>
        <p:spPr>
          <a:xfrm>
            <a:off x="6835650" y="4486414"/>
            <a:ext cx="0" cy="1410788"/>
          </a:xfrm>
          <a:prstGeom prst="straightConnector1">
            <a:avLst/>
          </a:prstGeom>
          <a:noFill/>
          <a:ln cap="flat" cmpd="sng" w="38100">
            <a:solidFill>
              <a:schemeClr val="accent1"/>
            </a:solidFill>
            <a:prstDash val="solid"/>
            <a:miter lim="800000"/>
            <a:headEnd len="sm" w="sm" type="none"/>
            <a:tailEnd len="sm" w="sm" type="none"/>
          </a:ln>
        </p:spPr>
      </p:cxnSp>
      <p:cxnSp>
        <p:nvCxnSpPr>
          <p:cNvPr id="180" name="Google Shape;180;p7"/>
          <p:cNvCxnSpPr/>
          <p:nvPr/>
        </p:nvCxnSpPr>
        <p:spPr>
          <a:xfrm>
            <a:off x="7575879" y="4515284"/>
            <a:ext cx="0" cy="1410788"/>
          </a:xfrm>
          <a:prstGeom prst="straightConnector1">
            <a:avLst/>
          </a:prstGeom>
          <a:noFill/>
          <a:ln cap="flat" cmpd="sng" w="38100">
            <a:solidFill>
              <a:schemeClr val="accent1"/>
            </a:solidFill>
            <a:prstDash val="solid"/>
            <a:miter lim="800000"/>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8051-UART Position</a:t>
            </a:r>
            <a:endParaRPr b="1"/>
          </a:p>
        </p:txBody>
      </p:sp>
      <p:sp>
        <p:nvSpPr>
          <p:cNvPr id="186" name="Google Shape;186;p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pic>
        <p:nvPicPr>
          <p:cNvPr id="187" name="Google Shape;187;p8"/>
          <p:cNvPicPr preferRelativeResize="0"/>
          <p:nvPr/>
        </p:nvPicPr>
        <p:blipFill rotWithShape="1">
          <a:blip r:embed="rId3">
            <a:alphaModFix/>
          </a:blip>
          <a:srcRect b="25407" l="16762" r="57429" t="35651"/>
          <a:stretch/>
        </p:blipFill>
        <p:spPr>
          <a:xfrm rot="-5400000">
            <a:off x="200848" y="1719576"/>
            <a:ext cx="3014801" cy="2558688"/>
          </a:xfrm>
          <a:prstGeom prst="rect">
            <a:avLst/>
          </a:prstGeom>
          <a:noFill/>
          <a:ln>
            <a:noFill/>
          </a:ln>
        </p:spPr>
      </p:pic>
      <p:pic>
        <p:nvPicPr>
          <p:cNvPr id="188" name="Google Shape;188;p8"/>
          <p:cNvPicPr preferRelativeResize="0"/>
          <p:nvPr>
            <p:ph idx="1" type="body"/>
          </p:nvPr>
        </p:nvPicPr>
        <p:blipFill rotWithShape="1">
          <a:blip r:embed="rId4">
            <a:alphaModFix/>
          </a:blip>
          <a:srcRect b="27350" l="30353" r="0" t="0"/>
          <a:stretch/>
        </p:blipFill>
        <p:spPr>
          <a:xfrm>
            <a:off x="4836624" y="1768537"/>
            <a:ext cx="3242652" cy="4509966"/>
          </a:xfrm>
          <a:prstGeom prst="rect">
            <a:avLst/>
          </a:prstGeom>
          <a:noFill/>
          <a:ln>
            <a:noFill/>
          </a:ln>
        </p:spPr>
      </p:pic>
      <p:sp>
        <p:nvSpPr>
          <p:cNvPr id="189" name="Google Shape;189;p8"/>
          <p:cNvSpPr/>
          <p:nvPr/>
        </p:nvSpPr>
        <p:spPr>
          <a:xfrm>
            <a:off x="4453894" y="4290399"/>
            <a:ext cx="1445623" cy="1325563"/>
          </a:xfrm>
          <a:prstGeom prst="ellipse">
            <a:avLst/>
          </a:prstGeom>
          <a:noFill/>
          <a:ln cap="flat" cmpd="sng" w="762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90" name="Google Shape;190;p8"/>
          <p:cNvCxnSpPr>
            <a:stCxn id="189" idx="1"/>
          </p:cNvCxnSpPr>
          <p:nvPr/>
        </p:nvCxnSpPr>
        <p:spPr>
          <a:xfrm rot="10800000">
            <a:off x="3068401" y="3156423"/>
            <a:ext cx="1597200" cy="1328100"/>
          </a:xfrm>
          <a:prstGeom prst="straightConnector1">
            <a:avLst/>
          </a:prstGeom>
          <a:noFill/>
          <a:ln cap="flat" cmpd="sng" w="57150">
            <a:solidFill>
              <a:srgbClr val="00B0F0"/>
            </a:solidFill>
            <a:prstDash val="solid"/>
            <a:miter lim="800000"/>
            <a:headEnd len="sm" w="sm" type="none"/>
            <a:tailEnd len="med" w="med" type="triangle"/>
          </a:ln>
        </p:spPr>
      </p:cxnSp>
      <p:sp>
        <p:nvSpPr>
          <p:cNvPr id="191" name="Google Shape;191;p8"/>
          <p:cNvSpPr txBox="1"/>
          <p:nvPr/>
        </p:nvSpPr>
        <p:spPr>
          <a:xfrm>
            <a:off x="1094295" y="4832107"/>
            <a:ext cx="3786596" cy="1446396"/>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P3_0: Rx</a:t>
            </a:r>
            <a:endParaRPr/>
          </a:p>
          <a:p>
            <a:pPr indent="-228600" lvl="0" marL="228600" marR="0" rtl="0" algn="l">
              <a:lnSpc>
                <a:spcPct val="90000"/>
              </a:lnSpc>
              <a:spcBef>
                <a:spcPts val="100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P3_1: Tx</a:t>
            </a:r>
            <a:endParaRPr/>
          </a:p>
          <a:p>
            <a:pPr indent="-50800" lvl="0" marL="228600" marR="0" rtl="0" algn="l">
              <a:lnSpc>
                <a:spcPct val="90000"/>
              </a:lnSpc>
              <a:spcBef>
                <a:spcPts val="100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UART Communication</a:t>
            </a:r>
            <a:endParaRPr b="1"/>
          </a:p>
        </p:txBody>
      </p:sp>
      <p:sp>
        <p:nvSpPr>
          <p:cNvPr id="197" name="Google Shape;197;p9"/>
          <p:cNvSpPr txBox="1"/>
          <p:nvPr>
            <p:ph idx="12" type="sldNum"/>
          </p:nvPr>
        </p:nvSpPr>
        <p:spPr>
          <a:xfrm>
            <a:off x="6273312" y="6004659"/>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198" name="Google Shape;198;p9"/>
          <p:cNvSpPr txBox="1"/>
          <p:nvPr/>
        </p:nvSpPr>
        <p:spPr>
          <a:xfrm>
            <a:off x="5847136" y="1554165"/>
            <a:ext cx="1454876" cy="523220"/>
          </a:xfrm>
          <a:prstGeom prst="rect">
            <a:avLst/>
          </a:prstGeom>
          <a:noFill/>
          <a:ln cap="flat" cmpd="sng" w="5715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UART</a:t>
            </a:r>
            <a:endParaRPr sz="2800">
              <a:solidFill>
                <a:schemeClr val="dk1"/>
              </a:solidFill>
              <a:latin typeface="Calibri"/>
              <a:ea typeface="Calibri"/>
              <a:cs typeface="Calibri"/>
              <a:sym typeface="Calibri"/>
            </a:endParaRPr>
          </a:p>
        </p:txBody>
      </p:sp>
      <p:sp>
        <p:nvSpPr>
          <p:cNvPr id="199" name="Google Shape;199;p9"/>
          <p:cNvSpPr txBox="1"/>
          <p:nvPr/>
        </p:nvSpPr>
        <p:spPr>
          <a:xfrm>
            <a:off x="1757792" y="1554165"/>
            <a:ext cx="1454876" cy="523220"/>
          </a:xfrm>
          <a:prstGeom prst="rect">
            <a:avLst/>
          </a:prstGeom>
          <a:noFill/>
          <a:ln cap="flat" cmpd="sng" w="5715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UART</a:t>
            </a:r>
            <a:endParaRPr sz="2800">
              <a:solidFill>
                <a:schemeClr val="dk1"/>
              </a:solidFill>
              <a:latin typeface="Calibri"/>
              <a:ea typeface="Calibri"/>
              <a:cs typeface="Calibri"/>
              <a:sym typeface="Calibri"/>
            </a:endParaRPr>
          </a:p>
        </p:txBody>
      </p:sp>
      <p:sp>
        <p:nvSpPr>
          <p:cNvPr id="200" name="Google Shape;200;p9"/>
          <p:cNvSpPr txBox="1"/>
          <p:nvPr/>
        </p:nvSpPr>
        <p:spPr>
          <a:xfrm>
            <a:off x="1757792" y="5617962"/>
            <a:ext cx="1454876" cy="523220"/>
          </a:xfrm>
          <a:prstGeom prst="rect">
            <a:avLst/>
          </a:prstGeom>
          <a:noFill/>
          <a:ln cap="flat" cmpd="sng" w="5715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Device 1</a:t>
            </a:r>
            <a:endParaRPr sz="2800">
              <a:solidFill>
                <a:schemeClr val="dk1"/>
              </a:solidFill>
              <a:latin typeface="Calibri"/>
              <a:ea typeface="Calibri"/>
              <a:cs typeface="Calibri"/>
              <a:sym typeface="Calibri"/>
            </a:endParaRPr>
          </a:p>
        </p:txBody>
      </p:sp>
      <p:sp>
        <p:nvSpPr>
          <p:cNvPr id="201" name="Google Shape;201;p9"/>
          <p:cNvSpPr txBox="1"/>
          <p:nvPr/>
        </p:nvSpPr>
        <p:spPr>
          <a:xfrm>
            <a:off x="5847136" y="5617962"/>
            <a:ext cx="1454876" cy="523220"/>
          </a:xfrm>
          <a:prstGeom prst="rect">
            <a:avLst/>
          </a:prstGeom>
          <a:noFill/>
          <a:ln cap="flat" cmpd="sng" w="5715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Device 2</a:t>
            </a:r>
            <a:endParaRPr sz="2800">
              <a:solidFill>
                <a:schemeClr val="dk1"/>
              </a:solidFill>
              <a:latin typeface="Calibri"/>
              <a:ea typeface="Calibri"/>
              <a:cs typeface="Calibri"/>
              <a:sym typeface="Calibri"/>
            </a:endParaRPr>
          </a:p>
        </p:txBody>
      </p:sp>
      <p:pic>
        <p:nvPicPr>
          <p:cNvPr descr="▷ Comunicaciones serie en Arduino: UART, I2C y SPI" id="202" name="Google Shape;202;p9"/>
          <p:cNvPicPr preferRelativeResize="0"/>
          <p:nvPr/>
        </p:nvPicPr>
        <p:blipFill rotWithShape="1">
          <a:blip r:embed="rId3">
            <a:alphaModFix/>
          </a:blip>
          <a:srcRect b="0" l="0" r="0" t="0"/>
          <a:stretch/>
        </p:blipFill>
        <p:spPr>
          <a:xfrm>
            <a:off x="1757792" y="2140578"/>
            <a:ext cx="5628416" cy="341419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0"/>
          <p:cNvSpPr txBox="1"/>
          <p:nvPr>
            <p:ph idx="12" type="sldNum"/>
          </p:nvPr>
        </p:nvSpPr>
        <p:spPr>
          <a:xfrm>
            <a:off x="6554665" y="6302307"/>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208" name="Google Shape;208;p10"/>
          <p:cNvSpPr/>
          <p:nvPr/>
        </p:nvSpPr>
        <p:spPr>
          <a:xfrm>
            <a:off x="3049834" y="3639060"/>
            <a:ext cx="432984" cy="473132"/>
          </a:xfrm>
          <a:prstGeom prst="flowChartDelay">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9" name="Google Shape;209;p10"/>
          <p:cNvSpPr/>
          <p:nvPr/>
        </p:nvSpPr>
        <p:spPr>
          <a:xfrm rot="10800000">
            <a:off x="2048246" y="4772734"/>
            <a:ext cx="461045" cy="473132"/>
          </a:xfrm>
          <a:prstGeom prst="moon">
            <a:avLst>
              <a:gd fmla="val 86866" name="adj"/>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0" name="Google Shape;210;p10"/>
          <p:cNvSpPr/>
          <p:nvPr/>
        </p:nvSpPr>
        <p:spPr>
          <a:xfrm rot="5400000">
            <a:off x="1884120" y="4811277"/>
            <a:ext cx="157780" cy="144866"/>
          </a:xfrm>
          <a:prstGeom prst="triangle">
            <a:avLst>
              <a:gd fmla="val 50000" name="adj"/>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1" name="Google Shape;211;p10"/>
          <p:cNvSpPr/>
          <p:nvPr/>
        </p:nvSpPr>
        <p:spPr>
          <a:xfrm>
            <a:off x="2045683" y="4868091"/>
            <a:ext cx="33418" cy="37338"/>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2" name="Google Shape;212;p10"/>
          <p:cNvSpPr/>
          <p:nvPr/>
        </p:nvSpPr>
        <p:spPr>
          <a:xfrm>
            <a:off x="1218728" y="1541945"/>
            <a:ext cx="818043" cy="440297"/>
          </a:xfrm>
          <a:prstGeom prst="rect">
            <a:avLst/>
          </a:prstGeom>
          <a:blipFill rotWithShape="1">
            <a:blip r:embed="rId3">
              <a:alphaModFix/>
            </a:blip>
            <a:stretch>
              <a:fillRect b="-45329" l="0" r="-11678" t="-19998"/>
            </a:stretch>
          </a:blip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13" name="Google Shape;213;p10"/>
          <p:cNvSpPr/>
          <p:nvPr/>
        </p:nvSpPr>
        <p:spPr>
          <a:xfrm>
            <a:off x="3389628" y="1784591"/>
            <a:ext cx="1182026" cy="960619"/>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4" name="Google Shape;214;p10"/>
          <p:cNvSpPr/>
          <p:nvPr/>
        </p:nvSpPr>
        <p:spPr>
          <a:xfrm>
            <a:off x="5264132" y="1797046"/>
            <a:ext cx="1179150" cy="923220"/>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TL0</a:t>
            </a:r>
            <a:endParaRPr/>
          </a:p>
          <a:p>
            <a:pPr indent="0" lvl="0" marL="0" marR="0" rtl="0" algn="ctr">
              <a:spcBef>
                <a:spcPts val="0"/>
              </a:spcBef>
              <a:spcAft>
                <a:spcPts val="0"/>
              </a:spcAft>
              <a:buNone/>
            </a:pPr>
            <a:r>
              <a:rPr lang="en-US" sz="2800">
                <a:solidFill>
                  <a:schemeClr val="dk1"/>
                </a:solidFill>
                <a:latin typeface="Calibri"/>
                <a:ea typeface="Calibri"/>
                <a:cs typeface="Calibri"/>
                <a:sym typeface="Calibri"/>
              </a:rPr>
              <a:t>(8 bits)</a:t>
            </a:r>
            <a:endParaRPr sz="2800">
              <a:solidFill>
                <a:schemeClr val="dk1"/>
              </a:solidFill>
              <a:latin typeface="Calibri"/>
              <a:ea typeface="Calibri"/>
              <a:cs typeface="Calibri"/>
              <a:sym typeface="Calibri"/>
            </a:endParaRPr>
          </a:p>
        </p:txBody>
      </p:sp>
      <p:sp>
        <p:nvSpPr>
          <p:cNvPr id="215" name="Google Shape;215;p10"/>
          <p:cNvSpPr/>
          <p:nvPr/>
        </p:nvSpPr>
        <p:spPr>
          <a:xfrm>
            <a:off x="7965444" y="1803878"/>
            <a:ext cx="972000" cy="896958"/>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TF0</a:t>
            </a:r>
            <a:endParaRPr/>
          </a:p>
        </p:txBody>
      </p:sp>
      <p:sp>
        <p:nvSpPr>
          <p:cNvPr id="216" name="Google Shape;216;p10"/>
          <p:cNvSpPr/>
          <p:nvPr/>
        </p:nvSpPr>
        <p:spPr>
          <a:xfrm>
            <a:off x="201055" y="1538428"/>
            <a:ext cx="818043" cy="443814"/>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OSC</a:t>
            </a:r>
            <a:endParaRPr sz="2800">
              <a:solidFill>
                <a:schemeClr val="dk1"/>
              </a:solidFill>
              <a:latin typeface="Calibri"/>
              <a:ea typeface="Calibri"/>
              <a:cs typeface="Calibri"/>
              <a:sym typeface="Calibri"/>
            </a:endParaRPr>
          </a:p>
        </p:txBody>
      </p:sp>
      <p:cxnSp>
        <p:nvCxnSpPr>
          <p:cNvPr id="217" name="Google Shape;217;p10"/>
          <p:cNvCxnSpPr/>
          <p:nvPr/>
        </p:nvCxnSpPr>
        <p:spPr>
          <a:xfrm>
            <a:off x="2272355" y="1782151"/>
            <a:ext cx="0" cy="378000"/>
          </a:xfrm>
          <a:prstGeom prst="straightConnector1">
            <a:avLst/>
          </a:prstGeom>
          <a:noFill/>
          <a:ln cap="flat" cmpd="sng" w="19050">
            <a:solidFill>
              <a:schemeClr val="dk1"/>
            </a:solidFill>
            <a:prstDash val="solid"/>
            <a:miter lim="800000"/>
            <a:headEnd len="sm" w="sm" type="none"/>
            <a:tailEnd len="med" w="med" type="triangle"/>
          </a:ln>
        </p:spPr>
      </p:cxnSp>
      <p:cxnSp>
        <p:nvCxnSpPr>
          <p:cNvPr id="218" name="Google Shape;218;p10"/>
          <p:cNvCxnSpPr/>
          <p:nvPr/>
        </p:nvCxnSpPr>
        <p:spPr>
          <a:xfrm>
            <a:off x="4010267" y="2299896"/>
            <a:ext cx="1260000" cy="0"/>
          </a:xfrm>
          <a:prstGeom prst="straightConnector1">
            <a:avLst/>
          </a:prstGeom>
          <a:noFill/>
          <a:ln cap="flat" cmpd="sng" w="19050">
            <a:solidFill>
              <a:schemeClr val="dk1"/>
            </a:solidFill>
            <a:prstDash val="solid"/>
            <a:miter lim="800000"/>
            <a:headEnd len="sm" w="sm" type="none"/>
            <a:tailEnd len="sm" w="sm" type="none"/>
          </a:ln>
        </p:spPr>
      </p:cxnSp>
      <p:sp>
        <p:nvSpPr>
          <p:cNvPr id="219" name="Google Shape;219;p10"/>
          <p:cNvSpPr/>
          <p:nvPr/>
        </p:nvSpPr>
        <p:spPr>
          <a:xfrm>
            <a:off x="3675904" y="2259459"/>
            <a:ext cx="64668" cy="64800"/>
          </a:xfrm>
          <a:prstGeom prst="ellipse">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20" name="Google Shape;220;p10"/>
          <p:cNvCxnSpPr>
            <a:stCxn id="219" idx="7"/>
          </p:cNvCxnSpPr>
          <p:nvPr/>
        </p:nvCxnSpPr>
        <p:spPr>
          <a:xfrm flipH="1" rot="10800000">
            <a:off x="3731102" y="2082649"/>
            <a:ext cx="279300" cy="186300"/>
          </a:xfrm>
          <a:prstGeom prst="straightConnector1">
            <a:avLst/>
          </a:prstGeom>
          <a:noFill/>
          <a:ln cap="flat" cmpd="sng" w="19050">
            <a:solidFill>
              <a:schemeClr val="dk1"/>
            </a:solidFill>
            <a:prstDash val="solid"/>
            <a:miter lim="800000"/>
            <a:headEnd len="sm" w="sm" type="none"/>
            <a:tailEnd len="sm" w="sm" type="none"/>
          </a:ln>
        </p:spPr>
      </p:cxnSp>
      <p:cxnSp>
        <p:nvCxnSpPr>
          <p:cNvPr id="221" name="Google Shape;221;p10"/>
          <p:cNvCxnSpPr/>
          <p:nvPr/>
        </p:nvCxnSpPr>
        <p:spPr>
          <a:xfrm>
            <a:off x="1672406" y="3739921"/>
            <a:ext cx="1383234" cy="0"/>
          </a:xfrm>
          <a:prstGeom prst="straightConnector1">
            <a:avLst/>
          </a:prstGeom>
          <a:noFill/>
          <a:ln cap="flat" cmpd="sng" w="19050">
            <a:solidFill>
              <a:schemeClr val="dk1"/>
            </a:solidFill>
            <a:prstDash val="solid"/>
            <a:miter lim="800000"/>
            <a:headEnd len="sm" w="sm" type="none"/>
            <a:tailEnd len="sm" w="sm" type="none"/>
          </a:ln>
        </p:spPr>
      </p:cxnSp>
      <p:cxnSp>
        <p:nvCxnSpPr>
          <p:cNvPr id="222" name="Google Shape;222;p10"/>
          <p:cNvCxnSpPr/>
          <p:nvPr/>
        </p:nvCxnSpPr>
        <p:spPr>
          <a:xfrm rot="10800000">
            <a:off x="4010267" y="2082661"/>
            <a:ext cx="21" cy="217235"/>
          </a:xfrm>
          <a:prstGeom prst="straightConnector1">
            <a:avLst/>
          </a:prstGeom>
          <a:noFill/>
          <a:ln cap="flat" cmpd="sng" w="19050">
            <a:solidFill>
              <a:schemeClr val="dk1"/>
            </a:solidFill>
            <a:prstDash val="solid"/>
            <a:miter lim="800000"/>
            <a:headEnd len="sm" w="sm" type="none"/>
            <a:tailEnd len="sm" w="sm" type="none"/>
          </a:ln>
        </p:spPr>
      </p:cxnSp>
      <p:cxnSp>
        <p:nvCxnSpPr>
          <p:cNvPr id="223" name="Google Shape;223;p10"/>
          <p:cNvCxnSpPr/>
          <p:nvPr/>
        </p:nvCxnSpPr>
        <p:spPr>
          <a:xfrm rot="10800000">
            <a:off x="2270771" y="2509657"/>
            <a:ext cx="0" cy="360000"/>
          </a:xfrm>
          <a:prstGeom prst="straightConnector1">
            <a:avLst/>
          </a:prstGeom>
          <a:noFill/>
          <a:ln cap="flat" cmpd="sng" w="19050">
            <a:solidFill>
              <a:schemeClr val="dk1"/>
            </a:solidFill>
            <a:prstDash val="solid"/>
            <a:miter lim="800000"/>
            <a:headEnd len="sm" w="sm" type="none"/>
            <a:tailEnd len="med" w="med" type="triangle"/>
          </a:ln>
        </p:spPr>
      </p:cxnSp>
      <p:cxnSp>
        <p:nvCxnSpPr>
          <p:cNvPr id="224" name="Google Shape;224;p10"/>
          <p:cNvCxnSpPr/>
          <p:nvPr/>
        </p:nvCxnSpPr>
        <p:spPr>
          <a:xfrm>
            <a:off x="1460591" y="2869657"/>
            <a:ext cx="810180" cy="0"/>
          </a:xfrm>
          <a:prstGeom prst="straightConnector1">
            <a:avLst/>
          </a:prstGeom>
          <a:noFill/>
          <a:ln cap="flat" cmpd="sng" w="19050">
            <a:solidFill>
              <a:schemeClr val="dk1"/>
            </a:solidFill>
            <a:prstDash val="solid"/>
            <a:miter lim="800000"/>
            <a:headEnd len="sm" w="sm" type="none"/>
            <a:tailEnd len="sm" w="sm" type="none"/>
          </a:ln>
        </p:spPr>
      </p:cxnSp>
      <p:cxnSp>
        <p:nvCxnSpPr>
          <p:cNvPr id="225" name="Google Shape;225;p10"/>
          <p:cNvCxnSpPr/>
          <p:nvPr/>
        </p:nvCxnSpPr>
        <p:spPr>
          <a:xfrm>
            <a:off x="2480810" y="2291056"/>
            <a:ext cx="1185629" cy="0"/>
          </a:xfrm>
          <a:prstGeom prst="straightConnector1">
            <a:avLst/>
          </a:prstGeom>
          <a:noFill/>
          <a:ln cap="flat" cmpd="sng" w="19050">
            <a:solidFill>
              <a:schemeClr val="dk1"/>
            </a:solidFill>
            <a:prstDash val="solid"/>
            <a:miter lim="800000"/>
            <a:headEnd len="sm" w="sm" type="none"/>
            <a:tailEnd len="sm" w="sm" type="none"/>
          </a:ln>
        </p:spPr>
      </p:cxnSp>
      <p:sp>
        <p:nvSpPr>
          <p:cNvPr id="226" name="Google Shape;226;p10"/>
          <p:cNvSpPr/>
          <p:nvPr/>
        </p:nvSpPr>
        <p:spPr>
          <a:xfrm>
            <a:off x="2320789" y="1803877"/>
            <a:ext cx="1575594" cy="461665"/>
          </a:xfrm>
          <a:prstGeom prst="rect">
            <a:avLst/>
          </a:prstGeom>
          <a:blipFill rotWithShape="1">
            <a:blip r:embed="rId4">
              <a:alphaModFix/>
            </a:blip>
            <a:stretch>
              <a:fillRect b="-28945" l="-6201" r="0" t="-1052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cxnSp>
        <p:nvCxnSpPr>
          <p:cNvPr id="227" name="Google Shape;227;p10"/>
          <p:cNvCxnSpPr/>
          <p:nvPr/>
        </p:nvCxnSpPr>
        <p:spPr>
          <a:xfrm rot="5400000">
            <a:off x="3115058" y="3115994"/>
            <a:ext cx="1134000" cy="378000"/>
          </a:xfrm>
          <a:prstGeom prst="bentConnector3">
            <a:avLst>
              <a:gd fmla="val 99285" name="adj1"/>
            </a:avLst>
          </a:prstGeom>
          <a:noFill/>
          <a:ln cap="flat" cmpd="sng" w="19050">
            <a:solidFill>
              <a:schemeClr val="dk1"/>
            </a:solidFill>
            <a:prstDash val="solid"/>
            <a:miter lim="800000"/>
            <a:headEnd len="sm" w="sm" type="none"/>
            <a:tailEnd len="sm" w="sm" type="none"/>
          </a:ln>
        </p:spPr>
      </p:cxnSp>
      <p:cxnSp>
        <p:nvCxnSpPr>
          <p:cNvPr id="228" name="Google Shape;228;p10"/>
          <p:cNvCxnSpPr/>
          <p:nvPr/>
        </p:nvCxnSpPr>
        <p:spPr>
          <a:xfrm rot="10800000">
            <a:off x="3870695" y="2421223"/>
            <a:ext cx="0" cy="324000"/>
          </a:xfrm>
          <a:prstGeom prst="straightConnector1">
            <a:avLst/>
          </a:prstGeom>
          <a:noFill/>
          <a:ln cap="flat" cmpd="sng" w="19050">
            <a:solidFill>
              <a:schemeClr val="dk1"/>
            </a:solidFill>
            <a:prstDash val="dash"/>
            <a:miter lim="800000"/>
            <a:headEnd len="sm" w="sm" type="none"/>
            <a:tailEnd len="sm" w="sm" type="none"/>
          </a:ln>
        </p:spPr>
      </p:cxnSp>
      <p:sp>
        <p:nvSpPr>
          <p:cNvPr id="229" name="Google Shape;229;p10"/>
          <p:cNvSpPr/>
          <p:nvPr/>
        </p:nvSpPr>
        <p:spPr>
          <a:xfrm>
            <a:off x="3818456" y="2700835"/>
            <a:ext cx="174559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Control</a:t>
            </a:r>
            <a:endParaRPr sz="2800">
              <a:solidFill>
                <a:schemeClr val="dk1"/>
              </a:solidFill>
              <a:latin typeface="Calibri"/>
              <a:ea typeface="Calibri"/>
              <a:cs typeface="Calibri"/>
              <a:sym typeface="Calibri"/>
            </a:endParaRPr>
          </a:p>
        </p:txBody>
      </p:sp>
      <p:cxnSp>
        <p:nvCxnSpPr>
          <p:cNvPr id="230" name="Google Shape;230;p10"/>
          <p:cNvCxnSpPr/>
          <p:nvPr/>
        </p:nvCxnSpPr>
        <p:spPr>
          <a:xfrm>
            <a:off x="1395101" y="5153955"/>
            <a:ext cx="684000" cy="0"/>
          </a:xfrm>
          <a:prstGeom prst="straightConnector1">
            <a:avLst/>
          </a:prstGeom>
          <a:noFill/>
          <a:ln cap="flat" cmpd="sng" w="19050">
            <a:solidFill>
              <a:schemeClr val="dk1"/>
            </a:solidFill>
            <a:prstDash val="solid"/>
            <a:miter lim="800000"/>
            <a:headEnd len="sm" w="sm" type="none"/>
            <a:tailEnd len="sm" w="sm" type="none"/>
          </a:ln>
        </p:spPr>
      </p:cxnSp>
      <p:sp>
        <p:nvSpPr>
          <p:cNvPr id="231" name="Google Shape;231;p10"/>
          <p:cNvSpPr/>
          <p:nvPr/>
        </p:nvSpPr>
        <p:spPr>
          <a:xfrm>
            <a:off x="100033" y="4614215"/>
            <a:ext cx="150818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Gate1=0</a:t>
            </a:r>
            <a:endParaRPr sz="2800">
              <a:solidFill>
                <a:schemeClr val="dk1"/>
              </a:solidFill>
              <a:latin typeface="Calibri"/>
              <a:ea typeface="Calibri"/>
              <a:cs typeface="Calibri"/>
              <a:sym typeface="Calibri"/>
            </a:endParaRPr>
          </a:p>
        </p:txBody>
      </p:sp>
      <p:cxnSp>
        <p:nvCxnSpPr>
          <p:cNvPr id="232" name="Google Shape;232;p10"/>
          <p:cNvCxnSpPr/>
          <p:nvPr/>
        </p:nvCxnSpPr>
        <p:spPr>
          <a:xfrm>
            <a:off x="1543731" y="4883710"/>
            <a:ext cx="346249" cy="0"/>
          </a:xfrm>
          <a:prstGeom prst="straightConnector1">
            <a:avLst/>
          </a:prstGeom>
          <a:noFill/>
          <a:ln cap="flat" cmpd="sng" w="19050">
            <a:solidFill>
              <a:schemeClr val="dk1"/>
            </a:solidFill>
            <a:prstDash val="solid"/>
            <a:miter lim="800000"/>
            <a:headEnd len="sm" w="sm" type="none"/>
            <a:tailEnd len="sm" w="sm" type="none"/>
          </a:ln>
        </p:spPr>
      </p:cxnSp>
      <p:sp>
        <p:nvSpPr>
          <p:cNvPr id="233" name="Google Shape;233;p10"/>
          <p:cNvSpPr/>
          <p:nvPr/>
        </p:nvSpPr>
        <p:spPr>
          <a:xfrm>
            <a:off x="2416142" y="2258656"/>
            <a:ext cx="64668" cy="64800"/>
          </a:xfrm>
          <a:prstGeom prst="ellipse">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34" name="Google Shape;234;p10"/>
          <p:cNvCxnSpPr/>
          <p:nvPr/>
        </p:nvCxnSpPr>
        <p:spPr>
          <a:xfrm rot="10800000">
            <a:off x="2178615" y="2082661"/>
            <a:ext cx="230695" cy="186686"/>
          </a:xfrm>
          <a:prstGeom prst="straightConnector1">
            <a:avLst/>
          </a:prstGeom>
          <a:noFill/>
          <a:ln cap="flat" cmpd="sng" w="19050">
            <a:solidFill>
              <a:schemeClr val="dk1"/>
            </a:solidFill>
            <a:prstDash val="solid"/>
            <a:miter lim="800000"/>
            <a:headEnd len="sm" w="sm" type="none"/>
            <a:tailEnd len="sm" w="sm" type="none"/>
          </a:ln>
        </p:spPr>
      </p:cxnSp>
      <p:cxnSp>
        <p:nvCxnSpPr>
          <p:cNvPr id="235" name="Google Shape;235;p10"/>
          <p:cNvCxnSpPr/>
          <p:nvPr/>
        </p:nvCxnSpPr>
        <p:spPr>
          <a:xfrm>
            <a:off x="2036771" y="1791935"/>
            <a:ext cx="234000" cy="0"/>
          </a:xfrm>
          <a:prstGeom prst="straightConnector1">
            <a:avLst/>
          </a:prstGeom>
          <a:noFill/>
          <a:ln cap="flat" cmpd="sng" w="19050">
            <a:solidFill>
              <a:schemeClr val="dk1"/>
            </a:solidFill>
            <a:prstDash val="solid"/>
            <a:miter lim="800000"/>
            <a:headEnd len="sm" w="sm" type="none"/>
            <a:tailEnd len="sm" w="sm" type="none"/>
          </a:ln>
        </p:spPr>
      </p:cxnSp>
      <p:sp>
        <p:nvSpPr>
          <p:cNvPr id="236" name="Google Shape;236;p10"/>
          <p:cNvSpPr/>
          <p:nvPr/>
        </p:nvSpPr>
        <p:spPr>
          <a:xfrm>
            <a:off x="405717" y="2583223"/>
            <a:ext cx="124358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T0 pin</a:t>
            </a:r>
            <a:endParaRPr sz="2800">
              <a:solidFill>
                <a:schemeClr val="dk1"/>
              </a:solidFill>
              <a:latin typeface="Calibri"/>
              <a:ea typeface="Calibri"/>
              <a:cs typeface="Calibri"/>
              <a:sym typeface="Calibri"/>
            </a:endParaRPr>
          </a:p>
        </p:txBody>
      </p:sp>
      <p:cxnSp>
        <p:nvCxnSpPr>
          <p:cNvPr id="237" name="Google Shape;237;p10"/>
          <p:cNvCxnSpPr/>
          <p:nvPr/>
        </p:nvCxnSpPr>
        <p:spPr>
          <a:xfrm flipH="1" rot="10800000">
            <a:off x="1221033" y="5153956"/>
            <a:ext cx="179655" cy="342391"/>
          </a:xfrm>
          <a:prstGeom prst="straightConnector1">
            <a:avLst/>
          </a:prstGeom>
          <a:noFill/>
          <a:ln cap="flat" cmpd="sng" w="19050">
            <a:solidFill>
              <a:schemeClr val="dk1"/>
            </a:solidFill>
            <a:prstDash val="solid"/>
            <a:miter lim="800000"/>
            <a:headEnd len="sm" w="sm" type="none"/>
            <a:tailEnd len="sm" w="sm" type="none"/>
          </a:ln>
        </p:spPr>
      </p:cxnSp>
      <p:sp>
        <p:nvSpPr>
          <p:cNvPr id="238" name="Google Shape;238;p10"/>
          <p:cNvSpPr/>
          <p:nvPr/>
        </p:nvSpPr>
        <p:spPr>
          <a:xfrm>
            <a:off x="199805" y="5446058"/>
            <a:ext cx="1406154" cy="523220"/>
          </a:xfrm>
          <a:prstGeom prst="rect">
            <a:avLst/>
          </a:prstGeom>
          <a:blipFill rotWithShape="1">
            <a:blip r:embed="rId5">
              <a:alphaModFix/>
            </a:blip>
            <a:stretch>
              <a:fillRect b="-32557" l="0" r="-6955" t="-1046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39" name="Google Shape;239;p10"/>
          <p:cNvSpPr/>
          <p:nvPr/>
        </p:nvSpPr>
        <p:spPr>
          <a:xfrm>
            <a:off x="646399" y="3415066"/>
            <a:ext cx="124358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TR1</a:t>
            </a:r>
            <a:endParaRPr sz="2800">
              <a:solidFill>
                <a:schemeClr val="dk1"/>
              </a:solidFill>
              <a:latin typeface="Calibri"/>
              <a:ea typeface="Calibri"/>
              <a:cs typeface="Calibri"/>
              <a:sym typeface="Calibri"/>
            </a:endParaRPr>
          </a:p>
        </p:txBody>
      </p:sp>
      <p:cxnSp>
        <p:nvCxnSpPr>
          <p:cNvPr id="240" name="Google Shape;240;p10"/>
          <p:cNvCxnSpPr/>
          <p:nvPr/>
        </p:nvCxnSpPr>
        <p:spPr>
          <a:xfrm rot="10800000">
            <a:off x="2761834" y="4006621"/>
            <a:ext cx="288000" cy="0"/>
          </a:xfrm>
          <a:prstGeom prst="straightConnector1">
            <a:avLst/>
          </a:prstGeom>
          <a:noFill/>
          <a:ln cap="flat" cmpd="sng" w="19050">
            <a:solidFill>
              <a:schemeClr val="dk1"/>
            </a:solidFill>
            <a:prstDash val="solid"/>
            <a:miter lim="800000"/>
            <a:headEnd len="sm" w="sm" type="none"/>
            <a:tailEnd len="sm" w="sm" type="none"/>
          </a:ln>
        </p:spPr>
      </p:cxnSp>
      <p:cxnSp>
        <p:nvCxnSpPr>
          <p:cNvPr id="241" name="Google Shape;241;p10"/>
          <p:cNvCxnSpPr/>
          <p:nvPr/>
        </p:nvCxnSpPr>
        <p:spPr>
          <a:xfrm rot="5400000">
            <a:off x="2139593" y="4397572"/>
            <a:ext cx="1008000" cy="216000"/>
          </a:xfrm>
          <a:prstGeom prst="bentConnector3">
            <a:avLst>
              <a:gd fmla="val 99285" name="adj1"/>
            </a:avLst>
          </a:prstGeom>
          <a:noFill/>
          <a:ln cap="flat" cmpd="sng" w="19050">
            <a:solidFill>
              <a:schemeClr val="dk1"/>
            </a:solidFill>
            <a:prstDash val="solid"/>
            <a:miter lim="800000"/>
            <a:headEnd len="sm" w="sm" type="none"/>
            <a:tailEnd len="sm" w="sm" type="none"/>
          </a:ln>
        </p:spPr>
      </p:cxnSp>
      <p:cxnSp>
        <p:nvCxnSpPr>
          <p:cNvPr id="242" name="Google Shape;242;p10"/>
          <p:cNvCxnSpPr/>
          <p:nvPr/>
        </p:nvCxnSpPr>
        <p:spPr>
          <a:xfrm>
            <a:off x="8451444" y="2700835"/>
            <a:ext cx="0" cy="378000"/>
          </a:xfrm>
          <a:prstGeom prst="straightConnector1">
            <a:avLst/>
          </a:prstGeom>
          <a:noFill/>
          <a:ln cap="flat" cmpd="sng" w="19050">
            <a:solidFill>
              <a:schemeClr val="dk1"/>
            </a:solidFill>
            <a:prstDash val="solid"/>
            <a:miter lim="800000"/>
            <a:headEnd len="sm" w="sm" type="none"/>
            <a:tailEnd len="med" w="med" type="triangle"/>
          </a:ln>
        </p:spPr>
      </p:cxnSp>
      <p:sp>
        <p:nvSpPr>
          <p:cNvPr id="243" name="Google Shape;243;p10"/>
          <p:cNvSpPr/>
          <p:nvPr/>
        </p:nvSpPr>
        <p:spPr>
          <a:xfrm>
            <a:off x="7671126" y="3039625"/>
            <a:ext cx="156063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Interrupt</a:t>
            </a:r>
            <a:endParaRPr sz="2800">
              <a:solidFill>
                <a:schemeClr val="dk1"/>
              </a:solidFill>
              <a:latin typeface="Calibri"/>
              <a:ea typeface="Calibri"/>
              <a:cs typeface="Calibri"/>
              <a:sym typeface="Calibri"/>
            </a:endParaRPr>
          </a:p>
        </p:txBody>
      </p:sp>
      <p:cxnSp>
        <p:nvCxnSpPr>
          <p:cNvPr id="244" name="Google Shape;244;p10"/>
          <p:cNvCxnSpPr/>
          <p:nvPr/>
        </p:nvCxnSpPr>
        <p:spPr>
          <a:xfrm>
            <a:off x="6431440" y="2287507"/>
            <a:ext cx="1551801" cy="0"/>
          </a:xfrm>
          <a:prstGeom prst="straightConnector1">
            <a:avLst/>
          </a:prstGeom>
          <a:noFill/>
          <a:ln cap="flat" cmpd="sng" w="19050">
            <a:solidFill>
              <a:schemeClr val="dk1"/>
            </a:solidFill>
            <a:prstDash val="solid"/>
            <a:miter lim="800000"/>
            <a:headEnd len="sm" w="sm" type="none"/>
            <a:tailEnd len="med" w="med" type="triangle"/>
          </a:ln>
        </p:spPr>
      </p:cxnSp>
      <p:cxnSp>
        <p:nvCxnSpPr>
          <p:cNvPr id="245" name="Google Shape;245;p10"/>
          <p:cNvCxnSpPr/>
          <p:nvPr/>
        </p:nvCxnSpPr>
        <p:spPr>
          <a:xfrm rot="10800000">
            <a:off x="1117928" y="1673243"/>
            <a:ext cx="0" cy="201600"/>
          </a:xfrm>
          <a:prstGeom prst="straightConnector1">
            <a:avLst/>
          </a:prstGeom>
          <a:noFill/>
          <a:ln cap="flat" cmpd="sng" w="19050">
            <a:solidFill>
              <a:schemeClr val="dk1"/>
            </a:solidFill>
            <a:prstDash val="solid"/>
            <a:miter lim="800000"/>
            <a:headEnd len="sm" w="sm" type="none"/>
            <a:tailEnd len="med" w="med" type="triangle"/>
          </a:ln>
        </p:spPr>
      </p:cxnSp>
      <p:sp>
        <p:nvSpPr>
          <p:cNvPr id="246" name="Google Shape;246;p10"/>
          <p:cNvSpPr/>
          <p:nvPr/>
        </p:nvSpPr>
        <p:spPr>
          <a:xfrm>
            <a:off x="5263682" y="3959774"/>
            <a:ext cx="1178558" cy="926235"/>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TH0</a:t>
            </a:r>
            <a:endParaRPr/>
          </a:p>
          <a:p>
            <a:pPr indent="0" lvl="0" marL="0" marR="0" rtl="0" algn="ctr">
              <a:spcBef>
                <a:spcPts val="0"/>
              </a:spcBef>
              <a:spcAft>
                <a:spcPts val="0"/>
              </a:spcAft>
              <a:buNone/>
            </a:pPr>
            <a:r>
              <a:rPr lang="en-US" sz="2800">
                <a:solidFill>
                  <a:schemeClr val="dk1"/>
                </a:solidFill>
                <a:latin typeface="Calibri"/>
                <a:ea typeface="Calibri"/>
                <a:cs typeface="Calibri"/>
                <a:sym typeface="Calibri"/>
              </a:rPr>
              <a:t>(8 bits)</a:t>
            </a:r>
            <a:endParaRPr sz="2800">
              <a:solidFill>
                <a:schemeClr val="dk1"/>
              </a:solidFill>
              <a:latin typeface="Calibri"/>
              <a:ea typeface="Calibri"/>
              <a:cs typeface="Calibri"/>
              <a:sym typeface="Calibri"/>
            </a:endParaRPr>
          </a:p>
        </p:txBody>
      </p:sp>
      <p:sp>
        <p:nvSpPr>
          <p:cNvPr id="247" name="Google Shape;247;p10"/>
          <p:cNvSpPr/>
          <p:nvPr/>
        </p:nvSpPr>
        <p:spPr>
          <a:xfrm>
            <a:off x="5629253" y="2720266"/>
            <a:ext cx="419100" cy="1239508"/>
          </a:xfrm>
          <a:prstGeom prst="upArrow">
            <a:avLst>
              <a:gd fmla="val 50000" name="adj1"/>
              <a:gd fmla="val 50000" name="adj2"/>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48" name="Google Shape;248;p10"/>
          <p:cNvCxnSpPr/>
          <p:nvPr/>
        </p:nvCxnSpPr>
        <p:spPr>
          <a:xfrm rot="5400000">
            <a:off x="5914123" y="2323507"/>
            <a:ext cx="1116000" cy="1044000"/>
          </a:xfrm>
          <a:prstGeom prst="bentConnector3">
            <a:avLst>
              <a:gd fmla="val 0" name="adj1"/>
            </a:avLst>
          </a:prstGeom>
          <a:noFill/>
          <a:ln cap="flat" cmpd="sng" w="19050">
            <a:solidFill>
              <a:schemeClr val="dk1"/>
            </a:solidFill>
            <a:prstDash val="solid"/>
            <a:miter lim="800000"/>
            <a:headEnd len="sm" w="sm" type="none"/>
            <a:tailEnd len="med" w="med" type="triangle"/>
          </a:ln>
        </p:spPr>
      </p:cxnSp>
      <p:sp>
        <p:nvSpPr>
          <p:cNvPr id="249" name="Google Shape;249;p10"/>
          <p:cNvSpPr/>
          <p:nvPr/>
        </p:nvSpPr>
        <p:spPr>
          <a:xfrm flipH="1" rot="10800000">
            <a:off x="6963648" y="2251507"/>
            <a:ext cx="72000" cy="7200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0" name="Google Shape;250;p10"/>
          <p:cNvSpPr/>
          <p:nvPr/>
        </p:nvSpPr>
        <p:spPr>
          <a:xfrm>
            <a:off x="6413051" y="1803877"/>
            <a:ext cx="174559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Overflow</a:t>
            </a:r>
            <a:endParaRPr sz="2800">
              <a:solidFill>
                <a:schemeClr val="dk1"/>
              </a:solidFill>
              <a:latin typeface="Calibri"/>
              <a:ea typeface="Calibri"/>
              <a:cs typeface="Calibri"/>
              <a:sym typeface="Calibri"/>
            </a:endParaRPr>
          </a:p>
        </p:txBody>
      </p:sp>
      <p:sp>
        <p:nvSpPr>
          <p:cNvPr id="251" name="Google Shape;251;p10"/>
          <p:cNvSpPr/>
          <p:nvPr/>
        </p:nvSpPr>
        <p:spPr>
          <a:xfrm>
            <a:off x="5897862" y="3301235"/>
            <a:ext cx="174559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Reload</a:t>
            </a:r>
            <a:endParaRPr sz="2800">
              <a:solidFill>
                <a:schemeClr val="dk1"/>
              </a:solidFill>
              <a:latin typeface="Calibri"/>
              <a:ea typeface="Calibri"/>
              <a:cs typeface="Calibri"/>
              <a:sym typeface="Calibri"/>
            </a:endParaRPr>
          </a:p>
        </p:txBody>
      </p:sp>
      <p:sp>
        <p:nvSpPr>
          <p:cNvPr id="252" name="Google Shape;252;p10"/>
          <p:cNvSpPr txBox="1"/>
          <p:nvPr/>
        </p:nvSpPr>
        <p:spPr>
          <a:xfrm>
            <a:off x="524898" y="340272"/>
            <a:ext cx="7886700" cy="101942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chemeClr val="dk1"/>
              </a:buClr>
              <a:buSzPct val="100000"/>
              <a:buFont typeface="Calibri"/>
              <a:buNone/>
            </a:pPr>
            <a:r>
              <a:rPr b="1" lang="en-US" sz="4400">
                <a:solidFill>
                  <a:schemeClr val="dk1"/>
                </a:solidFill>
                <a:latin typeface="Calibri"/>
                <a:ea typeface="Calibri"/>
                <a:cs typeface="Calibri"/>
                <a:sym typeface="Calibri"/>
              </a:rPr>
              <a:t>Timer1 Mode2 </a:t>
            </a:r>
            <a:br>
              <a:rPr b="1" lang="en-US" sz="4400">
                <a:solidFill>
                  <a:schemeClr val="dk1"/>
                </a:solidFill>
                <a:latin typeface="Calibri"/>
                <a:ea typeface="Calibri"/>
                <a:cs typeface="Calibri"/>
                <a:sym typeface="Calibri"/>
              </a:rPr>
            </a:br>
            <a:r>
              <a:rPr b="1" lang="en-US" sz="4400">
                <a:solidFill>
                  <a:schemeClr val="dk1"/>
                </a:solidFill>
                <a:latin typeface="Calibri"/>
                <a:ea typeface="Calibri"/>
                <a:cs typeface="Calibri"/>
                <a:sym typeface="Calibri"/>
              </a:rPr>
              <a:t>(8bit Operation with Auto Reload)</a:t>
            </a:r>
            <a:endParaRPr b="1" sz="4400">
              <a:solidFill>
                <a:schemeClr val="dk1"/>
              </a:solidFill>
              <a:latin typeface="Calibri"/>
              <a:ea typeface="Calibri"/>
              <a:cs typeface="Calibri"/>
              <a:sym typeface="Calibri"/>
            </a:endParaRPr>
          </a:p>
        </p:txBody>
      </p:sp>
      <p:cxnSp>
        <p:nvCxnSpPr>
          <p:cNvPr id="253" name="Google Shape;253;p10"/>
          <p:cNvCxnSpPr/>
          <p:nvPr/>
        </p:nvCxnSpPr>
        <p:spPr>
          <a:xfrm>
            <a:off x="335971" y="2050878"/>
            <a:ext cx="3307800" cy="345000"/>
          </a:xfrm>
          <a:prstGeom prst="bentConnector3">
            <a:avLst>
              <a:gd fmla="val 53687" name="adj1"/>
            </a:avLst>
          </a:prstGeom>
          <a:noFill/>
          <a:ln cap="flat" cmpd="sng" w="38100">
            <a:solidFill>
              <a:srgbClr val="C00000"/>
            </a:solidFill>
            <a:prstDash val="solid"/>
            <a:miter lim="800000"/>
            <a:headEnd len="sm" w="sm" type="none"/>
            <a:tailEnd len="med" w="med" type="triangle"/>
          </a:ln>
        </p:spPr>
      </p:cxnSp>
      <p:cxnSp>
        <p:nvCxnSpPr>
          <p:cNvPr id="254" name="Google Shape;254;p10"/>
          <p:cNvCxnSpPr/>
          <p:nvPr/>
        </p:nvCxnSpPr>
        <p:spPr>
          <a:xfrm rot="10800000">
            <a:off x="3740572" y="2421224"/>
            <a:ext cx="0" cy="1141621"/>
          </a:xfrm>
          <a:prstGeom prst="straightConnector1">
            <a:avLst/>
          </a:prstGeom>
          <a:noFill/>
          <a:ln cap="flat" cmpd="sng" w="38100">
            <a:solidFill>
              <a:srgbClr val="C00000"/>
            </a:solidFill>
            <a:prstDash val="solid"/>
            <a:miter lim="800000"/>
            <a:headEnd len="sm" w="sm" type="none"/>
            <a:tailEnd len="med" w="med" type="triangle"/>
          </a:ln>
        </p:spPr>
      </p:cxnSp>
      <p:cxnSp>
        <p:nvCxnSpPr>
          <p:cNvPr id="255" name="Google Shape;255;p10"/>
          <p:cNvCxnSpPr/>
          <p:nvPr/>
        </p:nvCxnSpPr>
        <p:spPr>
          <a:xfrm>
            <a:off x="1672406" y="3562845"/>
            <a:ext cx="2068166" cy="0"/>
          </a:xfrm>
          <a:prstGeom prst="straightConnector1">
            <a:avLst/>
          </a:prstGeom>
          <a:noFill/>
          <a:ln cap="flat" cmpd="sng" w="38100">
            <a:solidFill>
              <a:srgbClr val="C00000"/>
            </a:solidFill>
            <a:prstDash val="solid"/>
            <a:miter lim="800000"/>
            <a:headEnd len="sm" w="sm" type="none"/>
            <a:tailEnd len="sm" w="sm" type="none"/>
          </a:ln>
        </p:spPr>
      </p:cxnSp>
      <p:cxnSp>
        <p:nvCxnSpPr>
          <p:cNvPr id="256" name="Google Shape;256;p10"/>
          <p:cNvCxnSpPr/>
          <p:nvPr/>
        </p:nvCxnSpPr>
        <p:spPr>
          <a:xfrm rot="10800000">
            <a:off x="1011938" y="3903749"/>
            <a:ext cx="10379" cy="742221"/>
          </a:xfrm>
          <a:prstGeom prst="straightConnector1">
            <a:avLst/>
          </a:prstGeom>
          <a:noFill/>
          <a:ln cap="flat" cmpd="sng" w="38100">
            <a:solidFill>
              <a:schemeClr val="dk1"/>
            </a:solidFill>
            <a:prstDash val="solid"/>
            <a:miter lim="800000"/>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8051 Serial Port Settings</a:t>
            </a:r>
            <a:endParaRPr b="1"/>
          </a:p>
        </p:txBody>
      </p:sp>
      <p:sp>
        <p:nvSpPr>
          <p:cNvPr id="262" name="Google Shape;262;p1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263" name="Google Shape;263;p11"/>
          <p:cNvSpPr txBox="1"/>
          <p:nvPr/>
        </p:nvSpPr>
        <p:spPr>
          <a:xfrm>
            <a:off x="253907" y="2315885"/>
            <a:ext cx="4034789" cy="523220"/>
          </a:xfrm>
          <a:prstGeom prst="rect">
            <a:avLst/>
          </a:prstGeom>
          <a:noFill/>
          <a:ln cap="flat" cmpd="sng" w="5715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Set timer1 work mode</a:t>
            </a:r>
            <a:endParaRPr sz="2800">
              <a:solidFill>
                <a:schemeClr val="dk1"/>
              </a:solidFill>
              <a:latin typeface="Calibri"/>
              <a:ea typeface="Calibri"/>
              <a:cs typeface="Calibri"/>
              <a:sym typeface="Calibri"/>
            </a:endParaRPr>
          </a:p>
        </p:txBody>
      </p:sp>
      <p:sp>
        <p:nvSpPr>
          <p:cNvPr id="264" name="Google Shape;264;p11"/>
          <p:cNvSpPr txBox="1"/>
          <p:nvPr/>
        </p:nvSpPr>
        <p:spPr>
          <a:xfrm>
            <a:off x="253904" y="3227212"/>
            <a:ext cx="4034789" cy="523220"/>
          </a:xfrm>
          <a:prstGeom prst="rect">
            <a:avLst/>
          </a:prstGeom>
          <a:noFill/>
          <a:ln cap="flat" cmpd="sng" w="5715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Set serial port work mode</a:t>
            </a:r>
            <a:endParaRPr sz="2800">
              <a:solidFill>
                <a:schemeClr val="dk1"/>
              </a:solidFill>
              <a:latin typeface="Calibri"/>
              <a:ea typeface="Calibri"/>
              <a:cs typeface="Calibri"/>
              <a:sym typeface="Calibri"/>
            </a:endParaRPr>
          </a:p>
        </p:txBody>
      </p:sp>
      <p:sp>
        <p:nvSpPr>
          <p:cNvPr id="265" name="Google Shape;265;p11"/>
          <p:cNvSpPr txBox="1"/>
          <p:nvPr/>
        </p:nvSpPr>
        <p:spPr>
          <a:xfrm>
            <a:off x="253904" y="4181454"/>
            <a:ext cx="4034789" cy="523220"/>
          </a:xfrm>
          <a:prstGeom prst="rect">
            <a:avLst/>
          </a:prstGeom>
          <a:noFill/>
          <a:ln cap="flat" cmpd="sng" w="5715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Set baud rate</a:t>
            </a:r>
            <a:endParaRPr sz="2800">
              <a:solidFill>
                <a:schemeClr val="dk1"/>
              </a:solidFill>
              <a:latin typeface="Calibri"/>
              <a:ea typeface="Calibri"/>
              <a:cs typeface="Calibri"/>
              <a:sym typeface="Calibri"/>
            </a:endParaRPr>
          </a:p>
        </p:txBody>
      </p:sp>
      <p:sp>
        <p:nvSpPr>
          <p:cNvPr id="266" name="Google Shape;266;p11"/>
          <p:cNvSpPr txBox="1"/>
          <p:nvPr/>
        </p:nvSpPr>
        <p:spPr>
          <a:xfrm>
            <a:off x="253906" y="5175777"/>
            <a:ext cx="4034789" cy="523220"/>
          </a:xfrm>
          <a:prstGeom prst="rect">
            <a:avLst/>
          </a:prstGeom>
          <a:noFill/>
          <a:ln cap="flat" cmpd="sng" w="5715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Set interrupt enable</a:t>
            </a:r>
            <a:endParaRPr sz="2800">
              <a:solidFill>
                <a:schemeClr val="dk1"/>
              </a:solidFill>
              <a:latin typeface="Calibri"/>
              <a:ea typeface="Calibri"/>
              <a:cs typeface="Calibri"/>
              <a:sym typeface="Calibri"/>
            </a:endParaRPr>
          </a:p>
        </p:txBody>
      </p:sp>
      <p:cxnSp>
        <p:nvCxnSpPr>
          <p:cNvPr id="267" name="Google Shape;267;p11"/>
          <p:cNvCxnSpPr>
            <a:stCxn id="263" idx="2"/>
            <a:endCxn id="264" idx="0"/>
          </p:cNvCxnSpPr>
          <p:nvPr/>
        </p:nvCxnSpPr>
        <p:spPr>
          <a:xfrm>
            <a:off x="2271302" y="2839105"/>
            <a:ext cx="0" cy="388200"/>
          </a:xfrm>
          <a:prstGeom prst="straightConnector1">
            <a:avLst/>
          </a:prstGeom>
          <a:noFill/>
          <a:ln cap="flat" cmpd="sng" w="38100">
            <a:solidFill>
              <a:schemeClr val="dk1"/>
            </a:solidFill>
            <a:prstDash val="solid"/>
            <a:miter lim="800000"/>
            <a:headEnd len="sm" w="sm" type="none"/>
            <a:tailEnd len="med" w="med" type="triangle"/>
          </a:ln>
        </p:spPr>
      </p:cxnSp>
      <p:cxnSp>
        <p:nvCxnSpPr>
          <p:cNvPr id="268" name="Google Shape;268;p11"/>
          <p:cNvCxnSpPr>
            <a:stCxn id="264" idx="2"/>
            <a:endCxn id="265" idx="0"/>
          </p:cNvCxnSpPr>
          <p:nvPr/>
        </p:nvCxnSpPr>
        <p:spPr>
          <a:xfrm>
            <a:off x="2271299" y="3750432"/>
            <a:ext cx="0" cy="431100"/>
          </a:xfrm>
          <a:prstGeom prst="straightConnector1">
            <a:avLst/>
          </a:prstGeom>
          <a:noFill/>
          <a:ln cap="flat" cmpd="sng" w="38100">
            <a:solidFill>
              <a:schemeClr val="dk1"/>
            </a:solidFill>
            <a:prstDash val="solid"/>
            <a:miter lim="800000"/>
            <a:headEnd len="sm" w="sm" type="none"/>
            <a:tailEnd len="med" w="med" type="triangle"/>
          </a:ln>
        </p:spPr>
      </p:cxnSp>
      <p:cxnSp>
        <p:nvCxnSpPr>
          <p:cNvPr id="269" name="Google Shape;269;p11"/>
          <p:cNvCxnSpPr>
            <a:stCxn id="265" idx="2"/>
            <a:endCxn id="266" idx="0"/>
          </p:cNvCxnSpPr>
          <p:nvPr/>
        </p:nvCxnSpPr>
        <p:spPr>
          <a:xfrm>
            <a:off x="2271299" y="4704674"/>
            <a:ext cx="0" cy="471000"/>
          </a:xfrm>
          <a:prstGeom prst="straightConnector1">
            <a:avLst/>
          </a:prstGeom>
          <a:noFill/>
          <a:ln cap="flat" cmpd="sng" w="38100">
            <a:solidFill>
              <a:schemeClr val="dk1"/>
            </a:solidFill>
            <a:prstDash val="solid"/>
            <a:miter lim="800000"/>
            <a:headEnd len="sm" w="sm" type="none"/>
            <a:tailEnd len="med" w="med" type="triangle"/>
          </a:ln>
        </p:spPr>
      </p:cxnSp>
      <p:sp>
        <p:nvSpPr>
          <p:cNvPr id="270" name="Google Shape;270;p11"/>
          <p:cNvSpPr txBox="1"/>
          <p:nvPr/>
        </p:nvSpPr>
        <p:spPr>
          <a:xfrm>
            <a:off x="4822641" y="2303412"/>
            <a:ext cx="4034789" cy="523220"/>
          </a:xfrm>
          <a:prstGeom prst="rect">
            <a:avLst/>
          </a:prstGeom>
          <a:noFill/>
          <a:ln cap="flat" cmpd="sng" w="5715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TMOD, TCON</a:t>
            </a:r>
            <a:endParaRPr sz="2800">
              <a:solidFill>
                <a:schemeClr val="dk1"/>
              </a:solidFill>
              <a:latin typeface="Calibri"/>
              <a:ea typeface="Calibri"/>
              <a:cs typeface="Calibri"/>
              <a:sym typeface="Calibri"/>
            </a:endParaRPr>
          </a:p>
        </p:txBody>
      </p:sp>
      <p:sp>
        <p:nvSpPr>
          <p:cNvPr id="271" name="Google Shape;271;p11"/>
          <p:cNvSpPr txBox="1"/>
          <p:nvPr/>
        </p:nvSpPr>
        <p:spPr>
          <a:xfrm>
            <a:off x="4822643" y="3225919"/>
            <a:ext cx="4034789" cy="523220"/>
          </a:xfrm>
          <a:prstGeom prst="rect">
            <a:avLst/>
          </a:prstGeom>
          <a:noFill/>
          <a:ln cap="flat" cmpd="sng" w="5715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SCON</a:t>
            </a:r>
            <a:endParaRPr sz="2800">
              <a:solidFill>
                <a:schemeClr val="dk1"/>
              </a:solidFill>
              <a:latin typeface="Calibri"/>
              <a:ea typeface="Calibri"/>
              <a:cs typeface="Calibri"/>
              <a:sym typeface="Calibri"/>
            </a:endParaRPr>
          </a:p>
        </p:txBody>
      </p:sp>
      <p:sp>
        <p:nvSpPr>
          <p:cNvPr id="272" name="Google Shape;272;p11"/>
          <p:cNvSpPr txBox="1"/>
          <p:nvPr/>
        </p:nvSpPr>
        <p:spPr>
          <a:xfrm>
            <a:off x="4822638" y="4189387"/>
            <a:ext cx="4034789" cy="523220"/>
          </a:xfrm>
          <a:prstGeom prst="rect">
            <a:avLst/>
          </a:prstGeom>
          <a:noFill/>
          <a:ln cap="flat" cmpd="sng" w="5715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TH1, SMOD</a:t>
            </a:r>
            <a:endParaRPr sz="2800">
              <a:solidFill>
                <a:schemeClr val="dk1"/>
              </a:solidFill>
              <a:latin typeface="Calibri"/>
              <a:ea typeface="Calibri"/>
              <a:cs typeface="Calibri"/>
              <a:sym typeface="Calibri"/>
            </a:endParaRPr>
          </a:p>
        </p:txBody>
      </p:sp>
      <p:sp>
        <p:nvSpPr>
          <p:cNvPr id="273" name="Google Shape;273;p11"/>
          <p:cNvSpPr txBox="1"/>
          <p:nvPr/>
        </p:nvSpPr>
        <p:spPr>
          <a:xfrm>
            <a:off x="4822640" y="5207396"/>
            <a:ext cx="4034789" cy="523220"/>
          </a:xfrm>
          <a:prstGeom prst="rect">
            <a:avLst/>
          </a:prstGeom>
          <a:noFill/>
          <a:ln cap="flat" cmpd="sng" w="5715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IE</a:t>
            </a:r>
            <a:endParaRPr sz="2800">
              <a:solidFill>
                <a:schemeClr val="dk1"/>
              </a:solidFill>
              <a:latin typeface="Calibri"/>
              <a:ea typeface="Calibri"/>
              <a:cs typeface="Calibri"/>
              <a:sym typeface="Calibri"/>
            </a:endParaRPr>
          </a:p>
        </p:txBody>
      </p:sp>
      <p:cxnSp>
        <p:nvCxnSpPr>
          <p:cNvPr id="274" name="Google Shape;274;p11"/>
          <p:cNvCxnSpPr>
            <a:stCxn id="270" idx="2"/>
            <a:endCxn id="271" idx="0"/>
          </p:cNvCxnSpPr>
          <p:nvPr/>
        </p:nvCxnSpPr>
        <p:spPr>
          <a:xfrm>
            <a:off x="6840036" y="2826632"/>
            <a:ext cx="0" cy="399300"/>
          </a:xfrm>
          <a:prstGeom prst="straightConnector1">
            <a:avLst/>
          </a:prstGeom>
          <a:noFill/>
          <a:ln cap="flat" cmpd="sng" w="38100">
            <a:solidFill>
              <a:schemeClr val="dk1"/>
            </a:solidFill>
            <a:prstDash val="solid"/>
            <a:miter lim="800000"/>
            <a:headEnd len="sm" w="sm" type="none"/>
            <a:tailEnd len="med" w="med" type="triangle"/>
          </a:ln>
        </p:spPr>
      </p:cxnSp>
      <p:cxnSp>
        <p:nvCxnSpPr>
          <p:cNvPr id="275" name="Google Shape;275;p11"/>
          <p:cNvCxnSpPr>
            <a:stCxn id="271" idx="2"/>
            <a:endCxn id="272" idx="0"/>
          </p:cNvCxnSpPr>
          <p:nvPr/>
        </p:nvCxnSpPr>
        <p:spPr>
          <a:xfrm>
            <a:off x="6840038" y="3749139"/>
            <a:ext cx="0" cy="440100"/>
          </a:xfrm>
          <a:prstGeom prst="straightConnector1">
            <a:avLst/>
          </a:prstGeom>
          <a:noFill/>
          <a:ln cap="flat" cmpd="sng" w="38100">
            <a:solidFill>
              <a:schemeClr val="dk1"/>
            </a:solidFill>
            <a:prstDash val="solid"/>
            <a:miter lim="800000"/>
            <a:headEnd len="sm" w="sm" type="none"/>
            <a:tailEnd len="med" w="med" type="triangle"/>
          </a:ln>
        </p:spPr>
      </p:cxnSp>
      <p:cxnSp>
        <p:nvCxnSpPr>
          <p:cNvPr id="276" name="Google Shape;276;p11"/>
          <p:cNvCxnSpPr>
            <a:stCxn id="272" idx="2"/>
            <a:endCxn id="273" idx="0"/>
          </p:cNvCxnSpPr>
          <p:nvPr/>
        </p:nvCxnSpPr>
        <p:spPr>
          <a:xfrm>
            <a:off x="6840033" y="4712607"/>
            <a:ext cx="0" cy="494700"/>
          </a:xfrm>
          <a:prstGeom prst="straightConnector1">
            <a:avLst/>
          </a:prstGeom>
          <a:noFill/>
          <a:ln cap="flat" cmpd="sng" w="38100">
            <a:solidFill>
              <a:schemeClr val="dk1"/>
            </a:solidFill>
            <a:prstDash val="solid"/>
            <a:miter lim="800000"/>
            <a:headEnd len="sm" w="sm" type="none"/>
            <a:tailEnd len="med" w="med" type="triangle"/>
          </a:ln>
        </p:spPr>
      </p:cxnSp>
      <p:sp>
        <p:nvSpPr>
          <p:cNvPr id="277" name="Google Shape;277;p11"/>
          <p:cNvSpPr txBox="1"/>
          <p:nvPr/>
        </p:nvSpPr>
        <p:spPr>
          <a:xfrm>
            <a:off x="628649" y="1498587"/>
            <a:ext cx="7886699" cy="598875"/>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Set special function registers in 8051 </a:t>
            </a:r>
            <a:endParaRPr sz="2800">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sp>
        <p:nvSpPr>
          <p:cNvPr id="278" name="Google Shape;278;p11"/>
          <p:cNvSpPr/>
          <p:nvPr/>
        </p:nvSpPr>
        <p:spPr>
          <a:xfrm rot="10800000">
            <a:off x="4388028" y="2434217"/>
            <a:ext cx="335280" cy="261610"/>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9" name="Google Shape;279;p11"/>
          <p:cNvSpPr/>
          <p:nvPr/>
        </p:nvSpPr>
        <p:spPr>
          <a:xfrm rot="10800000">
            <a:off x="4388028" y="3356724"/>
            <a:ext cx="335280" cy="261610"/>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0" name="Google Shape;280;p11"/>
          <p:cNvSpPr/>
          <p:nvPr/>
        </p:nvSpPr>
        <p:spPr>
          <a:xfrm rot="10800000">
            <a:off x="4388024" y="4312259"/>
            <a:ext cx="335280" cy="261610"/>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1" name="Google Shape;281;p11"/>
          <p:cNvSpPr/>
          <p:nvPr/>
        </p:nvSpPr>
        <p:spPr>
          <a:xfrm rot="10800000">
            <a:off x="4388023" y="5306582"/>
            <a:ext cx="335280" cy="261610"/>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2"/>
          <p:cNvSpPr txBox="1"/>
          <p:nvPr>
            <p:ph type="title"/>
          </p:nvPr>
        </p:nvSpPr>
        <p:spPr>
          <a:xfrm>
            <a:off x="628650" y="482134"/>
            <a:ext cx="78867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lang="en-US"/>
              <a:t>Time Mode Control Register (TMOD)</a:t>
            </a:r>
            <a:br>
              <a:rPr lang="en-US"/>
            </a:br>
            <a:endParaRPr/>
          </a:p>
        </p:txBody>
      </p:sp>
      <p:sp>
        <p:nvSpPr>
          <p:cNvPr id="287" name="Google Shape;287;p1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pic>
        <p:nvPicPr>
          <p:cNvPr id="288" name="Google Shape;288;p12"/>
          <p:cNvPicPr preferRelativeResize="0"/>
          <p:nvPr>
            <p:ph idx="1" type="body"/>
          </p:nvPr>
        </p:nvPicPr>
        <p:blipFill rotWithShape="1">
          <a:blip r:embed="rId3">
            <a:alphaModFix/>
          </a:blip>
          <a:srcRect b="0" l="0" r="0" t="0"/>
          <a:stretch/>
        </p:blipFill>
        <p:spPr>
          <a:xfrm>
            <a:off x="628650" y="1483686"/>
            <a:ext cx="7886700" cy="1220468"/>
          </a:xfrm>
          <a:prstGeom prst="rect">
            <a:avLst/>
          </a:prstGeom>
          <a:noFill/>
          <a:ln>
            <a:noFill/>
          </a:ln>
        </p:spPr>
      </p:pic>
      <p:sp>
        <p:nvSpPr>
          <p:cNvPr id="289" name="Google Shape;289;p12"/>
          <p:cNvSpPr txBox="1"/>
          <p:nvPr/>
        </p:nvSpPr>
        <p:spPr>
          <a:xfrm>
            <a:off x="628650" y="4733218"/>
            <a:ext cx="8149590" cy="2246778"/>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Gate1 (bit7): 1 for interrupt to drive timer.</a:t>
            </a:r>
            <a:endParaRPr/>
          </a:p>
          <a:p>
            <a:pPr indent="0" lvl="0" marL="0" marR="0" rtl="0" algn="l">
              <a:lnSpc>
                <a:spcPct val="90000"/>
              </a:lnSpc>
              <a:spcBef>
                <a:spcPts val="1000"/>
              </a:spcBef>
              <a:spcAft>
                <a:spcPts val="0"/>
              </a:spcAft>
              <a:buClr>
                <a:schemeClr val="dk1"/>
              </a:buClr>
              <a:buSzPts val="2800"/>
              <a:buFont typeface="Arial"/>
              <a:buNone/>
            </a:pPr>
            <a:r>
              <a:rPr lang="en-US" sz="2800">
                <a:solidFill>
                  <a:schemeClr val="dk1"/>
                </a:solidFill>
                <a:latin typeface="Calibri"/>
                <a:ea typeface="Calibri"/>
                <a:cs typeface="Calibri"/>
                <a:sym typeface="Calibri"/>
              </a:rPr>
              <a:t>                          0 for TR1 in TCON to drive Timer1.</a:t>
            </a:r>
            <a:endParaRPr/>
          </a:p>
          <a:p>
            <a:pPr indent="-228600" lvl="0" marL="228600" marR="0" rtl="0" algn="l">
              <a:lnSpc>
                <a:spcPct val="90000"/>
              </a:lnSpc>
              <a:spcBef>
                <a:spcPts val="100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C/T: 1 for timer working as counter.</a:t>
            </a:r>
            <a:endParaRPr/>
          </a:p>
          <a:p>
            <a:pPr indent="0" lvl="0" marL="0" marR="0" rtl="0" algn="l">
              <a:lnSpc>
                <a:spcPct val="90000"/>
              </a:lnSpc>
              <a:spcBef>
                <a:spcPts val="1000"/>
              </a:spcBef>
              <a:spcAft>
                <a:spcPts val="0"/>
              </a:spcAft>
              <a:buClr>
                <a:schemeClr val="dk1"/>
              </a:buClr>
              <a:buSzPts val="2800"/>
              <a:buFont typeface="Arial"/>
              <a:buNone/>
            </a:pPr>
            <a:r>
              <a:rPr lang="en-US" sz="2800">
                <a:solidFill>
                  <a:schemeClr val="dk1"/>
                </a:solidFill>
                <a:latin typeface="Calibri"/>
                <a:ea typeface="Calibri"/>
                <a:cs typeface="Calibri"/>
                <a:sym typeface="Calibri"/>
              </a:rPr>
              <a:t>           0 for timer working as timer.</a:t>
            </a:r>
            <a:endParaRPr/>
          </a:p>
        </p:txBody>
      </p:sp>
      <p:pic>
        <p:nvPicPr>
          <p:cNvPr id="290" name="Google Shape;290;p12"/>
          <p:cNvPicPr preferRelativeResize="0"/>
          <p:nvPr/>
        </p:nvPicPr>
        <p:blipFill rotWithShape="1">
          <a:blip r:embed="rId4">
            <a:alphaModFix/>
          </a:blip>
          <a:srcRect b="0" l="0" r="0" t="0"/>
          <a:stretch/>
        </p:blipFill>
        <p:spPr>
          <a:xfrm>
            <a:off x="628650" y="2822229"/>
            <a:ext cx="7886700" cy="1889993"/>
          </a:xfrm>
          <a:prstGeom prst="rect">
            <a:avLst/>
          </a:prstGeom>
          <a:noFill/>
          <a:ln>
            <a:noFill/>
          </a:ln>
        </p:spPr>
      </p:pic>
      <p:sp>
        <p:nvSpPr>
          <p:cNvPr id="291" name="Google Shape;291;p12"/>
          <p:cNvSpPr/>
          <p:nvPr/>
        </p:nvSpPr>
        <p:spPr>
          <a:xfrm>
            <a:off x="628650" y="3955454"/>
            <a:ext cx="7886700" cy="372145"/>
          </a:xfrm>
          <a:prstGeom prst="rect">
            <a:avLst/>
          </a:prstGeom>
          <a:noFill/>
          <a:ln cap="flat" cmpd="sng" w="762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3"/>
          <p:cNvSpPr txBox="1"/>
          <p:nvPr>
            <p:ph type="title"/>
          </p:nvPr>
        </p:nvSpPr>
        <p:spPr>
          <a:xfrm>
            <a:off x="591172" y="517781"/>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Timer Control Register (TCON)</a:t>
            </a:r>
            <a:br>
              <a:rPr lang="en-US"/>
            </a:br>
            <a:endParaRPr/>
          </a:p>
        </p:txBody>
      </p:sp>
      <p:sp>
        <p:nvSpPr>
          <p:cNvPr id="297" name="Google Shape;297;p1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pic>
        <p:nvPicPr>
          <p:cNvPr id="298" name="Google Shape;298;p13"/>
          <p:cNvPicPr preferRelativeResize="0"/>
          <p:nvPr>
            <p:ph idx="1" type="body"/>
          </p:nvPr>
        </p:nvPicPr>
        <p:blipFill rotWithShape="1">
          <a:blip r:embed="rId3">
            <a:alphaModFix/>
          </a:blip>
          <a:srcRect b="0" l="0" r="0" t="0"/>
          <a:stretch/>
        </p:blipFill>
        <p:spPr>
          <a:xfrm>
            <a:off x="481341" y="2040496"/>
            <a:ext cx="8181317" cy="1266060"/>
          </a:xfrm>
          <a:prstGeom prst="rect">
            <a:avLst/>
          </a:prstGeom>
          <a:noFill/>
          <a:ln>
            <a:noFill/>
          </a:ln>
        </p:spPr>
      </p:pic>
      <p:graphicFrame>
        <p:nvGraphicFramePr>
          <p:cNvPr id="299" name="Google Shape;299;p13"/>
          <p:cNvGraphicFramePr/>
          <p:nvPr/>
        </p:nvGraphicFramePr>
        <p:xfrm>
          <a:off x="481341" y="4196171"/>
          <a:ext cx="3000000" cy="3000000"/>
        </p:xfrm>
        <a:graphic>
          <a:graphicData uri="http://schemas.openxmlformats.org/drawingml/2006/table">
            <a:tbl>
              <a:tblPr>
                <a:noFill/>
                <a:tableStyleId>{42050640-4A7E-47B1-A43F-CA128A589E7A}</a:tableStyleId>
              </a:tblPr>
              <a:tblGrid>
                <a:gridCol w="876300"/>
                <a:gridCol w="876300"/>
                <a:gridCol w="876300"/>
                <a:gridCol w="876300"/>
                <a:gridCol w="876300"/>
                <a:gridCol w="876300"/>
                <a:gridCol w="876300"/>
                <a:gridCol w="876300"/>
                <a:gridCol w="876300"/>
              </a:tblGrid>
              <a:tr h="307575">
                <a:tc>
                  <a:txBody>
                    <a:bodyPr/>
                    <a:lstStyle/>
                    <a:p>
                      <a:pPr indent="0" lvl="0" marL="0" marR="0" rtl="0" algn="ctr">
                        <a:spcBef>
                          <a:spcPts val="0"/>
                        </a:spcBef>
                        <a:spcAft>
                          <a:spcPts val="0"/>
                        </a:spcAft>
                        <a:buNone/>
                      </a:pPr>
                      <a:r>
                        <a:rPr b="0" i="0" lang="en-US" sz="2000" u="none" cap="none" strike="noStrike">
                          <a:solidFill>
                            <a:srgbClr val="000000"/>
                          </a:solidFill>
                          <a:latin typeface="Arial"/>
                          <a:ea typeface="Arial"/>
                          <a:cs typeface="Arial"/>
                          <a:sym typeface="Arial"/>
                        </a:rPr>
                        <a:t>Bit No.</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7</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6</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5</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4</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3</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2</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1</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0</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7575">
                <a:tc>
                  <a:txBody>
                    <a:bodyPr/>
                    <a:lstStyle/>
                    <a:p>
                      <a:pPr indent="0" lvl="0" marL="0" marR="0" rtl="0" algn="ctr">
                        <a:spcBef>
                          <a:spcPts val="0"/>
                        </a:spcBef>
                        <a:spcAft>
                          <a:spcPts val="0"/>
                        </a:spcAft>
                        <a:buNone/>
                      </a:pPr>
                      <a:r>
                        <a:rPr b="0" i="0" lang="en-US" sz="2000" u="none" cap="none" strike="noStrike">
                          <a:solidFill>
                            <a:srgbClr val="000000"/>
                          </a:solidFill>
                          <a:latin typeface="Arial"/>
                          <a:ea typeface="Arial"/>
                          <a:cs typeface="Arial"/>
                          <a:sym typeface="Arial"/>
                        </a:rPr>
                        <a:t>Symbol</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2800" u="none" cap="none" strike="noStrike"/>
                        <a:t>TF1</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2800" u="none" cap="none" strike="noStrike"/>
                        <a:t>TR1</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2800" u="none" cap="none" strike="noStrike"/>
                        <a:t>TF0</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2800" u="none" cap="none" strike="noStrike"/>
                        <a:t>TR0</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2800" u="none" cap="none" strike="noStrike"/>
                        <a:t>IE1</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2800" u="none" cap="none" strike="noStrike"/>
                        <a:t>IT1</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2800" u="none" cap="none" strike="noStrike"/>
                        <a:t>IE0</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2800" u="none" cap="none" strike="noStrike"/>
                        <a:t>IT0</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300" name="Google Shape;300;p13"/>
          <p:cNvSpPr txBox="1"/>
          <p:nvPr/>
        </p:nvSpPr>
        <p:spPr>
          <a:xfrm>
            <a:off x="406387" y="5394295"/>
            <a:ext cx="8256271" cy="64294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Set Gate1=0 (TMOD bit7) and TR1=1 to open timer 1 </a:t>
            </a:r>
            <a:endParaRPr/>
          </a:p>
          <a:p>
            <a:pPr indent="-50800" lvl="0" marL="228600" marR="0" rtl="0" algn="l">
              <a:lnSpc>
                <a:spcPct val="90000"/>
              </a:lnSpc>
              <a:spcBef>
                <a:spcPts val="100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sp>
        <p:nvSpPr>
          <p:cNvPr id="301" name="Google Shape;301;p13"/>
          <p:cNvSpPr/>
          <p:nvPr/>
        </p:nvSpPr>
        <p:spPr>
          <a:xfrm>
            <a:off x="1543670" y="2887214"/>
            <a:ext cx="828676" cy="359853"/>
          </a:xfrm>
          <a:prstGeom prst="rect">
            <a:avLst/>
          </a:prstGeom>
          <a:noFill/>
          <a:ln cap="flat" cmpd="sng" w="762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2" name="Google Shape;302;p13"/>
          <p:cNvSpPr/>
          <p:nvPr/>
        </p:nvSpPr>
        <p:spPr>
          <a:xfrm>
            <a:off x="2277096" y="4682451"/>
            <a:ext cx="809625" cy="415875"/>
          </a:xfrm>
          <a:prstGeom prst="rect">
            <a:avLst/>
          </a:prstGeom>
          <a:noFill/>
          <a:ln cap="flat" cmpd="sng" w="762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03" name="Google Shape;303;p13"/>
          <p:cNvCxnSpPr>
            <a:stCxn id="301" idx="2"/>
          </p:cNvCxnSpPr>
          <p:nvPr/>
        </p:nvCxnSpPr>
        <p:spPr>
          <a:xfrm>
            <a:off x="1958008" y="3247067"/>
            <a:ext cx="414300" cy="1424700"/>
          </a:xfrm>
          <a:prstGeom prst="straightConnector1">
            <a:avLst/>
          </a:prstGeom>
          <a:noFill/>
          <a:ln cap="flat" cmpd="sng" w="76200">
            <a:solidFill>
              <a:srgbClr val="0070C0"/>
            </a:solidFill>
            <a:prstDash val="solid"/>
            <a:miter lim="800000"/>
            <a:headEnd len="sm" w="sm" type="none"/>
            <a:tailEnd len="med" w="med" type="triangle"/>
          </a:ln>
        </p:spPr>
      </p:cxnSp>
      <p:sp>
        <p:nvSpPr>
          <p:cNvPr id="304" name="Google Shape;304;p13"/>
          <p:cNvSpPr txBox="1"/>
          <p:nvPr/>
        </p:nvSpPr>
        <p:spPr>
          <a:xfrm>
            <a:off x="548308" y="1556875"/>
            <a:ext cx="1123950" cy="523220"/>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TMOD</a:t>
            </a:r>
            <a:endParaRPr sz="2800">
              <a:solidFill>
                <a:schemeClr val="dk1"/>
              </a:solidFill>
              <a:latin typeface="Calibri"/>
              <a:ea typeface="Calibri"/>
              <a:cs typeface="Calibri"/>
              <a:sym typeface="Calibri"/>
            </a:endParaRPr>
          </a:p>
        </p:txBody>
      </p:sp>
      <p:sp>
        <p:nvSpPr>
          <p:cNvPr id="305" name="Google Shape;305;p13"/>
          <p:cNvSpPr txBox="1"/>
          <p:nvPr/>
        </p:nvSpPr>
        <p:spPr>
          <a:xfrm>
            <a:off x="481341" y="3651782"/>
            <a:ext cx="1123950" cy="523220"/>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TCON</a:t>
            </a:r>
            <a:endParaRPr sz="2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4"/>
          <p:cNvSpPr txBox="1"/>
          <p:nvPr>
            <p:ph type="title"/>
          </p:nvPr>
        </p:nvSpPr>
        <p:spPr>
          <a:xfrm>
            <a:off x="628649" y="482561"/>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Serial Port Control Register (SCON)</a:t>
            </a:r>
            <a:br>
              <a:rPr lang="en-US"/>
            </a:br>
            <a:endParaRPr/>
          </a:p>
        </p:txBody>
      </p:sp>
      <p:sp>
        <p:nvSpPr>
          <p:cNvPr id="311" name="Google Shape;311;p14"/>
          <p:cNvSpPr txBox="1"/>
          <p:nvPr>
            <p:ph idx="1" type="body"/>
          </p:nvPr>
        </p:nvSpPr>
        <p:spPr>
          <a:xfrm>
            <a:off x="628649" y="4836254"/>
            <a:ext cx="8256271" cy="1811305"/>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Set to mode 1.</a:t>
            </a:r>
            <a:endParaRPr/>
          </a:p>
          <a:p>
            <a:pPr indent="-228600" lvl="0" marL="228600" rtl="0" algn="l">
              <a:lnSpc>
                <a:spcPct val="90000"/>
              </a:lnSpc>
              <a:spcBef>
                <a:spcPts val="1000"/>
              </a:spcBef>
              <a:spcAft>
                <a:spcPts val="0"/>
              </a:spcAft>
              <a:buClr>
                <a:schemeClr val="dk1"/>
              </a:buClr>
              <a:buSzPct val="100000"/>
              <a:buChar char="•"/>
            </a:pPr>
            <a:r>
              <a:rPr lang="en-US"/>
              <a:t>Ren: set/cleared to enable/disable reception.</a:t>
            </a:r>
            <a:endParaRPr/>
          </a:p>
          <a:p>
            <a:pPr indent="-228600" lvl="0" marL="228600" rtl="0" algn="l">
              <a:lnSpc>
                <a:spcPct val="90000"/>
              </a:lnSpc>
              <a:spcBef>
                <a:spcPts val="1000"/>
              </a:spcBef>
              <a:spcAft>
                <a:spcPts val="0"/>
              </a:spcAft>
              <a:buClr>
                <a:schemeClr val="dk1"/>
              </a:buClr>
              <a:buSzPct val="100000"/>
              <a:buChar char="•"/>
            </a:pPr>
            <a:r>
              <a:rPr lang="en-US"/>
              <a:t>TI: Transmitter interrupt flag.</a:t>
            </a:r>
            <a:endParaRPr/>
          </a:p>
          <a:p>
            <a:pPr indent="-228600" lvl="0" marL="228600" rtl="0" algn="l">
              <a:lnSpc>
                <a:spcPct val="90000"/>
              </a:lnSpc>
              <a:spcBef>
                <a:spcPts val="1000"/>
              </a:spcBef>
              <a:spcAft>
                <a:spcPts val="0"/>
              </a:spcAft>
              <a:buClr>
                <a:schemeClr val="dk1"/>
              </a:buClr>
              <a:buSzPct val="100000"/>
              <a:buChar char="•"/>
            </a:pPr>
            <a:r>
              <a:rPr lang="en-US"/>
              <a:t>RI: Receiver interrupt flag.</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p:txBody>
      </p:sp>
      <p:sp>
        <p:nvSpPr>
          <p:cNvPr id="312" name="Google Shape;312;p1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graphicFrame>
        <p:nvGraphicFramePr>
          <p:cNvPr id="313" name="Google Shape;313;p14"/>
          <p:cNvGraphicFramePr/>
          <p:nvPr/>
        </p:nvGraphicFramePr>
        <p:xfrm>
          <a:off x="628650" y="1690689"/>
          <a:ext cx="3000000" cy="3000000"/>
        </p:xfrm>
        <a:graphic>
          <a:graphicData uri="http://schemas.openxmlformats.org/drawingml/2006/table">
            <a:tbl>
              <a:tblPr>
                <a:noFill/>
                <a:tableStyleId>{42050640-4A7E-47B1-A43F-CA128A589E7A}</a:tableStyleId>
              </a:tblPr>
              <a:tblGrid>
                <a:gridCol w="876300"/>
                <a:gridCol w="876300"/>
                <a:gridCol w="876300"/>
                <a:gridCol w="876300"/>
                <a:gridCol w="876300"/>
                <a:gridCol w="876300"/>
                <a:gridCol w="876300"/>
                <a:gridCol w="876300"/>
                <a:gridCol w="876300"/>
              </a:tblGrid>
              <a:tr h="307575">
                <a:tc>
                  <a:txBody>
                    <a:bodyPr/>
                    <a:lstStyle/>
                    <a:p>
                      <a:pPr indent="0" lvl="0" marL="0" marR="0" rtl="0" algn="ctr">
                        <a:spcBef>
                          <a:spcPts val="0"/>
                        </a:spcBef>
                        <a:spcAft>
                          <a:spcPts val="0"/>
                        </a:spcAft>
                        <a:buNone/>
                      </a:pPr>
                      <a:r>
                        <a:rPr b="0" i="0" lang="en-US" sz="2000" u="none" cap="none" strike="noStrike">
                          <a:solidFill>
                            <a:srgbClr val="000000"/>
                          </a:solidFill>
                          <a:latin typeface="Arial"/>
                          <a:ea typeface="Arial"/>
                          <a:cs typeface="Arial"/>
                          <a:sym typeface="Arial"/>
                        </a:rPr>
                        <a:t>Bit No.</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7</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6</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5</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4</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3</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2</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1</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0</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7575">
                <a:tc>
                  <a:txBody>
                    <a:bodyPr/>
                    <a:lstStyle/>
                    <a:p>
                      <a:pPr indent="0" lvl="0" marL="0" marR="0" rtl="0" algn="ctr">
                        <a:spcBef>
                          <a:spcPts val="0"/>
                        </a:spcBef>
                        <a:spcAft>
                          <a:spcPts val="0"/>
                        </a:spcAft>
                        <a:buNone/>
                      </a:pPr>
                      <a:r>
                        <a:rPr b="0" i="0" lang="en-US" sz="2000" u="none" cap="none" strike="noStrike">
                          <a:solidFill>
                            <a:srgbClr val="000000"/>
                          </a:solidFill>
                          <a:latin typeface="Arial"/>
                          <a:ea typeface="Arial"/>
                          <a:cs typeface="Arial"/>
                          <a:sym typeface="Arial"/>
                        </a:rPr>
                        <a:t>Symbol</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SM0</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SM1</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SM2</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REN</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TB8</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RB8</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TI</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RI</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314" name="Google Shape;314;p14"/>
          <p:cNvGraphicFramePr/>
          <p:nvPr/>
        </p:nvGraphicFramePr>
        <p:xfrm>
          <a:off x="628650" y="2821204"/>
          <a:ext cx="3000000" cy="3000000"/>
        </p:xfrm>
        <a:graphic>
          <a:graphicData uri="http://schemas.openxmlformats.org/drawingml/2006/table">
            <a:tbl>
              <a:tblPr>
                <a:noFill/>
                <a:tableStyleId>{42050640-4A7E-47B1-A43F-CA128A589E7A}</a:tableStyleId>
              </a:tblPr>
              <a:tblGrid>
                <a:gridCol w="836775"/>
                <a:gridCol w="836775"/>
                <a:gridCol w="836775"/>
                <a:gridCol w="5376350"/>
              </a:tblGrid>
              <a:tr h="196575">
                <a:tc>
                  <a:txBody>
                    <a:bodyPr/>
                    <a:lstStyle/>
                    <a:p>
                      <a:pPr indent="0" lvl="0" marL="0" marR="0" rtl="0" algn="ctr">
                        <a:spcBef>
                          <a:spcPts val="0"/>
                        </a:spcBef>
                        <a:spcAft>
                          <a:spcPts val="0"/>
                        </a:spcAft>
                        <a:buNone/>
                      </a:pPr>
                      <a:r>
                        <a:rPr b="0" i="0" lang="en-US" sz="2200" u="none" cap="none" strike="noStrike">
                          <a:solidFill>
                            <a:srgbClr val="000000"/>
                          </a:solidFill>
                          <a:latin typeface="Calibri"/>
                          <a:ea typeface="Calibri"/>
                          <a:cs typeface="Calibri"/>
                          <a:sym typeface="Calibri"/>
                        </a:rPr>
                        <a:t>SM0</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200" u="none" cap="none" strike="noStrike">
                          <a:solidFill>
                            <a:srgbClr val="000000"/>
                          </a:solidFill>
                          <a:latin typeface="Calibri"/>
                          <a:ea typeface="Calibri"/>
                          <a:cs typeface="Calibri"/>
                          <a:sym typeface="Calibri"/>
                        </a:rPr>
                        <a:t>SM1</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200" u="none" cap="none" strike="noStrike">
                          <a:solidFill>
                            <a:srgbClr val="000000"/>
                          </a:solidFill>
                          <a:latin typeface="Calibri"/>
                          <a:ea typeface="Calibri"/>
                          <a:cs typeface="Calibri"/>
                          <a:sym typeface="Calibri"/>
                        </a:rPr>
                        <a:t>Mode</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200" u="none" cap="none" strike="noStrike">
                          <a:solidFill>
                            <a:srgbClr val="000000"/>
                          </a:solidFill>
                          <a:latin typeface="Calibri"/>
                          <a:ea typeface="Calibri"/>
                          <a:cs typeface="Calibri"/>
                          <a:sym typeface="Calibri"/>
                        </a:rPr>
                        <a:t>Description</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1975">
                <a:tc>
                  <a:txBody>
                    <a:bodyPr/>
                    <a:lstStyle/>
                    <a:p>
                      <a:pPr indent="0" lvl="0" marL="0" marR="0" rtl="0" algn="ctr">
                        <a:spcBef>
                          <a:spcPts val="0"/>
                        </a:spcBef>
                        <a:spcAft>
                          <a:spcPts val="0"/>
                        </a:spcAft>
                        <a:buNone/>
                      </a:pPr>
                      <a:r>
                        <a:rPr b="0" i="0" lang="en-US" sz="2200" u="none" cap="none" strike="noStrike">
                          <a:solidFill>
                            <a:srgbClr val="000000"/>
                          </a:solidFill>
                          <a:latin typeface="Calibri"/>
                          <a:ea typeface="Calibri"/>
                          <a:cs typeface="Calibri"/>
                          <a:sym typeface="Calibri"/>
                        </a:rPr>
                        <a:t>0</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200" u="none" cap="none" strike="noStrike">
                          <a:solidFill>
                            <a:srgbClr val="000000"/>
                          </a:solidFill>
                          <a:latin typeface="Calibri"/>
                          <a:ea typeface="Calibri"/>
                          <a:cs typeface="Calibri"/>
                          <a:sym typeface="Calibri"/>
                        </a:rPr>
                        <a:t>0</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200" u="none" cap="none" strike="noStrike">
                          <a:solidFill>
                            <a:srgbClr val="000000"/>
                          </a:solidFill>
                          <a:latin typeface="Calibri"/>
                          <a:ea typeface="Calibri"/>
                          <a:cs typeface="Calibri"/>
                          <a:sym typeface="Calibri"/>
                        </a:rPr>
                        <a:t>0</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2200" u="none" cap="none" strike="noStrike">
                          <a:solidFill>
                            <a:srgbClr val="000000"/>
                          </a:solidFill>
                          <a:latin typeface="Calibri"/>
                          <a:ea typeface="Calibri"/>
                          <a:cs typeface="Calibri"/>
                          <a:sym typeface="Calibri"/>
                        </a:rPr>
                        <a:t>Shift register</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1975">
                <a:tc>
                  <a:txBody>
                    <a:bodyPr/>
                    <a:lstStyle/>
                    <a:p>
                      <a:pPr indent="0" lvl="0" marL="0" marR="0" rtl="0" algn="ctr">
                        <a:spcBef>
                          <a:spcPts val="0"/>
                        </a:spcBef>
                        <a:spcAft>
                          <a:spcPts val="0"/>
                        </a:spcAft>
                        <a:buNone/>
                      </a:pPr>
                      <a:r>
                        <a:rPr b="0" i="0" lang="en-US" sz="2200" u="none" cap="none" strike="noStrike">
                          <a:solidFill>
                            <a:srgbClr val="000000"/>
                          </a:solidFill>
                          <a:latin typeface="Calibri"/>
                          <a:ea typeface="Calibri"/>
                          <a:cs typeface="Calibri"/>
                          <a:sym typeface="Calibri"/>
                        </a:rPr>
                        <a:t>0</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200" u="none" cap="none" strike="noStrike">
                          <a:solidFill>
                            <a:srgbClr val="000000"/>
                          </a:solidFill>
                          <a:latin typeface="Calibri"/>
                          <a:ea typeface="Calibri"/>
                          <a:cs typeface="Calibri"/>
                          <a:sym typeface="Calibri"/>
                        </a:rPr>
                        <a:t>1</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200" u="none" cap="none" strike="noStrike">
                          <a:solidFill>
                            <a:srgbClr val="000000"/>
                          </a:solidFill>
                          <a:latin typeface="Calibri"/>
                          <a:ea typeface="Calibri"/>
                          <a:cs typeface="Calibri"/>
                          <a:sym typeface="Calibri"/>
                        </a:rPr>
                        <a:t>1</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2200" u="none" cap="none" strike="noStrike">
                          <a:solidFill>
                            <a:srgbClr val="000000"/>
                          </a:solidFill>
                          <a:latin typeface="Calibri"/>
                          <a:ea typeface="Calibri"/>
                          <a:cs typeface="Calibri"/>
                          <a:sym typeface="Calibri"/>
                        </a:rPr>
                        <a:t>8 Bit UART with configurable baud rate</a:t>
                      </a:r>
                      <a:endParaRPr b="0" i="0" sz="2200" u="none" cap="none" strike="noStrike">
                        <a:solidFill>
                          <a:srgbClr val="000000"/>
                        </a:solidFill>
                        <a:latin typeface="Calibri"/>
                        <a:ea typeface="Calibri"/>
                        <a:cs typeface="Calibri"/>
                        <a:sym typeface="Calibri"/>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1975">
                <a:tc>
                  <a:txBody>
                    <a:bodyPr/>
                    <a:lstStyle/>
                    <a:p>
                      <a:pPr indent="0" lvl="0" marL="0" marR="0" rtl="0" algn="ctr">
                        <a:spcBef>
                          <a:spcPts val="0"/>
                        </a:spcBef>
                        <a:spcAft>
                          <a:spcPts val="0"/>
                        </a:spcAft>
                        <a:buNone/>
                      </a:pPr>
                      <a:r>
                        <a:rPr b="0" i="0" lang="en-US" sz="2200" u="none" cap="none" strike="noStrike">
                          <a:solidFill>
                            <a:srgbClr val="000000"/>
                          </a:solidFill>
                          <a:latin typeface="Calibri"/>
                          <a:ea typeface="Calibri"/>
                          <a:cs typeface="Calibri"/>
                          <a:sym typeface="Calibri"/>
                        </a:rPr>
                        <a:t>1</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200" u="none" cap="none" strike="noStrike">
                          <a:solidFill>
                            <a:srgbClr val="000000"/>
                          </a:solidFill>
                          <a:latin typeface="Calibri"/>
                          <a:ea typeface="Calibri"/>
                          <a:cs typeface="Calibri"/>
                          <a:sym typeface="Calibri"/>
                        </a:rPr>
                        <a:t>0</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200" u="none" cap="none" strike="noStrike">
                          <a:solidFill>
                            <a:srgbClr val="000000"/>
                          </a:solidFill>
                          <a:latin typeface="Calibri"/>
                          <a:ea typeface="Calibri"/>
                          <a:cs typeface="Calibri"/>
                          <a:sym typeface="Calibri"/>
                        </a:rPr>
                        <a:t>2</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9 Bit UART with identical baud rate</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37050">
                <a:tc>
                  <a:txBody>
                    <a:bodyPr/>
                    <a:lstStyle/>
                    <a:p>
                      <a:pPr indent="0" lvl="0" marL="0" marR="0" rtl="0" algn="ctr">
                        <a:spcBef>
                          <a:spcPts val="0"/>
                        </a:spcBef>
                        <a:spcAft>
                          <a:spcPts val="0"/>
                        </a:spcAft>
                        <a:buNone/>
                      </a:pPr>
                      <a:r>
                        <a:rPr b="0" i="0" lang="en-US" sz="2200" u="none" cap="none" strike="noStrike">
                          <a:solidFill>
                            <a:srgbClr val="000000"/>
                          </a:solidFill>
                          <a:latin typeface="Calibri"/>
                          <a:ea typeface="Calibri"/>
                          <a:cs typeface="Calibri"/>
                          <a:sym typeface="Calibri"/>
                        </a:rPr>
                        <a:t>1</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200" u="none" cap="none" strike="noStrike">
                          <a:solidFill>
                            <a:srgbClr val="000000"/>
                          </a:solidFill>
                          <a:latin typeface="Calibri"/>
                          <a:ea typeface="Calibri"/>
                          <a:cs typeface="Calibri"/>
                          <a:sym typeface="Calibri"/>
                        </a:rPr>
                        <a:t>1</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200" u="none" cap="none" strike="noStrike">
                          <a:solidFill>
                            <a:srgbClr val="000000"/>
                          </a:solidFill>
                          <a:latin typeface="Calibri"/>
                          <a:ea typeface="Calibri"/>
                          <a:cs typeface="Calibri"/>
                          <a:sym typeface="Calibri"/>
                        </a:rPr>
                        <a:t>3</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9 Bit UART with configurable baud rate</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15" name="Google Shape;315;p14"/>
          <p:cNvSpPr/>
          <p:nvPr/>
        </p:nvSpPr>
        <p:spPr>
          <a:xfrm>
            <a:off x="628649" y="3510691"/>
            <a:ext cx="7886700" cy="372145"/>
          </a:xfrm>
          <a:prstGeom prst="rect">
            <a:avLst/>
          </a:prstGeom>
          <a:noFill/>
          <a:ln cap="flat" cmpd="sng" w="762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6" name="Google Shape;316;p14"/>
          <p:cNvSpPr/>
          <p:nvPr/>
        </p:nvSpPr>
        <p:spPr>
          <a:xfrm>
            <a:off x="4171949" y="2159264"/>
            <a:ext cx="819151" cy="372145"/>
          </a:xfrm>
          <a:prstGeom prst="rect">
            <a:avLst/>
          </a:prstGeom>
          <a:noFill/>
          <a:ln cap="flat" cmpd="sng" w="762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7" name="Google Shape;317;p14"/>
          <p:cNvSpPr/>
          <p:nvPr/>
        </p:nvSpPr>
        <p:spPr>
          <a:xfrm>
            <a:off x="6800849" y="2161074"/>
            <a:ext cx="1714500" cy="372145"/>
          </a:xfrm>
          <a:prstGeom prst="rect">
            <a:avLst/>
          </a:prstGeom>
          <a:noFill/>
          <a:ln cap="flat" cmpd="sng" w="762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8" name="Google Shape;318;p14"/>
          <p:cNvSpPr/>
          <p:nvPr/>
        </p:nvSpPr>
        <p:spPr>
          <a:xfrm>
            <a:off x="1543050" y="2159264"/>
            <a:ext cx="1695450" cy="372145"/>
          </a:xfrm>
          <a:prstGeom prst="rect">
            <a:avLst/>
          </a:prstGeom>
          <a:noFill/>
          <a:ln cap="flat" cmpd="sng" w="762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IE (Interrupt Enable) Register</a:t>
            </a:r>
            <a:br>
              <a:rPr b="1" lang="en-US"/>
            </a:br>
            <a:endParaRPr/>
          </a:p>
        </p:txBody>
      </p:sp>
      <p:sp>
        <p:nvSpPr>
          <p:cNvPr id="324" name="Google Shape;324;p15"/>
          <p:cNvSpPr txBox="1"/>
          <p:nvPr>
            <p:ph idx="12" type="sldNum"/>
          </p:nvPr>
        </p:nvSpPr>
        <p:spPr>
          <a:xfrm>
            <a:off x="6457950" y="631031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graphicFrame>
        <p:nvGraphicFramePr>
          <p:cNvPr id="325" name="Google Shape;325;p15"/>
          <p:cNvGraphicFramePr/>
          <p:nvPr/>
        </p:nvGraphicFramePr>
        <p:xfrm>
          <a:off x="1053465" y="2622634"/>
          <a:ext cx="3000000" cy="3000000"/>
        </p:xfrm>
        <a:graphic>
          <a:graphicData uri="http://schemas.openxmlformats.org/drawingml/2006/table">
            <a:tbl>
              <a:tblPr>
                <a:noFill/>
                <a:tableStyleId>{42050640-4A7E-47B1-A43F-CA128A589E7A}</a:tableStyleId>
              </a:tblPr>
              <a:tblGrid>
                <a:gridCol w="813425"/>
                <a:gridCol w="5922650"/>
              </a:tblGrid>
              <a:tr h="351050">
                <a:tc>
                  <a:txBody>
                    <a:bodyPr/>
                    <a:lstStyle/>
                    <a:p>
                      <a:pPr indent="0" lvl="0" marL="0" marR="0" rtl="0" algn="ctr">
                        <a:spcBef>
                          <a:spcPts val="0"/>
                        </a:spcBef>
                        <a:spcAft>
                          <a:spcPts val="0"/>
                        </a:spcAft>
                        <a:buNone/>
                      </a:pPr>
                      <a:r>
                        <a:rPr b="0" i="0" lang="en-US" sz="2400" u="none" cap="none" strike="noStrike">
                          <a:solidFill>
                            <a:srgbClr val="000000"/>
                          </a:solidFill>
                          <a:latin typeface="Calibri"/>
                          <a:ea typeface="Calibri"/>
                          <a:cs typeface="Calibri"/>
                          <a:sym typeface="Calibri"/>
                        </a:rPr>
                        <a:t>EA</a:t>
                      </a:r>
                      <a:endParaRPr/>
                    </a:p>
                  </a:txBody>
                  <a:tcPr marT="9525" marB="0"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2400" u="none" cap="none" strike="noStrike">
                          <a:solidFill>
                            <a:srgbClr val="000000"/>
                          </a:solidFill>
                          <a:latin typeface="Calibri"/>
                          <a:ea typeface="Calibri"/>
                          <a:cs typeface="Calibri"/>
                          <a:sym typeface="Calibri"/>
                        </a:rPr>
                        <a:t>Enables interrupt</a:t>
                      </a:r>
                      <a:endParaRPr/>
                    </a:p>
                  </a:txBody>
                  <a:tcPr marT="9525" marB="0"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51050">
                <a:tc>
                  <a:txBody>
                    <a:bodyPr/>
                    <a:lstStyle/>
                    <a:p>
                      <a:pPr indent="0" lvl="0" marL="0" marR="0" rtl="0" algn="ctr">
                        <a:spcBef>
                          <a:spcPts val="0"/>
                        </a:spcBef>
                        <a:spcAft>
                          <a:spcPts val="0"/>
                        </a:spcAft>
                        <a:buNone/>
                      </a:pPr>
                      <a:r>
                        <a:rPr b="0" i="0" lang="en-US" sz="2400" u="none" cap="none" strike="noStrike">
                          <a:solidFill>
                            <a:srgbClr val="000000"/>
                          </a:solidFill>
                          <a:latin typeface="Calibri"/>
                          <a:ea typeface="Calibri"/>
                          <a:cs typeface="Calibri"/>
                          <a:sym typeface="Calibri"/>
                        </a:rPr>
                        <a:t>-</a:t>
                      </a:r>
                      <a:endParaRPr/>
                    </a:p>
                  </a:txBody>
                  <a:tcPr marT="9525" marB="0"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2400" u="none" cap="none" strike="noStrike">
                          <a:solidFill>
                            <a:srgbClr val="000000"/>
                          </a:solidFill>
                          <a:latin typeface="Calibri"/>
                          <a:ea typeface="Calibri"/>
                          <a:cs typeface="Calibri"/>
                          <a:sym typeface="Calibri"/>
                        </a:rPr>
                        <a:t>Reserved for future use</a:t>
                      </a:r>
                      <a:endParaRPr/>
                    </a:p>
                  </a:txBody>
                  <a:tcPr marT="9525" marB="0"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51050">
                <a:tc>
                  <a:txBody>
                    <a:bodyPr/>
                    <a:lstStyle/>
                    <a:p>
                      <a:pPr indent="0" lvl="0" marL="0" marR="0" rtl="0" algn="ctr">
                        <a:spcBef>
                          <a:spcPts val="0"/>
                        </a:spcBef>
                        <a:spcAft>
                          <a:spcPts val="0"/>
                        </a:spcAft>
                        <a:buNone/>
                      </a:pPr>
                      <a:r>
                        <a:rPr b="0" i="0" lang="en-US" sz="2400" u="none" cap="none" strike="noStrike">
                          <a:solidFill>
                            <a:srgbClr val="000000"/>
                          </a:solidFill>
                          <a:latin typeface="Calibri"/>
                          <a:ea typeface="Calibri"/>
                          <a:cs typeface="Calibri"/>
                          <a:sym typeface="Calibri"/>
                        </a:rPr>
                        <a:t>-</a:t>
                      </a:r>
                      <a:endParaRPr/>
                    </a:p>
                  </a:txBody>
                  <a:tcPr marT="9525" marB="0"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2400" u="none" cap="none" strike="noStrike">
                          <a:solidFill>
                            <a:srgbClr val="000000"/>
                          </a:solidFill>
                          <a:latin typeface="Calibri"/>
                          <a:ea typeface="Calibri"/>
                          <a:cs typeface="Calibri"/>
                          <a:sym typeface="Calibri"/>
                        </a:rPr>
                        <a:t>Reserved for future use</a:t>
                      </a:r>
                      <a:endParaRPr/>
                    </a:p>
                  </a:txBody>
                  <a:tcPr marT="9525" marB="0"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51050">
                <a:tc>
                  <a:txBody>
                    <a:bodyPr/>
                    <a:lstStyle/>
                    <a:p>
                      <a:pPr indent="0" lvl="0" marL="0" marR="0" rtl="0" algn="ctr">
                        <a:spcBef>
                          <a:spcPts val="0"/>
                        </a:spcBef>
                        <a:spcAft>
                          <a:spcPts val="0"/>
                        </a:spcAft>
                        <a:buNone/>
                      </a:pPr>
                      <a:r>
                        <a:rPr b="0" i="0" lang="en-US" sz="2400" u="none" cap="none" strike="noStrike">
                          <a:solidFill>
                            <a:srgbClr val="000000"/>
                          </a:solidFill>
                          <a:latin typeface="Calibri"/>
                          <a:ea typeface="Calibri"/>
                          <a:cs typeface="Calibri"/>
                          <a:sym typeface="Calibri"/>
                        </a:rPr>
                        <a:t>ES</a:t>
                      </a:r>
                      <a:endParaRPr/>
                    </a:p>
                  </a:txBody>
                  <a:tcPr marT="9525" marB="0"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2400" u="none" cap="none" strike="noStrike">
                          <a:solidFill>
                            <a:srgbClr val="000000"/>
                          </a:solidFill>
                          <a:latin typeface="Calibri"/>
                          <a:ea typeface="Calibri"/>
                          <a:cs typeface="Calibri"/>
                          <a:sym typeface="Calibri"/>
                        </a:rPr>
                        <a:t> Enables/disables serial port interrupt</a:t>
                      </a:r>
                      <a:endParaRPr/>
                    </a:p>
                  </a:txBody>
                  <a:tcPr marT="9525" marB="0"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05525">
                <a:tc>
                  <a:txBody>
                    <a:bodyPr/>
                    <a:lstStyle/>
                    <a:p>
                      <a:pPr indent="0" lvl="0" marL="0" marR="0" rtl="0" algn="ctr">
                        <a:spcBef>
                          <a:spcPts val="0"/>
                        </a:spcBef>
                        <a:spcAft>
                          <a:spcPts val="0"/>
                        </a:spcAft>
                        <a:buNone/>
                      </a:pPr>
                      <a:r>
                        <a:rPr b="0" i="0" lang="en-US" sz="2400" u="none" cap="none" strike="noStrike">
                          <a:solidFill>
                            <a:srgbClr val="000000"/>
                          </a:solidFill>
                          <a:latin typeface="Calibri"/>
                          <a:ea typeface="Calibri"/>
                          <a:cs typeface="Calibri"/>
                          <a:sym typeface="Calibri"/>
                        </a:rPr>
                        <a:t>ET1</a:t>
                      </a:r>
                      <a:endParaRPr/>
                    </a:p>
                  </a:txBody>
                  <a:tcPr marT="9525" marB="0"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2400" u="none" cap="none" strike="noStrike">
                          <a:solidFill>
                            <a:srgbClr val="000000"/>
                          </a:solidFill>
                          <a:latin typeface="Calibri"/>
                          <a:ea typeface="Calibri"/>
                          <a:cs typeface="Calibri"/>
                          <a:sym typeface="Calibri"/>
                        </a:rPr>
                        <a:t> Enables/disables timer1 overflow interrupt</a:t>
                      </a:r>
                      <a:endParaRPr/>
                    </a:p>
                  </a:txBody>
                  <a:tcPr marT="9525" marB="0"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51050">
                <a:tc>
                  <a:txBody>
                    <a:bodyPr/>
                    <a:lstStyle/>
                    <a:p>
                      <a:pPr indent="0" lvl="0" marL="0" marR="0" rtl="0" algn="ctr">
                        <a:spcBef>
                          <a:spcPts val="0"/>
                        </a:spcBef>
                        <a:spcAft>
                          <a:spcPts val="0"/>
                        </a:spcAft>
                        <a:buNone/>
                      </a:pPr>
                      <a:r>
                        <a:rPr b="0" i="0" lang="en-US" sz="2400" u="none" cap="none" strike="noStrike">
                          <a:solidFill>
                            <a:srgbClr val="000000"/>
                          </a:solidFill>
                          <a:latin typeface="Calibri"/>
                          <a:ea typeface="Calibri"/>
                          <a:cs typeface="Calibri"/>
                          <a:sym typeface="Calibri"/>
                        </a:rPr>
                        <a:t>EX1</a:t>
                      </a:r>
                      <a:endParaRPr/>
                    </a:p>
                  </a:txBody>
                  <a:tcPr marT="9525" marB="0"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2400" u="none" cap="none" strike="noStrike">
                          <a:solidFill>
                            <a:srgbClr val="000000"/>
                          </a:solidFill>
                          <a:latin typeface="Calibri"/>
                          <a:ea typeface="Calibri"/>
                          <a:cs typeface="Calibri"/>
                          <a:sym typeface="Calibri"/>
                        </a:rPr>
                        <a:t> Enables/disables external interrupt1</a:t>
                      </a:r>
                      <a:endParaRPr/>
                    </a:p>
                  </a:txBody>
                  <a:tcPr marT="9525" marB="0"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3150">
                <a:tc>
                  <a:txBody>
                    <a:bodyPr/>
                    <a:lstStyle/>
                    <a:p>
                      <a:pPr indent="0" lvl="0" marL="0" marR="0" rtl="0" algn="ctr">
                        <a:spcBef>
                          <a:spcPts val="0"/>
                        </a:spcBef>
                        <a:spcAft>
                          <a:spcPts val="0"/>
                        </a:spcAft>
                        <a:buNone/>
                      </a:pPr>
                      <a:r>
                        <a:rPr b="0" i="0" lang="en-US" sz="2400" u="none" cap="none" strike="noStrike">
                          <a:solidFill>
                            <a:srgbClr val="000000"/>
                          </a:solidFill>
                          <a:latin typeface="Calibri"/>
                          <a:ea typeface="Calibri"/>
                          <a:cs typeface="Calibri"/>
                          <a:sym typeface="Calibri"/>
                        </a:rPr>
                        <a:t>ET0</a:t>
                      </a:r>
                      <a:endParaRPr/>
                    </a:p>
                  </a:txBody>
                  <a:tcPr marT="9525" marB="0"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2400" u="none" cap="none" strike="noStrike">
                          <a:solidFill>
                            <a:srgbClr val="000000"/>
                          </a:solidFill>
                          <a:latin typeface="Calibri"/>
                          <a:ea typeface="Calibri"/>
                          <a:cs typeface="Calibri"/>
                          <a:sym typeface="Calibri"/>
                        </a:rPr>
                        <a:t> Enables/disables timer0 overflow interrupt</a:t>
                      </a:r>
                      <a:endParaRPr/>
                    </a:p>
                  </a:txBody>
                  <a:tcPr marT="9525" marB="0" marR="9525" marL="95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51050">
                <a:tc>
                  <a:txBody>
                    <a:bodyPr/>
                    <a:lstStyle/>
                    <a:p>
                      <a:pPr indent="0" lvl="0" marL="0" marR="0" rtl="0" algn="ctr">
                        <a:spcBef>
                          <a:spcPts val="0"/>
                        </a:spcBef>
                        <a:spcAft>
                          <a:spcPts val="0"/>
                        </a:spcAft>
                        <a:buNone/>
                      </a:pPr>
                      <a:r>
                        <a:rPr b="0" i="0" lang="en-US" sz="2400" u="none" cap="none" strike="noStrike">
                          <a:solidFill>
                            <a:srgbClr val="000000"/>
                          </a:solidFill>
                          <a:latin typeface="Calibri"/>
                          <a:ea typeface="Calibri"/>
                          <a:cs typeface="Calibri"/>
                          <a:sym typeface="Calibri"/>
                        </a:rPr>
                        <a:t>EX0</a:t>
                      </a:r>
                      <a:endParaRPr/>
                    </a:p>
                  </a:txBody>
                  <a:tcPr marT="9525" marB="0"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2400" u="none" cap="none" strike="noStrike">
                          <a:solidFill>
                            <a:srgbClr val="000000"/>
                          </a:solidFill>
                          <a:latin typeface="Calibri"/>
                          <a:ea typeface="Calibri"/>
                          <a:cs typeface="Calibri"/>
                          <a:sym typeface="Calibri"/>
                        </a:rPr>
                        <a:t> Enables/disables external interrupt0</a:t>
                      </a:r>
                      <a:endParaRPr/>
                    </a:p>
                  </a:txBody>
                  <a:tcPr marT="9525" marB="0"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326" name="Google Shape;326;p15"/>
          <p:cNvGraphicFramePr/>
          <p:nvPr/>
        </p:nvGraphicFramePr>
        <p:xfrm>
          <a:off x="628650" y="1491684"/>
          <a:ext cx="3000000" cy="3000000"/>
        </p:xfrm>
        <a:graphic>
          <a:graphicData uri="http://schemas.openxmlformats.org/drawingml/2006/table">
            <a:tbl>
              <a:tblPr>
                <a:noFill/>
                <a:tableStyleId>{42050640-4A7E-47B1-A43F-CA128A589E7A}</a:tableStyleId>
              </a:tblPr>
              <a:tblGrid>
                <a:gridCol w="876300"/>
                <a:gridCol w="876300"/>
                <a:gridCol w="876300"/>
                <a:gridCol w="876300"/>
                <a:gridCol w="876300"/>
                <a:gridCol w="876300"/>
                <a:gridCol w="876300"/>
                <a:gridCol w="876300"/>
                <a:gridCol w="876300"/>
              </a:tblGrid>
              <a:tr h="420925">
                <a:tc>
                  <a:txBody>
                    <a:bodyPr/>
                    <a:lstStyle/>
                    <a:p>
                      <a:pPr indent="0" lvl="0" marL="0" marR="0" rtl="0" algn="ctr">
                        <a:spcBef>
                          <a:spcPts val="0"/>
                        </a:spcBef>
                        <a:spcAft>
                          <a:spcPts val="0"/>
                        </a:spcAft>
                        <a:buNone/>
                      </a:pPr>
                      <a:r>
                        <a:rPr b="0" i="0" lang="en-US" sz="2000" u="none" cap="none" strike="noStrike">
                          <a:solidFill>
                            <a:srgbClr val="000000"/>
                          </a:solidFill>
                          <a:latin typeface="Arial"/>
                          <a:ea typeface="Arial"/>
                          <a:cs typeface="Arial"/>
                          <a:sym typeface="Arial"/>
                        </a:rPr>
                        <a:t>Bit No.</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7</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6</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5</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4</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3</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2</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1</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0</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7575">
                <a:tc>
                  <a:txBody>
                    <a:bodyPr/>
                    <a:lstStyle/>
                    <a:p>
                      <a:pPr indent="0" lvl="0" marL="0" marR="0" rtl="0" algn="ctr">
                        <a:spcBef>
                          <a:spcPts val="0"/>
                        </a:spcBef>
                        <a:spcAft>
                          <a:spcPts val="0"/>
                        </a:spcAft>
                        <a:buNone/>
                      </a:pPr>
                      <a:r>
                        <a:rPr b="0" i="0" lang="en-US" sz="2000" u="none" cap="none" strike="noStrike">
                          <a:solidFill>
                            <a:srgbClr val="000000"/>
                          </a:solidFill>
                          <a:latin typeface="Arial"/>
                          <a:ea typeface="Arial"/>
                          <a:cs typeface="Arial"/>
                          <a:sym typeface="Arial"/>
                        </a:rPr>
                        <a:t>Symbol</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EA</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RSV</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RSV</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ES</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ET1</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EX1</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ET0</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800" u="none" cap="none" strike="noStrike">
                          <a:solidFill>
                            <a:srgbClr val="000000"/>
                          </a:solidFill>
                          <a:latin typeface="Arial"/>
                          <a:ea typeface="Arial"/>
                          <a:cs typeface="Arial"/>
                          <a:sym typeface="Arial"/>
                        </a:rPr>
                        <a:t>EX0</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327" name="Google Shape;327;p15"/>
          <p:cNvSpPr/>
          <p:nvPr/>
        </p:nvSpPr>
        <p:spPr>
          <a:xfrm>
            <a:off x="4162424" y="1948125"/>
            <a:ext cx="819151" cy="372145"/>
          </a:xfrm>
          <a:prstGeom prst="rect">
            <a:avLst/>
          </a:prstGeom>
          <a:noFill/>
          <a:ln cap="flat" cmpd="sng" w="762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8" name="Google Shape;328;p15"/>
          <p:cNvSpPr/>
          <p:nvPr/>
        </p:nvSpPr>
        <p:spPr>
          <a:xfrm>
            <a:off x="1515426" y="1955055"/>
            <a:ext cx="819151" cy="372145"/>
          </a:xfrm>
          <a:prstGeom prst="rect">
            <a:avLst/>
          </a:prstGeom>
          <a:noFill/>
          <a:ln cap="flat" cmpd="sng" w="762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9" name="Google Shape;329;p15"/>
          <p:cNvSpPr/>
          <p:nvPr/>
        </p:nvSpPr>
        <p:spPr>
          <a:xfrm>
            <a:off x="1053465" y="2639987"/>
            <a:ext cx="6736080" cy="372145"/>
          </a:xfrm>
          <a:prstGeom prst="rect">
            <a:avLst/>
          </a:prstGeom>
          <a:noFill/>
          <a:ln cap="flat" cmpd="sng" w="762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0" name="Google Shape;330;p15"/>
          <p:cNvSpPr/>
          <p:nvPr/>
        </p:nvSpPr>
        <p:spPr>
          <a:xfrm>
            <a:off x="1053465" y="3768156"/>
            <a:ext cx="6736080" cy="372145"/>
          </a:xfrm>
          <a:prstGeom prst="rect">
            <a:avLst/>
          </a:prstGeom>
          <a:noFill/>
          <a:ln cap="flat" cmpd="sng" w="762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1" name="Google Shape;331;p15"/>
          <p:cNvSpPr txBox="1"/>
          <p:nvPr>
            <p:ph idx="1" type="body"/>
          </p:nvPr>
        </p:nvSpPr>
        <p:spPr>
          <a:xfrm>
            <a:off x="1005839" y="5844061"/>
            <a:ext cx="7132321" cy="46625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Set EA and ES =1 (Enable </a:t>
            </a:r>
            <a:r>
              <a:rPr lang="en-US">
                <a:solidFill>
                  <a:srgbClr val="000000"/>
                </a:solidFill>
                <a:latin typeface="Calibri"/>
                <a:ea typeface="Calibri"/>
                <a:cs typeface="Calibri"/>
                <a:sym typeface="Calibri"/>
              </a:rPr>
              <a:t>serial port interrupt</a:t>
            </a:r>
            <a:r>
              <a:rPr lang="en-US"/>
              <a:t>)</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6"/>
          <p:cNvSpPr txBox="1"/>
          <p:nvPr>
            <p:ph idx="12" type="sldNum"/>
          </p:nvPr>
        </p:nvSpPr>
        <p:spPr>
          <a:xfrm>
            <a:off x="6554665" y="6302307"/>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337" name="Google Shape;337;p16"/>
          <p:cNvSpPr/>
          <p:nvPr/>
        </p:nvSpPr>
        <p:spPr>
          <a:xfrm>
            <a:off x="3049834" y="3639060"/>
            <a:ext cx="432984" cy="473132"/>
          </a:xfrm>
          <a:prstGeom prst="flowChartDelay">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8" name="Google Shape;338;p16"/>
          <p:cNvSpPr/>
          <p:nvPr/>
        </p:nvSpPr>
        <p:spPr>
          <a:xfrm rot="10800000">
            <a:off x="2048246" y="4772734"/>
            <a:ext cx="461045" cy="473132"/>
          </a:xfrm>
          <a:prstGeom prst="moon">
            <a:avLst>
              <a:gd fmla="val 86866" name="adj"/>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9" name="Google Shape;339;p16"/>
          <p:cNvSpPr/>
          <p:nvPr/>
        </p:nvSpPr>
        <p:spPr>
          <a:xfrm rot="5400000">
            <a:off x="1884120" y="4811277"/>
            <a:ext cx="157780" cy="144866"/>
          </a:xfrm>
          <a:prstGeom prst="triangle">
            <a:avLst>
              <a:gd fmla="val 50000" name="adj"/>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0" name="Google Shape;340;p16"/>
          <p:cNvSpPr/>
          <p:nvPr/>
        </p:nvSpPr>
        <p:spPr>
          <a:xfrm>
            <a:off x="2045683" y="4868091"/>
            <a:ext cx="33418" cy="37338"/>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1" name="Google Shape;341;p16"/>
          <p:cNvSpPr/>
          <p:nvPr/>
        </p:nvSpPr>
        <p:spPr>
          <a:xfrm>
            <a:off x="1218728" y="1541945"/>
            <a:ext cx="818043" cy="440297"/>
          </a:xfrm>
          <a:prstGeom prst="rect">
            <a:avLst/>
          </a:prstGeom>
          <a:blipFill rotWithShape="1">
            <a:blip r:embed="rId3">
              <a:alphaModFix/>
            </a:blip>
            <a:stretch>
              <a:fillRect b="-45329" l="0" r="-11678" t="-19998"/>
            </a:stretch>
          </a:blip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342" name="Google Shape;342;p16"/>
          <p:cNvSpPr/>
          <p:nvPr/>
        </p:nvSpPr>
        <p:spPr>
          <a:xfrm>
            <a:off x="3389628" y="1784591"/>
            <a:ext cx="1182026" cy="960619"/>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3" name="Google Shape;343;p16"/>
          <p:cNvSpPr/>
          <p:nvPr/>
        </p:nvSpPr>
        <p:spPr>
          <a:xfrm>
            <a:off x="5264132" y="1797046"/>
            <a:ext cx="1179150" cy="923220"/>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TL0</a:t>
            </a:r>
            <a:endParaRPr/>
          </a:p>
          <a:p>
            <a:pPr indent="0" lvl="0" marL="0" marR="0" rtl="0" algn="ctr">
              <a:spcBef>
                <a:spcPts val="0"/>
              </a:spcBef>
              <a:spcAft>
                <a:spcPts val="0"/>
              </a:spcAft>
              <a:buNone/>
            </a:pPr>
            <a:r>
              <a:rPr lang="en-US" sz="2800">
                <a:solidFill>
                  <a:schemeClr val="dk1"/>
                </a:solidFill>
                <a:latin typeface="Calibri"/>
                <a:ea typeface="Calibri"/>
                <a:cs typeface="Calibri"/>
                <a:sym typeface="Calibri"/>
              </a:rPr>
              <a:t>(8 bits)</a:t>
            </a:r>
            <a:endParaRPr sz="2800">
              <a:solidFill>
                <a:schemeClr val="dk1"/>
              </a:solidFill>
              <a:latin typeface="Calibri"/>
              <a:ea typeface="Calibri"/>
              <a:cs typeface="Calibri"/>
              <a:sym typeface="Calibri"/>
            </a:endParaRPr>
          </a:p>
        </p:txBody>
      </p:sp>
      <p:sp>
        <p:nvSpPr>
          <p:cNvPr id="344" name="Google Shape;344;p16"/>
          <p:cNvSpPr/>
          <p:nvPr/>
        </p:nvSpPr>
        <p:spPr>
          <a:xfrm>
            <a:off x="7965444" y="1803878"/>
            <a:ext cx="972000" cy="896958"/>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TF0</a:t>
            </a:r>
            <a:endParaRPr/>
          </a:p>
        </p:txBody>
      </p:sp>
      <p:sp>
        <p:nvSpPr>
          <p:cNvPr id="345" name="Google Shape;345;p16"/>
          <p:cNvSpPr/>
          <p:nvPr/>
        </p:nvSpPr>
        <p:spPr>
          <a:xfrm>
            <a:off x="201055" y="1538428"/>
            <a:ext cx="818043" cy="443814"/>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OSC</a:t>
            </a:r>
            <a:endParaRPr sz="2800">
              <a:solidFill>
                <a:schemeClr val="dk1"/>
              </a:solidFill>
              <a:latin typeface="Calibri"/>
              <a:ea typeface="Calibri"/>
              <a:cs typeface="Calibri"/>
              <a:sym typeface="Calibri"/>
            </a:endParaRPr>
          </a:p>
        </p:txBody>
      </p:sp>
      <p:cxnSp>
        <p:nvCxnSpPr>
          <p:cNvPr id="346" name="Google Shape;346;p16"/>
          <p:cNvCxnSpPr/>
          <p:nvPr/>
        </p:nvCxnSpPr>
        <p:spPr>
          <a:xfrm>
            <a:off x="2272355" y="1782151"/>
            <a:ext cx="0" cy="378000"/>
          </a:xfrm>
          <a:prstGeom prst="straightConnector1">
            <a:avLst/>
          </a:prstGeom>
          <a:noFill/>
          <a:ln cap="flat" cmpd="sng" w="19050">
            <a:solidFill>
              <a:schemeClr val="dk1"/>
            </a:solidFill>
            <a:prstDash val="solid"/>
            <a:miter lim="800000"/>
            <a:headEnd len="sm" w="sm" type="none"/>
            <a:tailEnd len="med" w="med" type="triangle"/>
          </a:ln>
        </p:spPr>
      </p:cxnSp>
      <p:cxnSp>
        <p:nvCxnSpPr>
          <p:cNvPr id="347" name="Google Shape;347;p16"/>
          <p:cNvCxnSpPr/>
          <p:nvPr/>
        </p:nvCxnSpPr>
        <p:spPr>
          <a:xfrm>
            <a:off x="4010267" y="2299896"/>
            <a:ext cx="1260000" cy="0"/>
          </a:xfrm>
          <a:prstGeom prst="straightConnector1">
            <a:avLst/>
          </a:prstGeom>
          <a:noFill/>
          <a:ln cap="flat" cmpd="sng" w="19050">
            <a:solidFill>
              <a:schemeClr val="dk1"/>
            </a:solidFill>
            <a:prstDash val="solid"/>
            <a:miter lim="800000"/>
            <a:headEnd len="sm" w="sm" type="none"/>
            <a:tailEnd len="sm" w="sm" type="none"/>
          </a:ln>
        </p:spPr>
      </p:cxnSp>
      <p:sp>
        <p:nvSpPr>
          <p:cNvPr id="348" name="Google Shape;348;p16"/>
          <p:cNvSpPr/>
          <p:nvPr/>
        </p:nvSpPr>
        <p:spPr>
          <a:xfrm>
            <a:off x="3675904" y="2259459"/>
            <a:ext cx="64668" cy="64800"/>
          </a:xfrm>
          <a:prstGeom prst="ellipse">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49" name="Google Shape;349;p16"/>
          <p:cNvCxnSpPr>
            <a:stCxn id="348" idx="7"/>
          </p:cNvCxnSpPr>
          <p:nvPr/>
        </p:nvCxnSpPr>
        <p:spPr>
          <a:xfrm flipH="1" rot="10800000">
            <a:off x="3731102" y="2082649"/>
            <a:ext cx="279300" cy="186300"/>
          </a:xfrm>
          <a:prstGeom prst="straightConnector1">
            <a:avLst/>
          </a:prstGeom>
          <a:noFill/>
          <a:ln cap="flat" cmpd="sng" w="19050">
            <a:solidFill>
              <a:schemeClr val="dk1"/>
            </a:solidFill>
            <a:prstDash val="solid"/>
            <a:miter lim="800000"/>
            <a:headEnd len="sm" w="sm" type="none"/>
            <a:tailEnd len="sm" w="sm" type="none"/>
          </a:ln>
        </p:spPr>
      </p:cxnSp>
      <p:cxnSp>
        <p:nvCxnSpPr>
          <p:cNvPr id="350" name="Google Shape;350;p16"/>
          <p:cNvCxnSpPr/>
          <p:nvPr/>
        </p:nvCxnSpPr>
        <p:spPr>
          <a:xfrm>
            <a:off x="1672406" y="3739921"/>
            <a:ext cx="1383234" cy="0"/>
          </a:xfrm>
          <a:prstGeom prst="straightConnector1">
            <a:avLst/>
          </a:prstGeom>
          <a:noFill/>
          <a:ln cap="flat" cmpd="sng" w="19050">
            <a:solidFill>
              <a:schemeClr val="dk1"/>
            </a:solidFill>
            <a:prstDash val="solid"/>
            <a:miter lim="800000"/>
            <a:headEnd len="sm" w="sm" type="none"/>
            <a:tailEnd len="sm" w="sm" type="none"/>
          </a:ln>
        </p:spPr>
      </p:cxnSp>
      <p:cxnSp>
        <p:nvCxnSpPr>
          <p:cNvPr id="351" name="Google Shape;351;p16"/>
          <p:cNvCxnSpPr/>
          <p:nvPr/>
        </p:nvCxnSpPr>
        <p:spPr>
          <a:xfrm rot="10800000">
            <a:off x="4010267" y="2082661"/>
            <a:ext cx="21" cy="217235"/>
          </a:xfrm>
          <a:prstGeom prst="straightConnector1">
            <a:avLst/>
          </a:prstGeom>
          <a:noFill/>
          <a:ln cap="flat" cmpd="sng" w="19050">
            <a:solidFill>
              <a:schemeClr val="dk1"/>
            </a:solidFill>
            <a:prstDash val="solid"/>
            <a:miter lim="800000"/>
            <a:headEnd len="sm" w="sm" type="none"/>
            <a:tailEnd len="sm" w="sm" type="none"/>
          </a:ln>
        </p:spPr>
      </p:cxnSp>
      <p:cxnSp>
        <p:nvCxnSpPr>
          <p:cNvPr id="352" name="Google Shape;352;p16"/>
          <p:cNvCxnSpPr/>
          <p:nvPr/>
        </p:nvCxnSpPr>
        <p:spPr>
          <a:xfrm rot="10800000">
            <a:off x="2270771" y="2509657"/>
            <a:ext cx="0" cy="360000"/>
          </a:xfrm>
          <a:prstGeom prst="straightConnector1">
            <a:avLst/>
          </a:prstGeom>
          <a:noFill/>
          <a:ln cap="flat" cmpd="sng" w="19050">
            <a:solidFill>
              <a:schemeClr val="dk1"/>
            </a:solidFill>
            <a:prstDash val="solid"/>
            <a:miter lim="800000"/>
            <a:headEnd len="sm" w="sm" type="none"/>
            <a:tailEnd len="med" w="med" type="triangle"/>
          </a:ln>
        </p:spPr>
      </p:cxnSp>
      <p:cxnSp>
        <p:nvCxnSpPr>
          <p:cNvPr id="353" name="Google Shape;353;p16"/>
          <p:cNvCxnSpPr/>
          <p:nvPr/>
        </p:nvCxnSpPr>
        <p:spPr>
          <a:xfrm>
            <a:off x="1460591" y="2869657"/>
            <a:ext cx="810180" cy="0"/>
          </a:xfrm>
          <a:prstGeom prst="straightConnector1">
            <a:avLst/>
          </a:prstGeom>
          <a:noFill/>
          <a:ln cap="flat" cmpd="sng" w="19050">
            <a:solidFill>
              <a:schemeClr val="dk1"/>
            </a:solidFill>
            <a:prstDash val="solid"/>
            <a:miter lim="800000"/>
            <a:headEnd len="sm" w="sm" type="none"/>
            <a:tailEnd len="sm" w="sm" type="none"/>
          </a:ln>
        </p:spPr>
      </p:cxnSp>
      <p:cxnSp>
        <p:nvCxnSpPr>
          <p:cNvPr id="354" name="Google Shape;354;p16"/>
          <p:cNvCxnSpPr/>
          <p:nvPr/>
        </p:nvCxnSpPr>
        <p:spPr>
          <a:xfrm>
            <a:off x="2480810" y="2291056"/>
            <a:ext cx="1185629" cy="0"/>
          </a:xfrm>
          <a:prstGeom prst="straightConnector1">
            <a:avLst/>
          </a:prstGeom>
          <a:noFill/>
          <a:ln cap="flat" cmpd="sng" w="19050">
            <a:solidFill>
              <a:schemeClr val="dk1"/>
            </a:solidFill>
            <a:prstDash val="solid"/>
            <a:miter lim="800000"/>
            <a:headEnd len="sm" w="sm" type="none"/>
            <a:tailEnd len="sm" w="sm" type="none"/>
          </a:ln>
        </p:spPr>
      </p:cxnSp>
      <p:sp>
        <p:nvSpPr>
          <p:cNvPr id="355" name="Google Shape;355;p16"/>
          <p:cNvSpPr/>
          <p:nvPr/>
        </p:nvSpPr>
        <p:spPr>
          <a:xfrm>
            <a:off x="2320789" y="1803877"/>
            <a:ext cx="1575594" cy="461665"/>
          </a:xfrm>
          <a:prstGeom prst="rect">
            <a:avLst/>
          </a:prstGeom>
          <a:blipFill rotWithShape="1">
            <a:blip r:embed="rId4">
              <a:alphaModFix/>
            </a:blip>
            <a:stretch>
              <a:fillRect b="-28945" l="-6201" r="0" t="-1052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cxnSp>
        <p:nvCxnSpPr>
          <p:cNvPr id="356" name="Google Shape;356;p16"/>
          <p:cNvCxnSpPr/>
          <p:nvPr/>
        </p:nvCxnSpPr>
        <p:spPr>
          <a:xfrm rot="5400000">
            <a:off x="3115058" y="3115994"/>
            <a:ext cx="1134000" cy="378000"/>
          </a:xfrm>
          <a:prstGeom prst="bentConnector3">
            <a:avLst>
              <a:gd fmla="val 99285" name="adj1"/>
            </a:avLst>
          </a:prstGeom>
          <a:noFill/>
          <a:ln cap="flat" cmpd="sng" w="19050">
            <a:solidFill>
              <a:schemeClr val="dk1"/>
            </a:solidFill>
            <a:prstDash val="solid"/>
            <a:miter lim="800000"/>
            <a:headEnd len="sm" w="sm" type="none"/>
            <a:tailEnd len="sm" w="sm" type="none"/>
          </a:ln>
        </p:spPr>
      </p:cxnSp>
      <p:cxnSp>
        <p:nvCxnSpPr>
          <p:cNvPr id="357" name="Google Shape;357;p16"/>
          <p:cNvCxnSpPr/>
          <p:nvPr/>
        </p:nvCxnSpPr>
        <p:spPr>
          <a:xfrm rot="10800000">
            <a:off x="3870695" y="2421223"/>
            <a:ext cx="0" cy="324000"/>
          </a:xfrm>
          <a:prstGeom prst="straightConnector1">
            <a:avLst/>
          </a:prstGeom>
          <a:noFill/>
          <a:ln cap="flat" cmpd="sng" w="19050">
            <a:solidFill>
              <a:schemeClr val="dk1"/>
            </a:solidFill>
            <a:prstDash val="dash"/>
            <a:miter lim="800000"/>
            <a:headEnd len="sm" w="sm" type="none"/>
            <a:tailEnd len="sm" w="sm" type="none"/>
          </a:ln>
        </p:spPr>
      </p:cxnSp>
      <p:sp>
        <p:nvSpPr>
          <p:cNvPr id="358" name="Google Shape;358;p16"/>
          <p:cNvSpPr/>
          <p:nvPr/>
        </p:nvSpPr>
        <p:spPr>
          <a:xfrm>
            <a:off x="3818456" y="2700835"/>
            <a:ext cx="174559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Control</a:t>
            </a:r>
            <a:endParaRPr sz="2800">
              <a:solidFill>
                <a:schemeClr val="dk1"/>
              </a:solidFill>
              <a:latin typeface="Calibri"/>
              <a:ea typeface="Calibri"/>
              <a:cs typeface="Calibri"/>
              <a:sym typeface="Calibri"/>
            </a:endParaRPr>
          </a:p>
        </p:txBody>
      </p:sp>
      <p:cxnSp>
        <p:nvCxnSpPr>
          <p:cNvPr id="359" name="Google Shape;359;p16"/>
          <p:cNvCxnSpPr/>
          <p:nvPr/>
        </p:nvCxnSpPr>
        <p:spPr>
          <a:xfrm>
            <a:off x="1395101" y="5153955"/>
            <a:ext cx="684000" cy="0"/>
          </a:xfrm>
          <a:prstGeom prst="straightConnector1">
            <a:avLst/>
          </a:prstGeom>
          <a:noFill/>
          <a:ln cap="flat" cmpd="sng" w="19050">
            <a:solidFill>
              <a:schemeClr val="dk1"/>
            </a:solidFill>
            <a:prstDash val="solid"/>
            <a:miter lim="800000"/>
            <a:headEnd len="sm" w="sm" type="none"/>
            <a:tailEnd len="sm" w="sm" type="none"/>
          </a:ln>
        </p:spPr>
      </p:cxnSp>
      <p:sp>
        <p:nvSpPr>
          <p:cNvPr id="360" name="Google Shape;360;p16"/>
          <p:cNvSpPr/>
          <p:nvPr/>
        </p:nvSpPr>
        <p:spPr>
          <a:xfrm>
            <a:off x="100033" y="4614215"/>
            <a:ext cx="150818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Gate1=0</a:t>
            </a:r>
            <a:endParaRPr sz="2800">
              <a:solidFill>
                <a:schemeClr val="dk1"/>
              </a:solidFill>
              <a:latin typeface="Calibri"/>
              <a:ea typeface="Calibri"/>
              <a:cs typeface="Calibri"/>
              <a:sym typeface="Calibri"/>
            </a:endParaRPr>
          </a:p>
        </p:txBody>
      </p:sp>
      <p:cxnSp>
        <p:nvCxnSpPr>
          <p:cNvPr id="361" name="Google Shape;361;p16"/>
          <p:cNvCxnSpPr/>
          <p:nvPr/>
        </p:nvCxnSpPr>
        <p:spPr>
          <a:xfrm>
            <a:off x="1543731" y="4883710"/>
            <a:ext cx="346249" cy="0"/>
          </a:xfrm>
          <a:prstGeom prst="straightConnector1">
            <a:avLst/>
          </a:prstGeom>
          <a:noFill/>
          <a:ln cap="flat" cmpd="sng" w="19050">
            <a:solidFill>
              <a:schemeClr val="dk1"/>
            </a:solidFill>
            <a:prstDash val="solid"/>
            <a:miter lim="800000"/>
            <a:headEnd len="sm" w="sm" type="none"/>
            <a:tailEnd len="sm" w="sm" type="none"/>
          </a:ln>
        </p:spPr>
      </p:cxnSp>
      <p:sp>
        <p:nvSpPr>
          <p:cNvPr id="362" name="Google Shape;362;p16"/>
          <p:cNvSpPr/>
          <p:nvPr/>
        </p:nvSpPr>
        <p:spPr>
          <a:xfrm>
            <a:off x="2416142" y="2258656"/>
            <a:ext cx="64668" cy="64800"/>
          </a:xfrm>
          <a:prstGeom prst="ellipse">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63" name="Google Shape;363;p16"/>
          <p:cNvCxnSpPr/>
          <p:nvPr/>
        </p:nvCxnSpPr>
        <p:spPr>
          <a:xfrm rot="10800000">
            <a:off x="2178615" y="2082661"/>
            <a:ext cx="230695" cy="186686"/>
          </a:xfrm>
          <a:prstGeom prst="straightConnector1">
            <a:avLst/>
          </a:prstGeom>
          <a:noFill/>
          <a:ln cap="flat" cmpd="sng" w="19050">
            <a:solidFill>
              <a:schemeClr val="dk1"/>
            </a:solidFill>
            <a:prstDash val="solid"/>
            <a:miter lim="800000"/>
            <a:headEnd len="sm" w="sm" type="none"/>
            <a:tailEnd len="sm" w="sm" type="none"/>
          </a:ln>
        </p:spPr>
      </p:cxnSp>
      <p:cxnSp>
        <p:nvCxnSpPr>
          <p:cNvPr id="364" name="Google Shape;364;p16"/>
          <p:cNvCxnSpPr/>
          <p:nvPr/>
        </p:nvCxnSpPr>
        <p:spPr>
          <a:xfrm>
            <a:off x="2036771" y="1791935"/>
            <a:ext cx="234000" cy="0"/>
          </a:xfrm>
          <a:prstGeom prst="straightConnector1">
            <a:avLst/>
          </a:prstGeom>
          <a:noFill/>
          <a:ln cap="flat" cmpd="sng" w="19050">
            <a:solidFill>
              <a:schemeClr val="dk1"/>
            </a:solidFill>
            <a:prstDash val="solid"/>
            <a:miter lim="800000"/>
            <a:headEnd len="sm" w="sm" type="none"/>
            <a:tailEnd len="sm" w="sm" type="none"/>
          </a:ln>
        </p:spPr>
      </p:cxnSp>
      <p:sp>
        <p:nvSpPr>
          <p:cNvPr id="365" name="Google Shape;365;p16"/>
          <p:cNvSpPr/>
          <p:nvPr/>
        </p:nvSpPr>
        <p:spPr>
          <a:xfrm>
            <a:off x="405717" y="2583223"/>
            <a:ext cx="124358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T0 pin</a:t>
            </a:r>
            <a:endParaRPr sz="2800">
              <a:solidFill>
                <a:schemeClr val="dk1"/>
              </a:solidFill>
              <a:latin typeface="Calibri"/>
              <a:ea typeface="Calibri"/>
              <a:cs typeface="Calibri"/>
              <a:sym typeface="Calibri"/>
            </a:endParaRPr>
          </a:p>
        </p:txBody>
      </p:sp>
      <p:cxnSp>
        <p:nvCxnSpPr>
          <p:cNvPr id="366" name="Google Shape;366;p16"/>
          <p:cNvCxnSpPr/>
          <p:nvPr/>
        </p:nvCxnSpPr>
        <p:spPr>
          <a:xfrm flipH="1" rot="10800000">
            <a:off x="1221033" y="5153956"/>
            <a:ext cx="179655" cy="342391"/>
          </a:xfrm>
          <a:prstGeom prst="straightConnector1">
            <a:avLst/>
          </a:prstGeom>
          <a:noFill/>
          <a:ln cap="flat" cmpd="sng" w="19050">
            <a:solidFill>
              <a:schemeClr val="dk1"/>
            </a:solidFill>
            <a:prstDash val="solid"/>
            <a:miter lim="800000"/>
            <a:headEnd len="sm" w="sm" type="none"/>
            <a:tailEnd len="sm" w="sm" type="none"/>
          </a:ln>
        </p:spPr>
      </p:cxnSp>
      <p:sp>
        <p:nvSpPr>
          <p:cNvPr id="367" name="Google Shape;367;p16"/>
          <p:cNvSpPr/>
          <p:nvPr/>
        </p:nvSpPr>
        <p:spPr>
          <a:xfrm>
            <a:off x="199805" y="5446058"/>
            <a:ext cx="1406154" cy="523220"/>
          </a:xfrm>
          <a:prstGeom prst="rect">
            <a:avLst/>
          </a:prstGeom>
          <a:blipFill rotWithShape="1">
            <a:blip r:embed="rId5">
              <a:alphaModFix/>
            </a:blip>
            <a:stretch>
              <a:fillRect b="-32557" l="0" r="-6955" t="-1046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368" name="Google Shape;368;p16"/>
          <p:cNvSpPr/>
          <p:nvPr/>
        </p:nvSpPr>
        <p:spPr>
          <a:xfrm>
            <a:off x="646399" y="3415066"/>
            <a:ext cx="124358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TR1</a:t>
            </a:r>
            <a:endParaRPr sz="2800">
              <a:solidFill>
                <a:schemeClr val="dk1"/>
              </a:solidFill>
              <a:latin typeface="Calibri"/>
              <a:ea typeface="Calibri"/>
              <a:cs typeface="Calibri"/>
              <a:sym typeface="Calibri"/>
            </a:endParaRPr>
          </a:p>
        </p:txBody>
      </p:sp>
      <p:cxnSp>
        <p:nvCxnSpPr>
          <p:cNvPr id="369" name="Google Shape;369;p16"/>
          <p:cNvCxnSpPr/>
          <p:nvPr/>
        </p:nvCxnSpPr>
        <p:spPr>
          <a:xfrm rot="10800000">
            <a:off x="2761834" y="4006621"/>
            <a:ext cx="288000" cy="0"/>
          </a:xfrm>
          <a:prstGeom prst="straightConnector1">
            <a:avLst/>
          </a:prstGeom>
          <a:noFill/>
          <a:ln cap="flat" cmpd="sng" w="19050">
            <a:solidFill>
              <a:schemeClr val="dk1"/>
            </a:solidFill>
            <a:prstDash val="solid"/>
            <a:miter lim="800000"/>
            <a:headEnd len="sm" w="sm" type="none"/>
            <a:tailEnd len="sm" w="sm" type="none"/>
          </a:ln>
        </p:spPr>
      </p:cxnSp>
      <p:cxnSp>
        <p:nvCxnSpPr>
          <p:cNvPr id="370" name="Google Shape;370;p16"/>
          <p:cNvCxnSpPr/>
          <p:nvPr/>
        </p:nvCxnSpPr>
        <p:spPr>
          <a:xfrm rot="5400000">
            <a:off x="2139593" y="4397572"/>
            <a:ext cx="1008000" cy="216000"/>
          </a:xfrm>
          <a:prstGeom prst="bentConnector3">
            <a:avLst>
              <a:gd fmla="val 99285" name="adj1"/>
            </a:avLst>
          </a:prstGeom>
          <a:noFill/>
          <a:ln cap="flat" cmpd="sng" w="19050">
            <a:solidFill>
              <a:schemeClr val="dk1"/>
            </a:solidFill>
            <a:prstDash val="solid"/>
            <a:miter lim="800000"/>
            <a:headEnd len="sm" w="sm" type="none"/>
            <a:tailEnd len="sm" w="sm" type="none"/>
          </a:ln>
        </p:spPr>
      </p:cxnSp>
      <p:cxnSp>
        <p:nvCxnSpPr>
          <p:cNvPr id="371" name="Google Shape;371;p16"/>
          <p:cNvCxnSpPr/>
          <p:nvPr/>
        </p:nvCxnSpPr>
        <p:spPr>
          <a:xfrm>
            <a:off x="8451444" y="2700835"/>
            <a:ext cx="0" cy="378000"/>
          </a:xfrm>
          <a:prstGeom prst="straightConnector1">
            <a:avLst/>
          </a:prstGeom>
          <a:noFill/>
          <a:ln cap="flat" cmpd="sng" w="19050">
            <a:solidFill>
              <a:schemeClr val="dk1"/>
            </a:solidFill>
            <a:prstDash val="solid"/>
            <a:miter lim="800000"/>
            <a:headEnd len="sm" w="sm" type="none"/>
            <a:tailEnd len="med" w="med" type="triangle"/>
          </a:ln>
        </p:spPr>
      </p:cxnSp>
      <p:sp>
        <p:nvSpPr>
          <p:cNvPr id="372" name="Google Shape;372;p16"/>
          <p:cNvSpPr/>
          <p:nvPr/>
        </p:nvSpPr>
        <p:spPr>
          <a:xfrm>
            <a:off x="7671126" y="3039625"/>
            <a:ext cx="156063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Interrupt</a:t>
            </a:r>
            <a:endParaRPr sz="2800">
              <a:solidFill>
                <a:schemeClr val="dk1"/>
              </a:solidFill>
              <a:latin typeface="Calibri"/>
              <a:ea typeface="Calibri"/>
              <a:cs typeface="Calibri"/>
              <a:sym typeface="Calibri"/>
            </a:endParaRPr>
          </a:p>
        </p:txBody>
      </p:sp>
      <p:cxnSp>
        <p:nvCxnSpPr>
          <p:cNvPr id="373" name="Google Shape;373;p16"/>
          <p:cNvCxnSpPr/>
          <p:nvPr/>
        </p:nvCxnSpPr>
        <p:spPr>
          <a:xfrm>
            <a:off x="6431440" y="2287507"/>
            <a:ext cx="1551801" cy="0"/>
          </a:xfrm>
          <a:prstGeom prst="straightConnector1">
            <a:avLst/>
          </a:prstGeom>
          <a:noFill/>
          <a:ln cap="flat" cmpd="sng" w="19050">
            <a:solidFill>
              <a:schemeClr val="dk1"/>
            </a:solidFill>
            <a:prstDash val="solid"/>
            <a:miter lim="800000"/>
            <a:headEnd len="sm" w="sm" type="none"/>
            <a:tailEnd len="med" w="med" type="triangle"/>
          </a:ln>
        </p:spPr>
      </p:cxnSp>
      <p:cxnSp>
        <p:nvCxnSpPr>
          <p:cNvPr id="374" name="Google Shape;374;p16"/>
          <p:cNvCxnSpPr/>
          <p:nvPr/>
        </p:nvCxnSpPr>
        <p:spPr>
          <a:xfrm rot="10800000">
            <a:off x="1117928" y="1673243"/>
            <a:ext cx="0" cy="201600"/>
          </a:xfrm>
          <a:prstGeom prst="straightConnector1">
            <a:avLst/>
          </a:prstGeom>
          <a:noFill/>
          <a:ln cap="flat" cmpd="sng" w="19050">
            <a:solidFill>
              <a:schemeClr val="dk1"/>
            </a:solidFill>
            <a:prstDash val="solid"/>
            <a:miter lim="800000"/>
            <a:headEnd len="sm" w="sm" type="none"/>
            <a:tailEnd len="med" w="med" type="triangle"/>
          </a:ln>
        </p:spPr>
      </p:cxnSp>
      <p:sp>
        <p:nvSpPr>
          <p:cNvPr id="375" name="Google Shape;375;p16"/>
          <p:cNvSpPr/>
          <p:nvPr/>
        </p:nvSpPr>
        <p:spPr>
          <a:xfrm>
            <a:off x="5263682" y="3959774"/>
            <a:ext cx="1178558" cy="926235"/>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TH0</a:t>
            </a:r>
            <a:endParaRPr/>
          </a:p>
          <a:p>
            <a:pPr indent="0" lvl="0" marL="0" marR="0" rtl="0" algn="ctr">
              <a:spcBef>
                <a:spcPts val="0"/>
              </a:spcBef>
              <a:spcAft>
                <a:spcPts val="0"/>
              </a:spcAft>
              <a:buNone/>
            </a:pPr>
            <a:r>
              <a:rPr lang="en-US" sz="2800">
                <a:solidFill>
                  <a:schemeClr val="dk1"/>
                </a:solidFill>
                <a:latin typeface="Calibri"/>
                <a:ea typeface="Calibri"/>
                <a:cs typeface="Calibri"/>
                <a:sym typeface="Calibri"/>
              </a:rPr>
              <a:t>(8 bits)</a:t>
            </a:r>
            <a:endParaRPr sz="2800">
              <a:solidFill>
                <a:schemeClr val="dk1"/>
              </a:solidFill>
              <a:latin typeface="Calibri"/>
              <a:ea typeface="Calibri"/>
              <a:cs typeface="Calibri"/>
              <a:sym typeface="Calibri"/>
            </a:endParaRPr>
          </a:p>
        </p:txBody>
      </p:sp>
      <p:sp>
        <p:nvSpPr>
          <p:cNvPr id="376" name="Google Shape;376;p16"/>
          <p:cNvSpPr/>
          <p:nvPr/>
        </p:nvSpPr>
        <p:spPr>
          <a:xfrm>
            <a:off x="5629253" y="2720266"/>
            <a:ext cx="419100" cy="1239508"/>
          </a:xfrm>
          <a:prstGeom prst="upArrow">
            <a:avLst>
              <a:gd fmla="val 50000" name="adj1"/>
              <a:gd fmla="val 50000" name="adj2"/>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77" name="Google Shape;377;p16"/>
          <p:cNvCxnSpPr/>
          <p:nvPr/>
        </p:nvCxnSpPr>
        <p:spPr>
          <a:xfrm rot="5400000">
            <a:off x="5914123" y="2323507"/>
            <a:ext cx="1116000" cy="1044000"/>
          </a:xfrm>
          <a:prstGeom prst="bentConnector3">
            <a:avLst>
              <a:gd fmla="val 0" name="adj1"/>
            </a:avLst>
          </a:prstGeom>
          <a:noFill/>
          <a:ln cap="flat" cmpd="sng" w="19050">
            <a:solidFill>
              <a:schemeClr val="dk1"/>
            </a:solidFill>
            <a:prstDash val="solid"/>
            <a:miter lim="800000"/>
            <a:headEnd len="sm" w="sm" type="none"/>
            <a:tailEnd len="med" w="med" type="triangle"/>
          </a:ln>
        </p:spPr>
      </p:cxnSp>
      <p:sp>
        <p:nvSpPr>
          <p:cNvPr id="378" name="Google Shape;378;p16"/>
          <p:cNvSpPr/>
          <p:nvPr/>
        </p:nvSpPr>
        <p:spPr>
          <a:xfrm flipH="1" rot="10800000">
            <a:off x="6963648" y="2251507"/>
            <a:ext cx="72000" cy="7200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9" name="Google Shape;379;p16"/>
          <p:cNvSpPr/>
          <p:nvPr/>
        </p:nvSpPr>
        <p:spPr>
          <a:xfrm>
            <a:off x="6413051" y="1803877"/>
            <a:ext cx="174559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Overflow</a:t>
            </a:r>
            <a:endParaRPr sz="2800">
              <a:solidFill>
                <a:schemeClr val="dk1"/>
              </a:solidFill>
              <a:latin typeface="Calibri"/>
              <a:ea typeface="Calibri"/>
              <a:cs typeface="Calibri"/>
              <a:sym typeface="Calibri"/>
            </a:endParaRPr>
          </a:p>
        </p:txBody>
      </p:sp>
      <p:sp>
        <p:nvSpPr>
          <p:cNvPr id="380" name="Google Shape;380;p16"/>
          <p:cNvSpPr/>
          <p:nvPr/>
        </p:nvSpPr>
        <p:spPr>
          <a:xfrm>
            <a:off x="5897862" y="3301235"/>
            <a:ext cx="174559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Reload</a:t>
            </a:r>
            <a:endParaRPr sz="2800">
              <a:solidFill>
                <a:schemeClr val="dk1"/>
              </a:solidFill>
              <a:latin typeface="Calibri"/>
              <a:ea typeface="Calibri"/>
              <a:cs typeface="Calibri"/>
              <a:sym typeface="Calibri"/>
            </a:endParaRPr>
          </a:p>
        </p:txBody>
      </p:sp>
      <p:sp>
        <p:nvSpPr>
          <p:cNvPr id="381" name="Google Shape;381;p16"/>
          <p:cNvSpPr txBox="1"/>
          <p:nvPr/>
        </p:nvSpPr>
        <p:spPr>
          <a:xfrm>
            <a:off x="524898" y="340272"/>
            <a:ext cx="7886700" cy="1019429"/>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chemeClr val="dk1"/>
              </a:buClr>
              <a:buSzPct val="100000"/>
              <a:buFont typeface="Calibri"/>
              <a:buNone/>
            </a:pPr>
            <a:r>
              <a:rPr b="1" lang="en-US" sz="4400">
                <a:solidFill>
                  <a:schemeClr val="dk1"/>
                </a:solidFill>
                <a:latin typeface="Calibri"/>
                <a:ea typeface="Calibri"/>
                <a:cs typeface="Calibri"/>
                <a:sym typeface="Calibri"/>
              </a:rPr>
              <a:t>Timer1 Mode2 </a:t>
            </a:r>
            <a:br>
              <a:rPr b="1" lang="en-US" sz="4400">
                <a:solidFill>
                  <a:schemeClr val="dk1"/>
                </a:solidFill>
                <a:latin typeface="Calibri"/>
                <a:ea typeface="Calibri"/>
                <a:cs typeface="Calibri"/>
                <a:sym typeface="Calibri"/>
              </a:rPr>
            </a:br>
            <a:r>
              <a:rPr b="1" lang="en-US" sz="4400">
                <a:solidFill>
                  <a:schemeClr val="dk1"/>
                </a:solidFill>
                <a:latin typeface="Calibri"/>
                <a:ea typeface="Calibri"/>
                <a:cs typeface="Calibri"/>
                <a:sym typeface="Calibri"/>
              </a:rPr>
              <a:t>(8bit Operation with Auto Reload)</a:t>
            </a:r>
            <a:endParaRPr b="1" sz="4400">
              <a:solidFill>
                <a:schemeClr val="dk1"/>
              </a:solidFill>
              <a:latin typeface="Calibri"/>
              <a:ea typeface="Calibri"/>
              <a:cs typeface="Calibri"/>
              <a:sym typeface="Calibri"/>
            </a:endParaRPr>
          </a:p>
        </p:txBody>
      </p:sp>
      <p:cxnSp>
        <p:nvCxnSpPr>
          <p:cNvPr id="382" name="Google Shape;382;p16"/>
          <p:cNvCxnSpPr/>
          <p:nvPr/>
        </p:nvCxnSpPr>
        <p:spPr>
          <a:xfrm>
            <a:off x="335971" y="2050878"/>
            <a:ext cx="3307800" cy="345000"/>
          </a:xfrm>
          <a:prstGeom prst="bentConnector3">
            <a:avLst>
              <a:gd fmla="val 53687" name="adj1"/>
            </a:avLst>
          </a:prstGeom>
          <a:noFill/>
          <a:ln cap="flat" cmpd="sng" w="38100">
            <a:solidFill>
              <a:srgbClr val="C00000"/>
            </a:solidFill>
            <a:prstDash val="solid"/>
            <a:miter lim="800000"/>
            <a:headEnd len="sm" w="sm" type="none"/>
            <a:tailEnd len="med" w="med" type="triangle"/>
          </a:ln>
        </p:spPr>
      </p:cxnSp>
      <p:cxnSp>
        <p:nvCxnSpPr>
          <p:cNvPr id="383" name="Google Shape;383;p16"/>
          <p:cNvCxnSpPr/>
          <p:nvPr/>
        </p:nvCxnSpPr>
        <p:spPr>
          <a:xfrm rot="10800000">
            <a:off x="3740572" y="2421224"/>
            <a:ext cx="0" cy="1141621"/>
          </a:xfrm>
          <a:prstGeom prst="straightConnector1">
            <a:avLst/>
          </a:prstGeom>
          <a:noFill/>
          <a:ln cap="flat" cmpd="sng" w="38100">
            <a:solidFill>
              <a:srgbClr val="C00000"/>
            </a:solidFill>
            <a:prstDash val="solid"/>
            <a:miter lim="800000"/>
            <a:headEnd len="sm" w="sm" type="none"/>
            <a:tailEnd len="med" w="med" type="triangle"/>
          </a:ln>
        </p:spPr>
      </p:cxnSp>
      <p:cxnSp>
        <p:nvCxnSpPr>
          <p:cNvPr id="384" name="Google Shape;384;p16"/>
          <p:cNvCxnSpPr/>
          <p:nvPr/>
        </p:nvCxnSpPr>
        <p:spPr>
          <a:xfrm>
            <a:off x="1672406" y="3562845"/>
            <a:ext cx="2068166" cy="0"/>
          </a:xfrm>
          <a:prstGeom prst="straightConnector1">
            <a:avLst/>
          </a:prstGeom>
          <a:noFill/>
          <a:ln cap="flat" cmpd="sng" w="38100">
            <a:solidFill>
              <a:srgbClr val="C00000"/>
            </a:solidFill>
            <a:prstDash val="solid"/>
            <a:miter lim="800000"/>
            <a:headEnd len="sm" w="sm" type="none"/>
            <a:tailEnd len="sm" w="sm" type="none"/>
          </a:ln>
        </p:spPr>
      </p:cxnSp>
      <p:cxnSp>
        <p:nvCxnSpPr>
          <p:cNvPr id="385" name="Google Shape;385;p16"/>
          <p:cNvCxnSpPr/>
          <p:nvPr/>
        </p:nvCxnSpPr>
        <p:spPr>
          <a:xfrm rot="10800000">
            <a:off x="1011938" y="3903749"/>
            <a:ext cx="10379" cy="742221"/>
          </a:xfrm>
          <a:prstGeom prst="straightConnector1">
            <a:avLst/>
          </a:prstGeom>
          <a:noFill/>
          <a:ln cap="flat" cmpd="sng" w="38100">
            <a:solidFill>
              <a:schemeClr val="dk1"/>
            </a:solidFill>
            <a:prstDash val="solid"/>
            <a:miter lim="800000"/>
            <a:headEnd len="sm" w="sm"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1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UART Clock Source (Case 1)</a:t>
            </a:r>
            <a:endParaRPr b="1"/>
          </a:p>
        </p:txBody>
      </p:sp>
      <p:sp>
        <p:nvSpPr>
          <p:cNvPr id="391" name="Google Shape;391;p1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392" name="Google Shape;392;p17"/>
          <p:cNvSpPr txBox="1"/>
          <p:nvPr/>
        </p:nvSpPr>
        <p:spPr>
          <a:xfrm>
            <a:off x="253638" y="5617250"/>
            <a:ext cx="7981951" cy="875624"/>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393" name="Google Shape;393;p17"/>
          <p:cNvSpPr txBox="1"/>
          <p:nvPr/>
        </p:nvSpPr>
        <p:spPr>
          <a:xfrm>
            <a:off x="628650" y="1473200"/>
            <a:ext cx="8515350" cy="5248276"/>
          </a:xfrm>
          <a:prstGeom prst="rect">
            <a:avLst/>
          </a:prstGeom>
          <a:noFill/>
          <a:ln>
            <a:noFill/>
          </a:ln>
        </p:spPr>
        <p:txBody>
          <a:bodyPr anchorCtr="0" anchor="t" bIns="45700" lIns="91425" spcFirstLastPara="1" rIns="91425" wrap="square" tIns="45700">
            <a:normAutofit fontScale="92500"/>
          </a:bodyPr>
          <a:lstStyle/>
          <a:p>
            <a:pPr indent="-228600" lvl="0" marL="228600" marR="0" rtl="0" algn="l">
              <a:lnSpc>
                <a:spcPct val="90000"/>
              </a:lnSpc>
              <a:spcBef>
                <a:spcPts val="0"/>
              </a:spcBef>
              <a:spcAft>
                <a:spcPts val="0"/>
              </a:spcAft>
              <a:buClr>
                <a:schemeClr val="dk1"/>
              </a:buClr>
              <a:buSzPct val="100000"/>
              <a:buFont typeface="Arial"/>
              <a:buChar char="•"/>
            </a:pPr>
            <a:r>
              <a:rPr lang="en-US" sz="2800">
                <a:solidFill>
                  <a:schemeClr val="dk1"/>
                </a:solidFill>
                <a:latin typeface="Calibri"/>
                <a:ea typeface="Calibri"/>
                <a:cs typeface="Calibri"/>
                <a:sym typeface="Calibri"/>
              </a:rPr>
              <a:t>Freq_T1 = Freq_osc / (12*(256 - TH1))               (C/T = 0)</a:t>
            </a:r>
            <a:endParaRPr/>
          </a:p>
          <a:p>
            <a:pPr indent="-228600" lvl="0" marL="228600" marR="0" rtl="0" algn="l">
              <a:lnSpc>
                <a:spcPct val="90000"/>
              </a:lnSpc>
              <a:spcBef>
                <a:spcPts val="1000"/>
              </a:spcBef>
              <a:spcAft>
                <a:spcPts val="0"/>
              </a:spcAft>
              <a:buClr>
                <a:schemeClr val="dk1"/>
              </a:buClr>
              <a:buSzPct val="100000"/>
              <a:buFont typeface="Arial"/>
              <a:buChar char="•"/>
            </a:pPr>
            <a:r>
              <a:rPr lang="en-US" sz="2800">
                <a:solidFill>
                  <a:schemeClr val="dk1"/>
                </a:solidFill>
                <a:latin typeface="Calibri"/>
                <a:ea typeface="Calibri"/>
                <a:cs typeface="Calibri"/>
                <a:sym typeface="Calibri"/>
              </a:rPr>
              <a:t>Freq_Uart = Baudrate = Freq_T1 / 32		(SMOD = 0)</a:t>
            </a:r>
            <a:br>
              <a:rPr lang="en-US" sz="2800">
                <a:solidFill>
                  <a:schemeClr val="dk1"/>
                </a:solidFill>
                <a:latin typeface="Calibri"/>
                <a:ea typeface="Calibri"/>
                <a:cs typeface="Calibri"/>
                <a:sym typeface="Calibri"/>
              </a:rPr>
            </a:br>
            <a:r>
              <a:rPr lang="en-US" sz="2800">
                <a:solidFill>
                  <a:schemeClr val="dk1"/>
                </a:solidFill>
                <a:latin typeface="Calibri"/>
                <a:ea typeface="Calibri"/>
                <a:cs typeface="Calibri"/>
                <a:sym typeface="Calibri"/>
              </a:rPr>
              <a:t>Freq_Uart = Baudrate = Freq_T1 / 16		(SMOD = 1)</a:t>
            </a:r>
            <a:endParaRPr/>
          </a:p>
          <a:p>
            <a:pPr indent="-228600" lvl="0" marL="228600" marR="0" rtl="0" algn="l">
              <a:lnSpc>
                <a:spcPct val="90000"/>
              </a:lnSpc>
              <a:spcBef>
                <a:spcPts val="1000"/>
              </a:spcBef>
              <a:spcAft>
                <a:spcPts val="0"/>
              </a:spcAft>
              <a:buClr>
                <a:schemeClr val="dk1"/>
              </a:buClr>
              <a:buSzPct val="100000"/>
              <a:buFont typeface="Arial"/>
              <a:buChar char="•"/>
            </a:pPr>
            <a:r>
              <a:rPr lang="en-US" sz="2800">
                <a:solidFill>
                  <a:schemeClr val="dk1"/>
                </a:solidFill>
                <a:latin typeface="Calibri"/>
                <a:ea typeface="Calibri"/>
                <a:cs typeface="Calibri"/>
                <a:sym typeface="Calibri"/>
              </a:rPr>
              <a:t>For Example: </a:t>
            </a:r>
            <a:br>
              <a:rPr lang="en-US" sz="2800">
                <a:solidFill>
                  <a:schemeClr val="dk1"/>
                </a:solidFill>
                <a:latin typeface="Calibri"/>
                <a:ea typeface="Calibri"/>
                <a:cs typeface="Calibri"/>
                <a:sym typeface="Calibri"/>
              </a:rPr>
            </a:br>
            <a:r>
              <a:rPr lang="en-US" sz="2800">
                <a:solidFill>
                  <a:schemeClr val="dk1"/>
                </a:solidFill>
                <a:latin typeface="Calibri"/>
                <a:ea typeface="Calibri"/>
                <a:cs typeface="Calibri"/>
                <a:sym typeface="Calibri"/>
              </a:rPr>
              <a:t>Freq_osc = 12Mhz, Baudrate = 9600bps, SMOD = 1</a:t>
            </a:r>
            <a:endParaRPr/>
          </a:p>
          <a:p>
            <a:pPr indent="-228600" lvl="0" marL="228600" marR="0" rtl="0" algn="l">
              <a:lnSpc>
                <a:spcPct val="90000"/>
              </a:lnSpc>
              <a:spcBef>
                <a:spcPts val="1000"/>
              </a:spcBef>
              <a:spcAft>
                <a:spcPts val="0"/>
              </a:spcAft>
              <a:buClr>
                <a:schemeClr val="dk1"/>
              </a:buClr>
              <a:buSzPct val="100000"/>
              <a:buFont typeface="Arial"/>
              <a:buChar char="•"/>
            </a:pPr>
            <a:r>
              <a:rPr lang="en-US" sz="2800">
                <a:solidFill>
                  <a:schemeClr val="dk1"/>
                </a:solidFill>
                <a:latin typeface="Calibri"/>
                <a:ea typeface="Calibri"/>
                <a:cs typeface="Calibri"/>
                <a:sym typeface="Calibri"/>
              </a:rPr>
              <a:t>Freq_T1 = 9600*16 = 153,600</a:t>
            </a:r>
            <a:br>
              <a:rPr lang="en-US" sz="2800">
                <a:solidFill>
                  <a:schemeClr val="dk1"/>
                </a:solidFill>
                <a:latin typeface="Calibri"/>
                <a:ea typeface="Calibri"/>
                <a:cs typeface="Calibri"/>
                <a:sym typeface="Calibri"/>
              </a:rPr>
            </a:br>
            <a:r>
              <a:rPr lang="en-US" sz="2800">
                <a:solidFill>
                  <a:schemeClr val="dk1"/>
                </a:solidFill>
                <a:latin typeface="Calibri"/>
                <a:ea typeface="Calibri"/>
                <a:cs typeface="Calibri"/>
                <a:sym typeface="Calibri"/>
              </a:rPr>
              <a:t>(256 - TH1) = 12M / 12 / 153.6k = 6.51</a:t>
            </a:r>
            <a:br>
              <a:rPr lang="en-US" sz="2800">
                <a:solidFill>
                  <a:schemeClr val="dk1"/>
                </a:solidFill>
                <a:latin typeface="Calibri"/>
                <a:ea typeface="Calibri"/>
                <a:cs typeface="Calibri"/>
                <a:sym typeface="Calibri"/>
              </a:rPr>
            </a:br>
            <a:r>
              <a:rPr lang="en-US" sz="2800">
                <a:solidFill>
                  <a:schemeClr val="dk1"/>
                </a:solidFill>
                <a:latin typeface="Calibri"/>
                <a:ea typeface="Calibri"/>
                <a:cs typeface="Calibri"/>
                <a:sym typeface="Calibri"/>
              </a:rPr>
              <a:t>TH1 = 249 or 250</a:t>
            </a:r>
            <a:br>
              <a:rPr lang="en-US" sz="2800">
                <a:solidFill>
                  <a:schemeClr val="dk1"/>
                </a:solidFill>
                <a:latin typeface="Calibri"/>
                <a:ea typeface="Calibri"/>
                <a:cs typeface="Calibri"/>
                <a:sym typeface="Calibri"/>
              </a:rPr>
            </a:br>
            <a:r>
              <a:rPr lang="en-US" sz="2800">
                <a:solidFill>
                  <a:schemeClr val="dk1"/>
                </a:solidFill>
                <a:latin typeface="Calibri"/>
                <a:ea typeface="Calibri"/>
                <a:cs typeface="Calibri"/>
                <a:sym typeface="Calibri"/>
              </a:rPr>
              <a:t>The actual Baudrate =  8928 or 10416 bps</a:t>
            </a:r>
            <a:br>
              <a:rPr lang="en-US" sz="2800">
                <a:solidFill>
                  <a:schemeClr val="dk1"/>
                </a:solidFill>
                <a:latin typeface="Calibri"/>
                <a:ea typeface="Calibri"/>
                <a:cs typeface="Calibri"/>
                <a:sym typeface="Calibri"/>
              </a:rPr>
            </a:br>
            <a:r>
              <a:rPr lang="en-US" sz="2800">
                <a:solidFill>
                  <a:schemeClr val="dk1"/>
                </a:solidFill>
                <a:latin typeface="Calibri"/>
                <a:ea typeface="Calibri"/>
                <a:cs typeface="Calibri"/>
                <a:sym typeface="Calibri"/>
              </a:rPr>
              <a:t>error = -7.5% or +7.8% (&gt; +- 6%) can’t use</a:t>
            </a:r>
            <a:endParaRPr/>
          </a:p>
          <a:p>
            <a:pPr indent="0" lvl="0" marL="0" marR="0" rtl="0" algn="l">
              <a:lnSpc>
                <a:spcPct val="90000"/>
              </a:lnSpc>
              <a:spcBef>
                <a:spcPts val="1000"/>
              </a:spcBef>
              <a:spcAft>
                <a:spcPts val="0"/>
              </a:spcAft>
              <a:buClr>
                <a:schemeClr val="dk1"/>
              </a:buClr>
              <a:buSzPct val="100000"/>
              <a:buFont typeface="Arial"/>
              <a:buNone/>
            </a:pPr>
            <a:r>
              <a:t/>
            </a:r>
            <a:endParaRPr sz="28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ct val="100000"/>
              <a:buFont typeface="Arial"/>
              <a:buNone/>
            </a:pPr>
            <a:r>
              <a:rPr lang="en-US" sz="2800">
                <a:solidFill>
                  <a:schemeClr val="dk1"/>
                </a:solidFill>
                <a:latin typeface="Calibri"/>
                <a:ea typeface="Calibri"/>
                <a:cs typeface="Calibri"/>
                <a:sym typeface="Calibri"/>
              </a:rPr>
              <a:t> </a:t>
            </a:r>
            <a:endParaRPr/>
          </a:p>
          <a:p>
            <a:pPr indent="-64135" lvl="0" marL="228600" marR="0" rtl="0" algn="l">
              <a:lnSpc>
                <a:spcPct val="90000"/>
              </a:lnSpc>
              <a:spcBef>
                <a:spcPts val="1000"/>
              </a:spcBef>
              <a:spcAft>
                <a:spcPts val="0"/>
              </a:spcAft>
              <a:buClr>
                <a:schemeClr val="dk1"/>
              </a:buClr>
              <a:buSzPct val="100000"/>
              <a:buFont typeface="Arial"/>
              <a:buNone/>
            </a:pPr>
            <a:r>
              <a:t/>
            </a:r>
            <a:endParaRPr sz="2800">
              <a:solidFill>
                <a:schemeClr val="dk1"/>
              </a:solidFill>
              <a:latin typeface="Calibri"/>
              <a:ea typeface="Calibri"/>
              <a:cs typeface="Calibri"/>
              <a:sym typeface="Calibri"/>
            </a:endParaRPr>
          </a:p>
          <a:p>
            <a:pPr indent="-64135" lvl="0" marL="228600" marR="0" rtl="0" algn="l">
              <a:lnSpc>
                <a:spcPct val="90000"/>
              </a:lnSpc>
              <a:spcBef>
                <a:spcPts val="1000"/>
              </a:spcBef>
              <a:spcAft>
                <a:spcPts val="0"/>
              </a:spcAft>
              <a:buClr>
                <a:schemeClr val="dk1"/>
              </a:buClr>
              <a:buSzPct val="100000"/>
              <a:buFont typeface="Arial"/>
              <a:buNone/>
            </a:pPr>
            <a:r>
              <a:t/>
            </a:r>
            <a:endParaRPr sz="2800">
              <a:solidFill>
                <a:schemeClr val="dk1"/>
              </a:solidFill>
              <a:latin typeface="Calibri"/>
              <a:ea typeface="Calibri"/>
              <a:cs typeface="Calibri"/>
              <a:sym typeface="Calibri"/>
            </a:endParaRPr>
          </a:p>
          <a:p>
            <a:pPr indent="-64135" lvl="0" marL="228600" marR="0" rtl="0" algn="l">
              <a:lnSpc>
                <a:spcPct val="90000"/>
              </a:lnSpc>
              <a:spcBef>
                <a:spcPts val="1000"/>
              </a:spcBef>
              <a:spcAft>
                <a:spcPts val="0"/>
              </a:spcAft>
              <a:buClr>
                <a:schemeClr val="dk1"/>
              </a:buClr>
              <a:buSzPct val="100000"/>
              <a:buFont typeface="Arial"/>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18"/>
          <p:cNvSpPr txBox="1"/>
          <p:nvPr>
            <p:ph type="title"/>
          </p:nvPr>
        </p:nvSpPr>
        <p:spPr>
          <a:xfrm>
            <a:off x="628650" y="337354"/>
            <a:ext cx="7886700" cy="13799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UART Clock Source (Case 2)</a:t>
            </a:r>
            <a:endParaRPr b="1"/>
          </a:p>
        </p:txBody>
      </p:sp>
      <p:sp>
        <p:nvSpPr>
          <p:cNvPr id="399" name="Google Shape;399;p18"/>
          <p:cNvSpPr txBox="1"/>
          <p:nvPr>
            <p:ph idx="1" type="body"/>
          </p:nvPr>
        </p:nvSpPr>
        <p:spPr>
          <a:xfrm>
            <a:off x="628650" y="1473200"/>
            <a:ext cx="8515350" cy="5248276"/>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lang="en-US"/>
              <a:t>Freq_T1 = Freq_osc / (12*(256 - TH1))               (C/T = 0)</a:t>
            </a:r>
            <a:endParaRPr/>
          </a:p>
          <a:p>
            <a:pPr indent="-228600" lvl="0" marL="228600" rtl="0" algn="l">
              <a:lnSpc>
                <a:spcPct val="90000"/>
              </a:lnSpc>
              <a:spcBef>
                <a:spcPts val="1000"/>
              </a:spcBef>
              <a:spcAft>
                <a:spcPts val="0"/>
              </a:spcAft>
              <a:buClr>
                <a:schemeClr val="dk1"/>
              </a:buClr>
              <a:buSzPct val="100000"/>
              <a:buChar char="•"/>
            </a:pPr>
            <a:r>
              <a:rPr lang="en-US"/>
              <a:t>Freq_Uart = Baudrate = Freq_T1 / 32		(SMOD = 0)</a:t>
            </a:r>
            <a:br>
              <a:rPr lang="en-US"/>
            </a:br>
            <a:r>
              <a:rPr lang="en-US"/>
              <a:t>Freq_Uart = Baudrate = Freq_T1 / 16		(SMOD = 1)</a:t>
            </a:r>
            <a:endParaRPr/>
          </a:p>
          <a:p>
            <a:pPr indent="-228600" lvl="0" marL="228600" rtl="0" algn="l">
              <a:lnSpc>
                <a:spcPct val="90000"/>
              </a:lnSpc>
              <a:spcBef>
                <a:spcPts val="1000"/>
              </a:spcBef>
              <a:spcAft>
                <a:spcPts val="0"/>
              </a:spcAft>
              <a:buClr>
                <a:schemeClr val="dk1"/>
              </a:buClr>
              <a:buSzPct val="100000"/>
              <a:buChar char="•"/>
            </a:pPr>
            <a:r>
              <a:rPr lang="en-US"/>
              <a:t>For Example: </a:t>
            </a:r>
            <a:br>
              <a:rPr lang="en-US"/>
            </a:br>
            <a:r>
              <a:rPr lang="en-US"/>
              <a:t>Freq_osc = 11.0592Mhz, Baudrate = 9600bps, SMOD = 1</a:t>
            </a:r>
            <a:endParaRPr/>
          </a:p>
          <a:p>
            <a:pPr indent="-228600" lvl="0" marL="228600" rtl="0" algn="l">
              <a:lnSpc>
                <a:spcPct val="90000"/>
              </a:lnSpc>
              <a:spcBef>
                <a:spcPts val="1000"/>
              </a:spcBef>
              <a:spcAft>
                <a:spcPts val="0"/>
              </a:spcAft>
              <a:buClr>
                <a:schemeClr val="dk1"/>
              </a:buClr>
              <a:buSzPct val="100000"/>
              <a:buChar char="•"/>
            </a:pPr>
            <a:r>
              <a:rPr lang="en-US"/>
              <a:t>Freq_T1 = 9600*16 = 153,600</a:t>
            </a:r>
            <a:br>
              <a:rPr lang="en-US"/>
            </a:br>
            <a:r>
              <a:rPr lang="en-US"/>
              <a:t>(256 - TH1) = 11.0592M / 12 / 153.6k = 6</a:t>
            </a:r>
            <a:br>
              <a:rPr lang="en-US"/>
            </a:br>
            <a:r>
              <a:rPr lang="en-US"/>
              <a:t>TH1 = 250</a:t>
            </a:r>
            <a:br>
              <a:rPr lang="en-US"/>
            </a:br>
            <a:r>
              <a:rPr lang="en-US"/>
              <a:t>The actual Baudrate =  9600 bps</a:t>
            </a:r>
            <a:br>
              <a:rPr lang="en-US"/>
            </a:br>
            <a:r>
              <a:rPr lang="en-US"/>
              <a:t>error = 0%</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 </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p:txBody>
      </p:sp>
      <p:sp>
        <p:nvSpPr>
          <p:cNvPr id="400" name="Google Shape;400;p1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401" name="Google Shape;401;p18"/>
          <p:cNvSpPr txBox="1"/>
          <p:nvPr/>
        </p:nvSpPr>
        <p:spPr>
          <a:xfrm>
            <a:off x="253638" y="5617250"/>
            <a:ext cx="7981951" cy="875624"/>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19"/>
          <p:cNvSpPr txBox="1"/>
          <p:nvPr>
            <p:ph type="title"/>
          </p:nvPr>
        </p:nvSpPr>
        <p:spPr>
          <a:xfrm>
            <a:off x="628650" y="60325"/>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UART Clock Source (Case 3)</a:t>
            </a:r>
            <a:br>
              <a:rPr b="1" lang="en-US"/>
            </a:br>
            <a:r>
              <a:rPr b="1" lang="en-US"/>
              <a:t>User define buadrate</a:t>
            </a:r>
            <a:endParaRPr b="1"/>
          </a:p>
        </p:txBody>
      </p:sp>
      <p:sp>
        <p:nvSpPr>
          <p:cNvPr id="407" name="Google Shape;407;p19"/>
          <p:cNvSpPr txBox="1"/>
          <p:nvPr>
            <p:ph idx="1" type="body"/>
          </p:nvPr>
        </p:nvSpPr>
        <p:spPr>
          <a:xfrm>
            <a:off x="628650" y="1473200"/>
            <a:ext cx="8515350" cy="5248276"/>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lang="en-US"/>
              <a:t>Freq_T1 = Freq_osc / (12*(256 - TH1))               (C/T = 0)</a:t>
            </a:r>
            <a:endParaRPr/>
          </a:p>
          <a:p>
            <a:pPr indent="-228600" lvl="0" marL="228600" rtl="0" algn="l">
              <a:lnSpc>
                <a:spcPct val="90000"/>
              </a:lnSpc>
              <a:spcBef>
                <a:spcPts val="1000"/>
              </a:spcBef>
              <a:spcAft>
                <a:spcPts val="0"/>
              </a:spcAft>
              <a:buClr>
                <a:schemeClr val="dk1"/>
              </a:buClr>
              <a:buSzPct val="100000"/>
              <a:buChar char="•"/>
            </a:pPr>
            <a:r>
              <a:rPr lang="en-US"/>
              <a:t>Freq_Uart = Baudrate = Freq_T1 / 32		(SMOD = 0)</a:t>
            </a:r>
            <a:br>
              <a:rPr lang="en-US"/>
            </a:br>
            <a:r>
              <a:rPr lang="en-US"/>
              <a:t>Freq_Uart = Baudrate = Freq_T1 / 16		(SMOD = 1)</a:t>
            </a:r>
            <a:endParaRPr/>
          </a:p>
          <a:p>
            <a:pPr indent="-228600" lvl="0" marL="228600" rtl="0" algn="l">
              <a:lnSpc>
                <a:spcPct val="90000"/>
              </a:lnSpc>
              <a:spcBef>
                <a:spcPts val="1000"/>
              </a:spcBef>
              <a:spcAft>
                <a:spcPts val="0"/>
              </a:spcAft>
              <a:buClr>
                <a:schemeClr val="dk1"/>
              </a:buClr>
              <a:buSzPct val="100000"/>
              <a:buChar char="•"/>
            </a:pPr>
            <a:r>
              <a:rPr lang="en-US"/>
              <a:t>For Example: </a:t>
            </a:r>
            <a:br>
              <a:rPr lang="en-US"/>
            </a:br>
            <a:r>
              <a:rPr lang="en-US"/>
              <a:t>Freq_osc = 12Mhz, Baudrate = 8928bps, SMOD = 1</a:t>
            </a:r>
            <a:endParaRPr/>
          </a:p>
          <a:p>
            <a:pPr indent="-228600" lvl="0" marL="228600" rtl="0" algn="l">
              <a:lnSpc>
                <a:spcPct val="90000"/>
              </a:lnSpc>
              <a:spcBef>
                <a:spcPts val="1000"/>
              </a:spcBef>
              <a:spcAft>
                <a:spcPts val="0"/>
              </a:spcAft>
              <a:buClr>
                <a:schemeClr val="dk1"/>
              </a:buClr>
              <a:buSzPct val="100000"/>
              <a:buChar char="•"/>
            </a:pPr>
            <a:r>
              <a:rPr lang="en-US"/>
              <a:t>Freq_T1 = 8928*16 = 142,848 </a:t>
            </a:r>
            <a:br>
              <a:rPr lang="en-US"/>
            </a:br>
            <a:r>
              <a:rPr lang="en-US"/>
              <a:t>(256 - TH1) = 12M / 12 / 142.848k = 7</a:t>
            </a:r>
            <a:br>
              <a:rPr lang="en-US"/>
            </a:br>
            <a:r>
              <a:rPr lang="en-US"/>
              <a:t>TH1 = 249</a:t>
            </a:r>
            <a:br>
              <a:rPr lang="en-US"/>
            </a:br>
            <a:r>
              <a:rPr lang="en-US"/>
              <a:t>The actual Baudrate =  8928</a:t>
            </a:r>
            <a:br>
              <a:rPr lang="en-US"/>
            </a:br>
            <a:r>
              <a:rPr lang="en-US"/>
              <a:t>error = 0%</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 </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p:txBody>
      </p:sp>
      <p:sp>
        <p:nvSpPr>
          <p:cNvPr id="408" name="Google Shape;408;p1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409" name="Google Shape;409;p19"/>
          <p:cNvSpPr txBox="1"/>
          <p:nvPr/>
        </p:nvSpPr>
        <p:spPr>
          <a:xfrm>
            <a:off x="253638" y="5617250"/>
            <a:ext cx="7981951" cy="875624"/>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2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Serial Buffer SBUF</a:t>
            </a:r>
            <a:endParaRPr b="1"/>
          </a:p>
        </p:txBody>
      </p:sp>
      <p:sp>
        <p:nvSpPr>
          <p:cNvPr id="415" name="Google Shape;415;p20"/>
          <p:cNvSpPr txBox="1"/>
          <p:nvPr>
            <p:ph idx="1" type="body"/>
          </p:nvPr>
        </p:nvSpPr>
        <p:spPr>
          <a:xfrm>
            <a:off x="628650" y="1521246"/>
            <a:ext cx="843915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After setting, the data would transmit/receive through SBUF.</a:t>
            </a:r>
            <a:endParaRPr/>
          </a:p>
        </p:txBody>
      </p:sp>
      <p:sp>
        <p:nvSpPr>
          <p:cNvPr id="416" name="Google Shape;416;p20"/>
          <p:cNvSpPr txBox="1"/>
          <p:nvPr>
            <p:ph idx="12" type="sldNum"/>
          </p:nvPr>
        </p:nvSpPr>
        <p:spPr>
          <a:xfrm>
            <a:off x="6788943" y="6375342"/>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graphicFrame>
        <p:nvGraphicFramePr>
          <p:cNvPr id="417" name="Google Shape;417;p20"/>
          <p:cNvGraphicFramePr/>
          <p:nvPr/>
        </p:nvGraphicFramePr>
        <p:xfrm>
          <a:off x="316703" y="5752764"/>
          <a:ext cx="3000000" cy="3000000"/>
        </p:xfrm>
        <a:graphic>
          <a:graphicData uri="http://schemas.openxmlformats.org/drawingml/2006/table">
            <a:tbl>
              <a:tblPr>
                <a:noFill/>
                <a:tableStyleId>{42050640-4A7E-47B1-A43F-CA128A589E7A}</a:tableStyleId>
              </a:tblPr>
              <a:tblGrid>
                <a:gridCol w="818100"/>
                <a:gridCol w="818100"/>
                <a:gridCol w="818100"/>
                <a:gridCol w="818100"/>
                <a:gridCol w="818100"/>
                <a:gridCol w="818100"/>
                <a:gridCol w="818100"/>
                <a:gridCol w="818100"/>
                <a:gridCol w="818100"/>
              </a:tblGrid>
              <a:tr h="540200">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TI</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D7</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D6</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D5</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D4</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D3</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D2</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D1</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D0</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418" name="Google Shape;418;p20"/>
          <p:cNvGraphicFramePr/>
          <p:nvPr/>
        </p:nvGraphicFramePr>
        <p:xfrm>
          <a:off x="316704" y="2605283"/>
          <a:ext cx="3000000" cy="3000000"/>
        </p:xfrm>
        <a:graphic>
          <a:graphicData uri="http://schemas.openxmlformats.org/drawingml/2006/table">
            <a:tbl>
              <a:tblPr>
                <a:noFill/>
                <a:tableStyleId>{42050640-4A7E-47B1-A43F-CA128A589E7A}</a:tableStyleId>
              </a:tblPr>
              <a:tblGrid>
                <a:gridCol w="818100"/>
                <a:gridCol w="818100"/>
                <a:gridCol w="818100"/>
                <a:gridCol w="818100"/>
                <a:gridCol w="818100"/>
                <a:gridCol w="818100"/>
                <a:gridCol w="818100"/>
                <a:gridCol w="818100"/>
                <a:gridCol w="818100"/>
              </a:tblGrid>
              <a:tr h="540200">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RI</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D7</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D6</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D5</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D4</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D3</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D2</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D1</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D0</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419" name="Google Shape;419;p20"/>
          <p:cNvGraphicFramePr/>
          <p:nvPr/>
        </p:nvGraphicFramePr>
        <p:xfrm>
          <a:off x="50971" y="3676330"/>
          <a:ext cx="3000000" cy="3000000"/>
        </p:xfrm>
        <a:graphic>
          <a:graphicData uri="http://schemas.openxmlformats.org/drawingml/2006/table">
            <a:tbl>
              <a:tblPr>
                <a:noFill/>
                <a:tableStyleId>{42050640-4A7E-47B1-A43F-CA128A589E7A}</a:tableStyleId>
              </a:tblPr>
              <a:tblGrid>
                <a:gridCol w="821325"/>
                <a:gridCol w="821325"/>
                <a:gridCol w="821325"/>
                <a:gridCol w="821325"/>
                <a:gridCol w="821325"/>
                <a:gridCol w="821325"/>
                <a:gridCol w="821325"/>
                <a:gridCol w="821325"/>
                <a:gridCol w="821325"/>
                <a:gridCol w="821325"/>
              </a:tblGrid>
              <a:tr h="540200">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START</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D0</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D1</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D2</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D3</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D4</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D5</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D6</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D7</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STOP</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420" name="Google Shape;420;p20"/>
          <p:cNvGraphicFramePr/>
          <p:nvPr/>
        </p:nvGraphicFramePr>
        <p:xfrm>
          <a:off x="50971" y="4653248"/>
          <a:ext cx="3000000" cy="3000000"/>
        </p:xfrm>
        <a:graphic>
          <a:graphicData uri="http://schemas.openxmlformats.org/drawingml/2006/table">
            <a:tbl>
              <a:tblPr>
                <a:noFill/>
                <a:tableStyleId>{42050640-4A7E-47B1-A43F-CA128A589E7A}</a:tableStyleId>
              </a:tblPr>
              <a:tblGrid>
                <a:gridCol w="821325"/>
                <a:gridCol w="821325"/>
                <a:gridCol w="821325"/>
                <a:gridCol w="821325"/>
                <a:gridCol w="821325"/>
                <a:gridCol w="821325"/>
                <a:gridCol w="821325"/>
                <a:gridCol w="821325"/>
                <a:gridCol w="821325"/>
                <a:gridCol w="821325"/>
              </a:tblGrid>
              <a:tr h="540200">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STOP</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D7</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D6</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D5</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D4</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D3</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D2</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D1</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D0</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START</a:t>
                      </a:r>
                      <a:endParaRPr/>
                    </a:p>
                  </a:txBody>
                  <a:tcPr marT="6575" marB="0" marR="6575" marL="6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cxnSp>
        <p:nvCxnSpPr>
          <p:cNvPr id="421" name="Google Shape;421;p20"/>
          <p:cNvCxnSpPr/>
          <p:nvPr/>
        </p:nvCxnSpPr>
        <p:spPr>
          <a:xfrm rot="10800000">
            <a:off x="4157550" y="5193404"/>
            <a:ext cx="0" cy="556500"/>
          </a:xfrm>
          <a:prstGeom prst="straightConnector1">
            <a:avLst/>
          </a:prstGeom>
          <a:noFill/>
          <a:ln cap="flat" cmpd="sng" w="57150">
            <a:solidFill>
              <a:schemeClr val="dk1"/>
            </a:solidFill>
            <a:prstDash val="solid"/>
            <a:miter lim="800000"/>
            <a:headEnd len="sm" w="sm" type="none"/>
            <a:tailEnd len="med" w="med" type="triangle"/>
          </a:ln>
        </p:spPr>
      </p:cxnSp>
      <p:cxnSp>
        <p:nvCxnSpPr>
          <p:cNvPr id="422" name="Google Shape;422;p20"/>
          <p:cNvCxnSpPr/>
          <p:nvPr/>
        </p:nvCxnSpPr>
        <p:spPr>
          <a:xfrm rot="10800000">
            <a:off x="4157550" y="3173530"/>
            <a:ext cx="0" cy="502800"/>
          </a:xfrm>
          <a:prstGeom prst="straightConnector1">
            <a:avLst/>
          </a:prstGeom>
          <a:noFill/>
          <a:ln cap="flat" cmpd="sng" w="57150">
            <a:solidFill>
              <a:schemeClr val="dk1"/>
            </a:solidFill>
            <a:prstDash val="solid"/>
            <a:miter lim="800000"/>
            <a:headEnd len="sm" w="sm" type="none"/>
            <a:tailEnd len="med" w="med" type="triangle"/>
          </a:ln>
        </p:spPr>
      </p:cxnSp>
      <p:sp>
        <p:nvSpPr>
          <p:cNvPr id="423" name="Google Shape;423;p20"/>
          <p:cNvSpPr txBox="1"/>
          <p:nvPr/>
        </p:nvSpPr>
        <p:spPr>
          <a:xfrm>
            <a:off x="8590586" y="4653248"/>
            <a:ext cx="553414" cy="540201"/>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800"/>
              <a:buFont typeface="Arial"/>
              <a:buNone/>
            </a:pPr>
            <a:r>
              <a:rPr lang="en-US" sz="2800">
                <a:solidFill>
                  <a:schemeClr val="dk1"/>
                </a:solidFill>
                <a:latin typeface="Calibri"/>
                <a:ea typeface="Calibri"/>
                <a:cs typeface="Calibri"/>
                <a:sym typeface="Calibri"/>
              </a:rPr>
              <a:t>Tx</a:t>
            </a:r>
            <a:endParaRPr/>
          </a:p>
          <a:p>
            <a:pPr indent="-50800" lvl="0" marL="228600" marR="0" rtl="0" algn="l">
              <a:lnSpc>
                <a:spcPct val="90000"/>
              </a:lnSpc>
              <a:spcBef>
                <a:spcPts val="100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sp>
        <p:nvSpPr>
          <p:cNvPr id="424" name="Google Shape;424;p20"/>
          <p:cNvSpPr txBox="1"/>
          <p:nvPr/>
        </p:nvSpPr>
        <p:spPr>
          <a:xfrm>
            <a:off x="4670247" y="5279308"/>
            <a:ext cx="2020448" cy="350858"/>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rmAutofit fontScale="85000" lnSpcReduction="10000"/>
          </a:bodyPr>
          <a:lstStyle/>
          <a:p>
            <a:pPr indent="0" lvl="0" marL="0" marR="0" rtl="0" algn="ctr">
              <a:lnSpc>
                <a:spcPct val="90000"/>
              </a:lnSpc>
              <a:spcBef>
                <a:spcPts val="0"/>
              </a:spcBef>
              <a:spcAft>
                <a:spcPts val="0"/>
              </a:spcAft>
              <a:buClr>
                <a:schemeClr val="dk1"/>
              </a:buClr>
              <a:buSzPct val="100000"/>
              <a:buFont typeface="Arial"/>
              <a:buNone/>
            </a:pPr>
            <a:r>
              <a:rPr lang="en-US" sz="2500">
                <a:solidFill>
                  <a:schemeClr val="dk1"/>
                </a:solidFill>
                <a:latin typeface="Calibri"/>
                <a:ea typeface="Calibri"/>
                <a:cs typeface="Calibri"/>
                <a:sym typeface="Calibri"/>
              </a:rPr>
              <a:t>Sent SBUF value</a:t>
            </a:r>
            <a:endParaRPr/>
          </a:p>
          <a:p>
            <a:pPr indent="-77470" lvl="0" marL="228600" marR="0" rtl="0" algn="l">
              <a:lnSpc>
                <a:spcPct val="90000"/>
              </a:lnSpc>
              <a:spcBef>
                <a:spcPts val="1000"/>
              </a:spcBef>
              <a:spcAft>
                <a:spcPts val="0"/>
              </a:spcAft>
              <a:buClr>
                <a:schemeClr val="dk1"/>
              </a:buClr>
              <a:buSzPct val="100000"/>
              <a:buFont typeface="Arial"/>
              <a:buNone/>
            </a:pPr>
            <a:r>
              <a:t/>
            </a:r>
            <a:endParaRPr sz="2800">
              <a:solidFill>
                <a:schemeClr val="dk1"/>
              </a:solidFill>
              <a:latin typeface="Calibri"/>
              <a:ea typeface="Calibri"/>
              <a:cs typeface="Calibri"/>
              <a:sym typeface="Calibri"/>
            </a:endParaRPr>
          </a:p>
          <a:p>
            <a:pPr indent="-77470" lvl="0" marL="228600" marR="0" rtl="0" algn="l">
              <a:lnSpc>
                <a:spcPct val="90000"/>
              </a:lnSpc>
              <a:spcBef>
                <a:spcPts val="1000"/>
              </a:spcBef>
              <a:spcAft>
                <a:spcPts val="0"/>
              </a:spcAft>
              <a:buClr>
                <a:schemeClr val="dk1"/>
              </a:buClr>
              <a:buSzPct val="100000"/>
              <a:buFont typeface="Arial"/>
              <a:buNone/>
            </a:pPr>
            <a:r>
              <a:t/>
            </a:r>
            <a:endParaRPr sz="2800">
              <a:solidFill>
                <a:schemeClr val="dk1"/>
              </a:solidFill>
              <a:latin typeface="Calibri"/>
              <a:ea typeface="Calibri"/>
              <a:cs typeface="Calibri"/>
              <a:sym typeface="Calibri"/>
            </a:endParaRPr>
          </a:p>
        </p:txBody>
      </p:sp>
      <p:sp>
        <p:nvSpPr>
          <p:cNvPr id="425" name="Google Shape;425;p20"/>
          <p:cNvSpPr txBox="1"/>
          <p:nvPr/>
        </p:nvSpPr>
        <p:spPr>
          <a:xfrm>
            <a:off x="4572000" y="3239614"/>
            <a:ext cx="2216943" cy="380715"/>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rmAutofit fontScale="92500"/>
          </a:bodyPr>
          <a:lstStyle/>
          <a:p>
            <a:pPr indent="0" lvl="0" marL="0" marR="0" rtl="0" algn="l">
              <a:lnSpc>
                <a:spcPct val="90000"/>
              </a:lnSpc>
              <a:spcBef>
                <a:spcPts val="0"/>
              </a:spcBef>
              <a:spcAft>
                <a:spcPts val="0"/>
              </a:spcAft>
              <a:buClr>
                <a:schemeClr val="dk1"/>
              </a:buClr>
              <a:buSzPct val="100000"/>
              <a:buFont typeface="Arial"/>
              <a:buNone/>
            </a:pPr>
            <a:r>
              <a:rPr lang="en-US" sz="2200">
                <a:solidFill>
                  <a:schemeClr val="dk1"/>
                </a:solidFill>
                <a:latin typeface="Calibri"/>
                <a:ea typeface="Calibri"/>
                <a:cs typeface="Calibri"/>
                <a:sym typeface="Calibri"/>
              </a:rPr>
              <a:t>Receive SBUF value</a:t>
            </a:r>
            <a:endParaRPr/>
          </a:p>
          <a:p>
            <a:pPr indent="-111125" lvl="0" marL="228600" marR="0" rtl="0" algn="l">
              <a:lnSpc>
                <a:spcPct val="90000"/>
              </a:lnSpc>
              <a:spcBef>
                <a:spcPts val="1000"/>
              </a:spcBef>
              <a:spcAft>
                <a:spcPts val="0"/>
              </a:spcAft>
              <a:buClr>
                <a:schemeClr val="dk1"/>
              </a:buClr>
              <a:buSzPct val="100000"/>
              <a:buFont typeface="Arial"/>
              <a:buNone/>
            </a:pPr>
            <a:r>
              <a:t/>
            </a:r>
            <a:endParaRPr sz="2000">
              <a:solidFill>
                <a:schemeClr val="dk1"/>
              </a:solidFill>
              <a:latin typeface="Calibri"/>
              <a:ea typeface="Calibri"/>
              <a:cs typeface="Calibri"/>
              <a:sym typeface="Calibri"/>
            </a:endParaRPr>
          </a:p>
          <a:p>
            <a:pPr indent="-111125" lvl="0" marL="228600" marR="0" rtl="0" algn="l">
              <a:lnSpc>
                <a:spcPct val="90000"/>
              </a:lnSpc>
              <a:spcBef>
                <a:spcPts val="1000"/>
              </a:spcBef>
              <a:spcAft>
                <a:spcPts val="0"/>
              </a:spcAft>
              <a:buClr>
                <a:schemeClr val="dk1"/>
              </a:buClr>
              <a:buSzPct val="100000"/>
              <a:buFont typeface="Arial"/>
              <a:buNone/>
            </a:pPr>
            <a:r>
              <a:t/>
            </a:r>
            <a:endParaRPr sz="2000">
              <a:solidFill>
                <a:schemeClr val="dk1"/>
              </a:solidFill>
              <a:latin typeface="Calibri"/>
              <a:ea typeface="Calibri"/>
              <a:cs typeface="Calibri"/>
              <a:sym typeface="Calibri"/>
            </a:endParaRPr>
          </a:p>
          <a:p>
            <a:pPr indent="-111125" lvl="0" marL="228600" marR="0" rtl="0" algn="l">
              <a:lnSpc>
                <a:spcPct val="90000"/>
              </a:lnSpc>
              <a:spcBef>
                <a:spcPts val="1000"/>
              </a:spcBef>
              <a:spcAft>
                <a:spcPts val="0"/>
              </a:spcAft>
              <a:buClr>
                <a:schemeClr val="dk1"/>
              </a:buClr>
              <a:buSzPct val="100000"/>
              <a:buFont typeface="Arial"/>
              <a:buNone/>
            </a:pPr>
            <a:r>
              <a:t/>
            </a:r>
            <a:endParaRPr sz="2000">
              <a:solidFill>
                <a:schemeClr val="dk1"/>
              </a:solidFill>
              <a:latin typeface="Calibri"/>
              <a:ea typeface="Calibri"/>
              <a:cs typeface="Calibri"/>
              <a:sym typeface="Calibri"/>
            </a:endParaRPr>
          </a:p>
        </p:txBody>
      </p:sp>
      <p:cxnSp>
        <p:nvCxnSpPr>
          <p:cNvPr id="426" name="Google Shape;426;p20"/>
          <p:cNvCxnSpPr>
            <a:endCxn id="423" idx="1"/>
          </p:cNvCxnSpPr>
          <p:nvPr/>
        </p:nvCxnSpPr>
        <p:spPr>
          <a:xfrm flipH="1" rot="10800000">
            <a:off x="8264186" y="4923349"/>
            <a:ext cx="326400" cy="900"/>
          </a:xfrm>
          <a:prstGeom prst="straightConnector1">
            <a:avLst/>
          </a:prstGeom>
          <a:noFill/>
          <a:ln cap="flat" cmpd="sng" w="57150">
            <a:solidFill>
              <a:schemeClr val="dk1"/>
            </a:solidFill>
            <a:prstDash val="solid"/>
            <a:miter lim="800000"/>
            <a:headEnd len="sm" w="sm" type="none"/>
            <a:tailEnd len="med" w="med" type="triangle"/>
          </a:ln>
        </p:spPr>
      </p:cxnSp>
      <p:cxnSp>
        <p:nvCxnSpPr>
          <p:cNvPr id="427" name="Google Shape;427;p20"/>
          <p:cNvCxnSpPr/>
          <p:nvPr/>
        </p:nvCxnSpPr>
        <p:spPr>
          <a:xfrm flipH="1">
            <a:off x="8264186" y="3943157"/>
            <a:ext cx="326400" cy="3300"/>
          </a:xfrm>
          <a:prstGeom prst="straightConnector1">
            <a:avLst/>
          </a:prstGeom>
          <a:noFill/>
          <a:ln cap="flat" cmpd="sng" w="57150">
            <a:solidFill>
              <a:schemeClr val="dk1"/>
            </a:solidFill>
            <a:prstDash val="solid"/>
            <a:miter lim="800000"/>
            <a:headEnd len="sm" w="sm" type="none"/>
            <a:tailEnd len="med" w="med" type="triangle"/>
          </a:ln>
        </p:spPr>
      </p:cxnSp>
      <p:sp>
        <p:nvSpPr>
          <p:cNvPr id="428" name="Google Shape;428;p20"/>
          <p:cNvSpPr txBox="1"/>
          <p:nvPr/>
        </p:nvSpPr>
        <p:spPr>
          <a:xfrm>
            <a:off x="8590586" y="3704012"/>
            <a:ext cx="553414" cy="540201"/>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800"/>
              <a:buFont typeface="Arial"/>
              <a:buNone/>
            </a:pPr>
            <a:r>
              <a:rPr lang="en-US" sz="2800">
                <a:solidFill>
                  <a:schemeClr val="dk1"/>
                </a:solidFill>
                <a:latin typeface="Calibri"/>
                <a:ea typeface="Calibri"/>
                <a:cs typeface="Calibri"/>
                <a:sym typeface="Calibri"/>
              </a:rPr>
              <a:t>Rx</a:t>
            </a:r>
            <a:endParaRPr/>
          </a:p>
          <a:p>
            <a:pPr indent="-50800" lvl="0" marL="228600" marR="0" rtl="0" algn="l">
              <a:lnSpc>
                <a:spcPct val="90000"/>
              </a:lnSpc>
              <a:spcBef>
                <a:spcPts val="100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2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 Example code : Initial Setting</a:t>
            </a:r>
            <a:endParaRPr b="1"/>
          </a:p>
        </p:txBody>
      </p:sp>
      <p:sp>
        <p:nvSpPr>
          <p:cNvPr id="434" name="Google Shape;434;p2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pic>
        <p:nvPicPr>
          <p:cNvPr descr="一張含有 文字 的圖片&#10;&#10;自動產生的描述" id="435" name="Google Shape;435;p21"/>
          <p:cNvPicPr preferRelativeResize="0"/>
          <p:nvPr/>
        </p:nvPicPr>
        <p:blipFill rotWithShape="1">
          <a:blip r:embed="rId3">
            <a:alphaModFix/>
          </a:blip>
          <a:srcRect b="0" l="-1" r="29624" t="0"/>
          <a:stretch/>
        </p:blipFill>
        <p:spPr>
          <a:xfrm>
            <a:off x="226605" y="1690689"/>
            <a:ext cx="8767839" cy="2289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2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Example code : Tx sends data</a:t>
            </a:r>
            <a:endParaRPr/>
          </a:p>
        </p:txBody>
      </p:sp>
      <p:sp>
        <p:nvSpPr>
          <p:cNvPr id="441" name="Google Shape;441;p2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pic>
        <p:nvPicPr>
          <p:cNvPr descr="一張含有 文字 的圖片&#10;&#10;自動產生的描述" id="442" name="Google Shape;442;p22"/>
          <p:cNvPicPr preferRelativeResize="0"/>
          <p:nvPr/>
        </p:nvPicPr>
        <p:blipFill rotWithShape="1">
          <a:blip r:embed="rId3">
            <a:alphaModFix/>
          </a:blip>
          <a:srcRect b="0" l="0" r="0" t="0"/>
          <a:stretch/>
        </p:blipFill>
        <p:spPr>
          <a:xfrm>
            <a:off x="351114" y="1665966"/>
            <a:ext cx="7380058" cy="225396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2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Example code : Rx receives data</a:t>
            </a:r>
            <a:endParaRPr/>
          </a:p>
        </p:txBody>
      </p:sp>
      <p:sp>
        <p:nvSpPr>
          <p:cNvPr id="448" name="Google Shape;448;p2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pic>
        <p:nvPicPr>
          <p:cNvPr descr="一張含有 文字 的圖片&#10;&#10;自動產生的描述" id="449" name="Google Shape;449;p23"/>
          <p:cNvPicPr preferRelativeResize="0"/>
          <p:nvPr/>
        </p:nvPicPr>
        <p:blipFill rotWithShape="1">
          <a:blip r:embed="rId3">
            <a:alphaModFix/>
          </a:blip>
          <a:srcRect b="0" l="0" r="4090" t="0"/>
          <a:stretch/>
        </p:blipFill>
        <p:spPr>
          <a:xfrm>
            <a:off x="244978" y="2042128"/>
            <a:ext cx="8654044" cy="165294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2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Example Code : Interrupt</a:t>
            </a:r>
            <a:endParaRPr b="1"/>
          </a:p>
        </p:txBody>
      </p:sp>
      <p:sp>
        <p:nvSpPr>
          <p:cNvPr id="455" name="Google Shape;455;p2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pic>
        <p:nvPicPr>
          <p:cNvPr descr="一張含有 文字 的圖片&#10;&#10;自動產生的描述" id="456" name="Google Shape;456;p24"/>
          <p:cNvPicPr preferRelativeResize="0"/>
          <p:nvPr/>
        </p:nvPicPr>
        <p:blipFill rotWithShape="1">
          <a:blip r:embed="rId3">
            <a:alphaModFix/>
          </a:blip>
          <a:srcRect b="0" l="0" r="0" t="0"/>
          <a:stretch/>
        </p:blipFill>
        <p:spPr>
          <a:xfrm>
            <a:off x="696105" y="4326279"/>
            <a:ext cx="6492586" cy="2166595"/>
          </a:xfrm>
          <a:prstGeom prst="rect">
            <a:avLst/>
          </a:prstGeom>
          <a:noFill/>
          <a:ln>
            <a:noFill/>
          </a:ln>
        </p:spPr>
      </p:pic>
      <p:pic>
        <p:nvPicPr>
          <p:cNvPr descr="一張含有 文字 的圖片&#10;&#10;自動產生的描述" id="457" name="Google Shape;457;p24"/>
          <p:cNvPicPr preferRelativeResize="0"/>
          <p:nvPr/>
        </p:nvPicPr>
        <p:blipFill rotWithShape="1">
          <a:blip r:embed="rId4">
            <a:alphaModFix/>
          </a:blip>
          <a:srcRect b="0" l="0" r="0" t="0"/>
          <a:stretch/>
        </p:blipFill>
        <p:spPr>
          <a:xfrm>
            <a:off x="696105" y="2078620"/>
            <a:ext cx="4398466" cy="1433523"/>
          </a:xfrm>
          <a:prstGeom prst="rect">
            <a:avLst/>
          </a:prstGeom>
          <a:noFill/>
          <a:ln>
            <a:noFill/>
          </a:ln>
        </p:spPr>
      </p:pic>
      <p:sp>
        <p:nvSpPr>
          <p:cNvPr id="458" name="Google Shape;458;p24"/>
          <p:cNvSpPr txBox="1"/>
          <p:nvPr/>
        </p:nvSpPr>
        <p:spPr>
          <a:xfrm>
            <a:off x="628649" y="1490848"/>
            <a:ext cx="1919679" cy="523220"/>
          </a:xfrm>
          <a:prstGeom prst="rect">
            <a:avLst/>
          </a:prstGeom>
          <a:noFill/>
          <a:ln cap="flat" cmpd="sng" w="9525">
            <a:solidFill>
              <a:srgbClr val="00B05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Transmitter</a:t>
            </a:r>
            <a:endParaRPr sz="2800">
              <a:solidFill>
                <a:schemeClr val="dk1"/>
              </a:solidFill>
              <a:latin typeface="Calibri"/>
              <a:ea typeface="Calibri"/>
              <a:cs typeface="Calibri"/>
              <a:sym typeface="Calibri"/>
            </a:endParaRPr>
          </a:p>
        </p:txBody>
      </p:sp>
      <p:sp>
        <p:nvSpPr>
          <p:cNvPr id="459" name="Google Shape;459;p24"/>
          <p:cNvSpPr txBox="1"/>
          <p:nvPr/>
        </p:nvSpPr>
        <p:spPr>
          <a:xfrm>
            <a:off x="628649" y="3803059"/>
            <a:ext cx="1919679" cy="523220"/>
          </a:xfrm>
          <a:prstGeom prst="rect">
            <a:avLst/>
          </a:prstGeom>
          <a:noFill/>
          <a:ln cap="flat" cmpd="sng" w="9525">
            <a:solidFill>
              <a:srgbClr val="00B05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Receiver</a:t>
            </a:r>
            <a:endParaRPr sz="2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2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Reference</a:t>
            </a:r>
            <a:endParaRPr/>
          </a:p>
        </p:txBody>
      </p:sp>
      <p:sp>
        <p:nvSpPr>
          <p:cNvPr id="465" name="Google Shape;465;p2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u="sng">
                <a:solidFill>
                  <a:schemeClr val="hlink"/>
                </a:solidFill>
                <a:hlinkClick r:id="rId3"/>
              </a:rPr>
              <a:t>http://www.formosaos.url.tw/my8051/8051_mcu.html</a:t>
            </a:r>
            <a:endParaRPr/>
          </a:p>
          <a:p>
            <a:pPr indent="0" lvl="0" marL="0" rtl="0" algn="l">
              <a:lnSpc>
                <a:spcPct val="90000"/>
              </a:lnSpc>
              <a:spcBef>
                <a:spcPts val="1000"/>
              </a:spcBef>
              <a:spcAft>
                <a:spcPts val="0"/>
              </a:spcAft>
              <a:buClr>
                <a:schemeClr val="dk1"/>
              </a:buClr>
              <a:buSzPts val="2800"/>
              <a:buNone/>
            </a:pPr>
            <a:r>
              <a:rPr lang="en-US" u="sng">
                <a:solidFill>
                  <a:schemeClr val="hlink"/>
                </a:solidFill>
                <a:hlinkClick r:id="rId4"/>
              </a:rPr>
              <a:t>http://www.finetech.idv.tw/techdoc/8051serial/8051serial.htm</a:t>
            </a:r>
            <a:endParaRPr/>
          </a:p>
          <a:p>
            <a:pPr indent="0" lvl="0" marL="0" rtl="0" algn="l">
              <a:lnSpc>
                <a:spcPct val="90000"/>
              </a:lnSpc>
              <a:spcBef>
                <a:spcPts val="1000"/>
              </a:spcBef>
              <a:spcAft>
                <a:spcPts val="0"/>
              </a:spcAft>
              <a:buClr>
                <a:schemeClr val="dk1"/>
              </a:buClr>
              <a:buSzPts val="2800"/>
              <a:buNone/>
            </a:pPr>
            <a:r>
              <a:t/>
            </a:r>
            <a:endParaRPr/>
          </a:p>
        </p:txBody>
      </p:sp>
      <p:sp>
        <p:nvSpPr>
          <p:cNvPr id="466" name="Google Shape;466;p2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ffice 佈景主題">
  <a:themeElements>
    <a:clrScheme name="Office 佈景主題">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2020-10-26T02:58:28Z</dcterms:created>
  <dc:creator>Gary Lee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0x010100D2DFE5C12659264F9CD8B56860A4A801</vt:lpwstr>
  </property>
</Properties>
</file>