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2"/>
  </p:sldMasterIdLst>
  <p:notesMasterIdLst>
    <p:notesMasterId r:id="rId49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682" autoAdjust="0"/>
    <p:restoredTop sz="94660"/>
  </p:normalViewPr>
  <p:slideViewPr>
    <p:cSldViewPr>
      <p:cViewPr varScale="1">
        <p:scale>
          <a:sx n="108" d="100"/>
          <a:sy n="108" d="100"/>
        </p:scale>
        <p:origin x="1356" y="12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8" Type="http://schemas.openxmlformats.org/officeDocument/2006/relationships/slide" Target="slides/slide6.xml"/><Relationship Id="rId51" Type="http://schemas.openxmlformats.org/officeDocument/2006/relationships/viewProps" Target="view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3F2530-347F-491E-BE04-8FD77645F3E2}" type="datetimeFigureOut">
              <a:rPr lang="zh-TW" altLang="en-US" smtClean="0"/>
              <a:t>2023/12/11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346485-7353-4FCD-9B2D-CC0733D5251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54001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79F22C-31DE-4B64-BADE-26261F70D11A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1682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17042" y="1427479"/>
            <a:ext cx="7974965" cy="939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12/11/2023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53670">
              <a:lnSpc>
                <a:spcPts val="181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12/11/2023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53670">
              <a:lnSpc>
                <a:spcPts val="181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12/11/2023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53670">
              <a:lnSpc>
                <a:spcPts val="181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12/11/2023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53670">
              <a:lnSpc>
                <a:spcPts val="181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12/11/2023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53670">
              <a:lnSpc>
                <a:spcPts val="181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24AD8-50C4-4572-B8AE-FD5B0BB64D8A}" type="datetime1">
              <a:rPr lang="zh-TW" altLang="en-US" smtClean="0"/>
              <a:t>2023/12/11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9601E-3B4E-4928-8AF0-88D45E7837C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26480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019429"/>
          </a:xfrm>
        </p:spPr>
        <p:txBody>
          <a:bodyPr/>
          <a:lstStyle>
            <a:lvl1pPr>
              <a:defRPr b="1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09333"/>
            <a:ext cx="7886700" cy="466763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C36EB-242E-4F6F-909D-12653E15CE77}" type="datetime1">
              <a:rPr lang="zh-TW" altLang="en-US" smtClean="0"/>
              <a:t>2023/12/11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800"/>
            </a:lvl1pPr>
          </a:lstStyle>
          <a:p>
            <a:fld id="{E709601E-3B4E-4928-8AF0-88D45E7837C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1439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CAAEA-49DA-4DA1-BF4C-13D5FCD93C2A}" type="datetime1">
              <a:rPr lang="zh-TW" altLang="en-US" smtClean="0"/>
              <a:t>2023/12/11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9601E-3B4E-4928-8AF0-88D45E7837C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00935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509333"/>
            <a:ext cx="3886200" cy="466763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509333"/>
            <a:ext cx="3886200" cy="466763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2357F-6A00-43BC-B4B7-F146617DC39D}" type="datetime1">
              <a:rPr lang="zh-TW" altLang="en-US" smtClean="0"/>
              <a:t>2023/12/11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9601E-3B4E-4928-8AF0-88D45E7837C6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636671" y="1342670"/>
            <a:ext cx="7886700" cy="62390"/>
          </a:xfrm>
          <a:prstGeom prst="rect">
            <a:avLst/>
          </a:prstGeom>
          <a:solidFill>
            <a:srgbClr val="F3D2F4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1" name="圖片 10"/>
          <p:cNvPicPr>
            <a:picLocks noChangeAspect="1"/>
          </p:cNvPicPr>
          <p:nvPr userDrawn="1"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78552" y="254610"/>
            <a:ext cx="1144207" cy="114420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033691"/>
          </a:xfrm>
        </p:spPr>
        <p:txBody>
          <a:bodyPr/>
          <a:lstStyle>
            <a:lvl1pPr>
              <a:defRPr b="1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8950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6441B-78E6-4CE0-9A9A-E0F5A2FBCD0A}" type="datetime1">
              <a:rPr lang="zh-TW" altLang="en-US" smtClean="0"/>
              <a:t>2023/12/11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9601E-3B4E-4928-8AF0-88D45E7837C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0321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5F86C-C5A4-45C4-BEF1-05421A725B11}" type="datetime1">
              <a:rPr lang="zh-TW" altLang="en-US" smtClean="0"/>
              <a:t>2023/12/11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9601E-3B4E-4928-8AF0-88D45E7837C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737762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72340-58AC-44AD-AB72-52A3B9D05F79}" type="datetime1">
              <a:rPr lang="zh-TW" altLang="en-US" smtClean="0"/>
              <a:t>2023/12/11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9601E-3B4E-4928-8AF0-88D45E7837C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65373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B8FF4-8397-430C-AA34-3D6ADF2FEA59}" type="datetime1">
              <a:rPr lang="zh-TW" altLang="en-US" smtClean="0"/>
              <a:t>2023/12/11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9601E-3B4E-4928-8AF0-88D45E7837C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98401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BABF2-AB14-4299-9244-0D0E3DDC918F}" type="datetime1">
              <a:rPr lang="zh-TW" altLang="en-US" smtClean="0"/>
              <a:t>2023/12/11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9601E-3B4E-4928-8AF0-88D45E7837C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70900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3A754-E793-403F-AF21-93AD6C943E50}" type="datetime1">
              <a:rPr lang="zh-TW" altLang="en-US" smtClean="0"/>
              <a:t>2023/12/11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9601E-3B4E-4928-8AF0-88D45E7837C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1073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04B08-5DCE-4DDB-BA8A-F854858EE414}" type="datetime1">
              <a:rPr lang="zh-TW" altLang="en-US" smtClean="0"/>
              <a:t>2023/12/11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9601E-3B4E-4928-8AF0-88D45E7837C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9614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07542" y="158242"/>
            <a:ext cx="7744307" cy="124612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02538" y="1682495"/>
            <a:ext cx="7433945" cy="34315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12/11/2023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154034" y="6432448"/>
            <a:ext cx="320928" cy="254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53670">
              <a:lnSpc>
                <a:spcPts val="181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9090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71600"/>
            <a:ext cx="7886700" cy="4805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CEB8A8-C2F2-4714-86E1-48177C028317}" type="datetime1">
              <a:rPr lang="zh-TW" altLang="en-US" smtClean="0"/>
              <a:t>2023/12/11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09601E-3B4E-4928-8AF0-88D45E7837C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8462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7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4.jp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3.jpg"/><Relationship Id="rId7" Type="http://schemas.openxmlformats.org/officeDocument/2006/relationships/image" Target="../media/image15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11" Type="http://schemas.openxmlformats.org/officeDocument/2006/relationships/image" Target="../media/image18.png"/><Relationship Id="rId5" Type="http://schemas.openxmlformats.org/officeDocument/2006/relationships/image" Target="../media/image5.jpg"/><Relationship Id="rId10" Type="http://schemas.openxmlformats.org/officeDocument/2006/relationships/image" Target="../media/image17.png"/><Relationship Id="rId4" Type="http://schemas.openxmlformats.org/officeDocument/2006/relationships/image" Target="../media/image4.jpg"/><Relationship Id="rId9" Type="http://schemas.openxmlformats.org/officeDocument/2006/relationships/image" Target="../media/image7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28.png"/><Relationship Id="rId3" Type="http://schemas.openxmlformats.org/officeDocument/2006/relationships/image" Target="../media/image20.png"/><Relationship Id="rId7" Type="http://schemas.openxmlformats.org/officeDocument/2006/relationships/image" Target="../media/image24.jpg"/><Relationship Id="rId12" Type="http://schemas.openxmlformats.org/officeDocument/2006/relationships/image" Target="../media/image9.png"/><Relationship Id="rId2" Type="http://schemas.openxmlformats.org/officeDocument/2006/relationships/image" Target="../media/image19.png"/><Relationship Id="rId16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8.png"/><Relationship Id="rId5" Type="http://schemas.openxmlformats.org/officeDocument/2006/relationships/image" Target="../media/image22.jpg"/><Relationship Id="rId15" Type="http://schemas.openxmlformats.org/officeDocument/2006/relationships/image" Target="../media/image11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28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5.jpg"/><Relationship Id="rId4" Type="http://schemas.openxmlformats.org/officeDocument/2006/relationships/image" Target="../media/image34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92;p1">
            <a:extLst>
              <a:ext uri="{FF2B5EF4-FFF2-40B4-BE49-F238E27FC236}">
                <a16:creationId xmlns:a16="http://schemas.microsoft.com/office/drawing/2014/main" id="{C3C3CFF7-0998-FF1D-566C-F256FC084523}"/>
              </a:ext>
            </a:extLst>
          </p:cNvPr>
          <p:cNvSpPr txBox="1">
            <a:spLocks/>
          </p:cNvSpPr>
          <p:nvPr/>
        </p:nvSpPr>
        <p:spPr>
          <a:xfrm>
            <a:off x="438307" y="743925"/>
            <a:ext cx="8524324" cy="1735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>
              <a:defRPr sz="6000" b="1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l" rtl="0">
              <a:lnSpc>
                <a:spcPct val="90000"/>
              </a:lnSpc>
              <a:buClr>
                <a:schemeClr val="dk1"/>
              </a:buClr>
              <a:buSzPts val="6000"/>
              <a:buFont typeface="Arial"/>
              <a:buNone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Microprocessor Systems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9600" y="2838473"/>
            <a:ext cx="74358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TW" sz="3600" spc="-140" dirty="0">
                <a:latin typeface="Calibri"/>
                <a:cs typeface="Calibri"/>
              </a:rPr>
              <a:t>Lab10 – </a:t>
            </a:r>
            <a:r>
              <a:rPr sz="3600" spc="-140" dirty="0">
                <a:latin typeface="Calibri"/>
                <a:cs typeface="Calibri"/>
              </a:rPr>
              <a:t>From</a:t>
            </a:r>
            <a:r>
              <a:rPr lang="en-US" sz="3600" spc="-290" dirty="0">
                <a:latin typeface="Calibri"/>
                <a:cs typeface="Calibri"/>
              </a:rPr>
              <a:t> </a:t>
            </a:r>
            <a:r>
              <a:rPr sz="3600" spc="-120" dirty="0">
                <a:latin typeface="Calibri"/>
                <a:cs typeface="Calibri"/>
              </a:rPr>
              <a:t>8051</a:t>
            </a:r>
            <a:r>
              <a:rPr sz="3600" spc="-265" dirty="0">
                <a:latin typeface="Calibri"/>
                <a:cs typeface="Calibri"/>
              </a:rPr>
              <a:t> </a:t>
            </a:r>
            <a:r>
              <a:rPr sz="3600" spc="-100" dirty="0">
                <a:latin typeface="Calibri"/>
                <a:cs typeface="Calibri"/>
              </a:rPr>
              <a:t>to</a:t>
            </a:r>
            <a:r>
              <a:rPr sz="3600" spc="-290" dirty="0">
                <a:latin typeface="Calibri"/>
                <a:cs typeface="Calibri"/>
              </a:rPr>
              <a:t> </a:t>
            </a:r>
            <a:r>
              <a:rPr sz="3600" spc="-95" dirty="0">
                <a:latin typeface="Calibri"/>
                <a:cs typeface="Calibri"/>
              </a:rPr>
              <a:t>ARC</a:t>
            </a:r>
            <a:endParaRPr sz="36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70941" y="4388732"/>
            <a:ext cx="3388860" cy="1628577"/>
          </a:xfrm>
          <a:prstGeom prst="rect">
            <a:avLst/>
          </a:prstGeom>
        </p:spPr>
      </p:pic>
      <p:sp>
        <p:nvSpPr>
          <p:cNvPr id="5" name="Google Shape;93;p1">
            <a:extLst>
              <a:ext uri="{FF2B5EF4-FFF2-40B4-BE49-F238E27FC236}">
                <a16:creationId xmlns:a16="http://schemas.microsoft.com/office/drawing/2014/main" id="{4E8A6A55-983F-B236-D34F-BBEBC477FCA1}"/>
              </a:ext>
            </a:extLst>
          </p:cNvPr>
          <p:cNvSpPr txBox="1">
            <a:spLocks/>
          </p:cNvSpPr>
          <p:nvPr/>
        </p:nvSpPr>
        <p:spPr>
          <a:xfrm>
            <a:off x="510490" y="4360130"/>
            <a:ext cx="29718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l" rtl="0">
              <a:lnSpc>
                <a:spcPct val="90000"/>
              </a:lnSpc>
              <a:buClr>
                <a:schemeClr val="dk1"/>
              </a:buClr>
              <a:buSzPts val="2400"/>
            </a:pPr>
            <a:r>
              <a:rPr lang="es-ES" sz="2400" dirty="0"/>
              <a:t>Prof. Ren-Shuo Liu</a:t>
            </a:r>
          </a:p>
          <a:p>
            <a:pPr algn="l" rtl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400"/>
            </a:pPr>
            <a:r>
              <a:rPr lang="es-ES" sz="2400" dirty="0"/>
              <a:t>NTHU 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50107" y="992124"/>
            <a:ext cx="2366772" cy="234391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6363" y="992124"/>
            <a:ext cx="2171700" cy="234391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68923" y="992124"/>
            <a:ext cx="2647187" cy="234391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150107" y="4131564"/>
            <a:ext cx="2369820" cy="236524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75487" y="4131564"/>
            <a:ext cx="2510028" cy="238048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956259" y="472567"/>
            <a:ext cx="15119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latin typeface="Calibri"/>
                <a:cs typeface="Calibri"/>
              </a:rPr>
              <a:t>Calculator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08451" y="472567"/>
            <a:ext cx="24409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Calibri"/>
                <a:cs typeface="Calibri"/>
              </a:rPr>
              <a:t>IR</a:t>
            </a:r>
            <a:r>
              <a:rPr sz="2800" b="1" spc="-2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Thermometer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5954395" y="466090"/>
            <a:ext cx="24974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/>
              <a:t>Digital</a:t>
            </a:r>
            <a:r>
              <a:rPr sz="2800" spc="-110" dirty="0"/>
              <a:t> </a:t>
            </a:r>
            <a:r>
              <a:rPr sz="2800" spc="-10" dirty="0"/>
              <a:t>Hourglass</a:t>
            </a:r>
            <a:endParaRPr sz="2800"/>
          </a:p>
        </p:txBody>
      </p:sp>
      <p:sp>
        <p:nvSpPr>
          <p:cNvPr id="10" name="object 10"/>
          <p:cNvSpPr txBox="1"/>
          <p:nvPr/>
        </p:nvSpPr>
        <p:spPr>
          <a:xfrm>
            <a:off x="943762" y="3637026"/>
            <a:ext cx="15697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Calibri"/>
                <a:cs typeface="Calibri"/>
              </a:rPr>
              <a:t>ISP</a:t>
            </a:r>
            <a:r>
              <a:rPr sz="2800" b="1" spc="-3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Burner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582161" y="3637026"/>
            <a:ext cx="15227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Calibri"/>
                <a:cs typeface="Calibri"/>
              </a:rPr>
              <a:t>POV</a:t>
            </a:r>
            <a:r>
              <a:rPr sz="2800" b="1" spc="-110" dirty="0">
                <a:latin typeface="Calibri"/>
                <a:cs typeface="Calibri"/>
              </a:rPr>
              <a:t> </a:t>
            </a:r>
            <a:r>
              <a:rPr sz="2800" b="1" spc="-20" dirty="0">
                <a:latin typeface="Calibri"/>
                <a:cs typeface="Calibri"/>
              </a:rPr>
              <a:t>Clock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928359" y="4131564"/>
            <a:ext cx="2528316" cy="2365248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5866638" y="3637026"/>
            <a:ext cx="26663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Calibri"/>
                <a:cs typeface="Calibri"/>
              </a:rPr>
              <a:t>Music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Synthesizer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06539" y="609600"/>
            <a:ext cx="1590040" cy="1583690"/>
            <a:chOff x="606539" y="836675"/>
            <a:chExt cx="1590040" cy="15836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6363" y="856487"/>
              <a:ext cx="1549908" cy="154381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16445" y="846581"/>
              <a:ext cx="1570355" cy="1564005"/>
            </a:xfrm>
            <a:custGeom>
              <a:avLst/>
              <a:gdLst/>
              <a:ahLst/>
              <a:cxnLst/>
              <a:rect l="l" t="t" r="r" b="b"/>
              <a:pathLst>
                <a:path w="1570355" h="1564005">
                  <a:moveTo>
                    <a:pt x="784999" y="0"/>
                  </a:moveTo>
                  <a:lnTo>
                    <a:pt x="865390" y="4063"/>
                  </a:lnTo>
                  <a:lnTo>
                    <a:pt x="943368" y="16001"/>
                  </a:lnTo>
                  <a:lnTo>
                    <a:pt x="1018552" y="34925"/>
                  </a:lnTo>
                  <a:lnTo>
                    <a:pt x="1090561" y="61467"/>
                  </a:lnTo>
                  <a:lnTo>
                    <a:pt x="1159268" y="94487"/>
                  </a:lnTo>
                  <a:lnTo>
                    <a:pt x="1223911" y="133476"/>
                  </a:lnTo>
                  <a:lnTo>
                    <a:pt x="1284236" y="178434"/>
                  </a:lnTo>
                  <a:lnTo>
                    <a:pt x="1340116" y="229107"/>
                  </a:lnTo>
                  <a:lnTo>
                    <a:pt x="1390789" y="284606"/>
                  </a:lnTo>
                  <a:lnTo>
                    <a:pt x="1436128" y="344804"/>
                  </a:lnTo>
                  <a:lnTo>
                    <a:pt x="1475117" y="409193"/>
                  </a:lnTo>
                  <a:lnTo>
                    <a:pt x="1508518" y="477519"/>
                  </a:lnTo>
                  <a:lnTo>
                    <a:pt x="1534680" y="549528"/>
                  </a:lnTo>
                  <a:lnTo>
                    <a:pt x="1553984" y="624204"/>
                  </a:lnTo>
                  <a:lnTo>
                    <a:pt x="1566049" y="701801"/>
                  </a:lnTo>
                  <a:lnTo>
                    <a:pt x="1569986" y="781812"/>
                  </a:lnTo>
                  <a:lnTo>
                    <a:pt x="1566049" y="861821"/>
                  </a:lnTo>
                  <a:lnTo>
                    <a:pt x="1553984" y="939418"/>
                  </a:lnTo>
                  <a:lnTo>
                    <a:pt x="1534680" y="1014602"/>
                  </a:lnTo>
                  <a:lnTo>
                    <a:pt x="1508518" y="1086103"/>
                  </a:lnTo>
                  <a:lnTo>
                    <a:pt x="1475117" y="1154429"/>
                  </a:lnTo>
                  <a:lnTo>
                    <a:pt x="1436128" y="1219200"/>
                  </a:lnTo>
                  <a:lnTo>
                    <a:pt x="1390789" y="1279525"/>
                  </a:lnTo>
                  <a:lnTo>
                    <a:pt x="1340116" y="1335023"/>
                  </a:lnTo>
                  <a:lnTo>
                    <a:pt x="1284236" y="1385189"/>
                  </a:lnTo>
                  <a:lnTo>
                    <a:pt x="1223911" y="1430273"/>
                  </a:lnTo>
                  <a:lnTo>
                    <a:pt x="1159268" y="1469263"/>
                  </a:lnTo>
                  <a:lnTo>
                    <a:pt x="1090561" y="1502155"/>
                  </a:lnTo>
                  <a:lnTo>
                    <a:pt x="1018552" y="1528698"/>
                  </a:lnTo>
                  <a:lnTo>
                    <a:pt x="943368" y="1548002"/>
                  </a:lnTo>
                  <a:lnTo>
                    <a:pt x="865390" y="1559687"/>
                  </a:lnTo>
                  <a:lnTo>
                    <a:pt x="784999" y="1563623"/>
                  </a:lnTo>
                  <a:lnTo>
                    <a:pt x="704608" y="1559687"/>
                  </a:lnTo>
                  <a:lnTo>
                    <a:pt x="627075" y="1548002"/>
                  </a:lnTo>
                  <a:lnTo>
                    <a:pt x="551484" y="1528698"/>
                  </a:lnTo>
                  <a:lnTo>
                    <a:pt x="479526" y="1502155"/>
                  </a:lnTo>
                  <a:lnTo>
                    <a:pt x="410819" y="1469263"/>
                  </a:lnTo>
                  <a:lnTo>
                    <a:pt x="346100" y="1430273"/>
                  </a:lnTo>
                  <a:lnTo>
                    <a:pt x="285813" y="1385189"/>
                  </a:lnTo>
                  <a:lnTo>
                    <a:pt x="229946" y="1335023"/>
                  </a:lnTo>
                  <a:lnTo>
                    <a:pt x="179285" y="1279525"/>
                  </a:lnTo>
                  <a:lnTo>
                    <a:pt x="134251" y="1219200"/>
                  </a:lnTo>
                  <a:lnTo>
                    <a:pt x="94868" y="1154429"/>
                  </a:lnTo>
                  <a:lnTo>
                    <a:pt x="61912" y="1086103"/>
                  </a:lnTo>
                  <a:lnTo>
                    <a:pt x="35382" y="1014602"/>
                  </a:lnTo>
                  <a:lnTo>
                    <a:pt x="16078" y="939418"/>
                  </a:lnTo>
                  <a:lnTo>
                    <a:pt x="4025" y="861821"/>
                  </a:lnTo>
                  <a:lnTo>
                    <a:pt x="0" y="781812"/>
                  </a:lnTo>
                  <a:lnTo>
                    <a:pt x="4025" y="701801"/>
                  </a:lnTo>
                  <a:lnTo>
                    <a:pt x="16078" y="624204"/>
                  </a:lnTo>
                  <a:lnTo>
                    <a:pt x="35382" y="549528"/>
                  </a:lnTo>
                  <a:lnTo>
                    <a:pt x="61912" y="477519"/>
                  </a:lnTo>
                  <a:lnTo>
                    <a:pt x="94868" y="409193"/>
                  </a:lnTo>
                  <a:lnTo>
                    <a:pt x="134264" y="344804"/>
                  </a:lnTo>
                  <a:lnTo>
                    <a:pt x="179285" y="284606"/>
                  </a:lnTo>
                  <a:lnTo>
                    <a:pt x="229933" y="229107"/>
                  </a:lnTo>
                  <a:lnTo>
                    <a:pt x="285788" y="178434"/>
                  </a:lnTo>
                  <a:lnTo>
                    <a:pt x="346100" y="133476"/>
                  </a:lnTo>
                  <a:lnTo>
                    <a:pt x="410819" y="94487"/>
                  </a:lnTo>
                  <a:lnTo>
                    <a:pt x="479526" y="61467"/>
                  </a:lnTo>
                  <a:lnTo>
                    <a:pt x="551510" y="34925"/>
                  </a:lnTo>
                  <a:lnTo>
                    <a:pt x="627075" y="16001"/>
                  </a:lnTo>
                  <a:lnTo>
                    <a:pt x="704608" y="4063"/>
                  </a:lnTo>
                  <a:lnTo>
                    <a:pt x="784999" y="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606539" y="2634997"/>
            <a:ext cx="1590040" cy="1574800"/>
            <a:chOff x="606539" y="2862072"/>
            <a:chExt cx="1590040" cy="157480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6363" y="2881884"/>
              <a:ext cx="1549908" cy="153466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16445" y="2871978"/>
              <a:ext cx="1570355" cy="1554480"/>
            </a:xfrm>
            <a:custGeom>
              <a:avLst/>
              <a:gdLst/>
              <a:ahLst/>
              <a:cxnLst/>
              <a:rect l="l" t="t" r="r" b="b"/>
              <a:pathLst>
                <a:path w="1570355" h="1554479">
                  <a:moveTo>
                    <a:pt x="784999" y="0"/>
                  </a:moveTo>
                  <a:lnTo>
                    <a:pt x="865390" y="4063"/>
                  </a:lnTo>
                  <a:lnTo>
                    <a:pt x="943368" y="15621"/>
                  </a:lnTo>
                  <a:lnTo>
                    <a:pt x="1018552" y="34925"/>
                  </a:lnTo>
                  <a:lnTo>
                    <a:pt x="1090434" y="61087"/>
                  </a:lnTo>
                  <a:lnTo>
                    <a:pt x="1159141" y="93599"/>
                  </a:lnTo>
                  <a:lnTo>
                    <a:pt x="1223911" y="132587"/>
                  </a:lnTo>
                  <a:lnTo>
                    <a:pt x="1284236" y="177673"/>
                  </a:lnTo>
                  <a:lnTo>
                    <a:pt x="1340116" y="227837"/>
                  </a:lnTo>
                  <a:lnTo>
                    <a:pt x="1390662" y="282956"/>
                  </a:lnTo>
                  <a:lnTo>
                    <a:pt x="1436128" y="342900"/>
                  </a:lnTo>
                  <a:lnTo>
                    <a:pt x="1475117" y="406781"/>
                  </a:lnTo>
                  <a:lnTo>
                    <a:pt x="1508518" y="474725"/>
                  </a:lnTo>
                  <a:lnTo>
                    <a:pt x="1534680" y="546354"/>
                  </a:lnTo>
                  <a:lnTo>
                    <a:pt x="1553984" y="620649"/>
                  </a:lnTo>
                  <a:lnTo>
                    <a:pt x="1566049" y="697864"/>
                  </a:lnTo>
                  <a:lnTo>
                    <a:pt x="1569986" y="777494"/>
                  </a:lnTo>
                  <a:lnTo>
                    <a:pt x="1566049" y="857123"/>
                  </a:lnTo>
                  <a:lnTo>
                    <a:pt x="1553984" y="934212"/>
                  </a:lnTo>
                  <a:lnTo>
                    <a:pt x="1534680" y="1008634"/>
                  </a:lnTo>
                  <a:lnTo>
                    <a:pt x="1508518" y="1080262"/>
                  </a:lnTo>
                  <a:lnTo>
                    <a:pt x="1475117" y="1148207"/>
                  </a:lnTo>
                  <a:lnTo>
                    <a:pt x="1436128" y="1212088"/>
                  </a:lnTo>
                  <a:lnTo>
                    <a:pt x="1390662" y="1272032"/>
                  </a:lnTo>
                  <a:lnTo>
                    <a:pt x="1340116" y="1327023"/>
                  </a:lnTo>
                  <a:lnTo>
                    <a:pt x="1284236" y="1377315"/>
                  </a:lnTo>
                  <a:lnTo>
                    <a:pt x="1223911" y="1421892"/>
                  </a:lnTo>
                  <a:lnTo>
                    <a:pt x="1159141" y="1460881"/>
                  </a:lnTo>
                  <a:lnTo>
                    <a:pt x="1090434" y="1493393"/>
                  </a:lnTo>
                  <a:lnTo>
                    <a:pt x="1018552" y="1519555"/>
                  </a:lnTo>
                  <a:lnTo>
                    <a:pt x="943368" y="1538859"/>
                  </a:lnTo>
                  <a:lnTo>
                    <a:pt x="865390" y="1550543"/>
                  </a:lnTo>
                  <a:lnTo>
                    <a:pt x="784999" y="1554480"/>
                  </a:lnTo>
                  <a:lnTo>
                    <a:pt x="704608" y="1550543"/>
                  </a:lnTo>
                  <a:lnTo>
                    <a:pt x="627075" y="1538859"/>
                  </a:lnTo>
                  <a:lnTo>
                    <a:pt x="551510" y="1519555"/>
                  </a:lnTo>
                  <a:lnTo>
                    <a:pt x="479577" y="1493393"/>
                  </a:lnTo>
                  <a:lnTo>
                    <a:pt x="410832" y="1460881"/>
                  </a:lnTo>
                  <a:lnTo>
                    <a:pt x="346113" y="1421892"/>
                  </a:lnTo>
                  <a:lnTo>
                    <a:pt x="285826" y="1377315"/>
                  </a:lnTo>
                  <a:lnTo>
                    <a:pt x="229958" y="1327023"/>
                  </a:lnTo>
                  <a:lnTo>
                    <a:pt x="179298" y="1271905"/>
                  </a:lnTo>
                  <a:lnTo>
                    <a:pt x="134277" y="1212088"/>
                  </a:lnTo>
                  <a:lnTo>
                    <a:pt x="94881" y="1148207"/>
                  </a:lnTo>
                  <a:lnTo>
                    <a:pt x="61912" y="1080262"/>
                  </a:lnTo>
                  <a:lnTo>
                    <a:pt x="35382" y="1008634"/>
                  </a:lnTo>
                  <a:lnTo>
                    <a:pt x="16078" y="934212"/>
                  </a:lnTo>
                  <a:lnTo>
                    <a:pt x="4025" y="857123"/>
                  </a:lnTo>
                  <a:lnTo>
                    <a:pt x="0" y="777494"/>
                  </a:lnTo>
                  <a:lnTo>
                    <a:pt x="4025" y="697864"/>
                  </a:lnTo>
                  <a:lnTo>
                    <a:pt x="16078" y="620649"/>
                  </a:lnTo>
                  <a:lnTo>
                    <a:pt x="35382" y="546226"/>
                  </a:lnTo>
                  <a:lnTo>
                    <a:pt x="61912" y="474725"/>
                  </a:lnTo>
                  <a:lnTo>
                    <a:pt x="94881" y="406781"/>
                  </a:lnTo>
                  <a:lnTo>
                    <a:pt x="134277" y="342900"/>
                  </a:lnTo>
                  <a:lnTo>
                    <a:pt x="179298" y="282956"/>
                  </a:lnTo>
                  <a:lnTo>
                    <a:pt x="229958" y="227837"/>
                  </a:lnTo>
                  <a:lnTo>
                    <a:pt x="285813" y="177673"/>
                  </a:lnTo>
                  <a:lnTo>
                    <a:pt x="346100" y="132587"/>
                  </a:lnTo>
                  <a:lnTo>
                    <a:pt x="410832" y="93599"/>
                  </a:lnTo>
                  <a:lnTo>
                    <a:pt x="479577" y="61087"/>
                  </a:lnTo>
                  <a:lnTo>
                    <a:pt x="551510" y="34925"/>
                  </a:lnTo>
                  <a:lnTo>
                    <a:pt x="627075" y="15621"/>
                  </a:lnTo>
                  <a:lnTo>
                    <a:pt x="704608" y="4063"/>
                  </a:lnTo>
                  <a:lnTo>
                    <a:pt x="784999" y="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606539" y="4651248"/>
            <a:ext cx="1590040" cy="1588770"/>
            <a:chOff x="606539" y="4878323"/>
            <a:chExt cx="1590040" cy="1588770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6363" y="4898135"/>
              <a:ext cx="1549908" cy="154838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16445" y="4888229"/>
              <a:ext cx="1570355" cy="1568450"/>
            </a:xfrm>
            <a:custGeom>
              <a:avLst/>
              <a:gdLst/>
              <a:ahLst/>
              <a:cxnLst/>
              <a:rect l="l" t="t" r="r" b="b"/>
              <a:pathLst>
                <a:path w="1570355" h="1568450">
                  <a:moveTo>
                    <a:pt x="784999" y="0"/>
                  </a:moveTo>
                  <a:lnTo>
                    <a:pt x="865390" y="4064"/>
                  </a:lnTo>
                  <a:lnTo>
                    <a:pt x="943368" y="16002"/>
                  </a:lnTo>
                  <a:lnTo>
                    <a:pt x="1018552" y="35306"/>
                  </a:lnTo>
                  <a:lnTo>
                    <a:pt x="1090561" y="61468"/>
                  </a:lnTo>
                  <a:lnTo>
                    <a:pt x="1159268" y="94869"/>
                  </a:lnTo>
                  <a:lnTo>
                    <a:pt x="1223911" y="133858"/>
                  </a:lnTo>
                  <a:lnTo>
                    <a:pt x="1284236" y="179324"/>
                  </a:lnTo>
                  <a:lnTo>
                    <a:pt x="1340116" y="229870"/>
                  </a:lnTo>
                  <a:lnTo>
                    <a:pt x="1390789" y="285369"/>
                  </a:lnTo>
                  <a:lnTo>
                    <a:pt x="1436128" y="345694"/>
                  </a:lnTo>
                  <a:lnTo>
                    <a:pt x="1475117" y="410337"/>
                  </a:lnTo>
                  <a:lnTo>
                    <a:pt x="1508518" y="479171"/>
                  </a:lnTo>
                  <a:lnTo>
                    <a:pt x="1534680" y="551053"/>
                  </a:lnTo>
                  <a:lnTo>
                    <a:pt x="1553984" y="626237"/>
                  </a:lnTo>
                  <a:lnTo>
                    <a:pt x="1566049" y="704227"/>
                  </a:lnTo>
                  <a:lnTo>
                    <a:pt x="1569986" y="784212"/>
                  </a:lnTo>
                  <a:lnTo>
                    <a:pt x="1566049" y="864590"/>
                  </a:lnTo>
                  <a:lnTo>
                    <a:pt x="1553984" y="942174"/>
                  </a:lnTo>
                  <a:lnTo>
                    <a:pt x="1534680" y="1017320"/>
                  </a:lnTo>
                  <a:lnTo>
                    <a:pt x="1508518" y="1089698"/>
                  </a:lnTo>
                  <a:lnTo>
                    <a:pt x="1475117" y="1158036"/>
                  </a:lnTo>
                  <a:lnTo>
                    <a:pt x="1436128" y="1222756"/>
                  </a:lnTo>
                  <a:lnTo>
                    <a:pt x="1390789" y="1283055"/>
                  </a:lnTo>
                  <a:lnTo>
                    <a:pt x="1340116" y="1338910"/>
                  </a:lnTo>
                  <a:lnTo>
                    <a:pt x="1284236" y="1389557"/>
                  </a:lnTo>
                  <a:lnTo>
                    <a:pt x="1223911" y="1434566"/>
                  </a:lnTo>
                  <a:lnTo>
                    <a:pt x="1159268" y="1473962"/>
                  </a:lnTo>
                  <a:lnTo>
                    <a:pt x="1090434" y="1506931"/>
                  </a:lnTo>
                  <a:lnTo>
                    <a:pt x="1018552" y="1533067"/>
                  </a:lnTo>
                  <a:lnTo>
                    <a:pt x="943368" y="1552346"/>
                  </a:lnTo>
                  <a:lnTo>
                    <a:pt x="865390" y="1564411"/>
                  </a:lnTo>
                  <a:lnTo>
                    <a:pt x="784999" y="1568424"/>
                  </a:lnTo>
                  <a:lnTo>
                    <a:pt x="704608" y="1564411"/>
                  </a:lnTo>
                  <a:lnTo>
                    <a:pt x="627049" y="1552346"/>
                  </a:lnTo>
                  <a:lnTo>
                    <a:pt x="551510" y="1533067"/>
                  </a:lnTo>
                  <a:lnTo>
                    <a:pt x="479552" y="1506931"/>
                  </a:lnTo>
                  <a:lnTo>
                    <a:pt x="410794" y="1473962"/>
                  </a:lnTo>
                  <a:lnTo>
                    <a:pt x="346075" y="1434566"/>
                  </a:lnTo>
                  <a:lnTo>
                    <a:pt x="285788" y="1389557"/>
                  </a:lnTo>
                  <a:lnTo>
                    <a:pt x="229920" y="1338910"/>
                  </a:lnTo>
                  <a:lnTo>
                    <a:pt x="179273" y="1283030"/>
                  </a:lnTo>
                  <a:lnTo>
                    <a:pt x="134251" y="1222756"/>
                  </a:lnTo>
                  <a:lnTo>
                    <a:pt x="94868" y="1158036"/>
                  </a:lnTo>
                  <a:lnTo>
                    <a:pt x="61899" y="1089698"/>
                  </a:lnTo>
                  <a:lnTo>
                    <a:pt x="35369" y="1017333"/>
                  </a:lnTo>
                  <a:lnTo>
                    <a:pt x="16078" y="942174"/>
                  </a:lnTo>
                  <a:lnTo>
                    <a:pt x="4025" y="864590"/>
                  </a:lnTo>
                  <a:lnTo>
                    <a:pt x="0" y="784212"/>
                  </a:lnTo>
                  <a:lnTo>
                    <a:pt x="4025" y="704227"/>
                  </a:lnTo>
                  <a:lnTo>
                    <a:pt x="16078" y="626237"/>
                  </a:lnTo>
                  <a:lnTo>
                    <a:pt x="35369" y="551053"/>
                  </a:lnTo>
                  <a:lnTo>
                    <a:pt x="61899" y="479171"/>
                  </a:lnTo>
                  <a:lnTo>
                    <a:pt x="94856" y="410337"/>
                  </a:lnTo>
                  <a:lnTo>
                    <a:pt x="134251" y="345694"/>
                  </a:lnTo>
                  <a:lnTo>
                    <a:pt x="179285" y="285369"/>
                  </a:lnTo>
                  <a:lnTo>
                    <a:pt x="229933" y="229870"/>
                  </a:lnTo>
                  <a:lnTo>
                    <a:pt x="285775" y="179324"/>
                  </a:lnTo>
                  <a:lnTo>
                    <a:pt x="346075" y="133858"/>
                  </a:lnTo>
                  <a:lnTo>
                    <a:pt x="410794" y="94869"/>
                  </a:lnTo>
                  <a:lnTo>
                    <a:pt x="479526" y="61468"/>
                  </a:lnTo>
                  <a:lnTo>
                    <a:pt x="551510" y="35306"/>
                  </a:lnTo>
                  <a:lnTo>
                    <a:pt x="627049" y="16002"/>
                  </a:lnTo>
                  <a:lnTo>
                    <a:pt x="704608" y="4064"/>
                  </a:lnTo>
                  <a:lnTo>
                    <a:pt x="784999" y="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748533" y="630428"/>
            <a:ext cx="4907915" cy="5533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GPIO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SPI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interface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7-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segment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driver</a:t>
            </a:r>
            <a:r>
              <a:rPr sz="2400" spc="-10" dirty="0">
                <a:latin typeface="Calibri"/>
                <a:cs typeface="Calibri"/>
              </a:rPr>
              <a:t> (MAX7219)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Matrix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keyboard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scanning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I2C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SPI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interfaces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OLED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driver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(SSD1305)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IR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thermal </a:t>
            </a:r>
            <a:r>
              <a:rPr sz="2400" dirty="0">
                <a:latin typeface="Calibri"/>
                <a:cs typeface="Calibri"/>
              </a:rPr>
              <a:t>sensor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(MLX90614)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IR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distance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sensor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ADC</a:t>
            </a:r>
            <a:r>
              <a:rPr sz="2400" b="1" spc="-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(MCP3002)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"/>
              <a:buChar char="•"/>
            </a:pP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I2C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interface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spc="-10" dirty="0">
                <a:latin typeface="Calibri"/>
                <a:cs typeface="Calibri"/>
              </a:rPr>
              <a:t>6-</a:t>
            </a:r>
            <a:r>
              <a:rPr sz="2400" dirty="0">
                <a:latin typeface="Calibri"/>
                <a:cs typeface="Calibri"/>
              </a:rPr>
              <a:t>Axis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gyroscope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(MPU6050)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Matrix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LED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driver</a:t>
            </a:r>
            <a:r>
              <a:rPr sz="2400" spc="-10" dirty="0">
                <a:latin typeface="Calibri"/>
                <a:cs typeface="Calibri"/>
              </a:rPr>
              <a:t> (MAX7219)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Timer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3670">
              <a:lnSpc>
                <a:spcPts val="1810"/>
              </a:lnSpc>
            </a:pPr>
            <a:fld id="{81D60167-4931-47E6-BA6A-407CBD079E47}" type="slidenum">
              <a:rPr dirty="0"/>
              <a:t>3</a:t>
            </a:fld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97395" y="2632709"/>
            <a:ext cx="1599565" cy="1588770"/>
            <a:chOff x="597395" y="2848355"/>
            <a:chExt cx="1599565" cy="15887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220" y="2868167"/>
              <a:ext cx="1559052" cy="154838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7301" y="2858261"/>
              <a:ext cx="1579245" cy="1568450"/>
            </a:xfrm>
            <a:custGeom>
              <a:avLst/>
              <a:gdLst/>
              <a:ahLst/>
              <a:cxnLst/>
              <a:rect l="l" t="t" r="r" b="b"/>
              <a:pathLst>
                <a:path w="1579245" h="1568450">
                  <a:moveTo>
                    <a:pt x="789825" y="0"/>
                  </a:moveTo>
                  <a:lnTo>
                    <a:pt x="870597" y="4063"/>
                  </a:lnTo>
                  <a:lnTo>
                    <a:pt x="948956" y="16001"/>
                  </a:lnTo>
                  <a:lnTo>
                    <a:pt x="1024521" y="35305"/>
                  </a:lnTo>
                  <a:lnTo>
                    <a:pt x="1096784" y="61467"/>
                  </a:lnTo>
                  <a:lnTo>
                    <a:pt x="1165999" y="94868"/>
                  </a:lnTo>
                  <a:lnTo>
                    <a:pt x="1231023" y="133858"/>
                  </a:lnTo>
                  <a:lnTo>
                    <a:pt x="1291729" y="179197"/>
                  </a:lnTo>
                  <a:lnTo>
                    <a:pt x="1347990" y="229870"/>
                  </a:lnTo>
                  <a:lnTo>
                    <a:pt x="1398663" y="285368"/>
                  </a:lnTo>
                  <a:lnTo>
                    <a:pt x="1444129" y="345693"/>
                  </a:lnTo>
                  <a:lnTo>
                    <a:pt x="1483880" y="410337"/>
                  </a:lnTo>
                  <a:lnTo>
                    <a:pt x="1517281" y="479043"/>
                  </a:lnTo>
                  <a:lnTo>
                    <a:pt x="1543824" y="551052"/>
                  </a:lnTo>
                  <a:lnTo>
                    <a:pt x="1563128" y="626237"/>
                  </a:lnTo>
                  <a:lnTo>
                    <a:pt x="1575193" y="704214"/>
                  </a:lnTo>
                  <a:lnTo>
                    <a:pt x="1579130" y="784225"/>
                  </a:lnTo>
                  <a:lnTo>
                    <a:pt x="1575193" y="864615"/>
                  </a:lnTo>
                  <a:lnTo>
                    <a:pt x="1563128" y="942213"/>
                  </a:lnTo>
                  <a:lnTo>
                    <a:pt x="1543824" y="1017396"/>
                  </a:lnTo>
                  <a:lnTo>
                    <a:pt x="1517281" y="1089660"/>
                  </a:lnTo>
                  <a:lnTo>
                    <a:pt x="1483880" y="1158113"/>
                  </a:lnTo>
                  <a:lnTo>
                    <a:pt x="1444129" y="1222756"/>
                  </a:lnTo>
                  <a:lnTo>
                    <a:pt x="1398663" y="1283081"/>
                  </a:lnTo>
                  <a:lnTo>
                    <a:pt x="1347990" y="1338961"/>
                  </a:lnTo>
                  <a:lnTo>
                    <a:pt x="1291729" y="1389633"/>
                  </a:lnTo>
                  <a:lnTo>
                    <a:pt x="1231023" y="1434592"/>
                  </a:lnTo>
                  <a:lnTo>
                    <a:pt x="1165999" y="1473962"/>
                  </a:lnTo>
                  <a:lnTo>
                    <a:pt x="1096784" y="1506982"/>
                  </a:lnTo>
                  <a:lnTo>
                    <a:pt x="1024521" y="1533017"/>
                  </a:lnTo>
                  <a:lnTo>
                    <a:pt x="948956" y="1552320"/>
                  </a:lnTo>
                  <a:lnTo>
                    <a:pt x="870597" y="1564386"/>
                  </a:lnTo>
                  <a:lnTo>
                    <a:pt x="789825" y="1568450"/>
                  </a:lnTo>
                  <a:lnTo>
                    <a:pt x="709053" y="1564386"/>
                  </a:lnTo>
                  <a:lnTo>
                    <a:pt x="630631" y="1552320"/>
                  </a:lnTo>
                  <a:lnTo>
                    <a:pt x="555091" y="1533017"/>
                  </a:lnTo>
                  <a:lnTo>
                    <a:pt x="482358" y="1506982"/>
                  </a:lnTo>
                  <a:lnTo>
                    <a:pt x="413194" y="1473962"/>
                  </a:lnTo>
                  <a:lnTo>
                    <a:pt x="348081" y="1434592"/>
                  </a:lnTo>
                  <a:lnTo>
                    <a:pt x="287388" y="1389507"/>
                  </a:lnTo>
                  <a:lnTo>
                    <a:pt x="231521" y="1338961"/>
                  </a:lnTo>
                  <a:lnTo>
                    <a:pt x="180479" y="1283081"/>
                  </a:lnTo>
                  <a:lnTo>
                    <a:pt x="135077" y="1222756"/>
                  </a:lnTo>
                  <a:lnTo>
                    <a:pt x="95288" y="1158113"/>
                  </a:lnTo>
                  <a:lnTo>
                    <a:pt x="61912" y="1089660"/>
                  </a:lnTo>
                  <a:lnTo>
                    <a:pt x="35369" y="1017396"/>
                  </a:lnTo>
                  <a:lnTo>
                    <a:pt x="16078" y="942213"/>
                  </a:lnTo>
                  <a:lnTo>
                    <a:pt x="4025" y="864615"/>
                  </a:lnTo>
                  <a:lnTo>
                    <a:pt x="0" y="784225"/>
                  </a:lnTo>
                  <a:lnTo>
                    <a:pt x="4025" y="704214"/>
                  </a:lnTo>
                  <a:lnTo>
                    <a:pt x="16078" y="626237"/>
                  </a:lnTo>
                  <a:lnTo>
                    <a:pt x="35369" y="551052"/>
                  </a:lnTo>
                  <a:lnTo>
                    <a:pt x="61912" y="479043"/>
                  </a:lnTo>
                  <a:lnTo>
                    <a:pt x="95275" y="410337"/>
                  </a:lnTo>
                  <a:lnTo>
                    <a:pt x="135077" y="345693"/>
                  </a:lnTo>
                  <a:lnTo>
                    <a:pt x="180492" y="285368"/>
                  </a:lnTo>
                  <a:lnTo>
                    <a:pt x="231533" y="229870"/>
                  </a:lnTo>
                  <a:lnTo>
                    <a:pt x="287375" y="179197"/>
                  </a:lnTo>
                  <a:lnTo>
                    <a:pt x="348081" y="133858"/>
                  </a:lnTo>
                  <a:lnTo>
                    <a:pt x="413194" y="94868"/>
                  </a:lnTo>
                  <a:lnTo>
                    <a:pt x="482333" y="61467"/>
                  </a:lnTo>
                  <a:lnTo>
                    <a:pt x="555091" y="35305"/>
                  </a:lnTo>
                  <a:lnTo>
                    <a:pt x="630631" y="16001"/>
                  </a:lnTo>
                  <a:lnTo>
                    <a:pt x="709053" y="4063"/>
                  </a:lnTo>
                  <a:lnTo>
                    <a:pt x="789825" y="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597395" y="619506"/>
            <a:ext cx="1599565" cy="1588770"/>
            <a:chOff x="597395" y="835152"/>
            <a:chExt cx="1599565" cy="158877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7220" y="854964"/>
              <a:ext cx="1559052" cy="154838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07301" y="845058"/>
              <a:ext cx="1579245" cy="1568450"/>
            </a:xfrm>
            <a:custGeom>
              <a:avLst/>
              <a:gdLst/>
              <a:ahLst/>
              <a:cxnLst/>
              <a:rect l="l" t="t" r="r" b="b"/>
              <a:pathLst>
                <a:path w="1579245" h="1568450">
                  <a:moveTo>
                    <a:pt x="789825" y="0"/>
                  </a:moveTo>
                  <a:lnTo>
                    <a:pt x="870597" y="4063"/>
                  </a:lnTo>
                  <a:lnTo>
                    <a:pt x="948956" y="16001"/>
                  </a:lnTo>
                  <a:lnTo>
                    <a:pt x="1024521" y="35305"/>
                  </a:lnTo>
                  <a:lnTo>
                    <a:pt x="1096784" y="61467"/>
                  </a:lnTo>
                  <a:lnTo>
                    <a:pt x="1165999" y="94868"/>
                  </a:lnTo>
                  <a:lnTo>
                    <a:pt x="1231023" y="133857"/>
                  </a:lnTo>
                  <a:lnTo>
                    <a:pt x="1291729" y="179196"/>
                  </a:lnTo>
                  <a:lnTo>
                    <a:pt x="1347990" y="229869"/>
                  </a:lnTo>
                  <a:lnTo>
                    <a:pt x="1398663" y="285368"/>
                  </a:lnTo>
                  <a:lnTo>
                    <a:pt x="1444129" y="345693"/>
                  </a:lnTo>
                  <a:lnTo>
                    <a:pt x="1483880" y="410337"/>
                  </a:lnTo>
                  <a:lnTo>
                    <a:pt x="1517281" y="479043"/>
                  </a:lnTo>
                  <a:lnTo>
                    <a:pt x="1543824" y="551052"/>
                  </a:lnTo>
                  <a:lnTo>
                    <a:pt x="1563128" y="626237"/>
                  </a:lnTo>
                  <a:lnTo>
                    <a:pt x="1575193" y="704214"/>
                  </a:lnTo>
                  <a:lnTo>
                    <a:pt x="1579130" y="784225"/>
                  </a:lnTo>
                  <a:lnTo>
                    <a:pt x="1575193" y="864615"/>
                  </a:lnTo>
                  <a:lnTo>
                    <a:pt x="1563128" y="942213"/>
                  </a:lnTo>
                  <a:lnTo>
                    <a:pt x="1543824" y="1017396"/>
                  </a:lnTo>
                  <a:lnTo>
                    <a:pt x="1517281" y="1089659"/>
                  </a:lnTo>
                  <a:lnTo>
                    <a:pt x="1483880" y="1158113"/>
                  </a:lnTo>
                  <a:lnTo>
                    <a:pt x="1444129" y="1222755"/>
                  </a:lnTo>
                  <a:lnTo>
                    <a:pt x="1398663" y="1283080"/>
                  </a:lnTo>
                  <a:lnTo>
                    <a:pt x="1347990" y="1338961"/>
                  </a:lnTo>
                  <a:lnTo>
                    <a:pt x="1291729" y="1389633"/>
                  </a:lnTo>
                  <a:lnTo>
                    <a:pt x="1231023" y="1434591"/>
                  </a:lnTo>
                  <a:lnTo>
                    <a:pt x="1165999" y="1473962"/>
                  </a:lnTo>
                  <a:lnTo>
                    <a:pt x="1096784" y="1506981"/>
                  </a:lnTo>
                  <a:lnTo>
                    <a:pt x="1024521" y="1533016"/>
                  </a:lnTo>
                  <a:lnTo>
                    <a:pt x="948956" y="1552320"/>
                  </a:lnTo>
                  <a:lnTo>
                    <a:pt x="870597" y="1564386"/>
                  </a:lnTo>
                  <a:lnTo>
                    <a:pt x="789825" y="1568450"/>
                  </a:lnTo>
                  <a:lnTo>
                    <a:pt x="709053" y="1564386"/>
                  </a:lnTo>
                  <a:lnTo>
                    <a:pt x="630631" y="1552320"/>
                  </a:lnTo>
                  <a:lnTo>
                    <a:pt x="555091" y="1533016"/>
                  </a:lnTo>
                  <a:lnTo>
                    <a:pt x="482358" y="1506981"/>
                  </a:lnTo>
                  <a:lnTo>
                    <a:pt x="413194" y="1473962"/>
                  </a:lnTo>
                  <a:lnTo>
                    <a:pt x="348081" y="1434591"/>
                  </a:lnTo>
                  <a:lnTo>
                    <a:pt x="287388" y="1389506"/>
                  </a:lnTo>
                  <a:lnTo>
                    <a:pt x="231521" y="1338961"/>
                  </a:lnTo>
                  <a:lnTo>
                    <a:pt x="180479" y="1283080"/>
                  </a:lnTo>
                  <a:lnTo>
                    <a:pt x="135077" y="1222755"/>
                  </a:lnTo>
                  <a:lnTo>
                    <a:pt x="95288" y="1158113"/>
                  </a:lnTo>
                  <a:lnTo>
                    <a:pt x="61912" y="1089659"/>
                  </a:lnTo>
                  <a:lnTo>
                    <a:pt x="35369" y="1017396"/>
                  </a:lnTo>
                  <a:lnTo>
                    <a:pt x="16078" y="942213"/>
                  </a:lnTo>
                  <a:lnTo>
                    <a:pt x="4025" y="864615"/>
                  </a:lnTo>
                  <a:lnTo>
                    <a:pt x="0" y="784225"/>
                  </a:lnTo>
                  <a:lnTo>
                    <a:pt x="4025" y="704214"/>
                  </a:lnTo>
                  <a:lnTo>
                    <a:pt x="16078" y="626237"/>
                  </a:lnTo>
                  <a:lnTo>
                    <a:pt x="35369" y="551052"/>
                  </a:lnTo>
                  <a:lnTo>
                    <a:pt x="61912" y="479043"/>
                  </a:lnTo>
                  <a:lnTo>
                    <a:pt x="95275" y="410337"/>
                  </a:lnTo>
                  <a:lnTo>
                    <a:pt x="135077" y="345693"/>
                  </a:lnTo>
                  <a:lnTo>
                    <a:pt x="180492" y="285368"/>
                  </a:lnTo>
                  <a:lnTo>
                    <a:pt x="231533" y="229869"/>
                  </a:lnTo>
                  <a:lnTo>
                    <a:pt x="287375" y="179196"/>
                  </a:lnTo>
                  <a:lnTo>
                    <a:pt x="348081" y="133857"/>
                  </a:lnTo>
                  <a:lnTo>
                    <a:pt x="413194" y="94868"/>
                  </a:lnTo>
                  <a:lnTo>
                    <a:pt x="482333" y="61467"/>
                  </a:lnTo>
                  <a:lnTo>
                    <a:pt x="555091" y="35305"/>
                  </a:lnTo>
                  <a:lnTo>
                    <a:pt x="630631" y="16001"/>
                  </a:lnTo>
                  <a:lnTo>
                    <a:pt x="709053" y="4063"/>
                  </a:lnTo>
                  <a:lnTo>
                    <a:pt x="789825" y="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609587" y="4662677"/>
            <a:ext cx="1591945" cy="1588770"/>
            <a:chOff x="609587" y="4878323"/>
            <a:chExt cx="1591945" cy="1588770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9412" y="4898135"/>
              <a:ext cx="1551432" cy="154838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19493" y="4888229"/>
              <a:ext cx="1572260" cy="1568450"/>
            </a:xfrm>
            <a:custGeom>
              <a:avLst/>
              <a:gdLst/>
              <a:ahLst/>
              <a:cxnLst/>
              <a:rect l="l" t="t" r="r" b="b"/>
              <a:pathLst>
                <a:path w="1572260" h="1568450">
                  <a:moveTo>
                    <a:pt x="785761" y="0"/>
                  </a:moveTo>
                  <a:lnTo>
                    <a:pt x="866152" y="4064"/>
                  </a:lnTo>
                  <a:lnTo>
                    <a:pt x="944130" y="16002"/>
                  </a:lnTo>
                  <a:lnTo>
                    <a:pt x="1019314" y="35306"/>
                  </a:lnTo>
                  <a:lnTo>
                    <a:pt x="1091704" y="61468"/>
                  </a:lnTo>
                  <a:lnTo>
                    <a:pt x="1160411" y="94869"/>
                  </a:lnTo>
                  <a:lnTo>
                    <a:pt x="1225181" y="133858"/>
                  </a:lnTo>
                  <a:lnTo>
                    <a:pt x="1285887" y="179324"/>
                  </a:lnTo>
                  <a:lnTo>
                    <a:pt x="1341259" y="229870"/>
                  </a:lnTo>
                  <a:lnTo>
                    <a:pt x="1392313" y="285369"/>
                  </a:lnTo>
                  <a:lnTo>
                    <a:pt x="1437398" y="345694"/>
                  </a:lnTo>
                  <a:lnTo>
                    <a:pt x="1476768" y="410337"/>
                  </a:lnTo>
                  <a:lnTo>
                    <a:pt x="1509661" y="479171"/>
                  </a:lnTo>
                  <a:lnTo>
                    <a:pt x="1536204" y="551053"/>
                  </a:lnTo>
                  <a:lnTo>
                    <a:pt x="1555508" y="626237"/>
                  </a:lnTo>
                  <a:lnTo>
                    <a:pt x="1567573" y="704227"/>
                  </a:lnTo>
                  <a:lnTo>
                    <a:pt x="1571637" y="784212"/>
                  </a:lnTo>
                  <a:lnTo>
                    <a:pt x="1567573" y="864590"/>
                  </a:lnTo>
                  <a:lnTo>
                    <a:pt x="1555508" y="942174"/>
                  </a:lnTo>
                  <a:lnTo>
                    <a:pt x="1536204" y="1017333"/>
                  </a:lnTo>
                  <a:lnTo>
                    <a:pt x="1509661" y="1089698"/>
                  </a:lnTo>
                  <a:lnTo>
                    <a:pt x="1476768" y="1158036"/>
                  </a:lnTo>
                  <a:lnTo>
                    <a:pt x="1437398" y="1222756"/>
                  </a:lnTo>
                  <a:lnTo>
                    <a:pt x="1392313" y="1283055"/>
                  </a:lnTo>
                  <a:lnTo>
                    <a:pt x="1341259" y="1338910"/>
                  </a:lnTo>
                  <a:lnTo>
                    <a:pt x="1285887" y="1389557"/>
                  </a:lnTo>
                  <a:lnTo>
                    <a:pt x="1225181" y="1434579"/>
                  </a:lnTo>
                  <a:lnTo>
                    <a:pt x="1160411" y="1473962"/>
                  </a:lnTo>
                  <a:lnTo>
                    <a:pt x="1091704" y="1506931"/>
                  </a:lnTo>
                  <a:lnTo>
                    <a:pt x="1019314" y="1533067"/>
                  </a:lnTo>
                  <a:lnTo>
                    <a:pt x="944130" y="1552346"/>
                  </a:lnTo>
                  <a:lnTo>
                    <a:pt x="866152" y="1564411"/>
                  </a:lnTo>
                  <a:lnTo>
                    <a:pt x="785761" y="1568424"/>
                  </a:lnTo>
                  <a:lnTo>
                    <a:pt x="705370" y="1564411"/>
                  </a:lnTo>
                  <a:lnTo>
                    <a:pt x="627443" y="1552346"/>
                  </a:lnTo>
                  <a:lnTo>
                    <a:pt x="552310" y="1533067"/>
                  </a:lnTo>
                  <a:lnTo>
                    <a:pt x="479958" y="1506931"/>
                  </a:lnTo>
                  <a:lnTo>
                    <a:pt x="411187" y="1473962"/>
                  </a:lnTo>
                  <a:lnTo>
                    <a:pt x="346468" y="1434566"/>
                  </a:lnTo>
                  <a:lnTo>
                    <a:pt x="286194" y="1389557"/>
                  </a:lnTo>
                  <a:lnTo>
                    <a:pt x="230314" y="1338910"/>
                  </a:lnTo>
                  <a:lnTo>
                    <a:pt x="179679" y="1283055"/>
                  </a:lnTo>
                  <a:lnTo>
                    <a:pt x="134264" y="1222768"/>
                  </a:lnTo>
                  <a:lnTo>
                    <a:pt x="94868" y="1158036"/>
                  </a:lnTo>
                  <a:lnTo>
                    <a:pt x="61899" y="1089698"/>
                  </a:lnTo>
                  <a:lnTo>
                    <a:pt x="35369" y="1017333"/>
                  </a:lnTo>
                  <a:lnTo>
                    <a:pt x="16078" y="942174"/>
                  </a:lnTo>
                  <a:lnTo>
                    <a:pt x="4025" y="864590"/>
                  </a:lnTo>
                  <a:lnTo>
                    <a:pt x="0" y="784212"/>
                  </a:lnTo>
                  <a:lnTo>
                    <a:pt x="4025" y="704227"/>
                  </a:lnTo>
                  <a:lnTo>
                    <a:pt x="16078" y="626237"/>
                  </a:lnTo>
                  <a:lnTo>
                    <a:pt x="35369" y="551053"/>
                  </a:lnTo>
                  <a:lnTo>
                    <a:pt x="61899" y="479171"/>
                  </a:lnTo>
                  <a:lnTo>
                    <a:pt x="94868" y="410337"/>
                  </a:lnTo>
                  <a:lnTo>
                    <a:pt x="134264" y="345694"/>
                  </a:lnTo>
                  <a:lnTo>
                    <a:pt x="179692" y="285369"/>
                  </a:lnTo>
                  <a:lnTo>
                    <a:pt x="230327" y="229870"/>
                  </a:lnTo>
                  <a:lnTo>
                    <a:pt x="286169" y="179324"/>
                  </a:lnTo>
                  <a:lnTo>
                    <a:pt x="346468" y="133858"/>
                  </a:lnTo>
                  <a:lnTo>
                    <a:pt x="411187" y="94869"/>
                  </a:lnTo>
                  <a:lnTo>
                    <a:pt x="479933" y="61468"/>
                  </a:lnTo>
                  <a:lnTo>
                    <a:pt x="552310" y="35306"/>
                  </a:lnTo>
                  <a:lnTo>
                    <a:pt x="627443" y="16002"/>
                  </a:lnTo>
                  <a:lnTo>
                    <a:pt x="705370" y="4064"/>
                  </a:lnTo>
                  <a:lnTo>
                    <a:pt x="785761" y="0"/>
                  </a:lnTo>
                  <a:close/>
                </a:path>
              </a:pathLst>
            </a:custGeom>
            <a:ln w="198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748533" y="457200"/>
            <a:ext cx="4344035" cy="5336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spc="-20" dirty="0">
                <a:latin typeface="Calibri"/>
                <a:cs typeface="Calibri"/>
              </a:rPr>
              <a:t>AT89S51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ISP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protocol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Minimal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8051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system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Assembly</a:t>
            </a:r>
            <a:r>
              <a:rPr sz="2400" b="1" spc="-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delay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Assembly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Interrupt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Mixed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and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ASM</a:t>
            </a:r>
            <a:r>
              <a:rPr sz="2400" b="1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programming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"/>
              <a:buChar char="•"/>
            </a:pPr>
            <a:endParaRPr sz="23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Hall</a:t>
            </a:r>
            <a:r>
              <a:rPr sz="2400" b="1" spc="-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sensor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External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interrupt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spc="-10" dirty="0">
                <a:latin typeface="Calibri"/>
                <a:cs typeface="Calibri"/>
              </a:rPr>
              <a:t>Timer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spc="-10" dirty="0">
                <a:latin typeface="Calibri"/>
                <a:cs typeface="Calibri"/>
              </a:rPr>
              <a:t>Software-</a:t>
            </a:r>
            <a:r>
              <a:rPr sz="2400" dirty="0">
                <a:latin typeface="Calibri"/>
                <a:cs typeface="Calibri"/>
              </a:rPr>
              <a:t>based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LED</a:t>
            </a:r>
            <a:r>
              <a:rPr sz="2400" spc="-10" dirty="0">
                <a:latin typeface="Calibri"/>
                <a:cs typeface="Calibri"/>
              </a:rPr>
              <a:t> scanning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endParaRPr sz="35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Audio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synthesis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spc="-10" dirty="0">
                <a:latin typeface="Calibri"/>
                <a:cs typeface="Calibri"/>
              </a:rPr>
              <a:t>32-</a:t>
            </a:r>
            <a:r>
              <a:rPr sz="2400" dirty="0">
                <a:latin typeface="Calibri"/>
                <a:cs typeface="Calibri"/>
              </a:rPr>
              <a:t>bit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controller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DAC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164579" y="5170169"/>
            <a:ext cx="1687068" cy="1260347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3670">
              <a:lnSpc>
                <a:spcPts val="1810"/>
              </a:lnSpc>
            </a:pPr>
            <a:fld id="{81D60167-4931-47E6-BA6A-407CBD079E47}" type="slidenum">
              <a:rPr dirty="0"/>
              <a:t>4</a:t>
            </a:fld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50107" y="992124"/>
            <a:ext cx="2366772" cy="234391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6363" y="992124"/>
            <a:ext cx="2171700" cy="234391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68923" y="992124"/>
            <a:ext cx="2647187" cy="234391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150107" y="4131564"/>
            <a:ext cx="2369820" cy="2365248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475487" y="4131564"/>
            <a:ext cx="2510155" cy="2380615"/>
            <a:chOff x="475487" y="4131564"/>
            <a:chExt cx="2510155" cy="2380615"/>
          </a:xfrm>
        </p:grpSpPr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5487" y="4131564"/>
              <a:ext cx="2510028" cy="238048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13815" y="4483620"/>
              <a:ext cx="1671827" cy="167030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01268" y="4527804"/>
              <a:ext cx="1449324" cy="1447800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956259" y="472567"/>
            <a:ext cx="15119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latin typeface="Calibri"/>
                <a:cs typeface="Calibri"/>
              </a:rPr>
              <a:t>Calculator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108451" y="472567"/>
            <a:ext cx="24409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Calibri"/>
                <a:cs typeface="Calibri"/>
              </a:rPr>
              <a:t>IR</a:t>
            </a:r>
            <a:r>
              <a:rPr sz="2800" b="1" spc="-2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Thermometer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5954395" y="466090"/>
            <a:ext cx="24974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/>
              <a:t>Digital</a:t>
            </a:r>
            <a:r>
              <a:rPr sz="2800" spc="-110" dirty="0"/>
              <a:t> </a:t>
            </a:r>
            <a:r>
              <a:rPr sz="2800" spc="-10" dirty="0"/>
              <a:t>Hourglass</a:t>
            </a:r>
            <a:endParaRPr sz="2800"/>
          </a:p>
        </p:txBody>
      </p:sp>
      <p:sp>
        <p:nvSpPr>
          <p:cNvPr id="13" name="object 13"/>
          <p:cNvSpPr txBox="1"/>
          <p:nvPr/>
        </p:nvSpPr>
        <p:spPr>
          <a:xfrm>
            <a:off x="943762" y="3637026"/>
            <a:ext cx="15697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Calibri"/>
                <a:cs typeface="Calibri"/>
              </a:rPr>
              <a:t>ISP</a:t>
            </a:r>
            <a:r>
              <a:rPr sz="2800" b="1" spc="-3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Burner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582161" y="3637026"/>
            <a:ext cx="15227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Calibri"/>
                <a:cs typeface="Calibri"/>
              </a:rPr>
              <a:t>POV</a:t>
            </a:r>
            <a:r>
              <a:rPr sz="2800" b="1" spc="-110" dirty="0">
                <a:latin typeface="Calibri"/>
                <a:cs typeface="Calibri"/>
              </a:rPr>
              <a:t> </a:t>
            </a:r>
            <a:r>
              <a:rPr sz="2800" b="1" spc="-20" dirty="0">
                <a:latin typeface="Calibri"/>
                <a:cs typeface="Calibri"/>
              </a:rPr>
              <a:t>Clock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928359" y="4131564"/>
            <a:ext cx="2528316" cy="2365248"/>
          </a:xfrm>
          <a:prstGeom prst="rect">
            <a:avLst/>
          </a:prstGeom>
        </p:spPr>
      </p:pic>
      <p:grpSp>
        <p:nvGrpSpPr>
          <p:cNvPr id="16" name="object 16"/>
          <p:cNvGrpSpPr/>
          <p:nvPr/>
        </p:nvGrpSpPr>
        <p:grpSpPr>
          <a:xfrm>
            <a:off x="813816" y="1455419"/>
            <a:ext cx="1671955" cy="1671955"/>
            <a:chOff x="813816" y="1455419"/>
            <a:chExt cx="1671955" cy="1671955"/>
          </a:xfrm>
        </p:grpSpPr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13816" y="1455419"/>
              <a:ext cx="1671827" cy="167182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01268" y="1499615"/>
              <a:ext cx="1449324" cy="1449324"/>
            </a:xfrm>
            <a:prstGeom prst="rect">
              <a:avLst/>
            </a:prstGeom>
          </p:spPr>
        </p:pic>
      </p:grpSp>
      <p:grpSp>
        <p:nvGrpSpPr>
          <p:cNvPr id="19" name="object 19"/>
          <p:cNvGrpSpPr/>
          <p:nvPr/>
        </p:nvGrpSpPr>
        <p:grpSpPr>
          <a:xfrm>
            <a:off x="3432047" y="1455419"/>
            <a:ext cx="1670685" cy="1671955"/>
            <a:chOff x="3432047" y="1455419"/>
            <a:chExt cx="1670685" cy="1671955"/>
          </a:xfrm>
        </p:grpSpPr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432047" y="1455419"/>
              <a:ext cx="1670303" cy="1671827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619499" y="1499615"/>
              <a:ext cx="1447800" cy="1449324"/>
            </a:xfrm>
            <a:prstGeom prst="rect">
              <a:avLst/>
            </a:prstGeom>
          </p:spPr>
        </p:pic>
      </p:grpSp>
      <p:grpSp>
        <p:nvGrpSpPr>
          <p:cNvPr id="22" name="object 22"/>
          <p:cNvGrpSpPr/>
          <p:nvPr/>
        </p:nvGrpSpPr>
        <p:grpSpPr>
          <a:xfrm>
            <a:off x="6289547" y="1455419"/>
            <a:ext cx="1671955" cy="1671955"/>
            <a:chOff x="6289547" y="1455419"/>
            <a:chExt cx="1671955" cy="1671955"/>
          </a:xfrm>
        </p:grpSpPr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289547" y="1455419"/>
              <a:ext cx="1671827" cy="1671827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76999" y="1499615"/>
              <a:ext cx="1449324" cy="1449324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5866638" y="3637026"/>
            <a:ext cx="26663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Calibri"/>
                <a:cs typeface="Calibri"/>
              </a:rPr>
              <a:t>Music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Synthesizer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3363467" y="4483620"/>
            <a:ext cx="1671955" cy="1670685"/>
            <a:chOff x="3363467" y="4483620"/>
            <a:chExt cx="1671955" cy="1670685"/>
          </a:xfrm>
        </p:grpSpPr>
        <p:pic>
          <p:nvPicPr>
            <p:cNvPr id="27" name="object 2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363467" y="4483620"/>
              <a:ext cx="1671827" cy="1670304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550919" y="4527803"/>
              <a:ext cx="1449324" cy="14478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147010" y="1432533"/>
            <a:ext cx="2799715" cy="5259705"/>
            <a:chOff x="3147010" y="1432533"/>
            <a:chExt cx="2799715" cy="52597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47010" y="1432533"/>
              <a:ext cx="2799661" cy="525937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215639" y="1446275"/>
              <a:ext cx="2712720" cy="5181600"/>
            </a:xfrm>
            <a:custGeom>
              <a:avLst/>
              <a:gdLst/>
              <a:ahLst/>
              <a:cxnLst/>
              <a:rect l="l" t="t" r="r" b="b"/>
              <a:pathLst>
                <a:path w="2712720" h="5181600">
                  <a:moveTo>
                    <a:pt x="2509901" y="0"/>
                  </a:moveTo>
                  <a:lnTo>
                    <a:pt x="202819" y="0"/>
                  </a:lnTo>
                  <a:lnTo>
                    <a:pt x="156314" y="5356"/>
                  </a:lnTo>
                  <a:lnTo>
                    <a:pt x="113624" y="20614"/>
                  </a:lnTo>
                  <a:lnTo>
                    <a:pt x="75965" y="44557"/>
                  </a:lnTo>
                  <a:lnTo>
                    <a:pt x="44557" y="75965"/>
                  </a:lnTo>
                  <a:lnTo>
                    <a:pt x="20614" y="113624"/>
                  </a:lnTo>
                  <a:lnTo>
                    <a:pt x="5356" y="156314"/>
                  </a:lnTo>
                  <a:lnTo>
                    <a:pt x="0" y="202819"/>
                  </a:lnTo>
                  <a:lnTo>
                    <a:pt x="0" y="4978819"/>
                  </a:lnTo>
                  <a:lnTo>
                    <a:pt x="5356" y="5025313"/>
                  </a:lnTo>
                  <a:lnTo>
                    <a:pt x="20614" y="5067995"/>
                  </a:lnTo>
                  <a:lnTo>
                    <a:pt x="44557" y="5105646"/>
                  </a:lnTo>
                  <a:lnTo>
                    <a:pt x="75965" y="5137049"/>
                  </a:lnTo>
                  <a:lnTo>
                    <a:pt x="113624" y="5160988"/>
                  </a:lnTo>
                  <a:lnTo>
                    <a:pt x="156314" y="5176244"/>
                  </a:lnTo>
                  <a:lnTo>
                    <a:pt x="202819" y="5181600"/>
                  </a:lnTo>
                  <a:lnTo>
                    <a:pt x="2509901" y="5181600"/>
                  </a:lnTo>
                  <a:lnTo>
                    <a:pt x="2556405" y="5176244"/>
                  </a:lnTo>
                  <a:lnTo>
                    <a:pt x="2599095" y="5160988"/>
                  </a:lnTo>
                  <a:lnTo>
                    <a:pt x="2636754" y="5137049"/>
                  </a:lnTo>
                  <a:lnTo>
                    <a:pt x="2668162" y="5105646"/>
                  </a:lnTo>
                  <a:lnTo>
                    <a:pt x="2692105" y="5067995"/>
                  </a:lnTo>
                  <a:lnTo>
                    <a:pt x="2707363" y="5025313"/>
                  </a:lnTo>
                  <a:lnTo>
                    <a:pt x="2712720" y="4978819"/>
                  </a:lnTo>
                  <a:lnTo>
                    <a:pt x="2712720" y="202819"/>
                  </a:lnTo>
                  <a:lnTo>
                    <a:pt x="2707363" y="156314"/>
                  </a:lnTo>
                  <a:lnTo>
                    <a:pt x="2692105" y="113624"/>
                  </a:lnTo>
                  <a:lnTo>
                    <a:pt x="2668162" y="75965"/>
                  </a:lnTo>
                  <a:lnTo>
                    <a:pt x="2636754" y="44557"/>
                  </a:lnTo>
                  <a:lnTo>
                    <a:pt x="2599095" y="20614"/>
                  </a:lnTo>
                  <a:lnTo>
                    <a:pt x="2556405" y="5356"/>
                  </a:lnTo>
                  <a:lnTo>
                    <a:pt x="250990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215639" y="1446275"/>
              <a:ext cx="2712720" cy="5181600"/>
            </a:xfrm>
            <a:custGeom>
              <a:avLst/>
              <a:gdLst/>
              <a:ahLst/>
              <a:cxnLst/>
              <a:rect l="l" t="t" r="r" b="b"/>
              <a:pathLst>
                <a:path w="2712720" h="5181600">
                  <a:moveTo>
                    <a:pt x="0" y="202819"/>
                  </a:moveTo>
                  <a:lnTo>
                    <a:pt x="5356" y="156314"/>
                  </a:lnTo>
                  <a:lnTo>
                    <a:pt x="20614" y="113624"/>
                  </a:lnTo>
                  <a:lnTo>
                    <a:pt x="44557" y="75965"/>
                  </a:lnTo>
                  <a:lnTo>
                    <a:pt x="75965" y="44557"/>
                  </a:lnTo>
                  <a:lnTo>
                    <a:pt x="113624" y="20614"/>
                  </a:lnTo>
                  <a:lnTo>
                    <a:pt x="156314" y="5356"/>
                  </a:lnTo>
                  <a:lnTo>
                    <a:pt x="202819" y="0"/>
                  </a:lnTo>
                  <a:lnTo>
                    <a:pt x="2509901" y="0"/>
                  </a:lnTo>
                  <a:lnTo>
                    <a:pt x="2556405" y="5356"/>
                  </a:lnTo>
                  <a:lnTo>
                    <a:pt x="2599095" y="20614"/>
                  </a:lnTo>
                  <a:lnTo>
                    <a:pt x="2636754" y="44557"/>
                  </a:lnTo>
                  <a:lnTo>
                    <a:pt x="2668162" y="75965"/>
                  </a:lnTo>
                  <a:lnTo>
                    <a:pt x="2692105" y="113624"/>
                  </a:lnTo>
                  <a:lnTo>
                    <a:pt x="2707363" y="156314"/>
                  </a:lnTo>
                  <a:lnTo>
                    <a:pt x="2712720" y="202819"/>
                  </a:lnTo>
                  <a:lnTo>
                    <a:pt x="2712720" y="4978819"/>
                  </a:lnTo>
                  <a:lnTo>
                    <a:pt x="2707363" y="5025313"/>
                  </a:lnTo>
                  <a:lnTo>
                    <a:pt x="2692105" y="5067995"/>
                  </a:lnTo>
                  <a:lnTo>
                    <a:pt x="2668162" y="5105646"/>
                  </a:lnTo>
                  <a:lnTo>
                    <a:pt x="2636754" y="5137049"/>
                  </a:lnTo>
                  <a:lnTo>
                    <a:pt x="2599095" y="5160988"/>
                  </a:lnTo>
                  <a:lnTo>
                    <a:pt x="2556405" y="5176244"/>
                  </a:lnTo>
                  <a:lnTo>
                    <a:pt x="2509901" y="5181600"/>
                  </a:lnTo>
                  <a:lnTo>
                    <a:pt x="202819" y="5181600"/>
                  </a:lnTo>
                  <a:lnTo>
                    <a:pt x="156314" y="5176244"/>
                  </a:lnTo>
                  <a:lnTo>
                    <a:pt x="113624" y="5160988"/>
                  </a:lnTo>
                  <a:lnTo>
                    <a:pt x="75965" y="5137049"/>
                  </a:lnTo>
                  <a:lnTo>
                    <a:pt x="44557" y="5105646"/>
                  </a:lnTo>
                  <a:lnTo>
                    <a:pt x="20614" y="5067995"/>
                  </a:lnTo>
                  <a:lnTo>
                    <a:pt x="5356" y="5025313"/>
                  </a:lnTo>
                  <a:lnTo>
                    <a:pt x="0" y="4978819"/>
                  </a:lnTo>
                  <a:lnTo>
                    <a:pt x="0" y="2028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6062432" y="1432533"/>
            <a:ext cx="2801620" cy="5259705"/>
            <a:chOff x="6062432" y="1432533"/>
            <a:chExt cx="2801620" cy="525970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62432" y="1432533"/>
              <a:ext cx="2801170" cy="525937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131051" y="1446275"/>
              <a:ext cx="2714625" cy="5181600"/>
            </a:xfrm>
            <a:custGeom>
              <a:avLst/>
              <a:gdLst/>
              <a:ahLst/>
              <a:cxnLst/>
              <a:rect l="l" t="t" r="r" b="b"/>
              <a:pathLst>
                <a:path w="2714625" h="5181600">
                  <a:moveTo>
                    <a:pt x="2511298" y="0"/>
                  </a:moveTo>
                  <a:lnTo>
                    <a:pt x="202946" y="0"/>
                  </a:lnTo>
                  <a:lnTo>
                    <a:pt x="156394" y="5356"/>
                  </a:lnTo>
                  <a:lnTo>
                    <a:pt x="113670" y="20617"/>
                  </a:lnTo>
                  <a:lnTo>
                    <a:pt x="75989" y="44567"/>
                  </a:lnTo>
                  <a:lnTo>
                    <a:pt x="44567" y="75989"/>
                  </a:lnTo>
                  <a:lnTo>
                    <a:pt x="20617" y="113670"/>
                  </a:lnTo>
                  <a:lnTo>
                    <a:pt x="5356" y="156394"/>
                  </a:lnTo>
                  <a:lnTo>
                    <a:pt x="0" y="202946"/>
                  </a:lnTo>
                  <a:lnTo>
                    <a:pt x="0" y="4978704"/>
                  </a:lnTo>
                  <a:lnTo>
                    <a:pt x="5356" y="5025225"/>
                  </a:lnTo>
                  <a:lnTo>
                    <a:pt x="20617" y="5067931"/>
                  </a:lnTo>
                  <a:lnTo>
                    <a:pt x="44567" y="5105603"/>
                  </a:lnTo>
                  <a:lnTo>
                    <a:pt x="75989" y="5137024"/>
                  </a:lnTo>
                  <a:lnTo>
                    <a:pt x="113670" y="5160976"/>
                  </a:lnTo>
                  <a:lnTo>
                    <a:pt x="156394" y="5176241"/>
                  </a:lnTo>
                  <a:lnTo>
                    <a:pt x="202946" y="5181600"/>
                  </a:lnTo>
                  <a:lnTo>
                    <a:pt x="2511298" y="5181600"/>
                  </a:lnTo>
                  <a:lnTo>
                    <a:pt x="2557849" y="5176241"/>
                  </a:lnTo>
                  <a:lnTo>
                    <a:pt x="2600573" y="5160976"/>
                  </a:lnTo>
                  <a:lnTo>
                    <a:pt x="2638254" y="5137024"/>
                  </a:lnTo>
                  <a:lnTo>
                    <a:pt x="2669676" y="5105603"/>
                  </a:lnTo>
                  <a:lnTo>
                    <a:pt x="2693626" y="5067931"/>
                  </a:lnTo>
                  <a:lnTo>
                    <a:pt x="2708887" y="5025225"/>
                  </a:lnTo>
                  <a:lnTo>
                    <a:pt x="2714244" y="4978704"/>
                  </a:lnTo>
                  <a:lnTo>
                    <a:pt x="2714244" y="202946"/>
                  </a:lnTo>
                  <a:lnTo>
                    <a:pt x="2708887" y="156394"/>
                  </a:lnTo>
                  <a:lnTo>
                    <a:pt x="2693626" y="113670"/>
                  </a:lnTo>
                  <a:lnTo>
                    <a:pt x="2669676" y="75989"/>
                  </a:lnTo>
                  <a:lnTo>
                    <a:pt x="2638254" y="44567"/>
                  </a:lnTo>
                  <a:lnTo>
                    <a:pt x="2600573" y="20617"/>
                  </a:lnTo>
                  <a:lnTo>
                    <a:pt x="2557849" y="5356"/>
                  </a:lnTo>
                  <a:lnTo>
                    <a:pt x="25112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131051" y="1446275"/>
              <a:ext cx="2714625" cy="5181600"/>
            </a:xfrm>
            <a:custGeom>
              <a:avLst/>
              <a:gdLst/>
              <a:ahLst/>
              <a:cxnLst/>
              <a:rect l="l" t="t" r="r" b="b"/>
              <a:pathLst>
                <a:path w="2714625" h="5181600">
                  <a:moveTo>
                    <a:pt x="0" y="202946"/>
                  </a:moveTo>
                  <a:lnTo>
                    <a:pt x="5356" y="156394"/>
                  </a:lnTo>
                  <a:lnTo>
                    <a:pt x="20617" y="113670"/>
                  </a:lnTo>
                  <a:lnTo>
                    <a:pt x="44567" y="75989"/>
                  </a:lnTo>
                  <a:lnTo>
                    <a:pt x="75989" y="44567"/>
                  </a:lnTo>
                  <a:lnTo>
                    <a:pt x="113670" y="20617"/>
                  </a:lnTo>
                  <a:lnTo>
                    <a:pt x="156394" y="5356"/>
                  </a:lnTo>
                  <a:lnTo>
                    <a:pt x="202946" y="0"/>
                  </a:lnTo>
                  <a:lnTo>
                    <a:pt x="2511298" y="0"/>
                  </a:lnTo>
                  <a:lnTo>
                    <a:pt x="2557849" y="5356"/>
                  </a:lnTo>
                  <a:lnTo>
                    <a:pt x="2600573" y="20617"/>
                  </a:lnTo>
                  <a:lnTo>
                    <a:pt x="2638254" y="44567"/>
                  </a:lnTo>
                  <a:lnTo>
                    <a:pt x="2669676" y="75989"/>
                  </a:lnTo>
                  <a:lnTo>
                    <a:pt x="2693626" y="113670"/>
                  </a:lnTo>
                  <a:lnTo>
                    <a:pt x="2708887" y="156394"/>
                  </a:lnTo>
                  <a:lnTo>
                    <a:pt x="2714244" y="202946"/>
                  </a:lnTo>
                  <a:lnTo>
                    <a:pt x="2714244" y="4978704"/>
                  </a:lnTo>
                  <a:lnTo>
                    <a:pt x="2708887" y="5025225"/>
                  </a:lnTo>
                  <a:lnTo>
                    <a:pt x="2693626" y="5067931"/>
                  </a:lnTo>
                  <a:lnTo>
                    <a:pt x="2669676" y="5105603"/>
                  </a:lnTo>
                  <a:lnTo>
                    <a:pt x="2638254" y="5137024"/>
                  </a:lnTo>
                  <a:lnTo>
                    <a:pt x="2600573" y="5160976"/>
                  </a:lnTo>
                  <a:lnTo>
                    <a:pt x="2557849" y="5176241"/>
                  </a:lnTo>
                  <a:lnTo>
                    <a:pt x="2511298" y="5181600"/>
                  </a:lnTo>
                  <a:lnTo>
                    <a:pt x="202946" y="5181600"/>
                  </a:lnTo>
                  <a:lnTo>
                    <a:pt x="156394" y="5176241"/>
                  </a:lnTo>
                  <a:lnTo>
                    <a:pt x="113670" y="5160976"/>
                  </a:lnTo>
                  <a:lnTo>
                    <a:pt x="75989" y="5137024"/>
                  </a:lnTo>
                  <a:lnTo>
                    <a:pt x="44567" y="5105603"/>
                  </a:lnTo>
                  <a:lnTo>
                    <a:pt x="20617" y="5067931"/>
                  </a:lnTo>
                  <a:lnTo>
                    <a:pt x="5356" y="5025225"/>
                  </a:lnTo>
                  <a:lnTo>
                    <a:pt x="0" y="4978704"/>
                  </a:lnTo>
                  <a:lnTo>
                    <a:pt x="0" y="202946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201128" y="1432533"/>
            <a:ext cx="2801620" cy="5259705"/>
            <a:chOff x="201128" y="1432533"/>
            <a:chExt cx="2801620" cy="5259705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1128" y="1432533"/>
              <a:ext cx="2801170" cy="525937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69748" y="1446275"/>
              <a:ext cx="2714625" cy="5181600"/>
            </a:xfrm>
            <a:custGeom>
              <a:avLst/>
              <a:gdLst/>
              <a:ahLst/>
              <a:cxnLst/>
              <a:rect l="l" t="t" r="r" b="b"/>
              <a:pathLst>
                <a:path w="2714625" h="5181600">
                  <a:moveTo>
                    <a:pt x="2511297" y="0"/>
                  </a:moveTo>
                  <a:lnTo>
                    <a:pt x="202895" y="0"/>
                  </a:lnTo>
                  <a:lnTo>
                    <a:pt x="156370" y="5356"/>
                  </a:lnTo>
                  <a:lnTo>
                    <a:pt x="113663" y="20617"/>
                  </a:lnTo>
                  <a:lnTo>
                    <a:pt x="75990" y="44567"/>
                  </a:lnTo>
                  <a:lnTo>
                    <a:pt x="44571" y="75989"/>
                  </a:lnTo>
                  <a:lnTo>
                    <a:pt x="20620" y="113670"/>
                  </a:lnTo>
                  <a:lnTo>
                    <a:pt x="5358" y="156394"/>
                  </a:lnTo>
                  <a:lnTo>
                    <a:pt x="0" y="202946"/>
                  </a:lnTo>
                  <a:lnTo>
                    <a:pt x="0" y="4978704"/>
                  </a:lnTo>
                  <a:lnTo>
                    <a:pt x="5358" y="5025225"/>
                  </a:lnTo>
                  <a:lnTo>
                    <a:pt x="20620" y="5067931"/>
                  </a:lnTo>
                  <a:lnTo>
                    <a:pt x="44571" y="5105603"/>
                  </a:lnTo>
                  <a:lnTo>
                    <a:pt x="75990" y="5137024"/>
                  </a:lnTo>
                  <a:lnTo>
                    <a:pt x="113663" y="5160976"/>
                  </a:lnTo>
                  <a:lnTo>
                    <a:pt x="156370" y="5176241"/>
                  </a:lnTo>
                  <a:lnTo>
                    <a:pt x="202895" y="5181600"/>
                  </a:lnTo>
                  <a:lnTo>
                    <a:pt x="2511297" y="5181600"/>
                  </a:lnTo>
                  <a:lnTo>
                    <a:pt x="2557849" y="5176241"/>
                  </a:lnTo>
                  <a:lnTo>
                    <a:pt x="2600573" y="5160976"/>
                  </a:lnTo>
                  <a:lnTo>
                    <a:pt x="2638254" y="5137024"/>
                  </a:lnTo>
                  <a:lnTo>
                    <a:pt x="2669676" y="5105603"/>
                  </a:lnTo>
                  <a:lnTo>
                    <a:pt x="2693626" y="5067931"/>
                  </a:lnTo>
                  <a:lnTo>
                    <a:pt x="2708887" y="5025225"/>
                  </a:lnTo>
                  <a:lnTo>
                    <a:pt x="2714244" y="4978704"/>
                  </a:lnTo>
                  <a:lnTo>
                    <a:pt x="2714244" y="202946"/>
                  </a:lnTo>
                  <a:lnTo>
                    <a:pt x="2708887" y="156394"/>
                  </a:lnTo>
                  <a:lnTo>
                    <a:pt x="2693626" y="113670"/>
                  </a:lnTo>
                  <a:lnTo>
                    <a:pt x="2669676" y="75989"/>
                  </a:lnTo>
                  <a:lnTo>
                    <a:pt x="2638254" y="44567"/>
                  </a:lnTo>
                  <a:lnTo>
                    <a:pt x="2600573" y="20617"/>
                  </a:lnTo>
                  <a:lnTo>
                    <a:pt x="2557849" y="5356"/>
                  </a:lnTo>
                  <a:lnTo>
                    <a:pt x="251129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69748" y="1446275"/>
              <a:ext cx="2714625" cy="5181600"/>
            </a:xfrm>
            <a:custGeom>
              <a:avLst/>
              <a:gdLst/>
              <a:ahLst/>
              <a:cxnLst/>
              <a:rect l="l" t="t" r="r" b="b"/>
              <a:pathLst>
                <a:path w="2714625" h="5181600">
                  <a:moveTo>
                    <a:pt x="0" y="202946"/>
                  </a:moveTo>
                  <a:lnTo>
                    <a:pt x="5358" y="156394"/>
                  </a:lnTo>
                  <a:lnTo>
                    <a:pt x="20620" y="113670"/>
                  </a:lnTo>
                  <a:lnTo>
                    <a:pt x="44571" y="75989"/>
                  </a:lnTo>
                  <a:lnTo>
                    <a:pt x="75990" y="44567"/>
                  </a:lnTo>
                  <a:lnTo>
                    <a:pt x="113663" y="20617"/>
                  </a:lnTo>
                  <a:lnTo>
                    <a:pt x="156370" y="5356"/>
                  </a:lnTo>
                  <a:lnTo>
                    <a:pt x="202895" y="0"/>
                  </a:lnTo>
                  <a:lnTo>
                    <a:pt x="2511297" y="0"/>
                  </a:lnTo>
                  <a:lnTo>
                    <a:pt x="2557849" y="5356"/>
                  </a:lnTo>
                  <a:lnTo>
                    <a:pt x="2600573" y="20617"/>
                  </a:lnTo>
                  <a:lnTo>
                    <a:pt x="2638254" y="44567"/>
                  </a:lnTo>
                  <a:lnTo>
                    <a:pt x="2669676" y="75989"/>
                  </a:lnTo>
                  <a:lnTo>
                    <a:pt x="2693626" y="113670"/>
                  </a:lnTo>
                  <a:lnTo>
                    <a:pt x="2708887" y="156394"/>
                  </a:lnTo>
                  <a:lnTo>
                    <a:pt x="2714244" y="202946"/>
                  </a:lnTo>
                  <a:lnTo>
                    <a:pt x="2714244" y="4978704"/>
                  </a:lnTo>
                  <a:lnTo>
                    <a:pt x="2708887" y="5025225"/>
                  </a:lnTo>
                  <a:lnTo>
                    <a:pt x="2693626" y="5067931"/>
                  </a:lnTo>
                  <a:lnTo>
                    <a:pt x="2669676" y="5105603"/>
                  </a:lnTo>
                  <a:lnTo>
                    <a:pt x="2638254" y="5137024"/>
                  </a:lnTo>
                  <a:lnTo>
                    <a:pt x="2600573" y="5160976"/>
                  </a:lnTo>
                  <a:lnTo>
                    <a:pt x="2557849" y="5176241"/>
                  </a:lnTo>
                  <a:lnTo>
                    <a:pt x="2511297" y="5181600"/>
                  </a:lnTo>
                  <a:lnTo>
                    <a:pt x="202895" y="5181600"/>
                  </a:lnTo>
                  <a:lnTo>
                    <a:pt x="156370" y="5176241"/>
                  </a:lnTo>
                  <a:lnTo>
                    <a:pt x="113663" y="5160976"/>
                  </a:lnTo>
                  <a:lnTo>
                    <a:pt x="75990" y="5137024"/>
                  </a:lnTo>
                  <a:lnTo>
                    <a:pt x="44571" y="5105603"/>
                  </a:lnTo>
                  <a:lnTo>
                    <a:pt x="20620" y="5067931"/>
                  </a:lnTo>
                  <a:lnTo>
                    <a:pt x="5358" y="5025225"/>
                  </a:lnTo>
                  <a:lnTo>
                    <a:pt x="0" y="4978704"/>
                  </a:lnTo>
                  <a:lnTo>
                    <a:pt x="0" y="202946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3763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z="4000" spc="-10" dirty="0"/>
              <a:t>Importance</a:t>
            </a:r>
            <a:r>
              <a:rPr sz="4000" spc="-70" dirty="0"/>
              <a:t> </a:t>
            </a:r>
            <a:r>
              <a:rPr sz="4000" dirty="0"/>
              <a:t>of</a:t>
            </a:r>
            <a:r>
              <a:rPr sz="4000" spc="-85" dirty="0"/>
              <a:t> </a:t>
            </a:r>
            <a:r>
              <a:rPr sz="4000" dirty="0"/>
              <a:t>the</a:t>
            </a:r>
            <a:r>
              <a:rPr sz="4000" spc="-75" dirty="0"/>
              <a:t> </a:t>
            </a:r>
            <a:r>
              <a:rPr sz="4000" spc="-10" dirty="0"/>
              <a:t>Microcontroller </a:t>
            </a:r>
            <a:r>
              <a:rPr sz="4000" dirty="0"/>
              <a:t>and</a:t>
            </a:r>
            <a:r>
              <a:rPr sz="4000" spc="-150" dirty="0"/>
              <a:t> </a:t>
            </a:r>
            <a:r>
              <a:rPr sz="4000" dirty="0"/>
              <a:t>Embedded</a:t>
            </a:r>
            <a:r>
              <a:rPr sz="4000" spc="-145" dirty="0"/>
              <a:t> </a:t>
            </a:r>
            <a:r>
              <a:rPr sz="4000" spc="-20" dirty="0"/>
              <a:t>System</a:t>
            </a:r>
            <a:r>
              <a:rPr sz="4000" spc="-130" dirty="0"/>
              <a:t> </a:t>
            </a:r>
            <a:r>
              <a:rPr sz="4000" spc="-10" dirty="0"/>
              <a:t>Course</a:t>
            </a:r>
            <a:endParaRPr sz="4000"/>
          </a:p>
        </p:txBody>
      </p:sp>
      <p:sp>
        <p:nvSpPr>
          <p:cNvPr id="15" name="object 15"/>
          <p:cNvSpPr txBox="1"/>
          <p:nvPr/>
        </p:nvSpPr>
        <p:spPr>
          <a:xfrm>
            <a:off x="3276091" y="5271008"/>
            <a:ext cx="2593975" cy="12357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65785" marR="598805" algn="ctr">
              <a:lnSpc>
                <a:spcPct val="100000"/>
              </a:lnSpc>
              <a:spcBef>
                <a:spcPts val="95"/>
              </a:spcBef>
            </a:pPr>
            <a:r>
              <a:rPr sz="2800" spc="-35" dirty="0">
                <a:latin typeface="Microsoft JhengHei"/>
                <a:cs typeface="Microsoft JhengHei"/>
              </a:rPr>
              <a:t>邏輯設</a:t>
            </a:r>
            <a:r>
              <a:rPr sz="2800" spc="-50" dirty="0">
                <a:latin typeface="Microsoft JhengHei"/>
                <a:cs typeface="Microsoft JhengHei"/>
              </a:rPr>
              <a:t>計</a:t>
            </a:r>
            <a:r>
              <a:rPr sz="2800" spc="-35" dirty="0">
                <a:latin typeface="Microsoft JhengHei"/>
                <a:cs typeface="Microsoft JhengHei"/>
              </a:rPr>
              <a:t>邏設實</a:t>
            </a:r>
            <a:r>
              <a:rPr sz="2800" spc="-50" dirty="0">
                <a:latin typeface="Microsoft JhengHei"/>
                <a:cs typeface="Microsoft JhengHei"/>
              </a:rPr>
              <a:t>驗</a:t>
            </a:r>
            <a:endParaRPr sz="2800">
              <a:latin typeface="Microsoft JhengHei"/>
              <a:cs typeface="Microsoft JhengHei"/>
            </a:endParaRPr>
          </a:p>
          <a:p>
            <a:pPr algn="ctr">
              <a:lnSpc>
                <a:spcPts val="2810"/>
              </a:lnSpc>
            </a:pPr>
            <a:r>
              <a:rPr sz="2400" dirty="0">
                <a:latin typeface="Calibri"/>
                <a:cs typeface="Calibri"/>
              </a:rPr>
              <a:t>(Digital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Logic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Design)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426453" y="5258815"/>
            <a:ext cx="2125980" cy="124777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 algn="ctr">
              <a:lnSpc>
                <a:spcPct val="100400"/>
              </a:lnSpc>
              <a:spcBef>
                <a:spcPts val="80"/>
              </a:spcBef>
            </a:pPr>
            <a:r>
              <a:rPr sz="2800" dirty="0">
                <a:latin typeface="Calibri"/>
                <a:cs typeface="Calibri"/>
              </a:rPr>
              <a:t>C</a:t>
            </a:r>
            <a:r>
              <a:rPr sz="2800" spc="-35" dirty="0">
                <a:latin typeface="Calibri"/>
                <a:cs typeface="Calibri"/>
              </a:rPr>
              <a:t>, </a:t>
            </a:r>
            <a:r>
              <a:rPr sz="2800" dirty="0">
                <a:latin typeface="Calibri"/>
                <a:cs typeface="Calibri"/>
              </a:rPr>
              <a:t>C</a:t>
            </a:r>
            <a:r>
              <a:rPr sz="2800" spc="-10" dirty="0">
                <a:latin typeface="Calibri"/>
                <a:cs typeface="Calibri"/>
              </a:rPr>
              <a:t>++, Python</a:t>
            </a:r>
            <a:r>
              <a:rPr sz="2800" spc="-35" dirty="0">
                <a:latin typeface="Microsoft JhengHei"/>
                <a:cs typeface="Microsoft JhengHei"/>
              </a:rPr>
              <a:t>程式設</a:t>
            </a:r>
            <a:r>
              <a:rPr sz="2800" spc="-50" dirty="0">
                <a:latin typeface="Microsoft JhengHei"/>
                <a:cs typeface="Microsoft JhengHei"/>
              </a:rPr>
              <a:t>計 </a:t>
            </a:r>
            <a:r>
              <a:rPr sz="2400" spc="-10" dirty="0">
                <a:latin typeface="Calibri"/>
                <a:cs typeface="Calibri"/>
              </a:rPr>
              <a:t>(Programming)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85952" y="5273446"/>
            <a:ext cx="2278380" cy="12357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29895" marR="417830" indent="-1905" algn="ctr">
              <a:lnSpc>
                <a:spcPct val="100000"/>
              </a:lnSpc>
              <a:spcBef>
                <a:spcPts val="95"/>
              </a:spcBef>
            </a:pPr>
            <a:r>
              <a:rPr sz="2800" spc="-35" dirty="0">
                <a:latin typeface="Microsoft JhengHei"/>
                <a:cs typeface="Microsoft JhengHei"/>
              </a:rPr>
              <a:t>電子</a:t>
            </a:r>
            <a:r>
              <a:rPr sz="2800" spc="-50" dirty="0">
                <a:latin typeface="Microsoft JhengHei"/>
                <a:cs typeface="Microsoft JhengHei"/>
              </a:rPr>
              <a:t>學 </a:t>
            </a:r>
            <a:r>
              <a:rPr sz="2800" spc="-35" dirty="0">
                <a:latin typeface="Microsoft JhengHei"/>
                <a:cs typeface="Microsoft JhengHei"/>
              </a:rPr>
              <a:t>子路實</a:t>
            </a:r>
            <a:r>
              <a:rPr sz="2800" spc="-50" dirty="0">
                <a:latin typeface="Microsoft JhengHei"/>
                <a:cs typeface="Microsoft JhengHei"/>
              </a:rPr>
              <a:t>驗</a:t>
            </a:r>
            <a:endParaRPr sz="2800">
              <a:latin typeface="Microsoft JhengHei"/>
              <a:cs typeface="Microsoft JhengHei"/>
            </a:endParaRPr>
          </a:p>
          <a:p>
            <a:pPr algn="ctr">
              <a:lnSpc>
                <a:spcPts val="2810"/>
              </a:lnSpc>
            </a:pPr>
            <a:r>
              <a:rPr sz="2400" spc="-10" dirty="0">
                <a:latin typeface="Calibri"/>
                <a:cs typeface="Calibri"/>
              </a:rPr>
              <a:t>(Microelectronics)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62711" y="1287780"/>
            <a:ext cx="8465820" cy="3900170"/>
            <a:chOff x="362711" y="1287780"/>
            <a:chExt cx="8465820" cy="3900170"/>
          </a:xfrm>
        </p:grpSpPr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2711" y="1584960"/>
              <a:ext cx="2528316" cy="1328927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9287" y="3148584"/>
              <a:ext cx="2517648" cy="1879092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308604" y="1584960"/>
              <a:ext cx="2525268" cy="224028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340607" y="3968496"/>
              <a:ext cx="2519172" cy="121920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641591" y="3610356"/>
              <a:ext cx="1981200" cy="1556003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062471" y="3381756"/>
              <a:ext cx="1045464" cy="104546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208776" y="1525524"/>
              <a:ext cx="2619755" cy="1807464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362711" y="1287780"/>
              <a:ext cx="8418830" cy="2788920"/>
            </a:xfrm>
            <a:custGeom>
              <a:avLst/>
              <a:gdLst/>
              <a:ahLst/>
              <a:cxnLst/>
              <a:rect l="l" t="t" r="r" b="b"/>
              <a:pathLst>
                <a:path w="8418830" h="2788920">
                  <a:moveTo>
                    <a:pt x="7953756" y="0"/>
                  </a:moveTo>
                  <a:lnTo>
                    <a:pt x="464819" y="0"/>
                  </a:lnTo>
                  <a:lnTo>
                    <a:pt x="417296" y="2400"/>
                  </a:lnTo>
                  <a:lnTo>
                    <a:pt x="371144" y="9445"/>
                  </a:lnTo>
                  <a:lnTo>
                    <a:pt x="326599" y="20901"/>
                  </a:lnTo>
                  <a:lnTo>
                    <a:pt x="283894" y="36534"/>
                  </a:lnTo>
                  <a:lnTo>
                    <a:pt x="243262" y="56110"/>
                  </a:lnTo>
                  <a:lnTo>
                    <a:pt x="204938" y="79396"/>
                  </a:lnTo>
                  <a:lnTo>
                    <a:pt x="169154" y="106157"/>
                  </a:lnTo>
                  <a:lnTo>
                    <a:pt x="136145" y="136159"/>
                  </a:lnTo>
                  <a:lnTo>
                    <a:pt x="106144" y="169170"/>
                  </a:lnTo>
                  <a:lnTo>
                    <a:pt x="79386" y="204954"/>
                  </a:lnTo>
                  <a:lnTo>
                    <a:pt x="56102" y="243279"/>
                  </a:lnTo>
                  <a:lnTo>
                    <a:pt x="36528" y="283910"/>
                  </a:lnTo>
                  <a:lnTo>
                    <a:pt x="20898" y="326613"/>
                  </a:lnTo>
                  <a:lnTo>
                    <a:pt x="9443" y="371155"/>
                  </a:lnTo>
                  <a:lnTo>
                    <a:pt x="2399" y="417302"/>
                  </a:lnTo>
                  <a:lnTo>
                    <a:pt x="0" y="464820"/>
                  </a:lnTo>
                  <a:lnTo>
                    <a:pt x="0" y="2324100"/>
                  </a:lnTo>
                  <a:lnTo>
                    <a:pt x="2399" y="2371617"/>
                  </a:lnTo>
                  <a:lnTo>
                    <a:pt x="9443" y="2417764"/>
                  </a:lnTo>
                  <a:lnTo>
                    <a:pt x="20898" y="2462306"/>
                  </a:lnTo>
                  <a:lnTo>
                    <a:pt x="36528" y="2505009"/>
                  </a:lnTo>
                  <a:lnTo>
                    <a:pt x="56102" y="2545640"/>
                  </a:lnTo>
                  <a:lnTo>
                    <a:pt x="79386" y="2583965"/>
                  </a:lnTo>
                  <a:lnTo>
                    <a:pt x="106144" y="2619749"/>
                  </a:lnTo>
                  <a:lnTo>
                    <a:pt x="136145" y="2652760"/>
                  </a:lnTo>
                  <a:lnTo>
                    <a:pt x="169154" y="2682762"/>
                  </a:lnTo>
                  <a:lnTo>
                    <a:pt x="204938" y="2709523"/>
                  </a:lnTo>
                  <a:lnTo>
                    <a:pt x="243262" y="2732809"/>
                  </a:lnTo>
                  <a:lnTo>
                    <a:pt x="283894" y="2752385"/>
                  </a:lnTo>
                  <a:lnTo>
                    <a:pt x="326599" y="2768018"/>
                  </a:lnTo>
                  <a:lnTo>
                    <a:pt x="371144" y="2779474"/>
                  </a:lnTo>
                  <a:lnTo>
                    <a:pt x="417296" y="2786519"/>
                  </a:lnTo>
                  <a:lnTo>
                    <a:pt x="464819" y="2788920"/>
                  </a:lnTo>
                  <a:lnTo>
                    <a:pt x="7953756" y="2788920"/>
                  </a:lnTo>
                  <a:lnTo>
                    <a:pt x="8001273" y="2786519"/>
                  </a:lnTo>
                  <a:lnTo>
                    <a:pt x="8047420" y="2779474"/>
                  </a:lnTo>
                  <a:lnTo>
                    <a:pt x="8091962" y="2768018"/>
                  </a:lnTo>
                  <a:lnTo>
                    <a:pt x="8134665" y="2752385"/>
                  </a:lnTo>
                  <a:lnTo>
                    <a:pt x="8175296" y="2732809"/>
                  </a:lnTo>
                  <a:lnTo>
                    <a:pt x="8213621" y="2709523"/>
                  </a:lnTo>
                  <a:lnTo>
                    <a:pt x="8249405" y="2682762"/>
                  </a:lnTo>
                  <a:lnTo>
                    <a:pt x="8282416" y="2652760"/>
                  </a:lnTo>
                  <a:lnTo>
                    <a:pt x="8312418" y="2619749"/>
                  </a:lnTo>
                  <a:lnTo>
                    <a:pt x="8339179" y="2583965"/>
                  </a:lnTo>
                  <a:lnTo>
                    <a:pt x="8362465" y="2545640"/>
                  </a:lnTo>
                  <a:lnTo>
                    <a:pt x="8382041" y="2505009"/>
                  </a:lnTo>
                  <a:lnTo>
                    <a:pt x="8397674" y="2462306"/>
                  </a:lnTo>
                  <a:lnTo>
                    <a:pt x="8409130" y="2417764"/>
                  </a:lnTo>
                  <a:lnTo>
                    <a:pt x="8416175" y="2371617"/>
                  </a:lnTo>
                  <a:lnTo>
                    <a:pt x="8418576" y="2324100"/>
                  </a:lnTo>
                  <a:lnTo>
                    <a:pt x="8418576" y="464820"/>
                  </a:lnTo>
                  <a:lnTo>
                    <a:pt x="8416175" y="417302"/>
                  </a:lnTo>
                  <a:lnTo>
                    <a:pt x="8409130" y="371155"/>
                  </a:lnTo>
                  <a:lnTo>
                    <a:pt x="8397674" y="326613"/>
                  </a:lnTo>
                  <a:lnTo>
                    <a:pt x="8382041" y="283910"/>
                  </a:lnTo>
                  <a:lnTo>
                    <a:pt x="8362465" y="243279"/>
                  </a:lnTo>
                  <a:lnTo>
                    <a:pt x="8339179" y="204954"/>
                  </a:lnTo>
                  <a:lnTo>
                    <a:pt x="8312418" y="169170"/>
                  </a:lnTo>
                  <a:lnTo>
                    <a:pt x="8282416" y="136159"/>
                  </a:lnTo>
                  <a:lnTo>
                    <a:pt x="8249405" y="106157"/>
                  </a:lnTo>
                  <a:lnTo>
                    <a:pt x="8213621" y="79396"/>
                  </a:lnTo>
                  <a:lnTo>
                    <a:pt x="8175296" y="56110"/>
                  </a:lnTo>
                  <a:lnTo>
                    <a:pt x="8134665" y="36534"/>
                  </a:lnTo>
                  <a:lnTo>
                    <a:pt x="8091962" y="20901"/>
                  </a:lnTo>
                  <a:lnTo>
                    <a:pt x="8047420" y="9445"/>
                  </a:lnTo>
                  <a:lnTo>
                    <a:pt x="8001273" y="2400"/>
                  </a:lnTo>
                  <a:lnTo>
                    <a:pt x="7953756" y="0"/>
                  </a:lnTo>
                  <a:close/>
                </a:path>
              </a:pathLst>
            </a:custGeom>
            <a:solidFill>
              <a:srgbClr val="FFFFFF">
                <a:alpha val="8117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40079" y="2205227"/>
              <a:ext cx="1551432" cy="1543812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630161" y="2195322"/>
              <a:ext cx="1572260" cy="1564005"/>
            </a:xfrm>
            <a:custGeom>
              <a:avLst/>
              <a:gdLst/>
              <a:ahLst/>
              <a:cxnLst/>
              <a:rect l="l" t="t" r="r" b="b"/>
              <a:pathLst>
                <a:path w="1572260" h="1564004">
                  <a:moveTo>
                    <a:pt x="785761" y="0"/>
                  </a:moveTo>
                  <a:lnTo>
                    <a:pt x="866152" y="4063"/>
                  </a:lnTo>
                  <a:lnTo>
                    <a:pt x="944130" y="16001"/>
                  </a:lnTo>
                  <a:lnTo>
                    <a:pt x="1019314" y="34925"/>
                  </a:lnTo>
                  <a:lnTo>
                    <a:pt x="1091704" y="61467"/>
                  </a:lnTo>
                  <a:lnTo>
                    <a:pt x="1160411" y="94487"/>
                  </a:lnTo>
                  <a:lnTo>
                    <a:pt x="1225054" y="133476"/>
                  </a:lnTo>
                  <a:lnTo>
                    <a:pt x="1285887" y="178435"/>
                  </a:lnTo>
                  <a:lnTo>
                    <a:pt x="1341259" y="229107"/>
                  </a:lnTo>
                  <a:lnTo>
                    <a:pt x="1392313" y="284606"/>
                  </a:lnTo>
                  <a:lnTo>
                    <a:pt x="1437398" y="344804"/>
                  </a:lnTo>
                  <a:lnTo>
                    <a:pt x="1476768" y="409193"/>
                  </a:lnTo>
                  <a:lnTo>
                    <a:pt x="1509661" y="477519"/>
                  </a:lnTo>
                  <a:lnTo>
                    <a:pt x="1536204" y="549528"/>
                  </a:lnTo>
                  <a:lnTo>
                    <a:pt x="1555508" y="624204"/>
                  </a:lnTo>
                  <a:lnTo>
                    <a:pt x="1567573" y="701801"/>
                  </a:lnTo>
                  <a:lnTo>
                    <a:pt x="1571637" y="781812"/>
                  </a:lnTo>
                  <a:lnTo>
                    <a:pt x="1567573" y="861822"/>
                  </a:lnTo>
                  <a:lnTo>
                    <a:pt x="1555508" y="939418"/>
                  </a:lnTo>
                  <a:lnTo>
                    <a:pt x="1536204" y="1014602"/>
                  </a:lnTo>
                  <a:lnTo>
                    <a:pt x="1509661" y="1086103"/>
                  </a:lnTo>
                  <a:lnTo>
                    <a:pt x="1476768" y="1154429"/>
                  </a:lnTo>
                  <a:lnTo>
                    <a:pt x="1437398" y="1219200"/>
                  </a:lnTo>
                  <a:lnTo>
                    <a:pt x="1392313" y="1279525"/>
                  </a:lnTo>
                  <a:lnTo>
                    <a:pt x="1341259" y="1335024"/>
                  </a:lnTo>
                  <a:lnTo>
                    <a:pt x="1285760" y="1385189"/>
                  </a:lnTo>
                  <a:lnTo>
                    <a:pt x="1225054" y="1430273"/>
                  </a:lnTo>
                  <a:lnTo>
                    <a:pt x="1160411" y="1469263"/>
                  </a:lnTo>
                  <a:lnTo>
                    <a:pt x="1091704" y="1502155"/>
                  </a:lnTo>
                  <a:lnTo>
                    <a:pt x="1019314" y="1528698"/>
                  </a:lnTo>
                  <a:lnTo>
                    <a:pt x="944130" y="1548002"/>
                  </a:lnTo>
                  <a:lnTo>
                    <a:pt x="866152" y="1559686"/>
                  </a:lnTo>
                  <a:lnTo>
                    <a:pt x="785761" y="1563623"/>
                  </a:lnTo>
                  <a:lnTo>
                    <a:pt x="705497" y="1559686"/>
                  </a:lnTo>
                  <a:lnTo>
                    <a:pt x="627468" y="1548002"/>
                  </a:lnTo>
                  <a:lnTo>
                    <a:pt x="552284" y="1528698"/>
                  </a:lnTo>
                  <a:lnTo>
                    <a:pt x="479933" y="1502155"/>
                  </a:lnTo>
                  <a:lnTo>
                    <a:pt x="411213" y="1469263"/>
                  </a:lnTo>
                  <a:lnTo>
                    <a:pt x="346494" y="1430273"/>
                  </a:lnTo>
                  <a:lnTo>
                    <a:pt x="286207" y="1385189"/>
                  </a:lnTo>
                  <a:lnTo>
                    <a:pt x="230339" y="1335024"/>
                  </a:lnTo>
                  <a:lnTo>
                    <a:pt x="179692" y="1279525"/>
                  </a:lnTo>
                  <a:lnTo>
                    <a:pt x="134264" y="1219200"/>
                  </a:lnTo>
                  <a:lnTo>
                    <a:pt x="94868" y="1154429"/>
                  </a:lnTo>
                  <a:lnTo>
                    <a:pt x="61912" y="1086103"/>
                  </a:lnTo>
                  <a:lnTo>
                    <a:pt x="35382" y="1014602"/>
                  </a:lnTo>
                  <a:lnTo>
                    <a:pt x="16078" y="939418"/>
                  </a:lnTo>
                  <a:lnTo>
                    <a:pt x="4025" y="861822"/>
                  </a:lnTo>
                  <a:lnTo>
                    <a:pt x="0" y="781812"/>
                  </a:lnTo>
                  <a:lnTo>
                    <a:pt x="4025" y="701801"/>
                  </a:lnTo>
                  <a:lnTo>
                    <a:pt x="16078" y="624204"/>
                  </a:lnTo>
                  <a:lnTo>
                    <a:pt x="35382" y="549528"/>
                  </a:lnTo>
                  <a:lnTo>
                    <a:pt x="61912" y="477519"/>
                  </a:lnTo>
                  <a:lnTo>
                    <a:pt x="94868" y="409193"/>
                  </a:lnTo>
                  <a:lnTo>
                    <a:pt x="134277" y="344804"/>
                  </a:lnTo>
                  <a:lnTo>
                    <a:pt x="179692" y="284606"/>
                  </a:lnTo>
                  <a:lnTo>
                    <a:pt x="230327" y="229107"/>
                  </a:lnTo>
                  <a:lnTo>
                    <a:pt x="286194" y="178435"/>
                  </a:lnTo>
                  <a:lnTo>
                    <a:pt x="346494" y="133476"/>
                  </a:lnTo>
                  <a:lnTo>
                    <a:pt x="411213" y="94487"/>
                  </a:lnTo>
                  <a:lnTo>
                    <a:pt x="479933" y="61467"/>
                  </a:lnTo>
                  <a:lnTo>
                    <a:pt x="552310" y="34925"/>
                  </a:lnTo>
                  <a:lnTo>
                    <a:pt x="627468" y="16001"/>
                  </a:lnTo>
                  <a:lnTo>
                    <a:pt x="705370" y="4063"/>
                  </a:lnTo>
                  <a:lnTo>
                    <a:pt x="785761" y="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944623" y="1677924"/>
              <a:ext cx="1551431" cy="1534667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934717" y="1668018"/>
              <a:ext cx="1571625" cy="1554480"/>
            </a:xfrm>
            <a:custGeom>
              <a:avLst/>
              <a:gdLst/>
              <a:ahLst/>
              <a:cxnLst/>
              <a:rect l="l" t="t" r="r" b="b"/>
              <a:pathLst>
                <a:path w="1571625" h="1554480">
                  <a:moveTo>
                    <a:pt x="785749" y="0"/>
                  </a:moveTo>
                  <a:lnTo>
                    <a:pt x="866139" y="4064"/>
                  </a:lnTo>
                  <a:lnTo>
                    <a:pt x="944118" y="15621"/>
                  </a:lnTo>
                  <a:lnTo>
                    <a:pt x="1019301" y="34925"/>
                  </a:lnTo>
                  <a:lnTo>
                    <a:pt x="1091692" y="61087"/>
                  </a:lnTo>
                  <a:lnTo>
                    <a:pt x="1160399" y="93599"/>
                  </a:lnTo>
                  <a:lnTo>
                    <a:pt x="1225042" y="132587"/>
                  </a:lnTo>
                  <a:lnTo>
                    <a:pt x="1285748" y="177673"/>
                  </a:lnTo>
                  <a:lnTo>
                    <a:pt x="1341246" y="227837"/>
                  </a:lnTo>
                  <a:lnTo>
                    <a:pt x="1392301" y="282956"/>
                  </a:lnTo>
                  <a:lnTo>
                    <a:pt x="1437385" y="342900"/>
                  </a:lnTo>
                  <a:lnTo>
                    <a:pt x="1476756" y="406781"/>
                  </a:lnTo>
                  <a:lnTo>
                    <a:pt x="1509648" y="474726"/>
                  </a:lnTo>
                  <a:lnTo>
                    <a:pt x="1536192" y="546227"/>
                  </a:lnTo>
                  <a:lnTo>
                    <a:pt x="1555495" y="620649"/>
                  </a:lnTo>
                  <a:lnTo>
                    <a:pt x="1567560" y="697865"/>
                  </a:lnTo>
                  <a:lnTo>
                    <a:pt x="1571624" y="777494"/>
                  </a:lnTo>
                  <a:lnTo>
                    <a:pt x="1567560" y="857123"/>
                  </a:lnTo>
                  <a:lnTo>
                    <a:pt x="1555495" y="934212"/>
                  </a:lnTo>
                  <a:lnTo>
                    <a:pt x="1536192" y="1008634"/>
                  </a:lnTo>
                  <a:lnTo>
                    <a:pt x="1509648" y="1080262"/>
                  </a:lnTo>
                  <a:lnTo>
                    <a:pt x="1476756" y="1148207"/>
                  </a:lnTo>
                  <a:lnTo>
                    <a:pt x="1437385" y="1212088"/>
                  </a:lnTo>
                  <a:lnTo>
                    <a:pt x="1392301" y="1272032"/>
                  </a:lnTo>
                  <a:lnTo>
                    <a:pt x="1341246" y="1327023"/>
                  </a:lnTo>
                  <a:lnTo>
                    <a:pt x="1285748" y="1377315"/>
                  </a:lnTo>
                  <a:lnTo>
                    <a:pt x="1225042" y="1421892"/>
                  </a:lnTo>
                  <a:lnTo>
                    <a:pt x="1160399" y="1460881"/>
                  </a:lnTo>
                  <a:lnTo>
                    <a:pt x="1091692" y="1493393"/>
                  </a:lnTo>
                  <a:lnTo>
                    <a:pt x="1019301" y="1519555"/>
                  </a:lnTo>
                  <a:lnTo>
                    <a:pt x="944118" y="1538859"/>
                  </a:lnTo>
                  <a:lnTo>
                    <a:pt x="866139" y="1550543"/>
                  </a:lnTo>
                  <a:lnTo>
                    <a:pt x="785749" y="1554480"/>
                  </a:lnTo>
                  <a:lnTo>
                    <a:pt x="705484" y="1550543"/>
                  </a:lnTo>
                  <a:lnTo>
                    <a:pt x="627507" y="1538859"/>
                  </a:lnTo>
                  <a:lnTo>
                    <a:pt x="552323" y="1519555"/>
                  </a:lnTo>
                  <a:lnTo>
                    <a:pt x="479932" y="1493393"/>
                  </a:lnTo>
                  <a:lnTo>
                    <a:pt x="411225" y="1460881"/>
                  </a:lnTo>
                  <a:lnTo>
                    <a:pt x="346456" y="1421892"/>
                  </a:lnTo>
                  <a:lnTo>
                    <a:pt x="286257" y="1377315"/>
                  </a:lnTo>
                  <a:lnTo>
                    <a:pt x="230377" y="1327023"/>
                  </a:lnTo>
                  <a:lnTo>
                    <a:pt x="179705" y="1272032"/>
                  </a:lnTo>
                  <a:lnTo>
                    <a:pt x="134238" y="1212088"/>
                  </a:lnTo>
                  <a:lnTo>
                    <a:pt x="94868" y="1148207"/>
                  </a:lnTo>
                  <a:lnTo>
                    <a:pt x="61849" y="1080262"/>
                  </a:lnTo>
                  <a:lnTo>
                    <a:pt x="35306" y="1008634"/>
                  </a:lnTo>
                  <a:lnTo>
                    <a:pt x="16129" y="934212"/>
                  </a:lnTo>
                  <a:lnTo>
                    <a:pt x="4063" y="857123"/>
                  </a:lnTo>
                  <a:lnTo>
                    <a:pt x="0" y="777494"/>
                  </a:lnTo>
                  <a:lnTo>
                    <a:pt x="4063" y="697865"/>
                  </a:lnTo>
                  <a:lnTo>
                    <a:pt x="16129" y="620649"/>
                  </a:lnTo>
                  <a:lnTo>
                    <a:pt x="35306" y="546227"/>
                  </a:lnTo>
                  <a:lnTo>
                    <a:pt x="61849" y="474726"/>
                  </a:lnTo>
                  <a:lnTo>
                    <a:pt x="94868" y="406781"/>
                  </a:lnTo>
                  <a:lnTo>
                    <a:pt x="134238" y="342773"/>
                  </a:lnTo>
                  <a:lnTo>
                    <a:pt x="179705" y="282956"/>
                  </a:lnTo>
                  <a:lnTo>
                    <a:pt x="230377" y="227837"/>
                  </a:lnTo>
                  <a:lnTo>
                    <a:pt x="286131" y="177673"/>
                  </a:lnTo>
                  <a:lnTo>
                    <a:pt x="346456" y="132587"/>
                  </a:lnTo>
                  <a:lnTo>
                    <a:pt x="411225" y="93599"/>
                  </a:lnTo>
                  <a:lnTo>
                    <a:pt x="479932" y="61087"/>
                  </a:lnTo>
                  <a:lnTo>
                    <a:pt x="552323" y="34925"/>
                  </a:lnTo>
                  <a:lnTo>
                    <a:pt x="627507" y="15621"/>
                  </a:lnTo>
                  <a:lnTo>
                    <a:pt x="705484" y="4064"/>
                  </a:lnTo>
                  <a:lnTo>
                    <a:pt x="785749" y="0"/>
                  </a:lnTo>
                  <a:close/>
                </a:path>
              </a:pathLst>
            </a:custGeom>
            <a:ln w="198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250691" y="1336548"/>
              <a:ext cx="1549908" cy="1549907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3240785" y="1326642"/>
              <a:ext cx="1570355" cy="1570355"/>
            </a:xfrm>
            <a:custGeom>
              <a:avLst/>
              <a:gdLst/>
              <a:ahLst/>
              <a:cxnLst/>
              <a:rect l="l" t="t" r="r" b="b"/>
              <a:pathLst>
                <a:path w="1570354" h="1570355">
                  <a:moveTo>
                    <a:pt x="784987" y="0"/>
                  </a:moveTo>
                  <a:lnTo>
                    <a:pt x="865377" y="4063"/>
                  </a:lnTo>
                  <a:lnTo>
                    <a:pt x="943355" y="16002"/>
                  </a:lnTo>
                  <a:lnTo>
                    <a:pt x="1018539" y="35306"/>
                  </a:lnTo>
                  <a:lnTo>
                    <a:pt x="1090549" y="61849"/>
                  </a:lnTo>
                  <a:lnTo>
                    <a:pt x="1159255" y="94869"/>
                  </a:lnTo>
                  <a:lnTo>
                    <a:pt x="1223899" y="134238"/>
                  </a:lnTo>
                  <a:lnTo>
                    <a:pt x="1284224" y="179197"/>
                  </a:lnTo>
                  <a:lnTo>
                    <a:pt x="1340103" y="229870"/>
                  </a:lnTo>
                  <a:lnTo>
                    <a:pt x="1390777" y="285750"/>
                  </a:lnTo>
                  <a:lnTo>
                    <a:pt x="1436115" y="346075"/>
                  </a:lnTo>
                  <a:lnTo>
                    <a:pt x="1475104" y="410845"/>
                  </a:lnTo>
                  <a:lnTo>
                    <a:pt x="1508505" y="479552"/>
                  </a:lnTo>
                  <a:lnTo>
                    <a:pt x="1534667" y="551434"/>
                  </a:lnTo>
                  <a:lnTo>
                    <a:pt x="1553972" y="626999"/>
                  </a:lnTo>
                  <a:lnTo>
                    <a:pt x="1566037" y="704596"/>
                  </a:lnTo>
                  <a:lnTo>
                    <a:pt x="1569974" y="784987"/>
                  </a:lnTo>
                  <a:lnTo>
                    <a:pt x="1566037" y="865378"/>
                  </a:lnTo>
                  <a:lnTo>
                    <a:pt x="1553972" y="943356"/>
                  </a:lnTo>
                  <a:lnTo>
                    <a:pt x="1534667" y="1018540"/>
                  </a:lnTo>
                  <a:lnTo>
                    <a:pt x="1508505" y="1090549"/>
                  </a:lnTo>
                  <a:lnTo>
                    <a:pt x="1475104" y="1159256"/>
                  </a:lnTo>
                  <a:lnTo>
                    <a:pt x="1436115" y="1223899"/>
                  </a:lnTo>
                  <a:lnTo>
                    <a:pt x="1390777" y="1284224"/>
                  </a:lnTo>
                  <a:lnTo>
                    <a:pt x="1340103" y="1340104"/>
                  </a:lnTo>
                  <a:lnTo>
                    <a:pt x="1284224" y="1390777"/>
                  </a:lnTo>
                  <a:lnTo>
                    <a:pt x="1223899" y="1436116"/>
                  </a:lnTo>
                  <a:lnTo>
                    <a:pt x="1159255" y="1475105"/>
                  </a:lnTo>
                  <a:lnTo>
                    <a:pt x="1090549" y="1508506"/>
                  </a:lnTo>
                  <a:lnTo>
                    <a:pt x="1018539" y="1534668"/>
                  </a:lnTo>
                  <a:lnTo>
                    <a:pt x="943355" y="1553972"/>
                  </a:lnTo>
                  <a:lnTo>
                    <a:pt x="865377" y="1566037"/>
                  </a:lnTo>
                  <a:lnTo>
                    <a:pt x="784987" y="1569974"/>
                  </a:lnTo>
                  <a:lnTo>
                    <a:pt x="704596" y="1566037"/>
                  </a:lnTo>
                  <a:lnTo>
                    <a:pt x="626999" y="1553972"/>
                  </a:lnTo>
                  <a:lnTo>
                    <a:pt x="551434" y="1534668"/>
                  </a:lnTo>
                  <a:lnTo>
                    <a:pt x="479551" y="1508506"/>
                  </a:lnTo>
                  <a:lnTo>
                    <a:pt x="410844" y="1475105"/>
                  </a:lnTo>
                  <a:lnTo>
                    <a:pt x="346075" y="1436116"/>
                  </a:lnTo>
                  <a:lnTo>
                    <a:pt x="285750" y="1390777"/>
                  </a:lnTo>
                  <a:lnTo>
                    <a:pt x="229869" y="1340104"/>
                  </a:lnTo>
                  <a:lnTo>
                    <a:pt x="179197" y="1284224"/>
                  </a:lnTo>
                  <a:lnTo>
                    <a:pt x="134238" y="1223899"/>
                  </a:lnTo>
                  <a:lnTo>
                    <a:pt x="94868" y="1159256"/>
                  </a:lnTo>
                  <a:lnTo>
                    <a:pt x="61849" y="1090549"/>
                  </a:lnTo>
                  <a:lnTo>
                    <a:pt x="35305" y="1018540"/>
                  </a:lnTo>
                  <a:lnTo>
                    <a:pt x="16128" y="943356"/>
                  </a:lnTo>
                  <a:lnTo>
                    <a:pt x="4063" y="865378"/>
                  </a:lnTo>
                  <a:lnTo>
                    <a:pt x="0" y="784987"/>
                  </a:lnTo>
                  <a:lnTo>
                    <a:pt x="4063" y="704596"/>
                  </a:lnTo>
                  <a:lnTo>
                    <a:pt x="16128" y="626999"/>
                  </a:lnTo>
                  <a:lnTo>
                    <a:pt x="35305" y="551434"/>
                  </a:lnTo>
                  <a:lnTo>
                    <a:pt x="61849" y="479552"/>
                  </a:lnTo>
                  <a:lnTo>
                    <a:pt x="94868" y="410845"/>
                  </a:lnTo>
                  <a:lnTo>
                    <a:pt x="134238" y="346075"/>
                  </a:lnTo>
                  <a:lnTo>
                    <a:pt x="179197" y="285750"/>
                  </a:lnTo>
                  <a:lnTo>
                    <a:pt x="229869" y="229870"/>
                  </a:lnTo>
                  <a:lnTo>
                    <a:pt x="285750" y="179197"/>
                  </a:lnTo>
                  <a:lnTo>
                    <a:pt x="346075" y="134238"/>
                  </a:lnTo>
                  <a:lnTo>
                    <a:pt x="410844" y="94869"/>
                  </a:lnTo>
                  <a:lnTo>
                    <a:pt x="479551" y="61849"/>
                  </a:lnTo>
                  <a:lnTo>
                    <a:pt x="551434" y="35306"/>
                  </a:lnTo>
                  <a:lnTo>
                    <a:pt x="626999" y="16002"/>
                  </a:lnTo>
                  <a:lnTo>
                    <a:pt x="704596" y="4063"/>
                  </a:lnTo>
                  <a:lnTo>
                    <a:pt x="784987" y="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555235" y="1336548"/>
              <a:ext cx="1559052" cy="1548384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4545329" y="1326642"/>
              <a:ext cx="1579245" cy="1568450"/>
            </a:xfrm>
            <a:custGeom>
              <a:avLst/>
              <a:gdLst/>
              <a:ahLst/>
              <a:cxnLst/>
              <a:rect l="l" t="t" r="r" b="b"/>
              <a:pathLst>
                <a:path w="1579245" h="1568450">
                  <a:moveTo>
                    <a:pt x="789813" y="0"/>
                  </a:moveTo>
                  <a:lnTo>
                    <a:pt x="870585" y="4063"/>
                  </a:lnTo>
                  <a:lnTo>
                    <a:pt x="948944" y="16002"/>
                  </a:lnTo>
                  <a:lnTo>
                    <a:pt x="1024509" y="35306"/>
                  </a:lnTo>
                  <a:lnTo>
                    <a:pt x="1096772" y="61468"/>
                  </a:lnTo>
                  <a:lnTo>
                    <a:pt x="1165987" y="94869"/>
                  </a:lnTo>
                  <a:lnTo>
                    <a:pt x="1231011" y="133858"/>
                  </a:lnTo>
                  <a:lnTo>
                    <a:pt x="1291717" y="179197"/>
                  </a:lnTo>
                  <a:lnTo>
                    <a:pt x="1347978" y="229870"/>
                  </a:lnTo>
                  <a:lnTo>
                    <a:pt x="1398651" y="285369"/>
                  </a:lnTo>
                  <a:lnTo>
                    <a:pt x="1444117" y="345694"/>
                  </a:lnTo>
                  <a:lnTo>
                    <a:pt x="1483868" y="410337"/>
                  </a:lnTo>
                  <a:lnTo>
                    <a:pt x="1517269" y="479044"/>
                  </a:lnTo>
                  <a:lnTo>
                    <a:pt x="1543812" y="551053"/>
                  </a:lnTo>
                  <a:lnTo>
                    <a:pt x="1563116" y="626237"/>
                  </a:lnTo>
                  <a:lnTo>
                    <a:pt x="1575181" y="704215"/>
                  </a:lnTo>
                  <a:lnTo>
                    <a:pt x="1579118" y="784225"/>
                  </a:lnTo>
                  <a:lnTo>
                    <a:pt x="1575181" y="864616"/>
                  </a:lnTo>
                  <a:lnTo>
                    <a:pt x="1563116" y="942213"/>
                  </a:lnTo>
                  <a:lnTo>
                    <a:pt x="1543812" y="1017397"/>
                  </a:lnTo>
                  <a:lnTo>
                    <a:pt x="1517269" y="1089660"/>
                  </a:lnTo>
                  <a:lnTo>
                    <a:pt x="1483868" y="1158113"/>
                  </a:lnTo>
                  <a:lnTo>
                    <a:pt x="1444117" y="1222756"/>
                  </a:lnTo>
                  <a:lnTo>
                    <a:pt x="1398651" y="1283081"/>
                  </a:lnTo>
                  <a:lnTo>
                    <a:pt x="1347978" y="1338961"/>
                  </a:lnTo>
                  <a:lnTo>
                    <a:pt x="1291717" y="1389634"/>
                  </a:lnTo>
                  <a:lnTo>
                    <a:pt x="1231011" y="1434592"/>
                  </a:lnTo>
                  <a:lnTo>
                    <a:pt x="1165987" y="1473962"/>
                  </a:lnTo>
                  <a:lnTo>
                    <a:pt x="1096772" y="1506982"/>
                  </a:lnTo>
                  <a:lnTo>
                    <a:pt x="1024509" y="1533017"/>
                  </a:lnTo>
                  <a:lnTo>
                    <a:pt x="948944" y="1552321"/>
                  </a:lnTo>
                  <a:lnTo>
                    <a:pt x="870585" y="1564386"/>
                  </a:lnTo>
                  <a:lnTo>
                    <a:pt x="789813" y="1568450"/>
                  </a:lnTo>
                  <a:lnTo>
                    <a:pt x="709041" y="1564386"/>
                  </a:lnTo>
                  <a:lnTo>
                    <a:pt x="630682" y="1552321"/>
                  </a:lnTo>
                  <a:lnTo>
                    <a:pt x="555117" y="1533017"/>
                  </a:lnTo>
                  <a:lnTo>
                    <a:pt x="482346" y="1506982"/>
                  </a:lnTo>
                  <a:lnTo>
                    <a:pt x="413131" y="1473962"/>
                  </a:lnTo>
                  <a:lnTo>
                    <a:pt x="348107" y="1434592"/>
                  </a:lnTo>
                  <a:lnTo>
                    <a:pt x="287400" y="1389507"/>
                  </a:lnTo>
                  <a:lnTo>
                    <a:pt x="231521" y="1338961"/>
                  </a:lnTo>
                  <a:lnTo>
                    <a:pt x="180467" y="1283081"/>
                  </a:lnTo>
                  <a:lnTo>
                    <a:pt x="135000" y="1222756"/>
                  </a:lnTo>
                  <a:lnTo>
                    <a:pt x="95250" y="1158113"/>
                  </a:lnTo>
                  <a:lnTo>
                    <a:pt x="61849" y="1089660"/>
                  </a:lnTo>
                  <a:lnTo>
                    <a:pt x="35306" y="1017397"/>
                  </a:lnTo>
                  <a:lnTo>
                    <a:pt x="16129" y="942213"/>
                  </a:lnTo>
                  <a:lnTo>
                    <a:pt x="4064" y="864616"/>
                  </a:lnTo>
                  <a:lnTo>
                    <a:pt x="0" y="784225"/>
                  </a:lnTo>
                  <a:lnTo>
                    <a:pt x="4064" y="704215"/>
                  </a:lnTo>
                  <a:lnTo>
                    <a:pt x="16002" y="626237"/>
                  </a:lnTo>
                  <a:lnTo>
                    <a:pt x="35306" y="551053"/>
                  </a:lnTo>
                  <a:lnTo>
                    <a:pt x="61849" y="479044"/>
                  </a:lnTo>
                  <a:lnTo>
                    <a:pt x="95250" y="410337"/>
                  </a:lnTo>
                  <a:lnTo>
                    <a:pt x="135000" y="345694"/>
                  </a:lnTo>
                  <a:lnTo>
                    <a:pt x="180467" y="285369"/>
                  </a:lnTo>
                  <a:lnTo>
                    <a:pt x="231521" y="229870"/>
                  </a:lnTo>
                  <a:lnTo>
                    <a:pt x="287400" y="179197"/>
                  </a:lnTo>
                  <a:lnTo>
                    <a:pt x="348107" y="133858"/>
                  </a:lnTo>
                  <a:lnTo>
                    <a:pt x="413131" y="94869"/>
                  </a:lnTo>
                  <a:lnTo>
                    <a:pt x="482346" y="61468"/>
                  </a:lnTo>
                  <a:lnTo>
                    <a:pt x="555117" y="35306"/>
                  </a:lnTo>
                  <a:lnTo>
                    <a:pt x="630682" y="16002"/>
                  </a:lnTo>
                  <a:lnTo>
                    <a:pt x="709041" y="4063"/>
                  </a:lnTo>
                  <a:lnTo>
                    <a:pt x="789813" y="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868923" y="1664208"/>
              <a:ext cx="1559052" cy="1548383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5859017" y="1654302"/>
              <a:ext cx="1579245" cy="1568450"/>
            </a:xfrm>
            <a:custGeom>
              <a:avLst/>
              <a:gdLst/>
              <a:ahLst/>
              <a:cxnLst/>
              <a:rect l="l" t="t" r="r" b="b"/>
              <a:pathLst>
                <a:path w="1579245" h="1568450">
                  <a:moveTo>
                    <a:pt x="789813" y="0"/>
                  </a:moveTo>
                  <a:lnTo>
                    <a:pt x="870585" y="4063"/>
                  </a:lnTo>
                  <a:lnTo>
                    <a:pt x="948943" y="16001"/>
                  </a:lnTo>
                  <a:lnTo>
                    <a:pt x="1024509" y="35306"/>
                  </a:lnTo>
                  <a:lnTo>
                    <a:pt x="1096772" y="61468"/>
                  </a:lnTo>
                  <a:lnTo>
                    <a:pt x="1165987" y="94869"/>
                  </a:lnTo>
                  <a:lnTo>
                    <a:pt x="1231011" y="133858"/>
                  </a:lnTo>
                  <a:lnTo>
                    <a:pt x="1291716" y="179197"/>
                  </a:lnTo>
                  <a:lnTo>
                    <a:pt x="1347978" y="229870"/>
                  </a:lnTo>
                  <a:lnTo>
                    <a:pt x="1398651" y="285369"/>
                  </a:lnTo>
                  <a:lnTo>
                    <a:pt x="1444116" y="345694"/>
                  </a:lnTo>
                  <a:lnTo>
                    <a:pt x="1483867" y="410337"/>
                  </a:lnTo>
                  <a:lnTo>
                    <a:pt x="1517268" y="479044"/>
                  </a:lnTo>
                  <a:lnTo>
                    <a:pt x="1543812" y="551052"/>
                  </a:lnTo>
                  <a:lnTo>
                    <a:pt x="1563115" y="626237"/>
                  </a:lnTo>
                  <a:lnTo>
                    <a:pt x="1575181" y="704214"/>
                  </a:lnTo>
                  <a:lnTo>
                    <a:pt x="1579117" y="784225"/>
                  </a:lnTo>
                  <a:lnTo>
                    <a:pt x="1575181" y="864615"/>
                  </a:lnTo>
                  <a:lnTo>
                    <a:pt x="1563115" y="942213"/>
                  </a:lnTo>
                  <a:lnTo>
                    <a:pt x="1543812" y="1017397"/>
                  </a:lnTo>
                  <a:lnTo>
                    <a:pt x="1517268" y="1089660"/>
                  </a:lnTo>
                  <a:lnTo>
                    <a:pt x="1483867" y="1158113"/>
                  </a:lnTo>
                  <a:lnTo>
                    <a:pt x="1444116" y="1222756"/>
                  </a:lnTo>
                  <a:lnTo>
                    <a:pt x="1398651" y="1283081"/>
                  </a:lnTo>
                  <a:lnTo>
                    <a:pt x="1347978" y="1338961"/>
                  </a:lnTo>
                  <a:lnTo>
                    <a:pt x="1291716" y="1389634"/>
                  </a:lnTo>
                  <a:lnTo>
                    <a:pt x="1231011" y="1434592"/>
                  </a:lnTo>
                  <a:lnTo>
                    <a:pt x="1165987" y="1473962"/>
                  </a:lnTo>
                  <a:lnTo>
                    <a:pt x="1096772" y="1506982"/>
                  </a:lnTo>
                  <a:lnTo>
                    <a:pt x="1024509" y="1533017"/>
                  </a:lnTo>
                  <a:lnTo>
                    <a:pt x="948943" y="1552321"/>
                  </a:lnTo>
                  <a:lnTo>
                    <a:pt x="870585" y="1564386"/>
                  </a:lnTo>
                  <a:lnTo>
                    <a:pt x="789813" y="1568450"/>
                  </a:lnTo>
                  <a:lnTo>
                    <a:pt x="709040" y="1564386"/>
                  </a:lnTo>
                  <a:lnTo>
                    <a:pt x="630682" y="1552321"/>
                  </a:lnTo>
                  <a:lnTo>
                    <a:pt x="555117" y="1533017"/>
                  </a:lnTo>
                  <a:lnTo>
                    <a:pt x="482346" y="1506982"/>
                  </a:lnTo>
                  <a:lnTo>
                    <a:pt x="413131" y="1473962"/>
                  </a:lnTo>
                  <a:lnTo>
                    <a:pt x="348107" y="1434592"/>
                  </a:lnTo>
                  <a:lnTo>
                    <a:pt x="287401" y="1389507"/>
                  </a:lnTo>
                  <a:lnTo>
                    <a:pt x="231521" y="1338961"/>
                  </a:lnTo>
                  <a:lnTo>
                    <a:pt x="180467" y="1283081"/>
                  </a:lnTo>
                  <a:lnTo>
                    <a:pt x="135001" y="1222756"/>
                  </a:lnTo>
                  <a:lnTo>
                    <a:pt x="95250" y="1158113"/>
                  </a:lnTo>
                  <a:lnTo>
                    <a:pt x="61849" y="1089660"/>
                  </a:lnTo>
                  <a:lnTo>
                    <a:pt x="35306" y="1017397"/>
                  </a:lnTo>
                  <a:lnTo>
                    <a:pt x="16129" y="942213"/>
                  </a:lnTo>
                  <a:lnTo>
                    <a:pt x="4064" y="864615"/>
                  </a:lnTo>
                  <a:lnTo>
                    <a:pt x="0" y="784225"/>
                  </a:lnTo>
                  <a:lnTo>
                    <a:pt x="4064" y="704214"/>
                  </a:lnTo>
                  <a:lnTo>
                    <a:pt x="16002" y="626237"/>
                  </a:lnTo>
                  <a:lnTo>
                    <a:pt x="35306" y="551052"/>
                  </a:lnTo>
                  <a:lnTo>
                    <a:pt x="61849" y="479044"/>
                  </a:lnTo>
                  <a:lnTo>
                    <a:pt x="95250" y="410337"/>
                  </a:lnTo>
                  <a:lnTo>
                    <a:pt x="135001" y="345694"/>
                  </a:lnTo>
                  <a:lnTo>
                    <a:pt x="180467" y="285369"/>
                  </a:lnTo>
                  <a:lnTo>
                    <a:pt x="231521" y="229870"/>
                  </a:lnTo>
                  <a:lnTo>
                    <a:pt x="287401" y="179197"/>
                  </a:lnTo>
                  <a:lnTo>
                    <a:pt x="348107" y="133858"/>
                  </a:lnTo>
                  <a:lnTo>
                    <a:pt x="413131" y="94869"/>
                  </a:lnTo>
                  <a:lnTo>
                    <a:pt x="482346" y="61468"/>
                  </a:lnTo>
                  <a:lnTo>
                    <a:pt x="555117" y="35306"/>
                  </a:lnTo>
                  <a:lnTo>
                    <a:pt x="630682" y="16001"/>
                  </a:lnTo>
                  <a:lnTo>
                    <a:pt x="709040" y="4063"/>
                  </a:lnTo>
                  <a:lnTo>
                    <a:pt x="789813" y="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182611" y="2200655"/>
              <a:ext cx="1551431" cy="1548384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7172705" y="2190750"/>
              <a:ext cx="1571625" cy="1568450"/>
            </a:xfrm>
            <a:custGeom>
              <a:avLst/>
              <a:gdLst/>
              <a:ahLst/>
              <a:cxnLst/>
              <a:rect l="l" t="t" r="r" b="b"/>
              <a:pathLst>
                <a:path w="1571625" h="1568450">
                  <a:moveTo>
                    <a:pt x="785749" y="0"/>
                  </a:moveTo>
                  <a:lnTo>
                    <a:pt x="866140" y="4063"/>
                  </a:lnTo>
                  <a:lnTo>
                    <a:pt x="944118" y="16001"/>
                  </a:lnTo>
                  <a:lnTo>
                    <a:pt x="1019301" y="35305"/>
                  </a:lnTo>
                  <a:lnTo>
                    <a:pt x="1091692" y="61467"/>
                  </a:lnTo>
                  <a:lnTo>
                    <a:pt x="1160399" y="94869"/>
                  </a:lnTo>
                  <a:lnTo>
                    <a:pt x="1225169" y="133858"/>
                  </a:lnTo>
                  <a:lnTo>
                    <a:pt x="1285875" y="179324"/>
                  </a:lnTo>
                  <a:lnTo>
                    <a:pt x="1341247" y="229870"/>
                  </a:lnTo>
                  <a:lnTo>
                    <a:pt x="1392301" y="285369"/>
                  </a:lnTo>
                  <a:lnTo>
                    <a:pt x="1437386" y="345694"/>
                  </a:lnTo>
                  <a:lnTo>
                    <a:pt x="1476755" y="410337"/>
                  </a:lnTo>
                  <a:lnTo>
                    <a:pt x="1509649" y="479171"/>
                  </a:lnTo>
                  <a:lnTo>
                    <a:pt x="1536192" y="551052"/>
                  </a:lnTo>
                  <a:lnTo>
                    <a:pt x="1555496" y="626237"/>
                  </a:lnTo>
                  <a:lnTo>
                    <a:pt x="1567561" y="704214"/>
                  </a:lnTo>
                  <a:lnTo>
                    <a:pt x="1571625" y="784225"/>
                  </a:lnTo>
                  <a:lnTo>
                    <a:pt x="1567561" y="864615"/>
                  </a:lnTo>
                  <a:lnTo>
                    <a:pt x="1555496" y="942213"/>
                  </a:lnTo>
                  <a:lnTo>
                    <a:pt x="1536192" y="1017397"/>
                  </a:lnTo>
                  <a:lnTo>
                    <a:pt x="1509649" y="1089660"/>
                  </a:lnTo>
                  <a:lnTo>
                    <a:pt x="1476755" y="1157986"/>
                  </a:lnTo>
                  <a:lnTo>
                    <a:pt x="1437386" y="1222755"/>
                  </a:lnTo>
                  <a:lnTo>
                    <a:pt x="1392301" y="1283080"/>
                  </a:lnTo>
                  <a:lnTo>
                    <a:pt x="1341247" y="1338961"/>
                  </a:lnTo>
                  <a:lnTo>
                    <a:pt x="1285875" y="1389507"/>
                  </a:lnTo>
                  <a:lnTo>
                    <a:pt x="1225169" y="1434592"/>
                  </a:lnTo>
                  <a:lnTo>
                    <a:pt x="1160399" y="1473962"/>
                  </a:lnTo>
                  <a:lnTo>
                    <a:pt x="1091692" y="1506982"/>
                  </a:lnTo>
                  <a:lnTo>
                    <a:pt x="1019301" y="1533017"/>
                  </a:lnTo>
                  <a:lnTo>
                    <a:pt x="944118" y="1552320"/>
                  </a:lnTo>
                  <a:lnTo>
                    <a:pt x="866140" y="1564386"/>
                  </a:lnTo>
                  <a:lnTo>
                    <a:pt x="785749" y="1568450"/>
                  </a:lnTo>
                  <a:lnTo>
                    <a:pt x="705358" y="1564386"/>
                  </a:lnTo>
                  <a:lnTo>
                    <a:pt x="627379" y="1552320"/>
                  </a:lnTo>
                  <a:lnTo>
                    <a:pt x="552323" y="1533017"/>
                  </a:lnTo>
                  <a:lnTo>
                    <a:pt x="479933" y="1506982"/>
                  </a:lnTo>
                  <a:lnTo>
                    <a:pt x="411225" y="1473962"/>
                  </a:lnTo>
                  <a:lnTo>
                    <a:pt x="346455" y="1434592"/>
                  </a:lnTo>
                  <a:lnTo>
                    <a:pt x="286130" y="1389507"/>
                  </a:lnTo>
                  <a:lnTo>
                    <a:pt x="230250" y="1338961"/>
                  </a:lnTo>
                  <a:lnTo>
                    <a:pt x="179704" y="1283080"/>
                  </a:lnTo>
                  <a:lnTo>
                    <a:pt x="134239" y="1222755"/>
                  </a:lnTo>
                  <a:lnTo>
                    <a:pt x="94869" y="1157986"/>
                  </a:lnTo>
                  <a:lnTo>
                    <a:pt x="61849" y="1089660"/>
                  </a:lnTo>
                  <a:lnTo>
                    <a:pt x="35305" y="1017397"/>
                  </a:lnTo>
                  <a:lnTo>
                    <a:pt x="16128" y="942213"/>
                  </a:lnTo>
                  <a:lnTo>
                    <a:pt x="4064" y="864615"/>
                  </a:lnTo>
                  <a:lnTo>
                    <a:pt x="0" y="784225"/>
                  </a:lnTo>
                  <a:lnTo>
                    <a:pt x="4064" y="704214"/>
                  </a:lnTo>
                  <a:lnTo>
                    <a:pt x="16001" y="626237"/>
                  </a:lnTo>
                  <a:lnTo>
                    <a:pt x="35305" y="551052"/>
                  </a:lnTo>
                  <a:lnTo>
                    <a:pt x="61849" y="479171"/>
                  </a:lnTo>
                  <a:lnTo>
                    <a:pt x="94869" y="410337"/>
                  </a:lnTo>
                  <a:lnTo>
                    <a:pt x="134239" y="345694"/>
                  </a:lnTo>
                  <a:lnTo>
                    <a:pt x="179704" y="285369"/>
                  </a:lnTo>
                  <a:lnTo>
                    <a:pt x="230377" y="229870"/>
                  </a:lnTo>
                  <a:lnTo>
                    <a:pt x="286130" y="179324"/>
                  </a:lnTo>
                  <a:lnTo>
                    <a:pt x="346455" y="133858"/>
                  </a:lnTo>
                  <a:lnTo>
                    <a:pt x="411225" y="94869"/>
                  </a:lnTo>
                  <a:lnTo>
                    <a:pt x="479933" y="61467"/>
                  </a:lnTo>
                  <a:lnTo>
                    <a:pt x="552323" y="35305"/>
                  </a:lnTo>
                  <a:lnTo>
                    <a:pt x="627379" y="16001"/>
                  </a:lnTo>
                  <a:lnTo>
                    <a:pt x="705358" y="4063"/>
                  </a:lnTo>
                  <a:lnTo>
                    <a:pt x="785749" y="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8295258" y="6432448"/>
            <a:ext cx="14160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dirty="0">
                <a:solidFill>
                  <a:srgbClr val="888888"/>
                </a:solidFill>
                <a:latin typeface="Calibri"/>
                <a:cs typeface="Calibri"/>
              </a:rPr>
              <a:t>6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26633" y="4503537"/>
            <a:ext cx="2860381" cy="1327052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2011679" y="4139184"/>
            <a:ext cx="2540635" cy="1931035"/>
            <a:chOff x="2011679" y="4139184"/>
            <a:chExt cx="2540635" cy="1931035"/>
          </a:xfrm>
        </p:grpSpPr>
        <p:sp>
          <p:nvSpPr>
            <p:cNvPr id="4" name="object 4"/>
            <p:cNvSpPr/>
            <p:nvPr/>
          </p:nvSpPr>
          <p:spPr>
            <a:xfrm>
              <a:off x="2024633" y="4152138"/>
              <a:ext cx="2514600" cy="1905000"/>
            </a:xfrm>
            <a:custGeom>
              <a:avLst/>
              <a:gdLst/>
              <a:ahLst/>
              <a:cxnLst/>
              <a:rect l="l" t="t" r="r" b="b"/>
              <a:pathLst>
                <a:path w="2514600" h="1905000">
                  <a:moveTo>
                    <a:pt x="2514599" y="0"/>
                  </a:moveTo>
                  <a:lnTo>
                    <a:pt x="0" y="0"/>
                  </a:lnTo>
                  <a:lnTo>
                    <a:pt x="0" y="1905000"/>
                  </a:lnTo>
                  <a:lnTo>
                    <a:pt x="2514599" y="1905000"/>
                  </a:lnTo>
                  <a:lnTo>
                    <a:pt x="2514599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024633" y="4152138"/>
              <a:ext cx="2514600" cy="1905000"/>
            </a:xfrm>
            <a:custGeom>
              <a:avLst/>
              <a:gdLst/>
              <a:ahLst/>
              <a:cxnLst/>
              <a:rect l="l" t="t" r="r" b="b"/>
              <a:pathLst>
                <a:path w="2514600" h="1905000">
                  <a:moveTo>
                    <a:pt x="0" y="1905000"/>
                  </a:moveTo>
                  <a:lnTo>
                    <a:pt x="2514599" y="1905000"/>
                  </a:lnTo>
                  <a:lnTo>
                    <a:pt x="2514599" y="0"/>
                  </a:lnTo>
                  <a:lnTo>
                    <a:pt x="0" y="0"/>
                  </a:lnTo>
                  <a:lnTo>
                    <a:pt x="0" y="1905000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21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Microcontrollers</a:t>
            </a:r>
            <a:r>
              <a:rPr spc="-70" dirty="0"/>
              <a:t> </a:t>
            </a:r>
            <a:r>
              <a:rPr dirty="0"/>
              <a:t>Such</a:t>
            </a:r>
            <a:r>
              <a:rPr spc="-30" dirty="0"/>
              <a:t> </a:t>
            </a:r>
            <a:r>
              <a:rPr dirty="0"/>
              <a:t>as</a:t>
            </a:r>
            <a:r>
              <a:rPr spc="-30" dirty="0"/>
              <a:t> </a:t>
            </a:r>
            <a:r>
              <a:rPr spc="-20" dirty="0"/>
              <a:t>8051</a:t>
            </a:r>
          </a:p>
        </p:txBody>
      </p:sp>
      <p:sp>
        <p:nvSpPr>
          <p:cNvPr id="7" name="object 7"/>
          <p:cNvSpPr/>
          <p:nvPr/>
        </p:nvSpPr>
        <p:spPr>
          <a:xfrm>
            <a:off x="2151126" y="4252721"/>
            <a:ext cx="2286000" cy="1676400"/>
          </a:xfrm>
          <a:custGeom>
            <a:avLst/>
            <a:gdLst/>
            <a:ahLst/>
            <a:cxnLst/>
            <a:rect l="l" t="t" r="r" b="b"/>
            <a:pathLst>
              <a:path w="2286000" h="1676400">
                <a:moveTo>
                  <a:pt x="2286000" y="0"/>
                </a:moveTo>
                <a:lnTo>
                  <a:pt x="1447800" y="0"/>
                </a:lnTo>
                <a:lnTo>
                  <a:pt x="1447800" y="838200"/>
                </a:lnTo>
                <a:lnTo>
                  <a:pt x="685800" y="838200"/>
                </a:lnTo>
                <a:lnTo>
                  <a:pt x="685800" y="0"/>
                </a:lnTo>
                <a:lnTo>
                  <a:pt x="0" y="0"/>
                </a:lnTo>
                <a:lnTo>
                  <a:pt x="0" y="838200"/>
                </a:lnTo>
                <a:lnTo>
                  <a:pt x="0" y="1676400"/>
                </a:lnTo>
                <a:lnTo>
                  <a:pt x="685800" y="1676400"/>
                </a:lnTo>
                <a:lnTo>
                  <a:pt x="1447800" y="1676400"/>
                </a:lnTo>
                <a:lnTo>
                  <a:pt x="2286000" y="1676400"/>
                </a:lnTo>
                <a:lnTo>
                  <a:pt x="2286000" y="838200"/>
                </a:lnTo>
                <a:lnTo>
                  <a:pt x="2286000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2138172" y="4239767"/>
          <a:ext cx="2286000" cy="16757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CPU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57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77470" algn="ctr">
                        <a:lnSpc>
                          <a:spcPct val="100000"/>
                        </a:lnSpc>
                      </a:pP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RAM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57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47320">
                        <a:lnSpc>
                          <a:spcPct val="100000"/>
                        </a:lnSpc>
                      </a:pP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ROM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57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756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I/O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Port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162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6034" algn="ctr">
                        <a:lnSpc>
                          <a:spcPct val="100000"/>
                        </a:lnSpc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Timer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57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050"/>
                        </a:lnSpc>
                        <a:spcBef>
                          <a:spcPts val="100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Serial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0805">
                        <a:lnSpc>
                          <a:spcPts val="1945"/>
                        </a:lnSpc>
                      </a:pP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COM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0805">
                        <a:lnSpc>
                          <a:spcPts val="2055"/>
                        </a:lnSpc>
                      </a:pP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Port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27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9" name="object 9"/>
          <p:cNvGrpSpPr/>
          <p:nvPr/>
        </p:nvGrpSpPr>
        <p:grpSpPr>
          <a:xfrm>
            <a:off x="620255" y="1316736"/>
            <a:ext cx="8134350" cy="2452370"/>
            <a:chOff x="620255" y="1316736"/>
            <a:chExt cx="8134350" cy="245237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0080" y="2205227"/>
              <a:ext cx="1551432" cy="154381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30161" y="2195322"/>
              <a:ext cx="1572260" cy="1564005"/>
            </a:xfrm>
            <a:custGeom>
              <a:avLst/>
              <a:gdLst/>
              <a:ahLst/>
              <a:cxnLst/>
              <a:rect l="l" t="t" r="r" b="b"/>
              <a:pathLst>
                <a:path w="1572260" h="1564004">
                  <a:moveTo>
                    <a:pt x="785761" y="0"/>
                  </a:moveTo>
                  <a:lnTo>
                    <a:pt x="866152" y="4063"/>
                  </a:lnTo>
                  <a:lnTo>
                    <a:pt x="944130" y="16001"/>
                  </a:lnTo>
                  <a:lnTo>
                    <a:pt x="1019314" y="34925"/>
                  </a:lnTo>
                  <a:lnTo>
                    <a:pt x="1091704" y="61467"/>
                  </a:lnTo>
                  <a:lnTo>
                    <a:pt x="1160411" y="94487"/>
                  </a:lnTo>
                  <a:lnTo>
                    <a:pt x="1225054" y="133476"/>
                  </a:lnTo>
                  <a:lnTo>
                    <a:pt x="1285887" y="178435"/>
                  </a:lnTo>
                  <a:lnTo>
                    <a:pt x="1341259" y="229107"/>
                  </a:lnTo>
                  <a:lnTo>
                    <a:pt x="1392313" y="284606"/>
                  </a:lnTo>
                  <a:lnTo>
                    <a:pt x="1437398" y="344804"/>
                  </a:lnTo>
                  <a:lnTo>
                    <a:pt x="1476768" y="409193"/>
                  </a:lnTo>
                  <a:lnTo>
                    <a:pt x="1509661" y="477519"/>
                  </a:lnTo>
                  <a:lnTo>
                    <a:pt x="1536204" y="549528"/>
                  </a:lnTo>
                  <a:lnTo>
                    <a:pt x="1555508" y="624204"/>
                  </a:lnTo>
                  <a:lnTo>
                    <a:pt x="1567573" y="701801"/>
                  </a:lnTo>
                  <a:lnTo>
                    <a:pt x="1571637" y="781812"/>
                  </a:lnTo>
                  <a:lnTo>
                    <a:pt x="1567573" y="861822"/>
                  </a:lnTo>
                  <a:lnTo>
                    <a:pt x="1555508" y="939418"/>
                  </a:lnTo>
                  <a:lnTo>
                    <a:pt x="1536204" y="1014602"/>
                  </a:lnTo>
                  <a:lnTo>
                    <a:pt x="1509661" y="1086103"/>
                  </a:lnTo>
                  <a:lnTo>
                    <a:pt x="1476768" y="1154429"/>
                  </a:lnTo>
                  <a:lnTo>
                    <a:pt x="1437398" y="1219200"/>
                  </a:lnTo>
                  <a:lnTo>
                    <a:pt x="1392313" y="1279525"/>
                  </a:lnTo>
                  <a:lnTo>
                    <a:pt x="1341259" y="1335024"/>
                  </a:lnTo>
                  <a:lnTo>
                    <a:pt x="1285760" y="1385189"/>
                  </a:lnTo>
                  <a:lnTo>
                    <a:pt x="1225054" y="1430273"/>
                  </a:lnTo>
                  <a:lnTo>
                    <a:pt x="1160411" y="1469263"/>
                  </a:lnTo>
                  <a:lnTo>
                    <a:pt x="1091704" y="1502155"/>
                  </a:lnTo>
                  <a:lnTo>
                    <a:pt x="1019314" y="1528698"/>
                  </a:lnTo>
                  <a:lnTo>
                    <a:pt x="944130" y="1548002"/>
                  </a:lnTo>
                  <a:lnTo>
                    <a:pt x="866152" y="1559686"/>
                  </a:lnTo>
                  <a:lnTo>
                    <a:pt x="785761" y="1563623"/>
                  </a:lnTo>
                  <a:lnTo>
                    <a:pt x="705497" y="1559686"/>
                  </a:lnTo>
                  <a:lnTo>
                    <a:pt x="627468" y="1548002"/>
                  </a:lnTo>
                  <a:lnTo>
                    <a:pt x="552284" y="1528698"/>
                  </a:lnTo>
                  <a:lnTo>
                    <a:pt x="479933" y="1502155"/>
                  </a:lnTo>
                  <a:lnTo>
                    <a:pt x="411213" y="1469263"/>
                  </a:lnTo>
                  <a:lnTo>
                    <a:pt x="346494" y="1430273"/>
                  </a:lnTo>
                  <a:lnTo>
                    <a:pt x="286207" y="1385189"/>
                  </a:lnTo>
                  <a:lnTo>
                    <a:pt x="230339" y="1335024"/>
                  </a:lnTo>
                  <a:lnTo>
                    <a:pt x="179692" y="1279525"/>
                  </a:lnTo>
                  <a:lnTo>
                    <a:pt x="134264" y="1219200"/>
                  </a:lnTo>
                  <a:lnTo>
                    <a:pt x="94868" y="1154429"/>
                  </a:lnTo>
                  <a:lnTo>
                    <a:pt x="61912" y="1086103"/>
                  </a:lnTo>
                  <a:lnTo>
                    <a:pt x="35382" y="1014602"/>
                  </a:lnTo>
                  <a:lnTo>
                    <a:pt x="16078" y="939418"/>
                  </a:lnTo>
                  <a:lnTo>
                    <a:pt x="4025" y="861822"/>
                  </a:lnTo>
                  <a:lnTo>
                    <a:pt x="0" y="781812"/>
                  </a:lnTo>
                  <a:lnTo>
                    <a:pt x="4025" y="701801"/>
                  </a:lnTo>
                  <a:lnTo>
                    <a:pt x="16078" y="624204"/>
                  </a:lnTo>
                  <a:lnTo>
                    <a:pt x="35382" y="549528"/>
                  </a:lnTo>
                  <a:lnTo>
                    <a:pt x="61912" y="477519"/>
                  </a:lnTo>
                  <a:lnTo>
                    <a:pt x="94868" y="409193"/>
                  </a:lnTo>
                  <a:lnTo>
                    <a:pt x="134277" y="344804"/>
                  </a:lnTo>
                  <a:lnTo>
                    <a:pt x="179692" y="284606"/>
                  </a:lnTo>
                  <a:lnTo>
                    <a:pt x="230327" y="229107"/>
                  </a:lnTo>
                  <a:lnTo>
                    <a:pt x="286194" y="178435"/>
                  </a:lnTo>
                  <a:lnTo>
                    <a:pt x="346494" y="133476"/>
                  </a:lnTo>
                  <a:lnTo>
                    <a:pt x="411213" y="94487"/>
                  </a:lnTo>
                  <a:lnTo>
                    <a:pt x="479933" y="61467"/>
                  </a:lnTo>
                  <a:lnTo>
                    <a:pt x="552310" y="34925"/>
                  </a:lnTo>
                  <a:lnTo>
                    <a:pt x="627468" y="16001"/>
                  </a:lnTo>
                  <a:lnTo>
                    <a:pt x="705370" y="4063"/>
                  </a:lnTo>
                  <a:lnTo>
                    <a:pt x="785761" y="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44623" y="1677924"/>
              <a:ext cx="1551431" cy="1534667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934718" y="1668018"/>
              <a:ext cx="1571625" cy="1554480"/>
            </a:xfrm>
            <a:custGeom>
              <a:avLst/>
              <a:gdLst/>
              <a:ahLst/>
              <a:cxnLst/>
              <a:rect l="l" t="t" r="r" b="b"/>
              <a:pathLst>
                <a:path w="1571625" h="1554480">
                  <a:moveTo>
                    <a:pt x="785749" y="0"/>
                  </a:moveTo>
                  <a:lnTo>
                    <a:pt x="866139" y="4064"/>
                  </a:lnTo>
                  <a:lnTo>
                    <a:pt x="944118" y="15621"/>
                  </a:lnTo>
                  <a:lnTo>
                    <a:pt x="1019301" y="34925"/>
                  </a:lnTo>
                  <a:lnTo>
                    <a:pt x="1091692" y="61087"/>
                  </a:lnTo>
                  <a:lnTo>
                    <a:pt x="1160399" y="93599"/>
                  </a:lnTo>
                  <a:lnTo>
                    <a:pt x="1225042" y="132587"/>
                  </a:lnTo>
                  <a:lnTo>
                    <a:pt x="1285748" y="177673"/>
                  </a:lnTo>
                  <a:lnTo>
                    <a:pt x="1341246" y="227837"/>
                  </a:lnTo>
                  <a:lnTo>
                    <a:pt x="1392301" y="282956"/>
                  </a:lnTo>
                  <a:lnTo>
                    <a:pt x="1437385" y="342900"/>
                  </a:lnTo>
                  <a:lnTo>
                    <a:pt x="1476756" y="406781"/>
                  </a:lnTo>
                  <a:lnTo>
                    <a:pt x="1509648" y="474726"/>
                  </a:lnTo>
                  <a:lnTo>
                    <a:pt x="1536192" y="546227"/>
                  </a:lnTo>
                  <a:lnTo>
                    <a:pt x="1555495" y="620649"/>
                  </a:lnTo>
                  <a:lnTo>
                    <a:pt x="1567560" y="697865"/>
                  </a:lnTo>
                  <a:lnTo>
                    <a:pt x="1571624" y="777494"/>
                  </a:lnTo>
                  <a:lnTo>
                    <a:pt x="1567560" y="857123"/>
                  </a:lnTo>
                  <a:lnTo>
                    <a:pt x="1555495" y="934212"/>
                  </a:lnTo>
                  <a:lnTo>
                    <a:pt x="1536192" y="1008634"/>
                  </a:lnTo>
                  <a:lnTo>
                    <a:pt x="1509648" y="1080262"/>
                  </a:lnTo>
                  <a:lnTo>
                    <a:pt x="1476756" y="1148207"/>
                  </a:lnTo>
                  <a:lnTo>
                    <a:pt x="1437385" y="1212088"/>
                  </a:lnTo>
                  <a:lnTo>
                    <a:pt x="1392301" y="1272032"/>
                  </a:lnTo>
                  <a:lnTo>
                    <a:pt x="1341246" y="1327023"/>
                  </a:lnTo>
                  <a:lnTo>
                    <a:pt x="1285748" y="1377315"/>
                  </a:lnTo>
                  <a:lnTo>
                    <a:pt x="1225042" y="1421892"/>
                  </a:lnTo>
                  <a:lnTo>
                    <a:pt x="1160399" y="1460881"/>
                  </a:lnTo>
                  <a:lnTo>
                    <a:pt x="1091692" y="1493393"/>
                  </a:lnTo>
                  <a:lnTo>
                    <a:pt x="1019301" y="1519555"/>
                  </a:lnTo>
                  <a:lnTo>
                    <a:pt x="944118" y="1538859"/>
                  </a:lnTo>
                  <a:lnTo>
                    <a:pt x="866139" y="1550543"/>
                  </a:lnTo>
                  <a:lnTo>
                    <a:pt x="785749" y="1554480"/>
                  </a:lnTo>
                  <a:lnTo>
                    <a:pt x="705484" y="1550543"/>
                  </a:lnTo>
                  <a:lnTo>
                    <a:pt x="627507" y="1538859"/>
                  </a:lnTo>
                  <a:lnTo>
                    <a:pt x="552323" y="1519555"/>
                  </a:lnTo>
                  <a:lnTo>
                    <a:pt x="479932" y="1493393"/>
                  </a:lnTo>
                  <a:lnTo>
                    <a:pt x="411225" y="1460881"/>
                  </a:lnTo>
                  <a:lnTo>
                    <a:pt x="346456" y="1421892"/>
                  </a:lnTo>
                  <a:lnTo>
                    <a:pt x="286257" y="1377315"/>
                  </a:lnTo>
                  <a:lnTo>
                    <a:pt x="230377" y="1327023"/>
                  </a:lnTo>
                  <a:lnTo>
                    <a:pt x="179705" y="1272032"/>
                  </a:lnTo>
                  <a:lnTo>
                    <a:pt x="134238" y="1212088"/>
                  </a:lnTo>
                  <a:lnTo>
                    <a:pt x="94868" y="1148207"/>
                  </a:lnTo>
                  <a:lnTo>
                    <a:pt x="61849" y="1080262"/>
                  </a:lnTo>
                  <a:lnTo>
                    <a:pt x="35306" y="1008634"/>
                  </a:lnTo>
                  <a:lnTo>
                    <a:pt x="16129" y="934212"/>
                  </a:lnTo>
                  <a:lnTo>
                    <a:pt x="4063" y="857123"/>
                  </a:lnTo>
                  <a:lnTo>
                    <a:pt x="0" y="777494"/>
                  </a:lnTo>
                  <a:lnTo>
                    <a:pt x="4063" y="697865"/>
                  </a:lnTo>
                  <a:lnTo>
                    <a:pt x="16129" y="620649"/>
                  </a:lnTo>
                  <a:lnTo>
                    <a:pt x="35306" y="546227"/>
                  </a:lnTo>
                  <a:lnTo>
                    <a:pt x="61849" y="474726"/>
                  </a:lnTo>
                  <a:lnTo>
                    <a:pt x="94868" y="406781"/>
                  </a:lnTo>
                  <a:lnTo>
                    <a:pt x="134238" y="342773"/>
                  </a:lnTo>
                  <a:lnTo>
                    <a:pt x="179705" y="282956"/>
                  </a:lnTo>
                  <a:lnTo>
                    <a:pt x="230377" y="227837"/>
                  </a:lnTo>
                  <a:lnTo>
                    <a:pt x="286131" y="177673"/>
                  </a:lnTo>
                  <a:lnTo>
                    <a:pt x="346456" y="132587"/>
                  </a:lnTo>
                  <a:lnTo>
                    <a:pt x="411225" y="93599"/>
                  </a:lnTo>
                  <a:lnTo>
                    <a:pt x="479932" y="61087"/>
                  </a:lnTo>
                  <a:lnTo>
                    <a:pt x="552323" y="34925"/>
                  </a:lnTo>
                  <a:lnTo>
                    <a:pt x="627507" y="15621"/>
                  </a:lnTo>
                  <a:lnTo>
                    <a:pt x="705484" y="4064"/>
                  </a:lnTo>
                  <a:lnTo>
                    <a:pt x="785749" y="0"/>
                  </a:lnTo>
                  <a:close/>
                </a:path>
              </a:pathLst>
            </a:custGeom>
            <a:ln w="198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50692" y="1336548"/>
              <a:ext cx="1549908" cy="1549907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240786" y="1326642"/>
              <a:ext cx="1570355" cy="1570355"/>
            </a:xfrm>
            <a:custGeom>
              <a:avLst/>
              <a:gdLst/>
              <a:ahLst/>
              <a:cxnLst/>
              <a:rect l="l" t="t" r="r" b="b"/>
              <a:pathLst>
                <a:path w="1570354" h="1570355">
                  <a:moveTo>
                    <a:pt x="784987" y="0"/>
                  </a:moveTo>
                  <a:lnTo>
                    <a:pt x="865377" y="4063"/>
                  </a:lnTo>
                  <a:lnTo>
                    <a:pt x="943355" y="16002"/>
                  </a:lnTo>
                  <a:lnTo>
                    <a:pt x="1018539" y="35306"/>
                  </a:lnTo>
                  <a:lnTo>
                    <a:pt x="1090549" y="61849"/>
                  </a:lnTo>
                  <a:lnTo>
                    <a:pt x="1159255" y="94869"/>
                  </a:lnTo>
                  <a:lnTo>
                    <a:pt x="1223899" y="134238"/>
                  </a:lnTo>
                  <a:lnTo>
                    <a:pt x="1284224" y="179197"/>
                  </a:lnTo>
                  <a:lnTo>
                    <a:pt x="1340103" y="229870"/>
                  </a:lnTo>
                  <a:lnTo>
                    <a:pt x="1390777" y="285750"/>
                  </a:lnTo>
                  <a:lnTo>
                    <a:pt x="1436115" y="346075"/>
                  </a:lnTo>
                  <a:lnTo>
                    <a:pt x="1475104" y="410845"/>
                  </a:lnTo>
                  <a:lnTo>
                    <a:pt x="1508505" y="479552"/>
                  </a:lnTo>
                  <a:lnTo>
                    <a:pt x="1534667" y="551434"/>
                  </a:lnTo>
                  <a:lnTo>
                    <a:pt x="1553972" y="626999"/>
                  </a:lnTo>
                  <a:lnTo>
                    <a:pt x="1566037" y="704596"/>
                  </a:lnTo>
                  <a:lnTo>
                    <a:pt x="1569974" y="784987"/>
                  </a:lnTo>
                  <a:lnTo>
                    <a:pt x="1566037" y="865378"/>
                  </a:lnTo>
                  <a:lnTo>
                    <a:pt x="1553972" y="943356"/>
                  </a:lnTo>
                  <a:lnTo>
                    <a:pt x="1534667" y="1018540"/>
                  </a:lnTo>
                  <a:lnTo>
                    <a:pt x="1508505" y="1090549"/>
                  </a:lnTo>
                  <a:lnTo>
                    <a:pt x="1475104" y="1159256"/>
                  </a:lnTo>
                  <a:lnTo>
                    <a:pt x="1436115" y="1223899"/>
                  </a:lnTo>
                  <a:lnTo>
                    <a:pt x="1390777" y="1284224"/>
                  </a:lnTo>
                  <a:lnTo>
                    <a:pt x="1340103" y="1340104"/>
                  </a:lnTo>
                  <a:lnTo>
                    <a:pt x="1284224" y="1390777"/>
                  </a:lnTo>
                  <a:lnTo>
                    <a:pt x="1223899" y="1436116"/>
                  </a:lnTo>
                  <a:lnTo>
                    <a:pt x="1159255" y="1475105"/>
                  </a:lnTo>
                  <a:lnTo>
                    <a:pt x="1090549" y="1508506"/>
                  </a:lnTo>
                  <a:lnTo>
                    <a:pt x="1018539" y="1534668"/>
                  </a:lnTo>
                  <a:lnTo>
                    <a:pt x="943355" y="1553972"/>
                  </a:lnTo>
                  <a:lnTo>
                    <a:pt x="865377" y="1566037"/>
                  </a:lnTo>
                  <a:lnTo>
                    <a:pt x="784987" y="1569974"/>
                  </a:lnTo>
                  <a:lnTo>
                    <a:pt x="704596" y="1566037"/>
                  </a:lnTo>
                  <a:lnTo>
                    <a:pt x="626999" y="1553972"/>
                  </a:lnTo>
                  <a:lnTo>
                    <a:pt x="551434" y="1534668"/>
                  </a:lnTo>
                  <a:lnTo>
                    <a:pt x="479551" y="1508506"/>
                  </a:lnTo>
                  <a:lnTo>
                    <a:pt x="410844" y="1475105"/>
                  </a:lnTo>
                  <a:lnTo>
                    <a:pt x="346075" y="1436116"/>
                  </a:lnTo>
                  <a:lnTo>
                    <a:pt x="285750" y="1390777"/>
                  </a:lnTo>
                  <a:lnTo>
                    <a:pt x="229869" y="1340104"/>
                  </a:lnTo>
                  <a:lnTo>
                    <a:pt x="179197" y="1284224"/>
                  </a:lnTo>
                  <a:lnTo>
                    <a:pt x="134238" y="1223899"/>
                  </a:lnTo>
                  <a:lnTo>
                    <a:pt x="94868" y="1159256"/>
                  </a:lnTo>
                  <a:lnTo>
                    <a:pt x="61849" y="1090549"/>
                  </a:lnTo>
                  <a:lnTo>
                    <a:pt x="35305" y="1018540"/>
                  </a:lnTo>
                  <a:lnTo>
                    <a:pt x="16128" y="943356"/>
                  </a:lnTo>
                  <a:lnTo>
                    <a:pt x="4063" y="865378"/>
                  </a:lnTo>
                  <a:lnTo>
                    <a:pt x="0" y="784987"/>
                  </a:lnTo>
                  <a:lnTo>
                    <a:pt x="4063" y="704596"/>
                  </a:lnTo>
                  <a:lnTo>
                    <a:pt x="16128" y="626999"/>
                  </a:lnTo>
                  <a:lnTo>
                    <a:pt x="35305" y="551434"/>
                  </a:lnTo>
                  <a:lnTo>
                    <a:pt x="61849" y="479552"/>
                  </a:lnTo>
                  <a:lnTo>
                    <a:pt x="94868" y="410845"/>
                  </a:lnTo>
                  <a:lnTo>
                    <a:pt x="134238" y="346075"/>
                  </a:lnTo>
                  <a:lnTo>
                    <a:pt x="179197" y="285750"/>
                  </a:lnTo>
                  <a:lnTo>
                    <a:pt x="229869" y="229870"/>
                  </a:lnTo>
                  <a:lnTo>
                    <a:pt x="285750" y="179197"/>
                  </a:lnTo>
                  <a:lnTo>
                    <a:pt x="346075" y="134238"/>
                  </a:lnTo>
                  <a:lnTo>
                    <a:pt x="410844" y="94869"/>
                  </a:lnTo>
                  <a:lnTo>
                    <a:pt x="479551" y="61849"/>
                  </a:lnTo>
                  <a:lnTo>
                    <a:pt x="551434" y="35306"/>
                  </a:lnTo>
                  <a:lnTo>
                    <a:pt x="626999" y="16002"/>
                  </a:lnTo>
                  <a:lnTo>
                    <a:pt x="704596" y="4063"/>
                  </a:lnTo>
                  <a:lnTo>
                    <a:pt x="784987" y="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55236" y="1336548"/>
              <a:ext cx="1559052" cy="1548384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4545330" y="1326642"/>
              <a:ext cx="1579245" cy="1568450"/>
            </a:xfrm>
            <a:custGeom>
              <a:avLst/>
              <a:gdLst/>
              <a:ahLst/>
              <a:cxnLst/>
              <a:rect l="l" t="t" r="r" b="b"/>
              <a:pathLst>
                <a:path w="1579245" h="1568450">
                  <a:moveTo>
                    <a:pt x="789813" y="0"/>
                  </a:moveTo>
                  <a:lnTo>
                    <a:pt x="870585" y="4063"/>
                  </a:lnTo>
                  <a:lnTo>
                    <a:pt x="948944" y="16002"/>
                  </a:lnTo>
                  <a:lnTo>
                    <a:pt x="1024509" y="35306"/>
                  </a:lnTo>
                  <a:lnTo>
                    <a:pt x="1096772" y="61468"/>
                  </a:lnTo>
                  <a:lnTo>
                    <a:pt x="1165987" y="94869"/>
                  </a:lnTo>
                  <a:lnTo>
                    <a:pt x="1231011" y="133858"/>
                  </a:lnTo>
                  <a:lnTo>
                    <a:pt x="1291717" y="179197"/>
                  </a:lnTo>
                  <a:lnTo>
                    <a:pt x="1347978" y="229870"/>
                  </a:lnTo>
                  <a:lnTo>
                    <a:pt x="1398651" y="285369"/>
                  </a:lnTo>
                  <a:lnTo>
                    <a:pt x="1444117" y="345694"/>
                  </a:lnTo>
                  <a:lnTo>
                    <a:pt x="1483868" y="410337"/>
                  </a:lnTo>
                  <a:lnTo>
                    <a:pt x="1517269" y="479044"/>
                  </a:lnTo>
                  <a:lnTo>
                    <a:pt x="1543812" y="551053"/>
                  </a:lnTo>
                  <a:lnTo>
                    <a:pt x="1563116" y="626237"/>
                  </a:lnTo>
                  <a:lnTo>
                    <a:pt x="1575181" y="704215"/>
                  </a:lnTo>
                  <a:lnTo>
                    <a:pt x="1579118" y="784225"/>
                  </a:lnTo>
                  <a:lnTo>
                    <a:pt x="1575181" y="864616"/>
                  </a:lnTo>
                  <a:lnTo>
                    <a:pt x="1563116" y="942213"/>
                  </a:lnTo>
                  <a:lnTo>
                    <a:pt x="1543812" y="1017397"/>
                  </a:lnTo>
                  <a:lnTo>
                    <a:pt x="1517269" y="1089660"/>
                  </a:lnTo>
                  <a:lnTo>
                    <a:pt x="1483868" y="1158113"/>
                  </a:lnTo>
                  <a:lnTo>
                    <a:pt x="1444117" y="1222756"/>
                  </a:lnTo>
                  <a:lnTo>
                    <a:pt x="1398651" y="1283081"/>
                  </a:lnTo>
                  <a:lnTo>
                    <a:pt x="1347978" y="1338961"/>
                  </a:lnTo>
                  <a:lnTo>
                    <a:pt x="1291717" y="1389634"/>
                  </a:lnTo>
                  <a:lnTo>
                    <a:pt x="1231011" y="1434592"/>
                  </a:lnTo>
                  <a:lnTo>
                    <a:pt x="1165987" y="1473962"/>
                  </a:lnTo>
                  <a:lnTo>
                    <a:pt x="1096772" y="1506982"/>
                  </a:lnTo>
                  <a:lnTo>
                    <a:pt x="1024509" y="1533017"/>
                  </a:lnTo>
                  <a:lnTo>
                    <a:pt x="948944" y="1552321"/>
                  </a:lnTo>
                  <a:lnTo>
                    <a:pt x="870585" y="1564386"/>
                  </a:lnTo>
                  <a:lnTo>
                    <a:pt x="789813" y="1568450"/>
                  </a:lnTo>
                  <a:lnTo>
                    <a:pt x="709041" y="1564386"/>
                  </a:lnTo>
                  <a:lnTo>
                    <a:pt x="630682" y="1552321"/>
                  </a:lnTo>
                  <a:lnTo>
                    <a:pt x="555117" y="1533017"/>
                  </a:lnTo>
                  <a:lnTo>
                    <a:pt x="482346" y="1506982"/>
                  </a:lnTo>
                  <a:lnTo>
                    <a:pt x="413131" y="1473962"/>
                  </a:lnTo>
                  <a:lnTo>
                    <a:pt x="348107" y="1434592"/>
                  </a:lnTo>
                  <a:lnTo>
                    <a:pt x="287400" y="1389507"/>
                  </a:lnTo>
                  <a:lnTo>
                    <a:pt x="231521" y="1338961"/>
                  </a:lnTo>
                  <a:lnTo>
                    <a:pt x="180467" y="1283081"/>
                  </a:lnTo>
                  <a:lnTo>
                    <a:pt x="135000" y="1222756"/>
                  </a:lnTo>
                  <a:lnTo>
                    <a:pt x="95250" y="1158113"/>
                  </a:lnTo>
                  <a:lnTo>
                    <a:pt x="61849" y="1089660"/>
                  </a:lnTo>
                  <a:lnTo>
                    <a:pt x="35306" y="1017397"/>
                  </a:lnTo>
                  <a:lnTo>
                    <a:pt x="16129" y="942213"/>
                  </a:lnTo>
                  <a:lnTo>
                    <a:pt x="4064" y="864616"/>
                  </a:lnTo>
                  <a:lnTo>
                    <a:pt x="0" y="784225"/>
                  </a:lnTo>
                  <a:lnTo>
                    <a:pt x="4064" y="704215"/>
                  </a:lnTo>
                  <a:lnTo>
                    <a:pt x="16002" y="626237"/>
                  </a:lnTo>
                  <a:lnTo>
                    <a:pt x="35306" y="551053"/>
                  </a:lnTo>
                  <a:lnTo>
                    <a:pt x="61849" y="479044"/>
                  </a:lnTo>
                  <a:lnTo>
                    <a:pt x="95250" y="410337"/>
                  </a:lnTo>
                  <a:lnTo>
                    <a:pt x="135000" y="345694"/>
                  </a:lnTo>
                  <a:lnTo>
                    <a:pt x="180467" y="285369"/>
                  </a:lnTo>
                  <a:lnTo>
                    <a:pt x="231521" y="229870"/>
                  </a:lnTo>
                  <a:lnTo>
                    <a:pt x="287400" y="179197"/>
                  </a:lnTo>
                  <a:lnTo>
                    <a:pt x="348107" y="133858"/>
                  </a:lnTo>
                  <a:lnTo>
                    <a:pt x="413131" y="94869"/>
                  </a:lnTo>
                  <a:lnTo>
                    <a:pt x="482346" y="61468"/>
                  </a:lnTo>
                  <a:lnTo>
                    <a:pt x="555117" y="35306"/>
                  </a:lnTo>
                  <a:lnTo>
                    <a:pt x="630682" y="16002"/>
                  </a:lnTo>
                  <a:lnTo>
                    <a:pt x="709041" y="4063"/>
                  </a:lnTo>
                  <a:lnTo>
                    <a:pt x="789813" y="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868924" y="1664208"/>
              <a:ext cx="1559052" cy="1548383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5859018" y="1654302"/>
              <a:ext cx="1579245" cy="1568450"/>
            </a:xfrm>
            <a:custGeom>
              <a:avLst/>
              <a:gdLst/>
              <a:ahLst/>
              <a:cxnLst/>
              <a:rect l="l" t="t" r="r" b="b"/>
              <a:pathLst>
                <a:path w="1579245" h="1568450">
                  <a:moveTo>
                    <a:pt x="789813" y="0"/>
                  </a:moveTo>
                  <a:lnTo>
                    <a:pt x="870585" y="4063"/>
                  </a:lnTo>
                  <a:lnTo>
                    <a:pt x="948943" y="16001"/>
                  </a:lnTo>
                  <a:lnTo>
                    <a:pt x="1024509" y="35306"/>
                  </a:lnTo>
                  <a:lnTo>
                    <a:pt x="1096772" y="61468"/>
                  </a:lnTo>
                  <a:lnTo>
                    <a:pt x="1165987" y="94869"/>
                  </a:lnTo>
                  <a:lnTo>
                    <a:pt x="1231011" y="133858"/>
                  </a:lnTo>
                  <a:lnTo>
                    <a:pt x="1291716" y="179197"/>
                  </a:lnTo>
                  <a:lnTo>
                    <a:pt x="1347978" y="229870"/>
                  </a:lnTo>
                  <a:lnTo>
                    <a:pt x="1398651" y="285369"/>
                  </a:lnTo>
                  <a:lnTo>
                    <a:pt x="1444116" y="345694"/>
                  </a:lnTo>
                  <a:lnTo>
                    <a:pt x="1483867" y="410337"/>
                  </a:lnTo>
                  <a:lnTo>
                    <a:pt x="1517268" y="479044"/>
                  </a:lnTo>
                  <a:lnTo>
                    <a:pt x="1543812" y="551052"/>
                  </a:lnTo>
                  <a:lnTo>
                    <a:pt x="1563115" y="626237"/>
                  </a:lnTo>
                  <a:lnTo>
                    <a:pt x="1575181" y="704214"/>
                  </a:lnTo>
                  <a:lnTo>
                    <a:pt x="1579117" y="784225"/>
                  </a:lnTo>
                  <a:lnTo>
                    <a:pt x="1575181" y="864615"/>
                  </a:lnTo>
                  <a:lnTo>
                    <a:pt x="1563115" y="942213"/>
                  </a:lnTo>
                  <a:lnTo>
                    <a:pt x="1543812" y="1017397"/>
                  </a:lnTo>
                  <a:lnTo>
                    <a:pt x="1517268" y="1089660"/>
                  </a:lnTo>
                  <a:lnTo>
                    <a:pt x="1483867" y="1158113"/>
                  </a:lnTo>
                  <a:lnTo>
                    <a:pt x="1444116" y="1222756"/>
                  </a:lnTo>
                  <a:lnTo>
                    <a:pt x="1398651" y="1283081"/>
                  </a:lnTo>
                  <a:lnTo>
                    <a:pt x="1347978" y="1338961"/>
                  </a:lnTo>
                  <a:lnTo>
                    <a:pt x="1291716" y="1389634"/>
                  </a:lnTo>
                  <a:lnTo>
                    <a:pt x="1231011" y="1434592"/>
                  </a:lnTo>
                  <a:lnTo>
                    <a:pt x="1165987" y="1473962"/>
                  </a:lnTo>
                  <a:lnTo>
                    <a:pt x="1096772" y="1506982"/>
                  </a:lnTo>
                  <a:lnTo>
                    <a:pt x="1024509" y="1533017"/>
                  </a:lnTo>
                  <a:lnTo>
                    <a:pt x="948943" y="1552321"/>
                  </a:lnTo>
                  <a:lnTo>
                    <a:pt x="870585" y="1564386"/>
                  </a:lnTo>
                  <a:lnTo>
                    <a:pt x="789813" y="1568450"/>
                  </a:lnTo>
                  <a:lnTo>
                    <a:pt x="709040" y="1564386"/>
                  </a:lnTo>
                  <a:lnTo>
                    <a:pt x="630682" y="1552321"/>
                  </a:lnTo>
                  <a:lnTo>
                    <a:pt x="555117" y="1533017"/>
                  </a:lnTo>
                  <a:lnTo>
                    <a:pt x="482346" y="1506982"/>
                  </a:lnTo>
                  <a:lnTo>
                    <a:pt x="413131" y="1473962"/>
                  </a:lnTo>
                  <a:lnTo>
                    <a:pt x="348107" y="1434592"/>
                  </a:lnTo>
                  <a:lnTo>
                    <a:pt x="287401" y="1389507"/>
                  </a:lnTo>
                  <a:lnTo>
                    <a:pt x="231521" y="1338961"/>
                  </a:lnTo>
                  <a:lnTo>
                    <a:pt x="180467" y="1283081"/>
                  </a:lnTo>
                  <a:lnTo>
                    <a:pt x="135001" y="1222756"/>
                  </a:lnTo>
                  <a:lnTo>
                    <a:pt x="95250" y="1158113"/>
                  </a:lnTo>
                  <a:lnTo>
                    <a:pt x="61849" y="1089660"/>
                  </a:lnTo>
                  <a:lnTo>
                    <a:pt x="35306" y="1017397"/>
                  </a:lnTo>
                  <a:lnTo>
                    <a:pt x="16129" y="942213"/>
                  </a:lnTo>
                  <a:lnTo>
                    <a:pt x="4064" y="864615"/>
                  </a:lnTo>
                  <a:lnTo>
                    <a:pt x="0" y="784225"/>
                  </a:lnTo>
                  <a:lnTo>
                    <a:pt x="4064" y="704214"/>
                  </a:lnTo>
                  <a:lnTo>
                    <a:pt x="16002" y="626237"/>
                  </a:lnTo>
                  <a:lnTo>
                    <a:pt x="35306" y="551052"/>
                  </a:lnTo>
                  <a:lnTo>
                    <a:pt x="61849" y="479044"/>
                  </a:lnTo>
                  <a:lnTo>
                    <a:pt x="95250" y="410337"/>
                  </a:lnTo>
                  <a:lnTo>
                    <a:pt x="135001" y="345694"/>
                  </a:lnTo>
                  <a:lnTo>
                    <a:pt x="180467" y="285369"/>
                  </a:lnTo>
                  <a:lnTo>
                    <a:pt x="231521" y="229870"/>
                  </a:lnTo>
                  <a:lnTo>
                    <a:pt x="287401" y="179197"/>
                  </a:lnTo>
                  <a:lnTo>
                    <a:pt x="348107" y="133858"/>
                  </a:lnTo>
                  <a:lnTo>
                    <a:pt x="413131" y="94869"/>
                  </a:lnTo>
                  <a:lnTo>
                    <a:pt x="482346" y="61468"/>
                  </a:lnTo>
                  <a:lnTo>
                    <a:pt x="555117" y="35306"/>
                  </a:lnTo>
                  <a:lnTo>
                    <a:pt x="630682" y="16001"/>
                  </a:lnTo>
                  <a:lnTo>
                    <a:pt x="709040" y="4063"/>
                  </a:lnTo>
                  <a:lnTo>
                    <a:pt x="789813" y="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182612" y="2200655"/>
              <a:ext cx="1551431" cy="1548384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7172705" y="2190750"/>
              <a:ext cx="1571625" cy="1568450"/>
            </a:xfrm>
            <a:custGeom>
              <a:avLst/>
              <a:gdLst/>
              <a:ahLst/>
              <a:cxnLst/>
              <a:rect l="l" t="t" r="r" b="b"/>
              <a:pathLst>
                <a:path w="1571625" h="1568450">
                  <a:moveTo>
                    <a:pt x="785749" y="0"/>
                  </a:moveTo>
                  <a:lnTo>
                    <a:pt x="866140" y="4063"/>
                  </a:lnTo>
                  <a:lnTo>
                    <a:pt x="944118" y="16001"/>
                  </a:lnTo>
                  <a:lnTo>
                    <a:pt x="1019301" y="35305"/>
                  </a:lnTo>
                  <a:lnTo>
                    <a:pt x="1091692" y="61467"/>
                  </a:lnTo>
                  <a:lnTo>
                    <a:pt x="1160399" y="94869"/>
                  </a:lnTo>
                  <a:lnTo>
                    <a:pt x="1225169" y="133858"/>
                  </a:lnTo>
                  <a:lnTo>
                    <a:pt x="1285875" y="179324"/>
                  </a:lnTo>
                  <a:lnTo>
                    <a:pt x="1341247" y="229870"/>
                  </a:lnTo>
                  <a:lnTo>
                    <a:pt x="1392301" y="285369"/>
                  </a:lnTo>
                  <a:lnTo>
                    <a:pt x="1437386" y="345694"/>
                  </a:lnTo>
                  <a:lnTo>
                    <a:pt x="1476755" y="410337"/>
                  </a:lnTo>
                  <a:lnTo>
                    <a:pt x="1509649" y="479171"/>
                  </a:lnTo>
                  <a:lnTo>
                    <a:pt x="1536192" y="551052"/>
                  </a:lnTo>
                  <a:lnTo>
                    <a:pt x="1555496" y="626237"/>
                  </a:lnTo>
                  <a:lnTo>
                    <a:pt x="1567561" y="704214"/>
                  </a:lnTo>
                  <a:lnTo>
                    <a:pt x="1571625" y="784225"/>
                  </a:lnTo>
                  <a:lnTo>
                    <a:pt x="1567561" y="864615"/>
                  </a:lnTo>
                  <a:lnTo>
                    <a:pt x="1555496" y="942213"/>
                  </a:lnTo>
                  <a:lnTo>
                    <a:pt x="1536192" y="1017397"/>
                  </a:lnTo>
                  <a:lnTo>
                    <a:pt x="1509649" y="1089660"/>
                  </a:lnTo>
                  <a:lnTo>
                    <a:pt x="1476755" y="1157986"/>
                  </a:lnTo>
                  <a:lnTo>
                    <a:pt x="1437386" y="1222755"/>
                  </a:lnTo>
                  <a:lnTo>
                    <a:pt x="1392301" y="1283080"/>
                  </a:lnTo>
                  <a:lnTo>
                    <a:pt x="1341247" y="1338961"/>
                  </a:lnTo>
                  <a:lnTo>
                    <a:pt x="1285875" y="1389507"/>
                  </a:lnTo>
                  <a:lnTo>
                    <a:pt x="1225169" y="1434592"/>
                  </a:lnTo>
                  <a:lnTo>
                    <a:pt x="1160399" y="1473962"/>
                  </a:lnTo>
                  <a:lnTo>
                    <a:pt x="1091692" y="1506982"/>
                  </a:lnTo>
                  <a:lnTo>
                    <a:pt x="1019301" y="1533017"/>
                  </a:lnTo>
                  <a:lnTo>
                    <a:pt x="944118" y="1552320"/>
                  </a:lnTo>
                  <a:lnTo>
                    <a:pt x="866140" y="1564386"/>
                  </a:lnTo>
                  <a:lnTo>
                    <a:pt x="785749" y="1568450"/>
                  </a:lnTo>
                  <a:lnTo>
                    <a:pt x="705358" y="1564386"/>
                  </a:lnTo>
                  <a:lnTo>
                    <a:pt x="627379" y="1552320"/>
                  </a:lnTo>
                  <a:lnTo>
                    <a:pt x="552323" y="1533017"/>
                  </a:lnTo>
                  <a:lnTo>
                    <a:pt x="479933" y="1506982"/>
                  </a:lnTo>
                  <a:lnTo>
                    <a:pt x="411225" y="1473962"/>
                  </a:lnTo>
                  <a:lnTo>
                    <a:pt x="346455" y="1434592"/>
                  </a:lnTo>
                  <a:lnTo>
                    <a:pt x="286130" y="1389507"/>
                  </a:lnTo>
                  <a:lnTo>
                    <a:pt x="230250" y="1338961"/>
                  </a:lnTo>
                  <a:lnTo>
                    <a:pt x="179704" y="1283080"/>
                  </a:lnTo>
                  <a:lnTo>
                    <a:pt x="134239" y="1222755"/>
                  </a:lnTo>
                  <a:lnTo>
                    <a:pt x="94869" y="1157986"/>
                  </a:lnTo>
                  <a:lnTo>
                    <a:pt x="61849" y="1089660"/>
                  </a:lnTo>
                  <a:lnTo>
                    <a:pt x="35305" y="1017397"/>
                  </a:lnTo>
                  <a:lnTo>
                    <a:pt x="16128" y="942213"/>
                  </a:lnTo>
                  <a:lnTo>
                    <a:pt x="4064" y="864615"/>
                  </a:lnTo>
                  <a:lnTo>
                    <a:pt x="0" y="784225"/>
                  </a:lnTo>
                  <a:lnTo>
                    <a:pt x="4064" y="704214"/>
                  </a:lnTo>
                  <a:lnTo>
                    <a:pt x="16001" y="626237"/>
                  </a:lnTo>
                  <a:lnTo>
                    <a:pt x="35305" y="551052"/>
                  </a:lnTo>
                  <a:lnTo>
                    <a:pt x="61849" y="479171"/>
                  </a:lnTo>
                  <a:lnTo>
                    <a:pt x="94869" y="410337"/>
                  </a:lnTo>
                  <a:lnTo>
                    <a:pt x="134239" y="345694"/>
                  </a:lnTo>
                  <a:lnTo>
                    <a:pt x="179704" y="285369"/>
                  </a:lnTo>
                  <a:lnTo>
                    <a:pt x="230377" y="229870"/>
                  </a:lnTo>
                  <a:lnTo>
                    <a:pt x="286130" y="179324"/>
                  </a:lnTo>
                  <a:lnTo>
                    <a:pt x="346455" y="133858"/>
                  </a:lnTo>
                  <a:lnTo>
                    <a:pt x="411225" y="94869"/>
                  </a:lnTo>
                  <a:lnTo>
                    <a:pt x="479933" y="61467"/>
                  </a:lnTo>
                  <a:lnTo>
                    <a:pt x="552323" y="35305"/>
                  </a:lnTo>
                  <a:lnTo>
                    <a:pt x="627379" y="16001"/>
                  </a:lnTo>
                  <a:lnTo>
                    <a:pt x="705358" y="4063"/>
                  </a:lnTo>
                  <a:lnTo>
                    <a:pt x="785749" y="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3763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z="4000" spc="-20" dirty="0"/>
              <a:t>Microcontrollers</a:t>
            </a:r>
            <a:r>
              <a:rPr sz="4000" spc="-75" dirty="0"/>
              <a:t> </a:t>
            </a:r>
            <a:r>
              <a:rPr sz="4000" dirty="0"/>
              <a:t>vs.</a:t>
            </a:r>
            <a:r>
              <a:rPr sz="4000" spc="-125" dirty="0"/>
              <a:t> </a:t>
            </a:r>
            <a:r>
              <a:rPr sz="4000" spc="-10" dirty="0"/>
              <a:t>Common Computers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8374633" y="6340297"/>
            <a:ext cx="116205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10"/>
              </a:lnSpc>
            </a:pPr>
            <a:r>
              <a:rPr sz="1800" dirty="0">
                <a:solidFill>
                  <a:srgbClr val="888888"/>
                </a:solidFill>
                <a:latin typeface="Calibri"/>
                <a:cs typeface="Calibri"/>
              </a:rPr>
              <a:t>8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40308" y="4539996"/>
            <a:ext cx="2540635" cy="1931035"/>
            <a:chOff x="940308" y="4539996"/>
            <a:chExt cx="2540635" cy="1931035"/>
          </a:xfrm>
        </p:grpSpPr>
        <p:sp>
          <p:nvSpPr>
            <p:cNvPr id="5" name="object 5"/>
            <p:cNvSpPr/>
            <p:nvPr/>
          </p:nvSpPr>
          <p:spPr>
            <a:xfrm>
              <a:off x="953262" y="4552950"/>
              <a:ext cx="2514600" cy="1905000"/>
            </a:xfrm>
            <a:custGeom>
              <a:avLst/>
              <a:gdLst/>
              <a:ahLst/>
              <a:cxnLst/>
              <a:rect l="l" t="t" r="r" b="b"/>
              <a:pathLst>
                <a:path w="2514600" h="1905000">
                  <a:moveTo>
                    <a:pt x="2514600" y="0"/>
                  </a:moveTo>
                  <a:lnTo>
                    <a:pt x="0" y="0"/>
                  </a:lnTo>
                  <a:lnTo>
                    <a:pt x="0" y="1905000"/>
                  </a:lnTo>
                  <a:lnTo>
                    <a:pt x="2514600" y="1905000"/>
                  </a:lnTo>
                  <a:lnTo>
                    <a:pt x="2514600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53262" y="4552950"/>
              <a:ext cx="2514600" cy="1905000"/>
            </a:xfrm>
            <a:custGeom>
              <a:avLst/>
              <a:gdLst/>
              <a:ahLst/>
              <a:cxnLst/>
              <a:rect l="l" t="t" r="r" b="b"/>
              <a:pathLst>
                <a:path w="2514600" h="1905000">
                  <a:moveTo>
                    <a:pt x="0" y="1905000"/>
                  </a:moveTo>
                  <a:lnTo>
                    <a:pt x="2514600" y="1905000"/>
                  </a:lnTo>
                  <a:lnTo>
                    <a:pt x="2514600" y="0"/>
                  </a:lnTo>
                  <a:lnTo>
                    <a:pt x="0" y="0"/>
                  </a:lnTo>
                  <a:lnTo>
                    <a:pt x="0" y="1905000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1079754" y="4655070"/>
            <a:ext cx="2286000" cy="1676400"/>
          </a:xfrm>
          <a:custGeom>
            <a:avLst/>
            <a:gdLst/>
            <a:ahLst/>
            <a:cxnLst/>
            <a:rect l="l" t="t" r="r" b="b"/>
            <a:pathLst>
              <a:path w="2286000" h="1676400">
                <a:moveTo>
                  <a:pt x="685787" y="0"/>
                </a:moveTo>
                <a:lnTo>
                  <a:pt x="0" y="0"/>
                </a:lnTo>
                <a:lnTo>
                  <a:pt x="0" y="838187"/>
                </a:lnTo>
                <a:lnTo>
                  <a:pt x="0" y="1676387"/>
                </a:lnTo>
                <a:lnTo>
                  <a:pt x="685787" y="1676387"/>
                </a:lnTo>
                <a:lnTo>
                  <a:pt x="685787" y="838187"/>
                </a:lnTo>
                <a:lnTo>
                  <a:pt x="685787" y="0"/>
                </a:lnTo>
                <a:close/>
              </a:path>
              <a:path w="2286000" h="1676400">
                <a:moveTo>
                  <a:pt x="2286000" y="0"/>
                </a:moveTo>
                <a:lnTo>
                  <a:pt x="1447800" y="0"/>
                </a:lnTo>
                <a:lnTo>
                  <a:pt x="1447800" y="838187"/>
                </a:lnTo>
                <a:lnTo>
                  <a:pt x="685800" y="838187"/>
                </a:lnTo>
                <a:lnTo>
                  <a:pt x="685800" y="1676387"/>
                </a:lnTo>
                <a:lnTo>
                  <a:pt x="1447800" y="1676387"/>
                </a:lnTo>
                <a:lnTo>
                  <a:pt x="2286000" y="1676387"/>
                </a:lnTo>
                <a:lnTo>
                  <a:pt x="2286000" y="838187"/>
                </a:lnTo>
                <a:lnTo>
                  <a:pt x="2286000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066800" y="4642103"/>
          <a:ext cx="2286000" cy="16757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375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CPU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50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78105" algn="ctr">
                        <a:lnSpc>
                          <a:spcPct val="100000"/>
                        </a:lnSpc>
                      </a:pP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RAM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50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5875" algn="ctr">
                        <a:lnSpc>
                          <a:spcPct val="100000"/>
                        </a:lnSpc>
                      </a:pP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ROM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50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marL="90805" marR="154305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I/O </a:t>
                      </a: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Port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155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26670" algn="ctr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Timer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9652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UART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19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21579" y="4398264"/>
            <a:ext cx="3613404" cy="218694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17192" y="5547358"/>
            <a:ext cx="2705100" cy="1310639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516636" y="1612391"/>
            <a:ext cx="4125595" cy="914400"/>
          </a:xfrm>
          <a:custGeom>
            <a:avLst/>
            <a:gdLst/>
            <a:ahLst/>
            <a:cxnLst/>
            <a:rect l="l" t="t" r="r" b="b"/>
            <a:pathLst>
              <a:path w="4125595" h="914400">
                <a:moveTo>
                  <a:pt x="4125467" y="0"/>
                </a:moveTo>
                <a:lnTo>
                  <a:pt x="0" y="0"/>
                </a:lnTo>
                <a:lnTo>
                  <a:pt x="0" y="914400"/>
                </a:lnTo>
                <a:lnTo>
                  <a:pt x="4125467" y="914400"/>
                </a:lnTo>
                <a:lnTo>
                  <a:pt x="4125467" y="0"/>
                </a:lnTo>
                <a:close/>
              </a:path>
            </a:pathLst>
          </a:custGeom>
          <a:solidFill>
            <a:srgbClr val="FFF1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16636" y="1612391"/>
            <a:ext cx="4125595" cy="914400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vert="horz" wrap="square" lIns="0" tIns="69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5"/>
              </a:spcBef>
            </a:pPr>
            <a:r>
              <a:rPr sz="2800" b="1" spc="-30" dirty="0">
                <a:latin typeface="Calibri"/>
                <a:cs typeface="Calibri"/>
              </a:rPr>
              <a:t>Bare-</a:t>
            </a:r>
            <a:r>
              <a:rPr sz="2800" b="1" spc="-10" dirty="0">
                <a:latin typeface="Calibri"/>
                <a:cs typeface="Calibri"/>
              </a:rPr>
              <a:t>Metal</a:t>
            </a:r>
            <a:endParaRPr sz="2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2800" dirty="0">
                <a:latin typeface="Calibri"/>
                <a:cs typeface="Calibri"/>
              </a:rPr>
              <a:t>User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Program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(C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ASM)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070347" y="3019044"/>
            <a:ext cx="3511550" cy="916305"/>
          </a:xfrm>
          <a:prstGeom prst="rect">
            <a:avLst/>
          </a:prstGeom>
          <a:solidFill>
            <a:srgbClr val="FFF1CC"/>
          </a:solidFill>
          <a:ln w="12192">
            <a:solidFill>
              <a:srgbClr val="000000"/>
            </a:solidFill>
          </a:ln>
        </p:spPr>
        <p:txBody>
          <a:bodyPr vert="horz" wrap="square" lIns="0" tIns="22225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750"/>
              </a:spcBef>
            </a:pPr>
            <a:r>
              <a:rPr sz="2800" spc="-10" dirty="0">
                <a:latin typeface="Calibri"/>
                <a:cs typeface="Calibri"/>
              </a:rPr>
              <a:t>Operating</a:t>
            </a:r>
            <a:r>
              <a:rPr sz="2800" spc="-1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System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070347" y="1612391"/>
            <a:ext cx="3511550" cy="914400"/>
          </a:xfrm>
          <a:prstGeom prst="rect">
            <a:avLst/>
          </a:prstGeom>
          <a:solidFill>
            <a:srgbClr val="FFF1CC"/>
          </a:solidFill>
          <a:ln w="12192">
            <a:solidFill>
              <a:srgbClr val="000000"/>
            </a:solidFill>
          </a:ln>
        </p:spPr>
        <p:txBody>
          <a:bodyPr vert="horz" wrap="square" lIns="0" tIns="69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5"/>
              </a:spcBef>
            </a:pPr>
            <a:r>
              <a:rPr sz="2800" dirty="0">
                <a:latin typeface="Calibri"/>
                <a:cs typeface="Calibri"/>
              </a:rPr>
              <a:t>User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Program</a:t>
            </a:r>
            <a:endParaRPr sz="2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2800" dirty="0">
                <a:latin typeface="Calibri"/>
                <a:cs typeface="Calibri"/>
              </a:rPr>
              <a:t>(C,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C++,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Python,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etc.)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788657" y="2527554"/>
            <a:ext cx="76200" cy="492759"/>
          </a:xfrm>
          <a:custGeom>
            <a:avLst/>
            <a:gdLst/>
            <a:ahLst/>
            <a:cxnLst/>
            <a:rect l="l" t="t" r="r" b="b"/>
            <a:pathLst>
              <a:path w="76200" h="492760">
                <a:moveTo>
                  <a:pt x="28194" y="416433"/>
                </a:moveTo>
                <a:lnTo>
                  <a:pt x="0" y="416433"/>
                </a:lnTo>
                <a:lnTo>
                  <a:pt x="38100" y="492633"/>
                </a:lnTo>
                <a:lnTo>
                  <a:pt x="69850" y="429133"/>
                </a:lnTo>
                <a:lnTo>
                  <a:pt x="28194" y="429133"/>
                </a:lnTo>
                <a:lnTo>
                  <a:pt x="28194" y="416433"/>
                </a:lnTo>
                <a:close/>
              </a:path>
              <a:path w="76200" h="492760">
                <a:moveTo>
                  <a:pt x="48006" y="0"/>
                </a:moveTo>
                <a:lnTo>
                  <a:pt x="28194" y="0"/>
                </a:lnTo>
                <a:lnTo>
                  <a:pt x="28194" y="429133"/>
                </a:lnTo>
                <a:lnTo>
                  <a:pt x="48006" y="429133"/>
                </a:lnTo>
                <a:lnTo>
                  <a:pt x="48006" y="0"/>
                </a:lnTo>
                <a:close/>
              </a:path>
              <a:path w="76200" h="492760">
                <a:moveTo>
                  <a:pt x="76200" y="416433"/>
                </a:moveTo>
                <a:lnTo>
                  <a:pt x="48006" y="416433"/>
                </a:lnTo>
                <a:lnTo>
                  <a:pt x="48006" y="429133"/>
                </a:lnTo>
                <a:lnTo>
                  <a:pt x="69850" y="429133"/>
                </a:lnTo>
                <a:lnTo>
                  <a:pt x="76200" y="41643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514600" y="2526791"/>
            <a:ext cx="104394" cy="1402970"/>
          </a:xfrm>
          <a:custGeom>
            <a:avLst/>
            <a:gdLst/>
            <a:ahLst/>
            <a:cxnLst/>
            <a:rect l="l" t="t" r="r" b="b"/>
            <a:pathLst>
              <a:path w="76200" h="1649095">
                <a:moveTo>
                  <a:pt x="28193" y="1572641"/>
                </a:moveTo>
                <a:lnTo>
                  <a:pt x="0" y="1572641"/>
                </a:lnTo>
                <a:lnTo>
                  <a:pt x="38100" y="1648841"/>
                </a:lnTo>
                <a:lnTo>
                  <a:pt x="69850" y="1585341"/>
                </a:lnTo>
                <a:lnTo>
                  <a:pt x="28193" y="1585341"/>
                </a:lnTo>
                <a:lnTo>
                  <a:pt x="28193" y="1572641"/>
                </a:lnTo>
                <a:close/>
              </a:path>
              <a:path w="76200" h="1649095">
                <a:moveTo>
                  <a:pt x="48006" y="0"/>
                </a:moveTo>
                <a:lnTo>
                  <a:pt x="28193" y="0"/>
                </a:lnTo>
                <a:lnTo>
                  <a:pt x="28193" y="1585341"/>
                </a:lnTo>
                <a:lnTo>
                  <a:pt x="48006" y="1585341"/>
                </a:lnTo>
                <a:lnTo>
                  <a:pt x="48006" y="0"/>
                </a:lnTo>
                <a:close/>
              </a:path>
              <a:path w="76200" h="1649095">
                <a:moveTo>
                  <a:pt x="76200" y="1572641"/>
                </a:moveTo>
                <a:lnTo>
                  <a:pt x="48006" y="1572641"/>
                </a:lnTo>
                <a:lnTo>
                  <a:pt x="48006" y="1585341"/>
                </a:lnTo>
                <a:lnTo>
                  <a:pt x="69850" y="1585341"/>
                </a:lnTo>
                <a:lnTo>
                  <a:pt x="76200" y="157264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070347" y="3934967"/>
            <a:ext cx="3511550" cy="428625"/>
          </a:xfrm>
          <a:prstGeom prst="rect">
            <a:avLst/>
          </a:prstGeom>
          <a:solidFill>
            <a:srgbClr val="FFF1CC"/>
          </a:solidFill>
          <a:ln w="12192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48665">
              <a:lnSpc>
                <a:spcPts val="3185"/>
              </a:lnSpc>
            </a:pPr>
            <a:r>
              <a:rPr sz="2800" spc="-30" dirty="0">
                <a:latin typeface="Calibri"/>
                <a:cs typeface="Calibri"/>
              </a:rPr>
              <a:t>Library,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Driver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13587" y="3928871"/>
            <a:ext cx="4131945" cy="426720"/>
          </a:xfrm>
          <a:prstGeom prst="rect">
            <a:avLst/>
          </a:prstGeom>
          <a:solidFill>
            <a:srgbClr val="FFF1CC"/>
          </a:solidFill>
          <a:ln w="12192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35" algn="ctr">
              <a:lnSpc>
                <a:spcPts val="3180"/>
              </a:lnSpc>
            </a:pPr>
            <a:r>
              <a:rPr sz="2800" spc="-10" dirty="0">
                <a:latin typeface="Calibri"/>
                <a:cs typeface="Calibri"/>
              </a:rPr>
              <a:t>Libraries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182367" y="313943"/>
            <a:ext cx="2974975" cy="1195705"/>
            <a:chOff x="2182367" y="313943"/>
            <a:chExt cx="2974975" cy="11957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41775" y="313943"/>
              <a:ext cx="1615439" cy="119561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82367" y="492251"/>
              <a:ext cx="1577340" cy="812291"/>
            </a:xfrm>
            <a:prstGeom prst="rect">
              <a:avLst/>
            </a:prstGeom>
          </p:spPr>
        </p:pic>
      </p:grp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12801" y="1453388"/>
          <a:ext cx="8774428" cy="52584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36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35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17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5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967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394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AT89S51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7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0" marR="69850" indent="425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Arduino</a:t>
                      </a:r>
                      <a:r>
                        <a:rPr sz="18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UNO (ATMega328p)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ARC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 EM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7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1334" marR="475615" indent="-3683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Raspberry</a:t>
                      </a:r>
                      <a:r>
                        <a:rPr sz="1800" b="1" spc="-50" dirty="0">
                          <a:latin typeface="Calibri"/>
                          <a:cs typeface="Calibri"/>
                        </a:rPr>
                        <a:t> 4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(BCM2711)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Pin</a:t>
                      </a:r>
                      <a:r>
                        <a:rPr sz="18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count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40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28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ISA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CISC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RISC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RISC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RISC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Word</a:t>
                      </a:r>
                      <a:r>
                        <a:rPr sz="18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size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32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64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(4</a:t>
                      </a:r>
                      <a:r>
                        <a:rPr sz="18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cores)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Frequency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(Hz)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33 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20 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400 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1.5 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G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Program</a:t>
                      </a:r>
                      <a:r>
                        <a:rPr sz="1800" spc="-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Memory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4 K</a:t>
                      </a:r>
                      <a:r>
                        <a:rPr sz="18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(On-chip)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32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K</a:t>
                      </a:r>
                      <a:r>
                        <a:rPr sz="18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(On-chip)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MB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SD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card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memory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128 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KB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MB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Up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8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GB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(off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chip)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GPIO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32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23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3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(44)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Up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28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Timer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PWM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channels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(6)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ADC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channels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(16)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Serial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20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UARTx1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429259" marR="266700" indent="-152400">
                        <a:lnSpc>
                          <a:spcPct val="100000"/>
                        </a:lnSpc>
                        <a:spcBef>
                          <a:spcPts val="133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USB,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UART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SPI,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I2C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8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1755" marR="60960" indent="-4318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I2Cx1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(USB, UARTx4,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SPIx3,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I2Cx3,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SDIOx2,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I2S)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92100" marR="282575" indent="-63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USB,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SDIO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x2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(I2C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UART)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x6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SPI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x5,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HDMI</a:t>
                      </a:r>
                      <a:r>
                        <a:rPr sz="18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x2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04888" y="132587"/>
            <a:ext cx="1653540" cy="126312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07379" y="164592"/>
            <a:ext cx="716279" cy="12024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203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Himax</a:t>
            </a:r>
            <a:r>
              <a:rPr spc="-25" dirty="0"/>
              <a:t> </a:t>
            </a:r>
            <a:r>
              <a:rPr spc="-10" dirty="0"/>
              <a:t>WE-</a:t>
            </a:r>
            <a:r>
              <a:rPr dirty="0"/>
              <a:t>I</a:t>
            </a:r>
            <a:r>
              <a:rPr spc="-5" dirty="0"/>
              <a:t> </a:t>
            </a:r>
            <a:r>
              <a:rPr spc="-20" dirty="0"/>
              <a:t>Plus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0700" y="1385316"/>
            <a:ext cx="6211824" cy="50673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7542" y="456945"/>
            <a:ext cx="324421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WE-</a:t>
            </a:r>
            <a:r>
              <a:rPr dirty="0"/>
              <a:t>I</a:t>
            </a:r>
            <a:r>
              <a:rPr spc="25" dirty="0"/>
              <a:t> </a:t>
            </a:r>
            <a:r>
              <a:rPr spc="-10" dirty="0"/>
              <a:t>Features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7542" y="1464945"/>
            <a:ext cx="7050405" cy="360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3300" dirty="0">
                <a:latin typeface="Calibri"/>
                <a:cs typeface="Calibri"/>
              </a:rPr>
              <a:t>CPU:</a:t>
            </a:r>
            <a:r>
              <a:rPr sz="3300" spc="-30" dirty="0">
                <a:latin typeface="Calibri"/>
                <a:cs typeface="Calibri"/>
              </a:rPr>
              <a:t> </a:t>
            </a:r>
            <a:r>
              <a:rPr sz="3300" dirty="0">
                <a:latin typeface="Calibri"/>
                <a:cs typeface="Calibri"/>
              </a:rPr>
              <a:t>HX6537</a:t>
            </a:r>
            <a:r>
              <a:rPr sz="3300" spc="-5" dirty="0">
                <a:latin typeface="Calibri"/>
                <a:cs typeface="Calibri"/>
              </a:rPr>
              <a:t> </a:t>
            </a:r>
            <a:r>
              <a:rPr sz="3300" dirty="0">
                <a:latin typeface="Calibri"/>
                <a:cs typeface="Calibri"/>
              </a:rPr>
              <a:t>(ARC</a:t>
            </a:r>
            <a:r>
              <a:rPr sz="3300" spc="-10" dirty="0">
                <a:latin typeface="Calibri"/>
                <a:cs typeface="Calibri"/>
              </a:rPr>
              <a:t> </a:t>
            </a:r>
            <a:r>
              <a:rPr sz="3300" dirty="0">
                <a:latin typeface="Calibri"/>
                <a:cs typeface="Calibri"/>
              </a:rPr>
              <a:t>EM9D</a:t>
            </a:r>
            <a:r>
              <a:rPr sz="3300" spc="-10" dirty="0">
                <a:latin typeface="Calibri"/>
                <a:cs typeface="Calibri"/>
              </a:rPr>
              <a:t> </a:t>
            </a:r>
            <a:r>
              <a:rPr sz="3300" dirty="0">
                <a:latin typeface="Calibri"/>
                <a:cs typeface="Calibri"/>
              </a:rPr>
              <a:t>DSP</a:t>
            </a:r>
            <a:r>
              <a:rPr sz="3300" spc="-15" dirty="0">
                <a:latin typeface="Calibri"/>
                <a:cs typeface="Calibri"/>
              </a:rPr>
              <a:t> </a:t>
            </a:r>
            <a:r>
              <a:rPr sz="3300" dirty="0">
                <a:latin typeface="Calibri"/>
                <a:cs typeface="Calibri"/>
              </a:rPr>
              <a:t>with</a:t>
            </a:r>
            <a:r>
              <a:rPr sz="3300" spc="-25" dirty="0">
                <a:latin typeface="Calibri"/>
                <a:cs typeface="Calibri"/>
              </a:rPr>
              <a:t> </a:t>
            </a:r>
            <a:r>
              <a:rPr sz="3300" spc="-20" dirty="0">
                <a:latin typeface="Calibri"/>
                <a:cs typeface="Calibri"/>
              </a:rPr>
              <a:t>FPU)</a:t>
            </a:r>
            <a:endParaRPr sz="3300" dirty="0">
              <a:latin typeface="Calibri"/>
              <a:cs typeface="Calibri"/>
            </a:endParaRPr>
          </a:p>
          <a:p>
            <a:pPr marL="241300" indent="-228600">
              <a:buFont typeface="Arial"/>
              <a:buChar char="•"/>
              <a:tabLst>
                <a:tab pos="241300" algn="l"/>
              </a:tabLst>
            </a:pPr>
            <a:r>
              <a:rPr sz="3300" dirty="0">
                <a:latin typeface="Calibri"/>
                <a:cs typeface="Calibri"/>
              </a:rPr>
              <a:t>Frequency:</a:t>
            </a:r>
            <a:r>
              <a:rPr sz="3300" spc="-70" dirty="0">
                <a:latin typeface="Calibri"/>
                <a:cs typeface="Calibri"/>
              </a:rPr>
              <a:t> </a:t>
            </a:r>
            <a:r>
              <a:rPr sz="3300" spc="-10" dirty="0">
                <a:latin typeface="Calibri"/>
                <a:cs typeface="Calibri"/>
              </a:rPr>
              <a:t>400MHz</a:t>
            </a:r>
            <a:endParaRPr sz="3300" dirty="0">
              <a:latin typeface="Calibri"/>
              <a:cs typeface="Calibri"/>
            </a:endParaRPr>
          </a:p>
          <a:p>
            <a:pPr marL="241300" indent="-228600">
              <a:buFont typeface="Arial"/>
              <a:buChar char="•"/>
              <a:tabLst>
                <a:tab pos="241300" algn="l"/>
              </a:tabLst>
            </a:pPr>
            <a:r>
              <a:rPr sz="3300" dirty="0">
                <a:latin typeface="Calibri"/>
                <a:cs typeface="Calibri"/>
              </a:rPr>
              <a:t>SPI</a:t>
            </a:r>
            <a:r>
              <a:rPr sz="3300" spc="-50" dirty="0">
                <a:latin typeface="Calibri"/>
                <a:cs typeface="Calibri"/>
              </a:rPr>
              <a:t> </a:t>
            </a:r>
            <a:r>
              <a:rPr sz="3300" dirty="0">
                <a:latin typeface="Calibri"/>
                <a:cs typeface="Calibri"/>
              </a:rPr>
              <a:t>program</a:t>
            </a:r>
            <a:r>
              <a:rPr sz="3300" spc="-55" dirty="0">
                <a:latin typeface="Calibri"/>
                <a:cs typeface="Calibri"/>
              </a:rPr>
              <a:t> </a:t>
            </a:r>
            <a:r>
              <a:rPr sz="3300" dirty="0">
                <a:latin typeface="Calibri"/>
                <a:cs typeface="Calibri"/>
              </a:rPr>
              <a:t>flash:</a:t>
            </a:r>
            <a:r>
              <a:rPr sz="3300" spc="-30" dirty="0">
                <a:latin typeface="Calibri"/>
                <a:cs typeface="Calibri"/>
              </a:rPr>
              <a:t> </a:t>
            </a:r>
            <a:r>
              <a:rPr sz="3300" spc="-25" dirty="0">
                <a:latin typeface="Calibri"/>
                <a:cs typeface="Calibri"/>
              </a:rPr>
              <a:t>2MB</a:t>
            </a:r>
            <a:endParaRPr sz="3300" dirty="0">
              <a:latin typeface="Calibri"/>
              <a:cs typeface="Calibri"/>
            </a:endParaRPr>
          </a:p>
          <a:p>
            <a:pPr marL="241300" marR="3190875" indent="-228600">
              <a:spcBef>
                <a:spcPts val="250"/>
              </a:spcBef>
              <a:buFont typeface="Arial"/>
              <a:buChar char="•"/>
              <a:tabLst>
                <a:tab pos="241300" algn="l"/>
              </a:tabLst>
            </a:pPr>
            <a:r>
              <a:rPr sz="3300" dirty="0">
                <a:latin typeface="Calibri"/>
                <a:cs typeface="Calibri"/>
              </a:rPr>
              <a:t>Ram</a:t>
            </a:r>
            <a:r>
              <a:rPr sz="3300" spc="-50" dirty="0">
                <a:latin typeface="Calibri"/>
                <a:cs typeface="Calibri"/>
              </a:rPr>
              <a:t> </a:t>
            </a:r>
            <a:r>
              <a:rPr sz="3300" dirty="0">
                <a:latin typeface="Calibri"/>
                <a:cs typeface="Calibri"/>
              </a:rPr>
              <a:t>size:</a:t>
            </a:r>
            <a:r>
              <a:rPr sz="3300" spc="-35" dirty="0">
                <a:latin typeface="Calibri"/>
                <a:cs typeface="Calibri"/>
              </a:rPr>
              <a:t> </a:t>
            </a:r>
            <a:r>
              <a:rPr sz="3300" spc="-25" dirty="0">
                <a:latin typeface="Calibri"/>
                <a:cs typeface="Calibri"/>
              </a:rPr>
              <a:t>2MB</a:t>
            </a:r>
            <a:r>
              <a:rPr sz="3300" spc="825" dirty="0">
                <a:latin typeface="Calibri"/>
                <a:cs typeface="Calibri"/>
              </a:rPr>
              <a:t> </a:t>
            </a:r>
            <a:r>
              <a:rPr sz="3300" dirty="0">
                <a:latin typeface="Calibri"/>
                <a:cs typeface="Calibri"/>
              </a:rPr>
              <a:t>320kB</a:t>
            </a:r>
            <a:r>
              <a:rPr sz="3300" spc="-80" dirty="0">
                <a:latin typeface="Calibri"/>
                <a:cs typeface="Calibri"/>
              </a:rPr>
              <a:t> </a:t>
            </a:r>
            <a:r>
              <a:rPr sz="3300" dirty="0">
                <a:latin typeface="Calibri"/>
                <a:cs typeface="Calibri"/>
              </a:rPr>
              <a:t>program</a:t>
            </a:r>
            <a:r>
              <a:rPr sz="3300" spc="-80" dirty="0">
                <a:latin typeface="Calibri"/>
                <a:cs typeface="Calibri"/>
              </a:rPr>
              <a:t> </a:t>
            </a:r>
            <a:r>
              <a:rPr sz="3300" spc="-20" dirty="0">
                <a:latin typeface="Calibri"/>
                <a:cs typeface="Calibri"/>
              </a:rPr>
              <a:t>ICCM</a:t>
            </a:r>
            <a:endParaRPr sz="3300" dirty="0">
              <a:latin typeface="Calibri"/>
              <a:cs typeface="Calibri"/>
            </a:endParaRPr>
          </a:p>
          <a:p>
            <a:pPr marL="241300" marR="1405890">
              <a:spcBef>
                <a:spcPts val="15"/>
              </a:spcBef>
            </a:pPr>
            <a:r>
              <a:rPr sz="3300" dirty="0">
                <a:latin typeface="Calibri"/>
                <a:cs typeface="Calibri"/>
              </a:rPr>
              <a:t>320kB</a:t>
            </a:r>
            <a:r>
              <a:rPr sz="3300" spc="-35" dirty="0">
                <a:latin typeface="Calibri"/>
                <a:cs typeface="Calibri"/>
              </a:rPr>
              <a:t> </a:t>
            </a:r>
            <a:r>
              <a:rPr sz="3300" dirty="0">
                <a:latin typeface="Calibri"/>
                <a:cs typeface="Calibri"/>
              </a:rPr>
              <a:t>data</a:t>
            </a:r>
            <a:r>
              <a:rPr sz="3300" spc="-45" dirty="0">
                <a:latin typeface="Calibri"/>
                <a:cs typeface="Calibri"/>
              </a:rPr>
              <a:t> </a:t>
            </a:r>
            <a:r>
              <a:rPr sz="3300" spc="-20" dirty="0">
                <a:latin typeface="Calibri"/>
                <a:cs typeface="Calibri"/>
              </a:rPr>
              <a:t>DCCM/XCCM/YCCM </a:t>
            </a:r>
            <a:r>
              <a:rPr sz="3300" dirty="0">
                <a:latin typeface="Calibri"/>
                <a:cs typeface="Calibri"/>
              </a:rPr>
              <a:t>1472kB</a:t>
            </a:r>
            <a:r>
              <a:rPr sz="3300" spc="-50" dirty="0">
                <a:latin typeface="Calibri"/>
                <a:cs typeface="Calibri"/>
              </a:rPr>
              <a:t> </a:t>
            </a:r>
            <a:r>
              <a:rPr sz="3300" spc="-10" dirty="0">
                <a:latin typeface="Calibri"/>
                <a:cs typeface="Calibri"/>
              </a:rPr>
              <a:t>system</a:t>
            </a:r>
            <a:r>
              <a:rPr sz="3300" spc="-90" dirty="0">
                <a:latin typeface="Calibri"/>
                <a:cs typeface="Calibri"/>
              </a:rPr>
              <a:t> </a:t>
            </a:r>
            <a:r>
              <a:rPr sz="3300" spc="-10" dirty="0">
                <a:latin typeface="Calibri"/>
                <a:cs typeface="Calibri"/>
              </a:rPr>
              <a:t>memory</a:t>
            </a:r>
            <a:endParaRPr sz="33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4600" y="3123975"/>
            <a:ext cx="4325111" cy="352806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07542" y="456945"/>
            <a:ext cx="324421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WE-</a:t>
            </a:r>
            <a:r>
              <a:rPr dirty="0"/>
              <a:t>I</a:t>
            </a:r>
            <a:r>
              <a:rPr spc="25" dirty="0"/>
              <a:t> </a:t>
            </a:r>
            <a:r>
              <a:rPr spc="-10" dirty="0"/>
              <a:t>Features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707542" y="1464945"/>
            <a:ext cx="7003415" cy="204414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3300" spc="-45" dirty="0">
                <a:latin typeface="Calibri"/>
                <a:cs typeface="Calibri"/>
              </a:rPr>
              <a:t>UART:</a:t>
            </a:r>
            <a:r>
              <a:rPr sz="3300" spc="-40" dirty="0">
                <a:latin typeface="Calibri"/>
                <a:cs typeface="Calibri"/>
              </a:rPr>
              <a:t> </a:t>
            </a:r>
            <a:r>
              <a:rPr sz="3300" dirty="0">
                <a:latin typeface="Calibri"/>
                <a:cs typeface="Calibri"/>
              </a:rPr>
              <a:t>1</a:t>
            </a:r>
            <a:r>
              <a:rPr sz="3300" spc="-45" dirty="0">
                <a:latin typeface="Calibri"/>
                <a:cs typeface="Calibri"/>
              </a:rPr>
              <a:t> </a:t>
            </a:r>
            <a:r>
              <a:rPr sz="3300" dirty="0">
                <a:latin typeface="Calibri"/>
                <a:cs typeface="Calibri"/>
              </a:rPr>
              <a:t>(for</a:t>
            </a:r>
            <a:r>
              <a:rPr sz="3300" spc="-40" dirty="0">
                <a:latin typeface="Calibri"/>
                <a:cs typeface="Calibri"/>
              </a:rPr>
              <a:t> </a:t>
            </a:r>
            <a:r>
              <a:rPr sz="3300" dirty="0">
                <a:latin typeface="Calibri"/>
                <a:cs typeface="Calibri"/>
              </a:rPr>
              <a:t>USB</a:t>
            </a:r>
            <a:r>
              <a:rPr sz="3300" spc="-55" dirty="0">
                <a:latin typeface="Calibri"/>
                <a:cs typeface="Calibri"/>
              </a:rPr>
              <a:t> </a:t>
            </a:r>
            <a:r>
              <a:rPr sz="3300" spc="-20" dirty="0">
                <a:latin typeface="Calibri"/>
                <a:cs typeface="Calibri"/>
              </a:rPr>
              <a:t>VCP)</a:t>
            </a:r>
            <a:endParaRPr sz="3300" dirty="0">
              <a:latin typeface="Calibri"/>
              <a:cs typeface="Calibri"/>
            </a:endParaRPr>
          </a:p>
          <a:p>
            <a:pPr marL="241300" indent="-228600">
              <a:buFont typeface="Arial"/>
              <a:buChar char="•"/>
              <a:tabLst>
                <a:tab pos="241300" algn="l"/>
              </a:tabLst>
            </a:pPr>
            <a:r>
              <a:rPr sz="3300" dirty="0">
                <a:latin typeface="Calibri"/>
                <a:cs typeface="Calibri"/>
              </a:rPr>
              <a:t>SPI:</a:t>
            </a:r>
            <a:r>
              <a:rPr sz="3300" spc="-20" dirty="0">
                <a:latin typeface="Calibri"/>
                <a:cs typeface="Calibri"/>
              </a:rPr>
              <a:t> </a:t>
            </a:r>
            <a:r>
              <a:rPr sz="3300" dirty="0">
                <a:latin typeface="Calibri"/>
                <a:cs typeface="Calibri"/>
              </a:rPr>
              <a:t>1</a:t>
            </a:r>
            <a:r>
              <a:rPr sz="3300" spc="-30" dirty="0">
                <a:latin typeface="Calibri"/>
                <a:cs typeface="Calibri"/>
              </a:rPr>
              <a:t> </a:t>
            </a:r>
            <a:r>
              <a:rPr sz="3300" dirty="0">
                <a:latin typeface="Calibri"/>
                <a:cs typeface="Calibri"/>
              </a:rPr>
              <a:t>(for</a:t>
            </a:r>
            <a:r>
              <a:rPr sz="3300" spc="-25" dirty="0">
                <a:latin typeface="Calibri"/>
                <a:cs typeface="Calibri"/>
              </a:rPr>
              <a:t> </a:t>
            </a:r>
            <a:r>
              <a:rPr sz="3300" dirty="0">
                <a:latin typeface="Calibri"/>
                <a:cs typeface="Calibri"/>
              </a:rPr>
              <a:t>USB</a:t>
            </a:r>
            <a:r>
              <a:rPr sz="3300" spc="-15" dirty="0">
                <a:latin typeface="Calibri"/>
                <a:cs typeface="Calibri"/>
              </a:rPr>
              <a:t> </a:t>
            </a:r>
            <a:r>
              <a:rPr sz="3300" spc="-20" dirty="0">
                <a:latin typeface="Calibri"/>
                <a:cs typeface="Calibri"/>
              </a:rPr>
              <a:t>VCP)</a:t>
            </a:r>
            <a:endParaRPr sz="3300" dirty="0">
              <a:latin typeface="Calibri"/>
              <a:cs typeface="Calibri"/>
            </a:endParaRPr>
          </a:p>
          <a:p>
            <a:pPr marL="241300" indent="-228600">
              <a:buFont typeface="Arial"/>
              <a:buChar char="•"/>
              <a:tabLst>
                <a:tab pos="241300" algn="l"/>
              </a:tabLst>
            </a:pPr>
            <a:r>
              <a:rPr sz="3300" dirty="0">
                <a:latin typeface="Calibri"/>
                <a:cs typeface="Calibri"/>
              </a:rPr>
              <a:t>I2C</a:t>
            </a:r>
            <a:r>
              <a:rPr sz="3300" spc="-20" dirty="0">
                <a:latin typeface="Calibri"/>
                <a:cs typeface="Calibri"/>
              </a:rPr>
              <a:t> </a:t>
            </a:r>
            <a:r>
              <a:rPr sz="3300" dirty="0">
                <a:latin typeface="Calibri"/>
                <a:cs typeface="Calibri"/>
              </a:rPr>
              <a:t>Master:</a:t>
            </a:r>
            <a:r>
              <a:rPr sz="3300" spc="-50" dirty="0">
                <a:latin typeface="Calibri"/>
                <a:cs typeface="Calibri"/>
              </a:rPr>
              <a:t> </a:t>
            </a:r>
            <a:r>
              <a:rPr sz="3300" dirty="0">
                <a:latin typeface="Calibri"/>
                <a:cs typeface="Calibri"/>
              </a:rPr>
              <a:t>2</a:t>
            </a:r>
            <a:r>
              <a:rPr sz="3300" spc="-35" dirty="0">
                <a:latin typeface="Calibri"/>
                <a:cs typeface="Calibri"/>
              </a:rPr>
              <a:t> </a:t>
            </a:r>
            <a:r>
              <a:rPr sz="3300" dirty="0">
                <a:latin typeface="Calibri"/>
                <a:cs typeface="Calibri"/>
              </a:rPr>
              <a:t>(1</a:t>
            </a:r>
            <a:r>
              <a:rPr sz="3300" spc="-15" dirty="0">
                <a:latin typeface="Calibri"/>
                <a:cs typeface="Calibri"/>
              </a:rPr>
              <a:t> </a:t>
            </a:r>
            <a:r>
              <a:rPr sz="3300" dirty="0">
                <a:latin typeface="Calibri"/>
                <a:cs typeface="Calibri"/>
              </a:rPr>
              <a:t>for</a:t>
            </a:r>
            <a:r>
              <a:rPr sz="3300" spc="-30" dirty="0">
                <a:latin typeface="Calibri"/>
                <a:cs typeface="Calibri"/>
              </a:rPr>
              <a:t> </a:t>
            </a:r>
            <a:r>
              <a:rPr sz="3300" dirty="0">
                <a:latin typeface="Calibri"/>
                <a:cs typeface="Calibri"/>
              </a:rPr>
              <a:t>IMU,</a:t>
            </a:r>
            <a:r>
              <a:rPr sz="3300" spc="-15" dirty="0">
                <a:latin typeface="Calibri"/>
                <a:cs typeface="Calibri"/>
              </a:rPr>
              <a:t> </a:t>
            </a:r>
            <a:r>
              <a:rPr sz="3300" dirty="0">
                <a:latin typeface="Calibri"/>
                <a:cs typeface="Calibri"/>
              </a:rPr>
              <a:t>1</a:t>
            </a:r>
            <a:r>
              <a:rPr sz="3300" spc="-30" dirty="0">
                <a:latin typeface="Calibri"/>
                <a:cs typeface="Calibri"/>
              </a:rPr>
              <a:t> </a:t>
            </a:r>
            <a:r>
              <a:rPr sz="3300" dirty="0">
                <a:latin typeface="Calibri"/>
                <a:cs typeface="Calibri"/>
              </a:rPr>
              <a:t>for</a:t>
            </a:r>
            <a:r>
              <a:rPr sz="3300" spc="-30" dirty="0">
                <a:latin typeface="Calibri"/>
                <a:cs typeface="Calibri"/>
              </a:rPr>
              <a:t> </a:t>
            </a:r>
            <a:r>
              <a:rPr sz="3300" dirty="0">
                <a:latin typeface="Calibri"/>
                <a:cs typeface="Calibri"/>
              </a:rPr>
              <a:t>user</a:t>
            </a:r>
            <a:r>
              <a:rPr sz="3300" spc="-25" dirty="0">
                <a:latin typeface="Calibri"/>
                <a:cs typeface="Calibri"/>
              </a:rPr>
              <a:t> </a:t>
            </a:r>
            <a:r>
              <a:rPr sz="3300" spc="-20" dirty="0">
                <a:latin typeface="Calibri"/>
                <a:cs typeface="Calibri"/>
              </a:rPr>
              <a:t>use)</a:t>
            </a:r>
            <a:endParaRPr sz="3300" dirty="0">
              <a:latin typeface="Calibri"/>
              <a:cs typeface="Calibri"/>
            </a:endParaRPr>
          </a:p>
          <a:p>
            <a:pPr marL="241300" indent="-228600">
              <a:buFont typeface="Arial"/>
              <a:buChar char="•"/>
              <a:tabLst>
                <a:tab pos="241300" algn="l"/>
              </a:tabLst>
            </a:pPr>
            <a:r>
              <a:rPr sz="3300" dirty="0">
                <a:latin typeface="Calibri"/>
                <a:cs typeface="Calibri"/>
              </a:rPr>
              <a:t>GPIO: </a:t>
            </a:r>
            <a:r>
              <a:rPr sz="3300" spc="-50" dirty="0">
                <a:latin typeface="Calibri"/>
                <a:cs typeface="Calibri"/>
              </a:rPr>
              <a:t>3</a:t>
            </a:r>
            <a:endParaRPr sz="33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7542" y="456945"/>
            <a:ext cx="324421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WE-</a:t>
            </a:r>
            <a:r>
              <a:rPr dirty="0"/>
              <a:t>I</a:t>
            </a:r>
            <a:r>
              <a:rPr spc="25" dirty="0"/>
              <a:t> </a:t>
            </a:r>
            <a:r>
              <a:rPr spc="-10" dirty="0"/>
              <a:t>Features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71032" y="1508760"/>
            <a:ext cx="2904743" cy="488137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07542" y="1364314"/>
            <a:ext cx="4998085" cy="4780915"/>
          </a:xfrm>
          <a:prstGeom prst="rect">
            <a:avLst/>
          </a:prstGeom>
        </p:spPr>
        <p:txBody>
          <a:bodyPr vert="horz" wrap="square" lIns="0" tIns="210185" rIns="0" bIns="0" rtlCol="0">
            <a:spAutoFit/>
          </a:bodyPr>
          <a:lstStyle/>
          <a:p>
            <a:pPr marL="527685" indent="-515620">
              <a:lnSpc>
                <a:spcPct val="100000"/>
              </a:lnSpc>
              <a:spcBef>
                <a:spcPts val="1655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600" dirty="0">
                <a:latin typeface="Calibri"/>
                <a:cs typeface="Calibri"/>
              </a:rPr>
              <a:t>CPU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HX6537</a:t>
            </a:r>
            <a:endParaRPr sz="2600" dirty="0">
              <a:latin typeface="Calibri"/>
              <a:cs typeface="Calibri"/>
            </a:endParaRPr>
          </a:p>
          <a:p>
            <a:pPr marL="527685" marR="5080" indent="-515620">
              <a:lnSpc>
                <a:spcPct val="150000"/>
              </a:lnSpc>
              <a:buAutoNum type="arabicPeriod"/>
              <a:tabLst>
                <a:tab pos="527685" algn="l"/>
                <a:tab pos="528320" algn="l"/>
              </a:tabLst>
            </a:pPr>
            <a:r>
              <a:rPr sz="2600" dirty="0">
                <a:latin typeface="Calibri"/>
                <a:cs typeface="Calibri"/>
              </a:rPr>
              <a:t>HM0360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AoSTM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VGA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camera </a:t>
            </a:r>
            <a:r>
              <a:rPr sz="2600" dirty="0">
                <a:latin typeface="Calibri"/>
                <a:cs typeface="Calibri"/>
              </a:rPr>
              <a:t>Back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Side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Illuminated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(BSI)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CMOS </a:t>
            </a:r>
            <a:r>
              <a:rPr sz="2600" dirty="0">
                <a:latin typeface="Calibri"/>
                <a:cs typeface="Calibri"/>
              </a:rPr>
              <a:t>Image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Sensor</a:t>
            </a:r>
            <a:endParaRPr sz="2600" dirty="0">
              <a:latin typeface="Calibri"/>
              <a:cs typeface="Calibri"/>
            </a:endParaRPr>
          </a:p>
          <a:p>
            <a:pPr marL="527685" marR="17145">
              <a:lnSpc>
                <a:spcPct val="150000"/>
              </a:lnSpc>
            </a:pPr>
            <a:r>
              <a:rPr sz="2600" dirty="0">
                <a:latin typeface="Calibri"/>
                <a:cs typeface="Calibri"/>
              </a:rPr>
              <a:t>Active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Pixel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Array: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656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x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496 </a:t>
            </a:r>
            <a:r>
              <a:rPr sz="2600" dirty="0">
                <a:latin typeface="Calibri"/>
                <a:cs typeface="Calibri"/>
              </a:rPr>
              <a:t>Frame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Rate: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QQVGA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1FPS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VGA </a:t>
            </a:r>
            <a:r>
              <a:rPr sz="2600" spc="-10" dirty="0">
                <a:latin typeface="Calibri"/>
                <a:cs typeface="Calibri"/>
              </a:rPr>
              <a:t>60FPS</a:t>
            </a:r>
            <a:endParaRPr sz="2600" dirty="0">
              <a:latin typeface="Calibri"/>
              <a:cs typeface="Calibri"/>
            </a:endParaRPr>
          </a:p>
          <a:p>
            <a:pPr marL="527685" indent="-515620">
              <a:lnSpc>
                <a:spcPct val="100000"/>
              </a:lnSpc>
              <a:spcBef>
                <a:spcPts val="1565"/>
              </a:spcBef>
              <a:buAutoNum type="arabicPeriod" startAt="3"/>
              <a:tabLst>
                <a:tab pos="527685" algn="l"/>
                <a:tab pos="528320" algn="l"/>
              </a:tabLst>
            </a:pPr>
            <a:r>
              <a:rPr sz="2600" dirty="0">
                <a:latin typeface="Calibri"/>
                <a:cs typeface="Calibri"/>
              </a:rPr>
              <a:t>Reset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Button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7542" y="456945"/>
            <a:ext cx="324421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WE-</a:t>
            </a:r>
            <a:r>
              <a:rPr dirty="0"/>
              <a:t>I</a:t>
            </a:r>
            <a:r>
              <a:rPr spc="25" dirty="0"/>
              <a:t> </a:t>
            </a:r>
            <a:r>
              <a:rPr spc="-10" dirty="0"/>
              <a:t>Features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71032" y="1508760"/>
            <a:ext cx="2904743" cy="488137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07542" y="1336395"/>
            <a:ext cx="5147310" cy="4781550"/>
          </a:xfrm>
          <a:prstGeom prst="rect">
            <a:avLst/>
          </a:prstGeom>
        </p:spPr>
        <p:txBody>
          <a:bodyPr vert="horz" wrap="square" lIns="0" tIns="2108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60"/>
              </a:spcBef>
              <a:tabLst>
                <a:tab pos="527685" algn="l"/>
              </a:tabLst>
            </a:pPr>
            <a:r>
              <a:rPr sz="2600" spc="-25" dirty="0">
                <a:latin typeface="Calibri"/>
                <a:cs typeface="Calibri"/>
              </a:rPr>
              <a:t>4.</a:t>
            </a:r>
            <a:r>
              <a:rPr sz="2600" dirty="0">
                <a:latin typeface="Calibri"/>
                <a:cs typeface="Calibri"/>
              </a:rPr>
              <a:t>	LSM9DS1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IMU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sensor</a:t>
            </a:r>
            <a:endParaRPr sz="2600" dirty="0">
              <a:latin typeface="Calibri"/>
              <a:cs typeface="Calibri"/>
            </a:endParaRPr>
          </a:p>
          <a:p>
            <a:pPr marL="527685">
              <a:lnSpc>
                <a:spcPct val="100000"/>
              </a:lnSpc>
              <a:spcBef>
                <a:spcPts val="1560"/>
              </a:spcBef>
            </a:pPr>
            <a:r>
              <a:rPr sz="2600" dirty="0">
                <a:latin typeface="Calibri"/>
                <a:cs typeface="Calibri"/>
              </a:rPr>
              <a:t>3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acceleration: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PMingLiU"/>
                <a:cs typeface="PMingLiU"/>
              </a:rPr>
              <a:t>±</a:t>
            </a:r>
            <a:r>
              <a:rPr sz="2600" dirty="0">
                <a:latin typeface="Calibri"/>
                <a:cs typeface="Calibri"/>
              </a:rPr>
              <a:t>2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/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PMingLiU"/>
                <a:cs typeface="PMingLiU"/>
              </a:rPr>
              <a:t>±</a:t>
            </a:r>
            <a:r>
              <a:rPr sz="2600" dirty="0">
                <a:latin typeface="Calibri"/>
                <a:cs typeface="Calibri"/>
              </a:rPr>
              <a:t>4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/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PMingLiU"/>
                <a:cs typeface="PMingLiU"/>
              </a:rPr>
              <a:t>±</a:t>
            </a:r>
            <a:r>
              <a:rPr sz="2600" dirty="0">
                <a:latin typeface="Calibri"/>
                <a:cs typeface="Calibri"/>
              </a:rPr>
              <a:t>8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/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PMingLiU"/>
                <a:cs typeface="PMingLiU"/>
              </a:rPr>
              <a:t>±</a:t>
            </a:r>
            <a:r>
              <a:rPr sz="2600" dirty="0">
                <a:latin typeface="Calibri"/>
                <a:cs typeface="Calibri"/>
              </a:rPr>
              <a:t>16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50" dirty="0">
                <a:latin typeface="Calibri"/>
                <a:cs typeface="Calibri"/>
              </a:rPr>
              <a:t>g</a:t>
            </a:r>
            <a:endParaRPr sz="2600" dirty="0">
              <a:latin typeface="Calibri"/>
              <a:cs typeface="Calibri"/>
            </a:endParaRPr>
          </a:p>
          <a:p>
            <a:pPr marL="527685">
              <a:lnSpc>
                <a:spcPct val="100000"/>
              </a:lnSpc>
              <a:spcBef>
                <a:spcPts val="1560"/>
              </a:spcBef>
            </a:pPr>
            <a:r>
              <a:rPr sz="2600" dirty="0">
                <a:latin typeface="Calibri"/>
                <a:cs typeface="Calibri"/>
              </a:rPr>
              <a:t>3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angular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rate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: </a:t>
            </a:r>
            <a:r>
              <a:rPr sz="2600" dirty="0">
                <a:latin typeface="PMingLiU"/>
                <a:cs typeface="PMingLiU"/>
              </a:rPr>
              <a:t>±</a:t>
            </a:r>
            <a:r>
              <a:rPr sz="2600" dirty="0">
                <a:latin typeface="Calibri"/>
                <a:cs typeface="Calibri"/>
              </a:rPr>
              <a:t>245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/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PMingLiU"/>
                <a:cs typeface="PMingLiU"/>
              </a:rPr>
              <a:t>±</a:t>
            </a:r>
            <a:r>
              <a:rPr sz="2600" dirty="0">
                <a:latin typeface="Calibri"/>
                <a:cs typeface="Calibri"/>
              </a:rPr>
              <a:t>500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50" dirty="0">
                <a:latin typeface="Calibri"/>
                <a:cs typeface="Calibri"/>
              </a:rPr>
              <a:t>/</a:t>
            </a:r>
            <a:endParaRPr sz="2600" dirty="0">
              <a:latin typeface="Calibri"/>
              <a:cs typeface="Calibri"/>
            </a:endParaRPr>
          </a:p>
          <a:p>
            <a:pPr marL="527685">
              <a:lnSpc>
                <a:spcPct val="100000"/>
              </a:lnSpc>
              <a:spcBef>
                <a:spcPts val="1560"/>
              </a:spcBef>
            </a:pPr>
            <a:r>
              <a:rPr sz="2600" dirty="0">
                <a:latin typeface="PMingLiU"/>
                <a:cs typeface="PMingLiU"/>
              </a:rPr>
              <a:t>±</a:t>
            </a:r>
            <a:r>
              <a:rPr sz="2600" dirty="0">
                <a:latin typeface="Calibri"/>
                <a:cs typeface="Calibri"/>
              </a:rPr>
              <a:t>2000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dps</a:t>
            </a:r>
            <a:endParaRPr sz="2600" dirty="0">
              <a:latin typeface="Calibri"/>
              <a:cs typeface="Calibri"/>
            </a:endParaRPr>
          </a:p>
          <a:p>
            <a:pPr marL="527685">
              <a:lnSpc>
                <a:spcPct val="100000"/>
              </a:lnSpc>
              <a:spcBef>
                <a:spcPts val="1560"/>
              </a:spcBef>
            </a:pPr>
            <a:r>
              <a:rPr sz="2600" dirty="0">
                <a:latin typeface="Calibri"/>
                <a:cs typeface="Calibri"/>
              </a:rPr>
              <a:t>3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magnetic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field: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PMingLiU"/>
                <a:cs typeface="PMingLiU"/>
              </a:rPr>
              <a:t>±</a:t>
            </a:r>
            <a:r>
              <a:rPr sz="2600" dirty="0">
                <a:latin typeface="Calibri"/>
                <a:cs typeface="Calibri"/>
              </a:rPr>
              <a:t>4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/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PMingLiU"/>
                <a:cs typeface="PMingLiU"/>
              </a:rPr>
              <a:t>±</a:t>
            </a:r>
            <a:r>
              <a:rPr sz="2600" dirty="0">
                <a:latin typeface="Calibri"/>
                <a:cs typeface="Calibri"/>
              </a:rPr>
              <a:t>8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/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PMingLiU"/>
                <a:cs typeface="PMingLiU"/>
              </a:rPr>
              <a:t>±</a:t>
            </a:r>
            <a:r>
              <a:rPr sz="2600" dirty="0">
                <a:latin typeface="Calibri"/>
                <a:cs typeface="Calibri"/>
              </a:rPr>
              <a:t>12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50" dirty="0">
                <a:latin typeface="Calibri"/>
                <a:cs typeface="Calibri"/>
              </a:rPr>
              <a:t>/</a:t>
            </a:r>
            <a:endParaRPr sz="2600" dirty="0">
              <a:latin typeface="Calibri"/>
              <a:cs typeface="Calibri"/>
            </a:endParaRPr>
          </a:p>
          <a:p>
            <a:pPr marL="527685">
              <a:lnSpc>
                <a:spcPct val="100000"/>
              </a:lnSpc>
              <a:spcBef>
                <a:spcPts val="1560"/>
              </a:spcBef>
            </a:pPr>
            <a:r>
              <a:rPr sz="2600" dirty="0">
                <a:latin typeface="PMingLiU"/>
                <a:cs typeface="PMingLiU"/>
              </a:rPr>
              <a:t>±</a:t>
            </a:r>
            <a:r>
              <a:rPr sz="2600" dirty="0">
                <a:latin typeface="Calibri"/>
                <a:cs typeface="Calibri"/>
              </a:rPr>
              <a:t>16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gauss</a:t>
            </a:r>
            <a:endParaRPr sz="2600" dirty="0">
              <a:latin typeface="Calibri"/>
              <a:cs typeface="Calibri"/>
            </a:endParaRPr>
          </a:p>
          <a:p>
            <a:pPr marL="527685">
              <a:lnSpc>
                <a:spcPct val="100000"/>
              </a:lnSpc>
              <a:spcBef>
                <a:spcPts val="1560"/>
              </a:spcBef>
            </a:pPr>
            <a:r>
              <a:rPr sz="2600" spc="-10" dirty="0">
                <a:latin typeface="Calibri"/>
                <a:cs typeface="Calibri"/>
              </a:rPr>
              <a:t>16-</a:t>
            </a:r>
            <a:r>
              <a:rPr sz="2600" dirty="0">
                <a:latin typeface="Calibri"/>
                <a:cs typeface="Calibri"/>
              </a:rPr>
              <a:t>bit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data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output</a:t>
            </a:r>
            <a:endParaRPr sz="2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65"/>
              </a:spcBef>
              <a:tabLst>
                <a:tab pos="527685" algn="l"/>
              </a:tabLst>
            </a:pPr>
            <a:r>
              <a:rPr sz="2600" spc="-25" dirty="0">
                <a:latin typeface="Calibri"/>
                <a:cs typeface="Calibri"/>
              </a:rPr>
              <a:t>5.</a:t>
            </a:r>
            <a:r>
              <a:rPr sz="2600" dirty="0">
                <a:latin typeface="Calibri"/>
                <a:cs typeface="Calibri"/>
              </a:rPr>
              <a:t>	Green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&amp;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red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LED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7542" y="456945"/>
            <a:ext cx="324421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WE-</a:t>
            </a:r>
            <a:r>
              <a:rPr dirty="0"/>
              <a:t>I</a:t>
            </a:r>
            <a:r>
              <a:rPr spc="25" dirty="0"/>
              <a:t> </a:t>
            </a:r>
            <a:r>
              <a:rPr spc="-10" dirty="0"/>
              <a:t>Features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79434" y="6375298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888888"/>
                </a:solidFill>
                <a:latin typeface="Calibri"/>
                <a:cs typeface="Calibri"/>
              </a:rPr>
              <a:t>15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71032" y="1508760"/>
            <a:ext cx="2904743" cy="488137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07391" y="1206879"/>
            <a:ext cx="3591560" cy="4781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7685" marR="5080" indent="-515620">
              <a:lnSpc>
                <a:spcPct val="150000"/>
              </a:lnSpc>
              <a:spcBef>
                <a:spcPts val="100"/>
              </a:spcBef>
              <a:tabLst>
                <a:tab pos="527685" algn="l"/>
              </a:tabLst>
            </a:pPr>
            <a:r>
              <a:rPr sz="2600" spc="-25" dirty="0">
                <a:latin typeface="Calibri"/>
                <a:cs typeface="Calibri"/>
              </a:rPr>
              <a:t>6.</a:t>
            </a:r>
            <a:r>
              <a:rPr sz="2600" dirty="0">
                <a:latin typeface="Calibri"/>
                <a:cs typeface="Calibri"/>
              </a:rPr>
              <a:t>	Header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7*1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pitch=2.54 </a:t>
            </a:r>
            <a:r>
              <a:rPr sz="2600" dirty="0">
                <a:latin typeface="Calibri"/>
                <a:cs typeface="Calibri"/>
              </a:rPr>
              <a:t>Pin1: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3V3</a:t>
            </a:r>
            <a:endParaRPr sz="2600" dirty="0">
              <a:latin typeface="Calibri"/>
              <a:cs typeface="Calibri"/>
            </a:endParaRPr>
          </a:p>
          <a:p>
            <a:pPr marL="527685" marR="1455420" algn="just">
              <a:lnSpc>
                <a:spcPct val="150000"/>
              </a:lnSpc>
            </a:pPr>
            <a:r>
              <a:rPr sz="2600" dirty="0">
                <a:latin typeface="Calibri"/>
                <a:cs typeface="Calibri"/>
              </a:rPr>
              <a:t>Pin2:</a:t>
            </a:r>
            <a:r>
              <a:rPr sz="2600" spc="-20" dirty="0">
                <a:latin typeface="Calibri"/>
                <a:cs typeface="Calibri"/>
              </a:rPr>
              <a:t> GPIO0 </a:t>
            </a:r>
            <a:r>
              <a:rPr sz="2600" dirty="0">
                <a:latin typeface="Calibri"/>
                <a:cs typeface="Calibri"/>
              </a:rPr>
              <a:t>Pin3:</a:t>
            </a:r>
            <a:r>
              <a:rPr sz="2600" spc="-20" dirty="0">
                <a:latin typeface="Calibri"/>
                <a:cs typeface="Calibri"/>
              </a:rPr>
              <a:t> GPIO1 </a:t>
            </a:r>
            <a:r>
              <a:rPr sz="2600" dirty="0">
                <a:latin typeface="Calibri"/>
                <a:cs typeface="Calibri"/>
              </a:rPr>
              <a:t>Pin4: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GPIO2</a:t>
            </a:r>
            <a:endParaRPr sz="2600" dirty="0">
              <a:latin typeface="Calibri"/>
              <a:cs typeface="Calibri"/>
            </a:endParaRPr>
          </a:p>
          <a:p>
            <a:pPr marL="527685" marR="554990" algn="just">
              <a:lnSpc>
                <a:spcPct val="150000"/>
              </a:lnSpc>
            </a:pPr>
            <a:r>
              <a:rPr sz="2600" dirty="0">
                <a:latin typeface="Calibri"/>
                <a:cs typeface="Calibri"/>
              </a:rPr>
              <a:t>Pin5: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I2C_M1_SCL </a:t>
            </a:r>
            <a:r>
              <a:rPr sz="2600" dirty="0">
                <a:latin typeface="Calibri"/>
                <a:cs typeface="Calibri"/>
              </a:rPr>
              <a:t>Pin6: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I2C_M1_SDA </a:t>
            </a:r>
            <a:r>
              <a:rPr sz="2600" dirty="0">
                <a:latin typeface="Calibri"/>
                <a:cs typeface="Calibri"/>
              </a:rPr>
              <a:t>Pin7: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GND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7391" y="6041768"/>
            <a:ext cx="468439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7685" algn="l"/>
              </a:tabLst>
            </a:pPr>
            <a:r>
              <a:rPr sz="2600" spc="-25" dirty="0">
                <a:latin typeface="Calibri"/>
                <a:cs typeface="Calibri"/>
              </a:rPr>
              <a:t>7.</a:t>
            </a:r>
            <a:r>
              <a:rPr sz="2600" dirty="0">
                <a:latin typeface="Calibri"/>
                <a:cs typeface="Calibri"/>
              </a:rPr>
              <a:t>	Microphones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(L/R)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at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back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side</a:t>
            </a:r>
            <a:endParaRPr sz="2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203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Comparison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22300" y="1503425"/>
          <a:ext cx="7885430" cy="37039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263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2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8051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Development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Board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WE-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I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Processor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AT89S51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EM9D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Core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8-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bit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FPU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Supply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Voltage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(V)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3.3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Clock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Frequency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(MHz)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 ~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33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34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400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Memory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(Byte)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FLASH: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4K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FLASH: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SRAM: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128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SRAM: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2M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UART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X 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X 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SPI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none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(created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by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firmware)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I2C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none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(created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by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firmware)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master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961133" y="1429511"/>
            <a:ext cx="6118225" cy="5237480"/>
            <a:chOff x="1961133" y="1429511"/>
            <a:chExt cx="6118225" cy="52374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74764" y="1429511"/>
              <a:ext cx="5604091" cy="523744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679191" y="3438144"/>
              <a:ext cx="329565" cy="346075"/>
            </a:xfrm>
            <a:custGeom>
              <a:avLst/>
              <a:gdLst/>
              <a:ahLst/>
              <a:cxnLst/>
              <a:rect l="l" t="t" r="r" b="b"/>
              <a:pathLst>
                <a:path w="329564" h="346075">
                  <a:moveTo>
                    <a:pt x="164591" y="0"/>
                  </a:moveTo>
                  <a:lnTo>
                    <a:pt x="120826" y="6180"/>
                  </a:lnTo>
                  <a:lnTo>
                    <a:pt x="81505" y="23622"/>
                  </a:lnTo>
                  <a:lnTo>
                    <a:pt x="48196" y="50673"/>
                  </a:lnTo>
                  <a:lnTo>
                    <a:pt x="22464" y="85682"/>
                  </a:lnTo>
                  <a:lnTo>
                    <a:pt x="5877" y="127000"/>
                  </a:lnTo>
                  <a:lnTo>
                    <a:pt x="0" y="172973"/>
                  </a:lnTo>
                  <a:lnTo>
                    <a:pt x="5877" y="218947"/>
                  </a:lnTo>
                  <a:lnTo>
                    <a:pt x="22464" y="260265"/>
                  </a:lnTo>
                  <a:lnTo>
                    <a:pt x="48196" y="295274"/>
                  </a:lnTo>
                  <a:lnTo>
                    <a:pt x="81505" y="322325"/>
                  </a:lnTo>
                  <a:lnTo>
                    <a:pt x="120826" y="339767"/>
                  </a:lnTo>
                  <a:lnTo>
                    <a:pt x="164591" y="345947"/>
                  </a:lnTo>
                  <a:lnTo>
                    <a:pt x="208357" y="339767"/>
                  </a:lnTo>
                  <a:lnTo>
                    <a:pt x="247678" y="322325"/>
                  </a:lnTo>
                  <a:lnTo>
                    <a:pt x="280987" y="295274"/>
                  </a:lnTo>
                  <a:lnTo>
                    <a:pt x="306719" y="260265"/>
                  </a:lnTo>
                  <a:lnTo>
                    <a:pt x="323306" y="218947"/>
                  </a:lnTo>
                  <a:lnTo>
                    <a:pt x="329183" y="172973"/>
                  </a:lnTo>
                  <a:lnTo>
                    <a:pt x="323306" y="127000"/>
                  </a:lnTo>
                  <a:lnTo>
                    <a:pt x="306719" y="85682"/>
                  </a:lnTo>
                  <a:lnTo>
                    <a:pt x="280987" y="50673"/>
                  </a:lnTo>
                  <a:lnTo>
                    <a:pt x="247678" y="23622"/>
                  </a:lnTo>
                  <a:lnTo>
                    <a:pt x="208357" y="6180"/>
                  </a:lnTo>
                  <a:lnTo>
                    <a:pt x="164591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679191" y="3438144"/>
              <a:ext cx="329565" cy="346075"/>
            </a:xfrm>
            <a:custGeom>
              <a:avLst/>
              <a:gdLst/>
              <a:ahLst/>
              <a:cxnLst/>
              <a:rect l="l" t="t" r="r" b="b"/>
              <a:pathLst>
                <a:path w="329564" h="346075">
                  <a:moveTo>
                    <a:pt x="0" y="172973"/>
                  </a:moveTo>
                  <a:lnTo>
                    <a:pt x="5877" y="127000"/>
                  </a:lnTo>
                  <a:lnTo>
                    <a:pt x="22464" y="85682"/>
                  </a:lnTo>
                  <a:lnTo>
                    <a:pt x="48196" y="50673"/>
                  </a:lnTo>
                  <a:lnTo>
                    <a:pt x="81505" y="23622"/>
                  </a:lnTo>
                  <a:lnTo>
                    <a:pt x="120826" y="6180"/>
                  </a:lnTo>
                  <a:lnTo>
                    <a:pt x="164591" y="0"/>
                  </a:lnTo>
                  <a:lnTo>
                    <a:pt x="208357" y="6180"/>
                  </a:lnTo>
                  <a:lnTo>
                    <a:pt x="247678" y="23622"/>
                  </a:lnTo>
                  <a:lnTo>
                    <a:pt x="280987" y="50673"/>
                  </a:lnTo>
                  <a:lnTo>
                    <a:pt x="306719" y="85682"/>
                  </a:lnTo>
                  <a:lnTo>
                    <a:pt x="323306" y="127000"/>
                  </a:lnTo>
                  <a:lnTo>
                    <a:pt x="329183" y="172973"/>
                  </a:lnTo>
                  <a:lnTo>
                    <a:pt x="323306" y="218947"/>
                  </a:lnTo>
                  <a:lnTo>
                    <a:pt x="306719" y="260265"/>
                  </a:lnTo>
                  <a:lnTo>
                    <a:pt x="280987" y="295274"/>
                  </a:lnTo>
                  <a:lnTo>
                    <a:pt x="247678" y="322325"/>
                  </a:lnTo>
                  <a:lnTo>
                    <a:pt x="208357" y="339767"/>
                  </a:lnTo>
                  <a:lnTo>
                    <a:pt x="164591" y="345947"/>
                  </a:lnTo>
                  <a:lnTo>
                    <a:pt x="120826" y="339767"/>
                  </a:lnTo>
                  <a:lnTo>
                    <a:pt x="81505" y="322325"/>
                  </a:lnTo>
                  <a:lnTo>
                    <a:pt x="48196" y="295274"/>
                  </a:lnTo>
                  <a:lnTo>
                    <a:pt x="22464" y="260265"/>
                  </a:lnTo>
                  <a:lnTo>
                    <a:pt x="5877" y="218947"/>
                  </a:lnTo>
                  <a:lnTo>
                    <a:pt x="0" y="172973"/>
                  </a:lnTo>
                  <a:close/>
                </a:path>
              </a:pathLst>
            </a:custGeom>
            <a:ln w="12192">
              <a:solidFill>
                <a:srgbClr val="42709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61133" y="3139439"/>
              <a:ext cx="718185" cy="471805"/>
            </a:xfrm>
            <a:custGeom>
              <a:avLst/>
              <a:gdLst/>
              <a:ahLst/>
              <a:cxnLst/>
              <a:rect l="l" t="t" r="r" b="b"/>
              <a:pathLst>
                <a:path w="718185" h="471804">
                  <a:moveTo>
                    <a:pt x="555731" y="402791"/>
                  </a:moveTo>
                  <a:lnTo>
                    <a:pt x="524637" y="451612"/>
                  </a:lnTo>
                  <a:lnTo>
                    <a:pt x="717804" y="471678"/>
                  </a:lnTo>
                  <a:lnTo>
                    <a:pt x="685848" y="418338"/>
                  </a:lnTo>
                  <a:lnTo>
                    <a:pt x="580136" y="418338"/>
                  </a:lnTo>
                  <a:lnTo>
                    <a:pt x="555731" y="402791"/>
                  </a:lnTo>
                  <a:close/>
                </a:path>
                <a:path w="718185" h="471804">
                  <a:moveTo>
                    <a:pt x="586861" y="353914"/>
                  </a:moveTo>
                  <a:lnTo>
                    <a:pt x="555731" y="402791"/>
                  </a:lnTo>
                  <a:lnTo>
                    <a:pt x="580136" y="418338"/>
                  </a:lnTo>
                  <a:lnTo>
                    <a:pt x="611251" y="369443"/>
                  </a:lnTo>
                  <a:lnTo>
                    <a:pt x="586861" y="353914"/>
                  </a:lnTo>
                  <a:close/>
                </a:path>
                <a:path w="718185" h="471804">
                  <a:moveTo>
                    <a:pt x="617982" y="305054"/>
                  </a:moveTo>
                  <a:lnTo>
                    <a:pt x="586861" y="353914"/>
                  </a:lnTo>
                  <a:lnTo>
                    <a:pt x="611251" y="369443"/>
                  </a:lnTo>
                  <a:lnTo>
                    <a:pt x="580136" y="418338"/>
                  </a:lnTo>
                  <a:lnTo>
                    <a:pt x="685848" y="418338"/>
                  </a:lnTo>
                  <a:lnTo>
                    <a:pt x="617982" y="305054"/>
                  </a:lnTo>
                  <a:close/>
                </a:path>
                <a:path w="718185" h="471804">
                  <a:moveTo>
                    <a:pt x="30988" y="0"/>
                  </a:moveTo>
                  <a:lnTo>
                    <a:pt x="0" y="48768"/>
                  </a:lnTo>
                  <a:lnTo>
                    <a:pt x="555731" y="402791"/>
                  </a:lnTo>
                  <a:lnTo>
                    <a:pt x="586861" y="353914"/>
                  </a:lnTo>
                  <a:lnTo>
                    <a:pt x="3098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07542" y="531621"/>
            <a:ext cx="73596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Lab1</a:t>
            </a:r>
            <a:r>
              <a:rPr lang="en-US" altLang="zh-TW" sz="3600" dirty="0"/>
              <a:t>0</a:t>
            </a:r>
            <a:r>
              <a:rPr sz="3600" spc="-50" dirty="0"/>
              <a:t> </a:t>
            </a:r>
            <a:r>
              <a:rPr sz="3600" dirty="0"/>
              <a:t>on</a:t>
            </a:r>
            <a:r>
              <a:rPr sz="3600" spc="-45" dirty="0"/>
              <a:t> </a:t>
            </a:r>
            <a:r>
              <a:rPr sz="3600" dirty="0"/>
              <a:t>Next</a:t>
            </a:r>
            <a:r>
              <a:rPr sz="3600" spc="-45" dirty="0"/>
              <a:t> </a:t>
            </a:r>
            <a:r>
              <a:rPr sz="3600" spc="-10" dirty="0"/>
              <a:t>Tuesday-</a:t>
            </a:r>
            <a:r>
              <a:rPr sz="3600" spc="-60" dirty="0"/>
              <a:t> </a:t>
            </a:r>
            <a:r>
              <a:rPr sz="3600" dirty="0"/>
              <a:t>Ping</a:t>
            </a:r>
            <a:r>
              <a:rPr sz="3600" spc="-40" dirty="0"/>
              <a:t> </a:t>
            </a:r>
            <a:r>
              <a:rPr sz="3600" dirty="0"/>
              <a:t>Pong</a:t>
            </a:r>
            <a:r>
              <a:rPr sz="3600" spc="-45" dirty="0"/>
              <a:t> </a:t>
            </a:r>
            <a:r>
              <a:rPr sz="3600" spc="-65" dirty="0"/>
              <a:t>Test</a:t>
            </a:r>
            <a:endParaRPr sz="3600" dirty="0"/>
          </a:p>
        </p:txBody>
      </p:sp>
      <p:sp>
        <p:nvSpPr>
          <p:cNvPr id="8" name="object 8"/>
          <p:cNvSpPr txBox="1"/>
          <p:nvPr/>
        </p:nvSpPr>
        <p:spPr>
          <a:xfrm>
            <a:off x="200405" y="2716529"/>
            <a:ext cx="1777364" cy="89471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28600">
              <a:lnSpc>
                <a:spcPts val="3005"/>
              </a:lnSpc>
            </a:pPr>
            <a:r>
              <a:rPr sz="2600" dirty="0">
                <a:latin typeface="Calibri"/>
                <a:cs typeface="Calibri"/>
              </a:rPr>
              <a:t>Ping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Pong</a:t>
            </a:r>
            <a:endParaRPr sz="2600">
              <a:latin typeface="Calibri"/>
              <a:cs typeface="Calibri"/>
            </a:endParaRPr>
          </a:p>
          <a:p>
            <a:pPr marL="179705">
              <a:lnSpc>
                <a:spcPct val="100000"/>
              </a:lnSpc>
              <a:spcBef>
                <a:spcPts val="685"/>
              </a:spcBef>
            </a:pPr>
            <a:r>
              <a:rPr sz="2600" dirty="0">
                <a:latin typeface="Calibri"/>
                <a:cs typeface="Calibri"/>
              </a:rPr>
              <a:t>Start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Point</a:t>
            </a:r>
            <a:endParaRPr sz="26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001898" y="2130551"/>
            <a:ext cx="4885055" cy="2923540"/>
            <a:chOff x="3001898" y="2130551"/>
            <a:chExt cx="4885055" cy="2923540"/>
          </a:xfrm>
        </p:grpSpPr>
        <p:sp>
          <p:nvSpPr>
            <p:cNvPr id="10" name="object 10"/>
            <p:cNvSpPr/>
            <p:nvPr/>
          </p:nvSpPr>
          <p:spPr>
            <a:xfrm>
              <a:off x="3001898" y="3579494"/>
              <a:ext cx="2045970" cy="1294765"/>
            </a:xfrm>
            <a:custGeom>
              <a:avLst/>
              <a:gdLst/>
              <a:ahLst/>
              <a:cxnLst/>
              <a:rect l="l" t="t" r="r" b="b"/>
              <a:pathLst>
                <a:path w="2045970" h="1294764">
                  <a:moveTo>
                    <a:pt x="1831404" y="1206168"/>
                  </a:moveTo>
                  <a:lnTo>
                    <a:pt x="1791080" y="1270888"/>
                  </a:lnTo>
                  <a:lnTo>
                    <a:pt x="2045462" y="1294764"/>
                  </a:lnTo>
                  <a:lnTo>
                    <a:pt x="2003536" y="1226311"/>
                  </a:lnTo>
                  <a:lnTo>
                    <a:pt x="1863725" y="1226311"/>
                  </a:lnTo>
                  <a:lnTo>
                    <a:pt x="1831404" y="1206168"/>
                  </a:lnTo>
                  <a:close/>
                </a:path>
                <a:path w="2045970" h="1294764">
                  <a:moveTo>
                    <a:pt x="1871676" y="1141530"/>
                  </a:moveTo>
                  <a:lnTo>
                    <a:pt x="1831404" y="1206168"/>
                  </a:lnTo>
                  <a:lnTo>
                    <a:pt x="1863725" y="1226311"/>
                  </a:lnTo>
                  <a:lnTo>
                    <a:pt x="1903984" y="1161668"/>
                  </a:lnTo>
                  <a:lnTo>
                    <a:pt x="1871676" y="1141530"/>
                  </a:lnTo>
                  <a:close/>
                </a:path>
                <a:path w="2045970" h="1294764">
                  <a:moveTo>
                    <a:pt x="1911985" y="1076832"/>
                  </a:moveTo>
                  <a:lnTo>
                    <a:pt x="1871676" y="1141530"/>
                  </a:lnTo>
                  <a:lnTo>
                    <a:pt x="1903984" y="1161668"/>
                  </a:lnTo>
                  <a:lnTo>
                    <a:pt x="1863725" y="1226311"/>
                  </a:lnTo>
                  <a:lnTo>
                    <a:pt x="2003536" y="1226311"/>
                  </a:lnTo>
                  <a:lnTo>
                    <a:pt x="1911985" y="1076832"/>
                  </a:lnTo>
                  <a:close/>
                </a:path>
                <a:path w="2045970" h="1294764">
                  <a:moveTo>
                    <a:pt x="40386" y="0"/>
                  </a:moveTo>
                  <a:lnTo>
                    <a:pt x="0" y="64769"/>
                  </a:lnTo>
                  <a:lnTo>
                    <a:pt x="1831404" y="1206168"/>
                  </a:lnTo>
                  <a:lnTo>
                    <a:pt x="1871676" y="1141530"/>
                  </a:lnTo>
                  <a:lnTo>
                    <a:pt x="40386" y="0"/>
                  </a:lnTo>
                  <a:close/>
                </a:path>
              </a:pathLst>
            </a:custGeom>
            <a:solidFill>
              <a:srgbClr val="2D75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047488" y="4701539"/>
              <a:ext cx="329565" cy="346075"/>
            </a:xfrm>
            <a:custGeom>
              <a:avLst/>
              <a:gdLst/>
              <a:ahLst/>
              <a:cxnLst/>
              <a:rect l="l" t="t" r="r" b="b"/>
              <a:pathLst>
                <a:path w="329564" h="346075">
                  <a:moveTo>
                    <a:pt x="164591" y="0"/>
                  </a:moveTo>
                  <a:lnTo>
                    <a:pt x="120826" y="6180"/>
                  </a:lnTo>
                  <a:lnTo>
                    <a:pt x="81505" y="23622"/>
                  </a:lnTo>
                  <a:lnTo>
                    <a:pt x="48196" y="50673"/>
                  </a:lnTo>
                  <a:lnTo>
                    <a:pt x="22464" y="85682"/>
                  </a:lnTo>
                  <a:lnTo>
                    <a:pt x="5877" y="127000"/>
                  </a:lnTo>
                  <a:lnTo>
                    <a:pt x="0" y="172974"/>
                  </a:lnTo>
                  <a:lnTo>
                    <a:pt x="5877" y="218948"/>
                  </a:lnTo>
                  <a:lnTo>
                    <a:pt x="22464" y="260265"/>
                  </a:lnTo>
                  <a:lnTo>
                    <a:pt x="48196" y="295275"/>
                  </a:lnTo>
                  <a:lnTo>
                    <a:pt x="81505" y="322325"/>
                  </a:lnTo>
                  <a:lnTo>
                    <a:pt x="120826" y="339767"/>
                  </a:lnTo>
                  <a:lnTo>
                    <a:pt x="164591" y="345948"/>
                  </a:lnTo>
                  <a:lnTo>
                    <a:pt x="208357" y="339767"/>
                  </a:lnTo>
                  <a:lnTo>
                    <a:pt x="247678" y="322325"/>
                  </a:lnTo>
                  <a:lnTo>
                    <a:pt x="280987" y="295275"/>
                  </a:lnTo>
                  <a:lnTo>
                    <a:pt x="306719" y="260265"/>
                  </a:lnTo>
                  <a:lnTo>
                    <a:pt x="323306" y="218948"/>
                  </a:lnTo>
                  <a:lnTo>
                    <a:pt x="329184" y="172974"/>
                  </a:lnTo>
                  <a:lnTo>
                    <a:pt x="323306" y="127000"/>
                  </a:lnTo>
                  <a:lnTo>
                    <a:pt x="306719" y="85682"/>
                  </a:lnTo>
                  <a:lnTo>
                    <a:pt x="280987" y="50673"/>
                  </a:lnTo>
                  <a:lnTo>
                    <a:pt x="247678" y="23622"/>
                  </a:lnTo>
                  <a:lnTo>
                    <a:pt x="208357" y="6180"/>
                  </a:lnTo>
                  <a:lnTo>
                    <a:pt x="164591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047488" y="4701539"/>
              <a:ext cx="329565" cy="346075"/>
            </a:xfrm>
            <a:custGeom>
              <a:avLst/>
              <a:gdLst/>
              <a:ahLst/>
              <a:cxnLst/>
              <a:rect l="l" t="t" r="r" b="b"/>
              <a:pathLst>
                <a:path w="329564" h="346075">
                  <a:moveTo>
                    <a:pt x="0" y="172974"/>
                  </a:moveTo>
                  <a:lnTo>
                    <a:pt x="5877" y="127000"/>
                  </a:lnTo>
                  <a:lnTo>
                    <a:pt x="22464" y="85682"/>
                  </a:lnTo>
                  <a:lnTo>
                    <a:pt x="48196" y="50673"/>
                  </a:lnTo>
                  <a:lnTo>
                    <a:pt x="81505" y="23622"/>
                  </a:lnTo>
                  <a:lnTo>
                    <a:pt x="120826" y="6180"/>
                  </a:lnTo>
                  <a:lnTo>
                    <a:pt x="164591" y="0"/>
                  </a:lnTo>
                  <a:lnTo>
                    <a:pt x="208357" y="6180"/>
                  </a:lnTo>
                  <a:lnTo>
                    <a:pt x="247678" y="23622"/>
                  </a:lnTo>
                  <a:lnTo>
                    <a:pt x="280987" y="50673"/>
                  </a:lnTo>
                  <a:lnTo>
                    <a:pt x="306719" y="85682"/>
                  </a:lnTo>
                  <a:lnTo>
                    <a:pt x="323306" y="127000"/>
                  </a:lnTo>
                  <a:lnTo>
                    <a:pt x="329184" y="172974"/>
                  </a:lnTo>
                  <a:lnTo>
                    <a:pt x="323306" y="218948"/>
                  </a:lnTo>
                  <a:lnTo>
                    <a:pt x="306719" y="260265"/>
                  </a:lnTo>
                  <a:lnTo>
                    <a:pt x="280987" y="295275"/>
                  </a:lnTo>
                  <a:lnTo>
                    <a:pt x="247678" y="322325"/>
                  </a:lnTo>
                  <a:lnTo>
                    <a:pt x="208357" y="339767"/>
                  </a:lnTo>
                  <a:lnTo>
                    <a:pt x="164591" y="345948"/>
                  </a:lnTo>
                  <a:lnTo>
                    <a:pt x="120826" y="339767"/>
                  </a:lnTo>
                  <a:lnTo>
                    <a:pt x="81505" y="322325"/>
                  </a:lnTo>
                  <a:lnTo>
                    <a:pt x="48196" y="295275"/>
                  </a:lnTo>
                  <a:lnTo>
                    <a:pt x="22464" y="260265"/>
                  </a:lnTo>
                  <a:lnTo>
                    <a:pt x="5877" y="218948"/>
                  </a:lnTo>
                  <a:lnTo>
                    <a:pt x="0" y="172974"/>
                  </a:lnTo>
                  <a:close/>
                </a:path>
              </a:pathLst>
            </a:custGeom>
            <a:ln w="12192">
              <a:solidFill>
                <a:srgbClr val="42709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357367" y="3610355"/>
              <a:ext cx="2169795" cy="1297305"/>
            </a:xfrm>
            <a:custGeom>
              <a:avLst/>
              <a:gdLst/>
              <a:ahLst/>
              <a:cxnLst/>
              <a:rect l="l" t="t" r="r" b="b"/>
              <a:pathLst>
                <a:path w="2169795" h="1297304">
                  <a:moveTo>
                    <a:pt x="1953055" y="83058"/>
                  </a:moveTo>
                  <a:lnTo>
                    <a:pt x="0" y="1231011"/>
                  </a:lnTo>
                  <a:lnTo>
                    <a:pt x="38608" y="1296797"/>
                  </a:lnTo>
                  <a:lnTo>
                    <a:pt x="1991646" y="148729"/>
                  </a:lnTo>
                  <a:lnTo>
                    <a:pt x="1953055" y="83058"/>
                  </a:lnTo>
                  <a:close/>
                </a:path>
                <a:path w="2169795" h="1297304">
                  <a:moveTo>
                    <a:pt x="2128019" y="63754"/>
                  </a:moveTo>
                  <a:lnTo>
                    <a:pt x="1985899" y="63754"/>
                  </a:lnTo>
                  <a:lnTo>
                    <a:pt x="2024507" y="129413"/>
                  </a:lnTo>
                  <a:lnTo>
                    <a:pt x="1991646" y="148729"/>
                  </a:lnTo>
                  <a:lnTo>
                    <a:pt x="2030222" y="214376"/>
                  </a:lnTo>
                  <a:lnTo>
                    <a:pt x="2128019" y="63754"/>
                  </a:lnTo>
                  <a:close/>
                </a:path>
                <a:path w="2169795" h="1297304">
                  <a:moveTo>
                    <a:pt x="1985899" y="63754"/>
                  </a:moveTo>
                  <a:lnTo>
                    <a:pt x="1953055" y="83058"/>
                  </a:lnTo>
                  <a:lnTo>
                    <a:pt x="1991646" y="148729"/>
                  </a:lnTo>
                  <a:lnTo>
                    <a:pt x="2024507" y="129413"/>
                  </a:lnTo>
                  <a:lnTo>
                    <a:pt x="1985899" y="63754"/>
                  </a:lnTo>
                  <a:close/>
                </a:path>
                <a:path w="2169795" h="1297304">
                  <a:moveTo>
                    <a:pt x="2169414" y="0"/>
                  </a:moveTo>
                  <a:lnTo>
                    <a:pt x="1914398" y="17272"/>
                  </a:lnTo>
                  <a:lnTo>
                    <a:pt x="1953055" y="83058"/>
                  </a:lnTo>
                  <a:lnTo>
                    <a:pt x="1985899" y="63754"/>
                  </a:lnTo>
                  <a:lnTo>
                    <a:pt x="2128019" y="63754"/>
                  </a:lnTo>
                  <a:lnTo>
                    <a:pt x="2169414" y="0"/>
                  </a:lnTo>
                  <a:close/>
                </a:path>
              </a:pathLst>
            </a:custGeom>
            <a:solidFill>
              <a:srgbClr val="2D75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551420" y="3438143"/>
              <a:ext cx="329565" cy="346075"/>
            </a:xfrm>
            <a:custGeom>
              <a:avLst/>
              <a:gdLst/>
              <a:ahLst/>
              <a:cxnLst/>
              <a:rect l="l" t="t" r="r" b="b"/>
              <a:pathLst>
                <a:path w="329565" h="346075">
                  <a:moveTo>
                    <a:pt x="164591" y="0"/>
                  </a:moveTo>
                  <a:lnTo>
                    <a:pt x="120826" y="6180"/>
                  </a:lnTo>
                  <a:lnTo>
                    <a:pt x="81505" y="23622"/>
                  </a:lnTo>
                  <a:lnTo>
                    <a:pt x="48196" y="50673"/>
                  </a:lnTo>
                  <a:lnTo>
                    <a:pt x="22464" y="85682"/>
                  </a:lnTo>
                  <a:lnTo>
                    <a:pt x="5877" y="127000"/>
                  </a:lnTo>
                  <a:lnTo>
                    <a:pt x="0" y="172973"/>
                  </a:lnTo>
                  <a:lnTo>
                    <a:pt x="5877" y="218947"/>
                  </a:lnTo>
                  <a:lnTo>
                    <a:pt x="22464" y="260265"/>
                  </a:lnTo>
                  <a:lnTo>
                    <a:pt x="48196" y="295274"/>
                  </a:lnTo>
                  <a:lnTo>
                    <a:pt x="81505" y="322325"/>
                  </a:lnTo>
                  <a:lnTo>
                    <a:pt x="120826" y="339767"/>
                  </a:lnTo>
                  <a:lnTo>
                    <a:pt x="164591" y="345947"/>
                  </a:lnTo>
                  <a:lnTo>
                    <a:pt x="208357" y="339767"/>
                  </a:lnTo>
                  <a:lnTo>
                    <a:pt x="247678" y="322325"/>
                  </a:lnTo>
                  <a:lnTo>
                    <a:pt x="280987" y="295274"/>
                  </a:lnTo>
                  <a:lnTo>
                    <a:pt x="306719" y="260265"/>
                  </a:lnTo>
                  <a:lnTo>
                    <a:pt x="323306" y="218947"/>
                  </a:lnTo>
                  <a:lnTo>
                    <a:pt x="329183" y="172973"/>
                  </a:lnTo>
                  <a:lnTo>
                    <a:pt x="323306" y="127000"/>
                  </a:lnTo>
                  <a:lnTo>
                    <a:pt x="306719" y="85682"/>
                  </a:lnTo>
                  <a:lnTo>
                    <a:pt x="280987" y="50673"/>
                  </a:lnTo>
                  <a:lnTo>
                    <a:pt x="247678" y="23622"/>
                  </a:lnTo>
                  <a:lnTo>
                    <a:pt x="208357" y="6180"/>
                  </a:lnTo>
                  <a:lnTo>
                    <a:pt x="164591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551420" y="3438143"/>
              <a:ext cx="329565" cy="346075"/>
            </a:xfrm>
            <a:custGeom>
              <a:avLst/>
              <a:gdLst/>
              <a:ahLst/>
              <a:cxnLst/>
              <a:rect l="l" t="t" r="r" b="b"/>
              <a:pathLst>
                <a:path w="329565" h="346075">
                  <a:moveTo>
                    <a:pt x="0" y="172973"/>
                  </a:moveTo>
                  <a:lnTo>
                    <a:pt x="5877" y="127000"/>
                  </a:lnTo>
                  <a:lnTo>
                    <a:pt x="22464" y="85682"/>
                  </a:lnTo>
                  <a:lnTo>
                    <a:pt x="48196" y="50673"/>
                  </a:lnTo>
                  <a:lnTo>
                    <a:pt x="81505" y="23622"/>
                  </a:lnTo>
                  <a:lnTo>
                    <a:pt x="120826" y="6180"/>
                  </a:lnTo>
                  <a:lnTo>
                    <a:pt x="164591" y="0"/>
                  </a:lnTo>
                  <a:lnTo>
                    <a:pt x="208357" y="6180"/>
                  </a:lnTo>
                  <a:lnTo>
                    <a:pt x="247678" y="23622"/>
                  </a:lnTo>
                  <a:lnTo>
                    <a:pt x="280987" y="50673"/>
                  </a:lnTo>
                  <a:lnTo>
                    <a:pt x="306719" y="85682"/>
                  </a:lnTo>
                  <a:lnTo>
                    <a:pt x="323306" y="127000"/>
                  </a:lnTo>
                  <a:lnTo>
                    <a:pt x="329183" y="172973"/>
                  </a:lnTo>
                  <a:lnTo>
                    <a:pt x="323306" y="218947"/>
                  </a:lnTo>
                  <a:lnTo>
                    <a:pt x="306719" y="260265"/>
                  </a:lnTo>
                  <a:lnTo>
                    <a:pt x="280987" y="295274"/>
                  </a:lnTo>
                  <a:lnTo>
                    <a:pt x="247678" y="322325"/>
                  </a:lnTo>
                  <a:lnTo>
                    <a:pt x="208357" y="339767"/>
                  </a:lnTo>
                  <a:lnTo>
                    <a:pt x="164591" y="345947"/>
                  </a:lnTo>
                  <a:lnTo>
                    <a:pt x="120826" y="339767"/>
                  </a:lnTo>
                  <a:lnTo>
                    <a:pt x="81505" y="322325"/>
                  </a:lnTo>
                  <a:lnTo>
                    <a:pt x="48196" y="295274"/>
                  </a:lnTo>
                  <a:lnTo>
                    <a:pt x="22464" y="260265"/>
                  </a:lnTo>
                  <a:lnTo>
                    <a:pt x="5877" y="218947"/>
                  </a:lnTo>
                  <a:lnTo>
                    <a:pt x="0" y="172973"/>
                  </a:lnTo>
                  <a:close/>
                </a:path>
              </a:pathLst>
            </a:custGeom>
            <a:ln w="12192">
              <a:solidFill>
                <a:srgbClr val="42709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376672" y="2324099"/>
              <a:ext cx="2193925" cy="1319530"/>
            </a:xfrm>
            <a:custGeom>
              <a:avLst/>
              <a:gdLst/>
              <a:ahLst/>
              <a:cxnLst/>
              <a:rect l="l" t="t" r="r" b="b"/>
              <a:pathLst>
                <a:path w="2193925" h="1319529">
                  <a:moveTo>
                    <a:pt x="216104" y="83620"/>
                  </a:moveTo>
                  <a:lnTo>
                    <a:pt x="177322" y="149202"/>
                  </a:lnTo>
                  <a:lnTo>
                    <a:pt x="2154935" y="1319530"/>
                  </a:lnTo>
                  <a:lnTo>
                    <a:pt x="2193798" y="1253871"/>
                  </a:lnTo>
                  <a:lnTo>
                    <a:pt x="216104" y="83620"/>
                  </a:lnTo>
                  <a:close/>
                </a:path>
                <a:path w="2193925" h="1319529">
                  <a:moveTo>
                    <a:pt x="0" y="0"/>
                  </a:moveTo>
                  <a:lnTo>
                    <a:pt x="138556" y="214757"/>
                  </a:lnTo>
                  <a:lnTo>
                    <a:pt x="177322" y="149202"/>
                  </a:lnTo>
                  <a:lnTo>
                    <a:pt x="144525" y="129794"/>
                  </a:lnTo>
                  <a:lnTo>
                    <a:pt x="183387" y="64262"/>
                  </a:lnTo>
                  <a:lnTo>
                    <a:pt x="227552" y="64262"/>
                  </a:lnTo>
                  <a:lnTo>
                    <a:pt x="254888" y="18034"/>
                  </a:lnTo>
                  <a:lnTo>
                    <a:pt x="0" y="0"/>
                  </a:lnTo>
                  <a:close/>
                </a:path>
                <a:path w="2193925" h="1319529">
                  <a:moveTo>
                    <a:pt x="183387" y="64262"/>
                  </a:moveTo>
                  <a:lnTo>
                    <a:pt x="144525" y="129794"/>
                  </a:lnTo>
                  <a:lnTo>
                    <a:pt x="177322" y="149202"/>
                  </a:lnTo>
                  <a:lnTo>
                    <a:pt x="216104" y="83620"/>
                  </a:lnTo>
                  <a:lnTo>
                    <a:pt x="183387" y="64262"/>
                  </a:lnTo>
                  <a:close/>
                </a:path>
                <a:path w="2193925" h="1319529">
                  <a:moveTo>
                    <a:pt x="227552" y="64262"/>
                  </a:moveTo>
                  <a:lnTo>
                    <a:pt x="183387" y="64262"/>
                  </a:lnTo>
                  <a:lnTo>
                    <a:pt x="216104" y="83620"/>
                  </a:lnTo>
                  <a:lnTo>
                    <a:pt x="227552" y="64262"/>
                  </a:lnTo>
                  <a:close/>
                </a:path>
              </a:pathLst>
            </a:custGeom>
            <a:solidFill>
              <a:srgbClr val="2D75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047488" y="2136647"/>
              <a:ext cx="329565" cy="346075"/>
            </a:xfrm>
            <a:custGeom>
              <a:avLst/>
              <a:gdLst/>
              <a:ahLst/>
              <a:cxnLst/>
              <a:rect l="l" t="t" r="r" b="b"/>
              <a:pathLst>
                <a:path w="329564" h="346075">
                  <a:moveTo>
                    <a:pt x="164591" y="0"/>
                  </a:moveTo>
                  <a:lnTo>
                    <a:pt x="120826" y="6180"/>
                  </a:lnTo>
                  <a:lnTo>
                    <a:pt x="81505" y="23622"/>
                  </a:lnTo>
                  <a:lnTo>
                    <a:pt x="48196" y="50673"/>
                  </a:lnTo>
                  <a:lnTo>
                    <a:pt x="22464" y="85682"/>
                  </a:lnTo>
                  <a:lnTo>
                    <a:pt x="5877" y="127000"/>
                  </a:lnTo>
                  <a:lnTo>
                    <a:pt x="0" y="172974"/>
                  </a:lnTo>
                  <a:lnTo>
                    <a:pt x="5877" y="218948"/>
                  </a:lnTo>
                  <a:lnTo>
                    <a:pt x="22464" y="260265"/>
                  </a:lnTo>
                  <a:lnTo>
                    <a:pt x="48196" y="295275"/>
                  </a:lnTo>
                  <a:lnTo>
                    <a:pt x="81505" y="322325"/>
                  </a:lnTo>
                  <a:lnTo>
                    <a:pt x="120826" y="339767"/>
                  </a:lnTo>
                  <a:lnTo>
                    <a:pt x="164591" y="345948"/>
                  </a:lnTo>
                  <a:lnTo>
                    <a:pt x="208357" y="339767"/>
                  </a:lnTo>
                  <a:lnTo>
                    <a:pt x="247678" y="322325"/>
                  </a:lnTo>
                  <a:lnTo>
                    <a:pt x="280987" y="295275"/>
                  </a:lnTo>
                  <a:lnTo>
                    <a:pt x="306719" y="260265"/>
                  </a:lnTo>
                  <a:lnTo>
                    <a:pt x="323306" y="218948"/>
                  </a:lnTo>
                  <a:lnTo>
                    <a:pt x="329184" y="172974"/>
                  </a:lnTo>
                  <a:lnTo>
                    <a:pt x="323306" y="127000"/>
                  </a:lnTo>
                  <a:lnTo>
                    <a:pt x="306719" y="85682"/>
                  </a:lnTo>
                  <a:lnTo>
                    <a:pt x="280987" y="50673"/>
                  </a:lnTo>
                  <a:lnTo>
                    <a:pt x="247678" y="23622"/>
                  </a:lnTo>
                  <a:lnTo>
                    <a:pt x="208357" y="6180"/>
                  </a:lnTo>
                  <a:lnTo>
                    <a:pt x="164591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047488" y="2136647"/>
              <a:ext cx="329565" cy="346075"/>
            </a:xfrm>
            <a:custGeom>
              <a:avLst/>
              <a:gdLst/>
              <a:ahLst/>
              <a:cxnLst/>
              <a:rect l="l" t="t" r="r" b="b"/>
              <a:pathLst>
                <a:path w="329564" h="346075">
                  <a:moveTo>
                    <a:pt x="0" y="172974"/>
                  </a:moveTo>
                  <a:lnTo>
                    <a:pt x="5877" y="127000"/>
                  </a:lnTo>
                  <a:lnTo>
                    <a:pt x="22464" y="85682"/>
                  </a:lnTo>
                  <a:lnTo>
                    <a:pt x="48196" y="50673"/>
                  </a:lnTo>
                  <a:lnTo>
                    <a:pt x="81505" y="23622"/>
                  </a:lnTo>
                  <a:lnTo>
                    <a:pt x="120826" y="6180"/>
                  </a:lnTo>
                  <a:lnTo>
                    <a:pt x="164591" y="0"/>
                  </a:lnTo>
                  <a:lnTo>
                    <a:pt x="208357" y="6180"/>
                  </a:lnTo>
                  <a:lnTo>
                    <a:pt x="247678" y="23622"/>
                  </a:lnTo>
                  <a:lnTo>
                    <a:pt x="280987" y="50673"/>
                  </a:lnTo>
                  <a:lnTo>
                    <a:pt x="306719" y="85682"/>
                  </a:lnTo>
                  <a:lnTo>
                    <a:pt x="323306" y="127000"/>
                  </a:lnTo>
                  <a:lnTo>
                    <a:pt x="329184" y="172974"/>
                  </a:lnTo>
                  <a:lnTo>
                    <a:pt x="323306" y="218948"/>
                  </a:lnTo>
                  <a:lnTo>
                    <a:pt x="306719" y="260265"/>
                  </a:lnTo>
                  <a:lnTo>
                    <a:pt x="280987" y="295275"/>
                  </a:lnTo>
                  <a:lnTo>
                    <a:pt x="247678" y="322325"/>
                  </a:lnTo>
                  <a:lnTo>
                    <a:pt x="208357" y="339767"/>
                  </a:lnTo>
                  <a:lnTo>
                    <a:pt x="164591" y="345948"/>
                  </a:lnTo>
                  <a:lnTo>
                    <a:pt x="120826" y="339767"/>
                  </a:lnTo>
                  <a:lnTo>
                    <a:pt x="81505" y="322325"/>
                  </a:lnTo>
                  <a:lnTo>
                    <a:pt x="48196" y="295275"/>
                  </a:lnTo>
                  <a:lnTo>
                    <a:pt x="22464" y="260265"/>
                  </a:lnTo>
                  <a:lnTo>
                    <a:pt x="5877" y="218948"/>
                  </a:lnTo>
                  <a:lnTo>
                    <a:pt x="0" y="172974"/>
                  </a:lnTo>
                  <a:close/>
                </a:path>
              </a:pathLst>
            </a:custGeom>
            <a:ln w="12192">
              <a:solidFill>
                <a:srgbClr val="42709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005327" y="2276728"/>
              <a:ext cx="2061845" cy="1337310"/>
            </a:xfrm>
            <a:custGeom>
              <a:avLst/>
              <a:gdLst/>
              <a:ahLst/>
              <a:cxnLst/>
              <a:rect l="l" t="t" r="r" b="b"/>
              <a:pathLst>
                <a:path w="2061845" h="1337310">
                  <a:moveTo>
                    <a:pt x="131064" y="1117346"/>
                  </a:moveTo>
                  <a:lnTo>
                    <a:pt x="0" y="1336802"/>
                  </a:lnTo>
                  <a:lnTo>
                    <a:pt x="254126" y="1310005"/>
                  </a:lnTo>
                  <a:lnTo>
                    <a:pt x="226220" y="1266317"/>
                  </a:lnTo>
                  <a:lnTo>
                    <a:pt x="180975" y="1266317"/>
                  </a:lnTo>
                  <a:lnTo>
                    <a:pt x="139954" y="1202182"/>
                  </a:lnTo>
                  <a:lnTo>
                    <a:pt x="172119" y="1181619"/>
                  </a:lnTo>
                  <a:lnTo>
                    <a:pt x="131064" y="1117346"/>
                  </a:lnTo>
                  <a:close/>
                </a:path>
                <a:path w="2061845" h="1337310">
                  <a:moveTo>
                    <a:pt x="172119" y="1181619"/>
                  </a:moveTo>
                  <a:lnTo>
                    <a:pt x="139954" y="1202182"/>
                  </a:lnTo>
                  <a:lnTo>
                    <a:pt x="180975" y="1266317"/>
                  </a:lnTo>
                  <a:lnTo>
                    <a:pt x="213102" y="1245780"/>
                  </a:lnTo>
                  <a:lnTo>
                    <a:pt x="172119" y="1181619"/>
                  </a:lnTo>
                  <a:close/>
                </a:path>
                <a:path w="2061845" h="1337310">
                  <a:moveTo>
                    <a:pt x="213102" y="1245780"/>
                  </a:moveTo>
                  <a:lnTo>
                    <a:pt x="180975" y="1266317"/>
                  </a:lnTo>
                  <a:lnTo>
                    <a:pt x="226220" y="1266317"/>
                  </a:lnTo>
                  <a:lnTo>
                    <a:pt x="213102" y="1245780"/>
                  </a:lnTo>
                  <a:close/>
                </a:path>
                <a:path w="2061845" h="1337310">
                  <a:moveTo>
                    <a:pt x="2020443" y="0"/>
                  </a:moveTo>
                  <a:lnTo>
                    <a:pt x="172119" y="1181619"/>
                  </a:lnTo>
                  <a:lnTo>
                    <a:pt x="213102" y="1245780"/>
                  </a:lnTo>
                  <a:lnTo>
                    <a:pt x="2061464" y="64262"/>
                  </a:lnTo>
                  <a:lnTo>
                    <a:pt x="2020443" y="0"/>
                  </a:lnTo>
                  <a:close/>
                </a:path>
              </a:pathLst>
            </a:custGeom>
            <a:solidFill>
              <a:srgbClr val="2D75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0574" y="4645914"/>
            <a:ext cx="2466340" cy="8064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89535" marR="127635">
              <a:lnSpc>
                <a:spcPts val="2810"/>
              </a:lnSpc>
              <a:spcBef>
                <a:spcPts val="235"/>
              </a:spcBef>
            </a:pPr>
            <a:r>
              <a:rPr sz="2600" dirty="0">
                <a:latin typeface="Calibri"/>
                <a:cs typeface="Calibri"/>
              </a:rPr>
              <a:t>Rebound</a:t>
            </a:r>
            <a:r>
              <a:rPr sz="2600" spc="-10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after </a:t>
            </a:r>
            <a:r>
              <a:rPr sz="2600" dirty="0">
                <a:latin typeface="Calibri"/>
                <a:cs typeface="Calibri"/>
              </a:rPr>
              <a:t>hitting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boundary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271772" y="2226562"/>
            <a:ext cx="4902200" cy="4580890"/>
            <a:chOff x="3271772" y="2226562"/>
            <a:chExt cx="4902200" cy="45808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71772" y="2226562"/>
              <a:ext cx="4902170" cy="458031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456431" y="3915156"/>
              <a:ext cx="329565" cy="346075"/>
            </a:xfrm>
            <a:custGeom>
              <a:avLst/>
              <a:gdLst/>
              <a:ahLst/>
              <a:cxnLst/>
              <a:rect l="l" t="t" r="r" b="b"/>
              <a:pathLst>
                <a:path w="329564" h="346075">
                  <a:moveTo>
                    <a:pt x="164591" y="0"/>
                  </a:moveTo>
                  <a:lnTo>
                    <a:pt x="120826" y="6180"/>
                  </a:lnTo>
                  <a:lnTo>
                    <a:pt x="81505" y="23622"/>
                  </a:lnTo>
                  <a:lnTo>
                    <a:pt x="48196" y="50673"/>
                  </a:lnTo>
                  <a:lnTo>
                    <a:pt x="22464" y="85682"/>
                  </a:lnTo>
                  <a:lnTo>
                    <a:pt x="5877" y="127000"/>
                  </a:lnTo>
                  <a:lnTo>
                    <a:pt x="0" y="172974"/>
                  </a:lnTo>
                  <a:lnTo>
                    <a:pt x="5877" y="218948"/>
                  </a:lnTo>
                  <a:lnTo>
                    <a:pt x="22464" y="260265"/>
                  </a:lnTo>
                  <a:lnTo>
                    <a:pt x="48196" y="295275"/>
                  </a:lnTo>
                  <a:lnTo>
                    <a:pt x="81505" y="322326"/>
                  </a:lnTo>
                  <a:lnTo>
                    <a:pt x="120826" y="339767"/>
                  </a:lnTo>
                  <a:lnTo>
                    <a:pt x="164591" y="345948"/>
                  </a:lnTo>
                  <a:lnTo>
                    <a:pt x="208357" y="339767"/>
                  </a:lnTo>
                  <a:lnTo>
                    <a:pt x="247678" y="322326"/>
                  </a:lnTo>
                  <a:lnTo>
                    <a:pt x="280987" y="295275"/>
                  </a:lnTo>
                  <a:lnTo>
                    <a:pt x="306719" y="260265"/>
                  </a:lnTo>
                  <a:lnTo>
                    <a:pt x="323306" y="218948"/>
                  </a:lnTo>
                  <a:lnTo>
                    <a:pt x="329183" y="172974"/>
                  </a:lnTo>
                  <a:lnTo>
                    <a:pt x="323306" y="127000"/>
                  </a:lnTo>
                  <a:lnTo>
                    <a:pt x="306719" y="85682"/>
                  </a:lnTo>
                  <a:lnTo>
                    <a:pt x="280987" y="50673"/>
                  </a:lnTo>
                  <a:lnTo>
                    <a:pt x="247678" y="23622"/>
                  </a:lnTo>
                  <a:lnTo>
                    <a:pt x="208357" y="6180"/>
                  </a:lnTo>
                  <a:lnTo>
                    <a:pt x="164591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456431" y="3915156"/>
              <a:ext cx="329565" cy="346075"/>
            </a:xfrm>
            <a:custGeom>
              <a:avLst/>
              <a:gdLst/>
              <a:ahLst/>
              <a:cxnLst/>
              <a:rect l="l" t="t" r="r" b="b"/>
              <a:pathLst>
                <a:path w="329564" h="346075">
                  <a:moveTo>
                    <a:pt x="0" y="172974"/>
                  </a:moveTo>
                  <a:lnTo>
                    <a:pt x="5877" y="127000"/>
                  </a:lnTo>
                  <a:lnTo>
                    <a:pt x="22464" y="85682"/>
                  </a:lnTo>
                  <a:lnTo>
                    <a:pt x="48196" y="50673"/>
                  </a:lnTo>
                  <a:lnTo>
                    <a:pt x="81505" y="23622"/>
                  </a:lnTo>
                  <a:lnTo>
                    <a:pt x="120826" y="6180"/>
                  </a:lnTo>
                  <a:lnTo>
                    <a:pt x="164591" y="0"/>
                  </a:lnTo>
                  <a:lnTo>
                    <a:pt x="208357" y="6180"/>
                  </a:lnTo>
                  <a:lnTo>
                    <a:pt x="247678" y="23622"/>
                  </a:lnTo>
                  <a:lnTo>
                    <a:pt x="280987" y="50673"/>
                  </a:lnTo>
                  <a:lnTo>
                    <a:pt x="306719" y="85682"/>
                  </a:lnTo>
                  <a:lnTo>
                    <a:pt x="323306" y="127000"/>
                  </a:lnTo>
                  <a:lnTo>
                    <a:pt x="329183" y="172974"/>
                  </a:lnTo>
                  <a:lnTo>
                    <a:pt x="323306" y="218948"/>
                  </a:lnTo>
                  <a:lnTo>
                    <a:pt x="306719" y="260265"/>
                  </a:lnTo>
                  <a:lnTo>
                    <a:pt x="280987" y="295275"/>
                  </a:lnTo>
                  <a:lnTo>
                    <a:pt x="247678" y="322326"/>
                  </a:lnTo>
                  <a:lnTo>
                    <a:pt x="208357" y="339767"/>
                  </a:lnTo>
                  <a:lnTo>
                    <a:pt x="164591" y="345948"/>
                  </a:lnTo>
                  <a:lnTo>
                    <a:pt x="120826" y="339767"/>
                  </a:lnTo>
                  <a:lnTo>
                    <a:pt x="81505" y="322326"/>
                  </a:lnTo>
                  <a:lnTo>
                    <a:pt x="48196" y="295275"/>
                  </a:lnTo>
                  <a:lnTo>
                    <a:pt x="22464" y="260265"/>
                  </a:lnTo>
                  <a:lnTo>
                    <a:pt x="5877" y="218948"/>
                  </a:lnTo>
                  <a:lnTo>
                    <a:pt x="0" y="172974"/>
                  </a:lnTo>
                  <a:close/>
                </a:path>
              </a:pathLst>
            </a:custGeom>
            <a:ln w="12192">
              <a:solidFill>
                <a:srgbClr val="42709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07542" y="497839"/>
            <a:ext cx="7576184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950" dirty="0"/>
              <a:t>Lab</a:t>
            </a:r>
            <a:r>
              <a:rPr sz="3950" spc="-70" dirty="0"/>
              <a:t> </a:t>
            </a:r>
            <a:r>
              <a:rPr sz="3950" dirty="0"/>
              <a:t>on</a:t>
            </a:r>
            <a:r>
              <a:rPr sz="3950" spc="-65" dirty="0"/>
              <a:t> </a:t>
            </a:r>
            <a:r>
              <a:rPr sz="3950" dirty="0"/>
              <a:t>Next</a:t>
            </a:r>
            <a:r>
              <a:rPr sz="3950" spc="-45" dirty="0"/>
              <a:t> </a:t>
            </a:r>
            <a:r>
              <a:rPr sz="3950" spc="-10" dirty="0"/>
              <a:t>Tuesday-</a:t>
            </a:r>
            <a:r>
              <a:rPr sz="3950" spc="-55" dirty="0"/>
              <a:t> </a:t>
            </a:r>
            <a:r>
              <a:rPr sz="3950" dirty="0"/>
              <a:t>Ping</a:t>
            </a:r>
            <a:r>
              <a:rPr sz="3950" spc="-55" dirty="0"/>
              <a:t> </a:t>
            </a:r>
            <a:r>
              <a:rPr sz="3950" dirty="0"/>
              <a:t>Pong</a:t>
            </a:r>
            <a:r>
              <a:rPr sz="3950" spc="-70" dirty="0"/>
              <a:t> </a:t>
            </a:r>
            <a:r>
              <a:rPr sz="3950" spc="-45" dirty="0"/>
              <a:t>Test</a:t>
            </a:r>
            <a:endParaRPr sz="395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707542" y="1352549"/>
            <a:ext cx="6421755" cy="83566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5080" indent="-228600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We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will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compare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speed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program </a:t>
            </a:r>
            <a:r>
              <a:rPr sz="2800" dirty="0">
                <a:latin typeface="Calibri"/>
                <a:cs typeface="Calibri"/>
              </a:rPr>
              <a:t>between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WE-</a:t>
            </a:r>
            <a:r>
              <a:rPr sz="2800" dirty="0">
                <a:latin typeface="Calibri"/>
                <a:cs typeface="Calibri"/>
              </a:rPr>
              <a:t>I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8051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next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Tuesday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1649" y="3366772"/>
            <a:ext cx="1893570" cy="130302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2800" spc="-25" dirty="0">
                <a:latin typeface="Calibri"/>
                <a:cs typeface="Calibri"/>
              </a:rPr>
              <a:t>WE-</a:t>
            </a:r>
            <a:r>
              <a:rPr sz="2800" dirty="0">
                <a:latin typeface="Calibri"/>
                <a:cs typeface="Calibri"/>
              </a:rPr>
              <a:t>I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vs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8051</a:t>
            </a:r>
            <a:endParaRPr sz="2800" dirty="0">
              <a:latin typeface="Calibri"/>
              <a:cs typeface="Calibri"/>
            </a:endParaRPr>
          </a:p>
          <a:p>
            <a:pPr marL="12700" marR="17145">
              <a:lnSpc>
                <a:spcPts val="2690"/>
              </a:lnSpc>
              <a:spcBef>
                <a:spcPts val="969"/>
              </a:spcBef>
            </a:pPr>
            <a:r>
              <a:rPr sz="2800" dirty="0">
                <a:latin typeface="Calibri"/>
                <a:cs typeface="Calibri"/>
              </a:rPr>
              <a:t>Which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is </a:t>
            </a:r>
            <a:r>
              <a:rPr sz="2800" spc="-10" dirty="0">
                <a:latin typeface="Calibri"/>
                <a:cs typeface="Calibri"/>
              </a:rPr>
              <a:t>faster?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7542" y="158242"/>
            <a:ext cx="7744307" cy="967829"/>
          </a:xfrm>
          <a:prstGeom prst="rect">
            <a:avLst/>
          </a:prstGeom>
        </p:spPr>
        <p:txBody>
          <a:bodyPr vert="horz" wrap="square" lIns="0" tIns="3488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/>
              <a:t>Lab1</a:t>
            </a:r>
            <a:r>
              <a:rPr lang="en-US" altLang="zh-TW" sz="4000"/>
              <a:t>0</a:t>
            </a:r>
            <a:r>
              <a:rPr sz="4000" spc="-170"/>
              <a:t> </a:t>
            </a:r>
            <a:r>
              <a:rPr sz="4000" dirty="0"/>
              <a:t>Example</a:t>
            </a:r>
            <a:r>
              <a:rPr sz="4000" spc="-165" dirty="0"/>
              <a:t> </a:t>
            </a:r>
            <a:r>
              <a:rPr sz="4000" dirty="0"/>
              <a:t>Project</a:t>
            </a:r>
            <a:r>
              <a:rPr sz="4000" spc="-160" dirty="0"/>
              <a:t> </a:t>
            </a:r>
            <a:r>
              <a:rPr sz="4000" spc="-10" dirty="0"/>
              <a:t>Procedure</a:t>
            </a:r>
            <a:endParaRPr sz="4000"/>
          </a:p>
        </p:txBody>
      </p:sp>
      <p:grpSp>
        <p:nvGrpSpPr>
          <p:cNvPr id="3" name="object 3"/>
          <p:cNvGrpSpPr/>
          <p:nvPr/>
        </p:nvGrpSpPr>
        <p:grpSpPr>
          <a:xfrm>
            <a:off x="2074164" y="1452181"/>
            <a:ext cx="4257040" cy="2184400"/>
            <a:chOff x="2377249" y="1452181"/>
            <a:chExt cx="4257040" cy="21844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72383" y="1456944"/>
              <a:ext cx="2868168" cy="43586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072383" y="1456944"/>
              <a:ext cx="2868295" cy="436245"/>
            </a:xfrm>
            <a:custGeom>
              <a:avLst/>
              <a:gdLst/>
              <a:ahLst/>
              <a:cxnLst/>
              <a:rect l="l" t="t" r="r" b="b"/>
              <a:pathLst>
                <a:path w="2868295" h="436244">
                  <a:moveTo>
                    <a:pt x="0" y="72643"/>
                  </a:moveTo>
                  <a:lnTo>
                    <a:pt x="5707" y="44362"/>
                  </a:lnTo>
                  <a:lnTo>
                    <a:pt x="21272" y="21272"/>
                  </a:lnTo>
                  <a:lnTo>
                    <a:pt x="44362" y="5707"/>
                  </a:lnTo>
                  <a:lnTo>
                    <a:pt x="72643" y="0"/>
                  </a:lnTo>
                  <a:lnTo>
                    <a:pt x="2795524" y="0"/>
                  </a:lnTo>
                  <a:lnTo>
                    <a:pt x="2823805" y="5707"/>
                  </a:lnTo>
                  <a:lnTo>
                    <a:pt x="2846895" y="21272"/>
                  </a:lnTo>
                  <a:lnTo>
                    <a:pt x="2862460" y="44362"/>
                  </a:lnTo>
                  <a:lnTo>
                    <a:pt x="2868168" y="72643"/>
                  </a:lnTo>
                  <a:lnTo>
                    <a:pt x="2868168" y="363219"/>
                  </a:lnTo>
                  <a:lnTo>
                    <a:pt x="2862460" y="391501"/>
                  </a:lnTo>
                  <a:lnTo>
                    <a:pt x="2846895" y="414591"/>
                  </a:lnTo>
                  <a:lnTo>
                    <a:pt x="2823805" y="430156"/>
                  </a:lnTo>
                  <a:lnTo>
                    <a:pt x="2795524" y="435863"/>
                  </a:lnTo>
                  <a:lnTo>
                    <a:pt x="72643" y="435863"/>
                  </a:lnTo>
                  <a:lnTo>
                    <a:pt x="44362" y="430156"/>
                  </a:lnTo>
                  <a:lnTo>
                    <a:pt x="21272" y="414591"/>
                  </a:lnTo>
                  <a:lnTo>
                    <a:pt x="5707" y="391501"/>
                  </a:lnTo>
                  <a:lnTo>
                    <a:pt x="0" y="363219"/>
                  </a:lnTo>
                  <a:lnTo>
                    <a:pt x="0" y="72643"/>
                  </a:lnTo>
                  <a:close/>
                </a:path>
              </a:pathLst>
            </a:custGeom>
            <a:ln w="9144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82011" y="2176272"/>
              <a:ext cx="4247388" cy="56083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382011" y="2176272"/>
              <a:ext cx="4247515" cy="561340"/>
            </a:xfrm>
            <a:custGeom>
              <a:avLst/>
              <a:gdLst/>
              <a:ahLst/>
              <a:cxnLst/>
              <a:rect l="l" t="t" r="r" b="b"/>
              <a:pathLst>
                <a:path w="4247515" h="561339">
                  <a:moveTo>
                    <a:pt x="0" y="93472"/>
                  </a:moveTo>
                  <a:lnTo>
                    <a:pt x="7354" y="57114"/>
                  </a:lnTo>
                  <a:lnTo>
                    <a:pt x="27400" y="27400"/>
                  </a:lnTo>
                  <a:lnTo>
                    <a:pt x="57114" y="7354"/>
                  </a:lnTo>
                  <a:lnTo>
                    <a:pt x="93471" y="0"/>
                  </a:lnTo>
                  <a:lnTo>
                    <a:pt x="4153916" y="0"/>
                  </a:lnTo>
                  <a:lnTo>
                    <a:pt x="4190273" y="7354"/>
                  </a:lnTo>
                  <a:lnTo>
                    <a:pt x="4219987" y="27400"/>
                  </a:lnTo>
                  <a:lnTo>
                    <a:pt x="4240033" y="57114"/>
                  </a:lnTo>
                  <a:lnTo>
                    <a:pt x="4247388" y="93472"/>
                  </a:lnTo>
                  <a:lnTo>
                    <a:pt x="4247388" y="467360"/>
                  </a:lnTo>
                  <a:lnTo>
                    <a:pt x="4240033" y="503717"/>
                  </a:lnTo>
                  <a:lnTo>
                    <a:pt x="4219987" y="533431"/>
                  </a:lnTo>
                  <a:lnTo>
                    <a:pt x="4190273" y="553477"/>
                  </a:lnTo>
                  <a:lnTo>
                    <a:pt x="4153916" y="560831"/>
                  </a:lnTo>
                  <a:lnTo>
                    <a:pt x="93471" y="560831"/>
                  </a:lnTo>
                  <a:lnTo>
                    <a:pt x="57114" y="553477"/>
                  </a:lnTo>
                  <a:lnTo>
                    <a:pt x="27400" y="533431"/>
                  </a:lnTo>
                  <a:lnTo>
                    <a:pt x="7354" y="503717"/>
                  </a:lnTo>
                  <a:lnTo>
                    <a:pt x="0" y="467360"/>
                  </a:lnTo>
                  <a:lnTo>
                    <a:pt x="0" y="93472"/>
                  </a:lnTo>
                  <a:close/>
                </a:path>
              </a:pathLst>
            </a:custGeom>
            <a:ln w="9144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82011" y="3058668"/>
              <a:ext cx="4247388" cy="57302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382011" y="3058668"/>
              <a:ext cx="4247515" cy="573405"/>
            </a:xfrm>
            <a:custGeom>
              <a:avLst/>
              <a:gdLst/>
              <a:ahLst/>
              <a:cxnLst/>
              <a:rect l="l" t="t" r="r" b="b"/>
              <a:pathLst>
                <a:path w="4247515" h="573404">
                  <a:moveTo>
                    <a:pt x="0" y="95504"/>
                  </a:moveTo>
                  <a:lnTo>
                    <a:pt x="7510" y="58346"/>
                  </a:lnTo>
                  <a:lnTo>
                    <a:pt x="27987" y="27987"/>
                  </a:lnTo>
                  <a:lnTo>
                    <a:pt x="58346" y="7510"/>
                  </a:lnTo>
                  <a:lnTo>
                    <a:pt x="95504" y="0"/>
                  </a:lnTo>
                  <a:lnTo>
                    <a:pt x="4151884" y="0"/>
                  </a:lnTo>
                  <a:lnTo>
                    <a:pt x="4189041" y="7510"/>
                  </a:lnTo>
                  <a:lnTo>
                    <a:pt x="4219400" y="27987"/>
                  </a:lnTo>
                  <a:lnTo>
                    <a:pt x="4239877" y="58346"/>
                  </a:lnTo>
                  <a:lnTo>
                    <a:pt x="4247388" y="95504"/>
                  </a:lnTo>
                  <a:lnTo>
                    <a:pt x="4247388" y="477520"/>
                  </a:lnTo>
                  <a:lnTo>
                    <a:pt x="4239877" y="514677"/>
                  </a:lnTo>
                  <a:lnTo>
                    <a:pt x="4219400" y="545036"/>
                  </a:lnTo>
                  <a:lnTo>
                    <a:pt x="4189041" y="565513"/>
                  </a:lnTo>
                  <a:lnTo>
                    <a:pt x="4151884" y="573024"/>
                  </a:lnTo>
                  <a:lnTo>
                    <a:pt x="95504" y="573024"/>
                  </a:lnTo>
                  <a:lnTo>
                    <a:pt x="58346" y="565513"/>
                  </a:lnTo>
                  <a:lnTo>
                    <a:pt x="27987" y="545036"/>
                  </a:lnTo>
                  <a:lnTo>
                    <a:pt x="7510" y="514677"/>
                  </a:lnTo>
                  <a:lnTo>
                    <a:pt x="0" y="477520"/>
                  </a:lnTo>
                  <a:lnTo>
                    <a:pt x="0" y="95504"/>
                  </a:lnTo>
                  <a:close/>
                </a:path>
              </a:pathLst>
            </a:custGeom>
            <a:ln w="9144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12531" y="1426591"/>
            <a:ext cx="3980179" cy="21221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Calibri"/>
                <a:cs typeface="Calibri"/>
              </a:rPr>
              <a:t>Start</a:t>
            </a:r>
            <a:endParaRPr sz="2800">
              <a:latin typeface="Calibri"/>
              <a:cs typeface="Calibri"/>
            </a:endParaRPr>
          </a:p>
          <a:p>
            <a:pPr marL="12065" marR="5080" algn="ctr">
              <a:lnSpc>
                <a:spcPts val="6990"/>
              </a:lnSpc>
            </a:pPr>
            <a:r>
              <a:rPr sz="2800" spc="-10" dirty="0">
                <a:latin typeface="Calibri"/>
                <a:cs typeface="Calibri"/>
              </a:rPr>
              <a:t>Initialize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Peripheral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Module Calculate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Ball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Position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85800" y="3916489"/>
            <a:ext cx="7299325" cy="2673985"/>
            <a:chOff x="988885" y="3916489"/>
            <a:chExt cx="7299325" cy="2673985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93647" y="3921252"/>
              <a:ext cx="7289292" cy="2663952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993647" y="3921252"/>
              <a:ext cx="7289800" cy="2664460"/>
            </a:xfrm>
            <a:custGeom>
              <a:avLst/>
              <a:gdLst/>
              <a:ahLst/>
              <a:cxnLst/>
              <a:rect l="l" t="t" r="r" b="b"/>
              <a:pathLst>
                <a:path w="7289800" h="2664459">
                  <a:moveTo>
                    <a:pt x="0" y="443992"/>
                  </a:moveTo>
                  <a:lnTo>
                    <a:pt x="2605" y="395609"/>
                  </a:lnTo>
                  <a:lnTo>
                    <a:pt x="10240" y="348737"/>
                  </a:lnTo>
                  <a:lnTo>
                    <a:pt x="22634" y="303645"/>
                  </a:lnTo>
                  <a:lnTo>
                    <a:pt x="39517" y="260606"/>
                  </a:lnTo>
                  <a:lnTo>
                    <a:pt x="60617" y="219888"/>
                  </a:lnTo>
                  <a:lnTo>
                    <a:pt x="85664" y="181764"/>
                  </a:lnTo>
                  <a:lnTo>
                    <a:pt x="114386" y="146503"/>
                  </a:lnTo>
                  <a:lnTo>
                    <a:pt x="146514" y="114377"/>
                  </a:lnTo>
                  <a:lnTo>
                    <a:pt x="181775" y="85656"/>
                  </a:lnTo>
                  <a:lnTo>
                    <a:pt x="219900" y="60611"/>
                  </a:lnTo>
                  <a:lnTo>
                    <a:pt x="260617" y="39513"/>
                  </a:lnTo>
                  <a:lnTo>
                    <a:pt x="303655" y="22632"/>
                  </a:lnTo>
                  <a:lnTo>
                    <a:pt x="348744" y="10239"/>
                  </a:lnTo>
                  <a:lnTo>
                    <a:pt x="395613" y="2604"/>
                  </a:lnTo>
                  <a:lnTo>
                    <a:pt x="443992" y="0"/>
                  </a:lnTo>
                  <a:lnTo>
                    <a:pt x="6845300" y="0"/>
                  </a:lnTo>
                  <a:lnTo>
                    <a:pt x="6893682" y="2604"/>
                  </a:lnTo>
                  <a:lnTo>
                    <a:pt x="6940554" y="10239"/>
                  </a:lnTo>
                  <a:lnTo>
                    <a:pt x="6985646" y="22632"/>
                  </a:lnTo>
                  <a:lnTo>
                    <a:pt x="7028685" y="39513"/>
                  </a:lnTo>
                  <a:lnTo>
                    <a:pt x="7069403" y="60611"/>
                  </a:lnTo>
                  <a:lnTo>
                    <a:pt x="7107527" y="85656"/>
                  </a:lnTo>
                  <a:lnTo>
                    <a:pt x="7142788" y="114377"/>
                  </a:lnTo>
                  <a:lnTo>
                    <a:pt x="7174914" y="146503"/>
                  </a:lnTo>
                  <a:lnTo>
                    <a:pt x="7203635" y="181764"/>
                  </a:lnTo>
                  <a:lnTo>
                    <a:pt x="7228680" y="219888"/>
                  </a:lnTo>
                  <a:lnTo>
                    <a:pt x="7249778" y="260606"/>
                  </a:lnTo>
                  <a:lnTo>
                    <a:pt x="7266659" y="303645"/>
                  </a:lnTo>
                  <a:lnTo>
                    <a:pt x="7279052" y="348737"/>
                  </a:lnTo>
                  <a:lnTo>
                    <a:pt x="7286687" y="395609"/>
                  </a:lnTo>
                  <a:lnTo>
                    <a:pt x="7289292" y="443992"/>
                  </a:lnTo>
                  <a:lnTo>
                    <a:pt x="7289292" y="2219947"/>
                  </a:lnTo>
                  <a:lnTo>
                    <a:pt x="7286687" y="2268327"/>
                  </a:lnTo>
                  <a:lnTo>
                    <a:pt x="7279052" y="2315198"/>
                  </a:lnTo>
                  <a:lnTo>
                    <a:pt x="7266659" y="2360289"/>
                  </a:lnTo>
                  <a:lnTo>
                    <a:pt x="7249778" y="2403329"/>
                  </a:lnTo>
                  <a:lnTo>
                    <a:pt x="7228680" y="2444048"/>
                  </a:lnTo>
                  <a:lnTo>
                    <a:pt x="7203635" y="2482173"/>
                  </a:lnTo>
                  <a:lnTo>
                    <a:pt x="7174914" y="2517436"/>
                  </a:lnTo>
                  <a:lnTo>
                    <a:pt x="7142788" y="2549564"/>
                  </a:lnTo>
                  <a:lnTo>
                    <a:pt x="7107527" y="2578286"/>
                  </a:lnTo>
                  <a:lnTo>
                    <a:pt x="7069403" y="2603333"/>
                  </a:lnTo>
                  <a:lnTo>
                    <a:pt x="7028685" y="2624434"/>
                  </a:lnTo>
                  <a:lnTo>
                    <a:pt x="6985646" y="2641317"/>
                  </a:lnTo>
                  <a:lnTo>
                    <a:pt x="6940554" y="2653711"/>
                  </a:lnTo>
                  <a:lnTo>
                    <a:pt x="6893682" y="2661346"/>
                  </a:lnTo>
                  <a:lnTo>
                    <a:pt x="6845300" y="2663952"/>
                  </a:lnTo>
                  <a:lnTo>
                    <a:pt x="443992" y="2663952"/>
                  </a:lnTo>
                  <a:lnTo>
                    <a:pt x="395613" y="2661346"/>
                  </a:lnTo>
                  <a:lnTo>
                    <a:pt x="348744" y="2653711"/>
                  </a:lnTo>
                  <a:lnTo>
                    <a:pt x="303655" y="2641317"/>
                  </a:lnTo>
                  <a:lnTo>
                    <a:pt x="260617" y="2624434"/>
                  </a:lnTo>
                  <a:lnTo>
                    <a:pt x="219900" y="2603333"/>
                  </a:lnTo>
                  <a:lnTo>
                    <a:pt x="181775" y="2578286"/>
                  </a:lnTo>
                  <a:lnTo>
                    <a:pt x="146514" y="2549564"/>
                  </a:lnTo>
                  <a:lnTo>
                    <a:pt x="114386" y="2517436"/>
                  </a:lnTo>
                  <a:lnTo>
                    <a:pt x="85664" y="2482173"/>
                  </a:lnTo>
                  <a:lnTo>
                    <a:pt x="60617" y="2444048"/>
                  </a:lnTo>
                  <a:lnTo>
                    <a:pt x="39517" y="2403329"/>
                  </a:lnTo>
                  <a:lnTo>
                    <a:pt x="22634" y="2360289"/>
                  </a:lnTo>
                  <a:lnTo>
                    <a:pt x="10240" y="2315198"/>
                  </a:lnTo>
                  <a:lnTo>
                    <a:pt x="2605" y="2268327"/>
                  </a:lnTo>
                  <a:lnTo>
                    <a:pt x="0" y="2219947"/>
                  </a:lnTo>
                  <a:lnTo>
                    <a:pt x="0" y="443992"/>
                  </a:lnTo>
                  <a:close/>
                </a:path>
              </a:pathLst>
            </a:custGeom>
            <a:ln w="9144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259265" y="3974668"/>
            <a:ext cx="215138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Calibri"/>
                <a:cs typeface="Calibri"/>
              </a:rPr>
              <a:t>Update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OLED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Screen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905256" y="4294441"/>
            <a:ext cx="3274060" cy="2118995"/>
            <a:chOff x="1208341" y="4294441"/>
            <a:chExt cx="3274060" cy="2118995"/>
          </a:xfrm>
        </p:grpSpPr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13103" y="4299203"/>
              <a:ext cx="3264408" cy="2109216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213103" y="4299203"/>
              <a:ext cx="3264535" cy="2109470"/>
            </a:xfrm>
            <a:custGeom>
              <a:avLst/>
              <a:gdLst/>
              <a:ahLst/>
              <a:cxnLst/>
              <a:rect l="l" t="t" r="r" b="b"/>
              <a:pathLst>
                <a:path w="3264535" h="2109470">
                  <a:moveTo>
                    <a:pt x="0" y="351536"/>
                  </a:moveTo>
                  <a:lnTo>
                    <a:pt x="3208" y="303827"/>
                  </a:lnTo>
                  <a:lnTo>
                    <a:pt x="12554" y="258071"/>
                  </a:lnTo>
                  <a:lnTo>
                    <a:pt x="27620" y="214687"/>
                  </a:lnTo>
                  <a:lnTo>
                    <a:pt x="47987" y="174093"/>
                  </a:lnTo>
                  <a:lnTo>
                    <a:pt x="73236" y="136707"/>
                  </a:lnTo>
                  <a:lnTo>
                    <a:pt x="102949" y="102949"/>
                  </a:lnTo>
                  <a:lnTo>
                    <a:pt x="136707" y="73236"/>
                  </a:lnTo>
                  <a:lnTo>
                    <a:pt x="174093" y="47987"/>
                  </a:lnTo>
                  <a:lnTo>
                    <a:pt x="214687" y="27620"/>
                  </a:lnTo>
                  <a:lnTo>
                    <a:pt x="258071" y="12554"/>
                  </a:lnTo>
                  <a:lnTo>
                    <a:pt x="303827" y="3208"/>
                  </a:lnTo>
                  <a:lnTo>
                    <a:pt x="351536" y="0"/>
                  </a:lnTo>
                  <a:lnTo>
                    <a:pt x="2912872" y="0"/>
                  </a:lnTo>
                  <a:lnTo>
                    <a:pt x="2960580" y="3208"/>
                  </a:lnTo>
                  <a:lnTo>
                    <a:pt x="3006336" y="12554"/>
                  </a:lnTo>
                  <a:lnTo>
                    <a:pt x="3049720" y="27620"/>
                  </a:lnTo>
                  <a:lnTo>
                    <a:pt x="3090314" y="47987"/>
                  </a:lnTo>
                  <a:lnTo>
                    <a:pt x="3127700" y="73236"/>
                  </a:lnTo>
                  <a:lnTo>
                    <a:pt x="3161458" y="102949"/>
                  </a:lnTo>
                  <a:lnTo>
                    <a:pt x="3191171" y="136707"/>
                  </a:lnTo>
                  <a:lnTo>
                    <a:pt x="3216420" y="174093"/>
                  </a:lnTo>
                  <a:lnTo>
                    <a:pt x="3236787" y="214687"/>
                  </a:lnTo>
                  <a:lnTo>
                    <a:pt x="3251853" y="258071"/>
                  </a:lnTo>
                  <a:lnTo>
                    <a:pt x="3261199" y="303827"/>
                  </a:lnTo>
                  <a:lnTo>
                    <a:pt x="3264408" y="351536"/>
                  </a:lnTo>
                  <a:lnTo>
                    <a:pt x="3264408" y="1757667"/>
                  </a:lnTo>
                  <a:lnTo>
                    <a:pt x="3261199" y="1805370"/>
                  </a:lnTo>
                  <a:lnTo>
                    <a:pt x="3251853" y="1851123"/>
                  </a:lnTo>
                  <a:lnTo>
                    <a:pt x="3236787" y="1894507"/>
                  </a:lnTo>
                  <a:lnTo>
                    <a:pt x="3216420" y="1935101"/>
                  </a:lnTo>
                  <a:lnTo>
                    <a:pt x="3191171" y="1972489"/>
                  </a:lnTo>
                  <a:lnTo>
                    <a:pt x="3161458" y="2006250"/>
                  </a:lnTo>
                  <a:lnTo>
                    <a:pt x="3127700" y="2035967"/>
                  </a:lnTo>
                  <a:lnTo>
                    <a:pt x="3090314" y="2061219"/>
                  </a:lnTo>
                  <a:lnTo>
                    <a:pt x="3049720" y="2081589"/>
                  </a:lnTo>
                  <a:lnTo>
                    <a:pt x="3006336" y="2096658"/>
                  </a:lnTo>
                  <a:lnTo>
                    <a:pt x="2960580" y="2106006"/>
                  </a:lnTo>
                  <a:lnTo>
                    <a:pt x="2912872" y="2109216"/>
                  </a:lnTo>
                  <a:lnTo>
                    <a:pt x="351536" y="2109216"/>
                  </a:lnTo>
                  <a:lnTo>
                    <a:pt x="303827" y="2106006"/>
                  </a:lnTo>
                  <a:lnTo>
                    <a:pt x="258071" y="2096658"/>
                  </a:lnTo>
                  <a:lnTo>
                    <a:pt x="214687" y="2081589"/>
                  </a:lnTo>
                  <a:lnTo>
                    <a:pt x="174093" y="2061219"/>
                  </a:lnTo>
                  <a:lnTo>
                    <a:pt x="136707" y="2035967"/>
                  </a:lnTo>
                  <a:lnTo>
                    <a:pt x="102949" y="2006250"/>
                  </a:lnTo>
                  <a:lnTo>
                    <a:pt x="73236" y="1972489"/>
                  </a:lnTo>
                  <a:lnTo>
                    <a:pt x="47987" y="1935101"/>
                  </a:lnTo>
                  <a:lnTo>
                    <a:pt x="27620" y="1894507"/>
                  </a:lnTo>
                  <a:lnTo>
                    <a:pt x="12554" y="1851123"/>
                  </a:lnTo>
                  <a:lnTo>
                    <a:pt x="3208" y="1805370"/>
                  </a:lnTo>
                  <a:lnTo>
                    <a:pt x="0" y="1757667"/>
                  </a:lnTo>
                  <a:lnTo>
                    <a:pt x="0" y="351536"/>
                  </a:lnTo>
                  <a:close/>
                </a:path>
              </a:pathLst>
            </a:custGeom>
            <a:ln w="9144">
              <a:solidFill>
                <a:srgbClr val="C8C8C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502982" y="4408423"/>
            <a:ext cx="207708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1465" marR="5080" indent="-2794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Firmware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Create </a:t>
            </a:r>
            <a:r>
              <a:rPr sz="2400" dirty="0">
                <a:latin typeface="Calibri"/>
                <a:cs typeface="Calibri"/>
              </a:rPr>
              <a:t>I2C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Protocol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597469" y="5871768"/>
            <a:ext cx="18910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firmware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finish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517136" y="4294441"/>
            <a:ext cx="3275965" cy="2118995"/>
            <a:chOff x="4820221" y="4294441"/>
            <a:chExt cx="3275965" cy="2118995"/>
          </a:xfrm>
        </p:grpSpPr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824984" y="4299203"/>
              <a:ext cx="3265932" cy="2109216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4824984" y="4299203"/>
              <a:ext cx="3266440" cy="2109470"/>
            </a:xfrm>
            <a:custGeom>
              <a:avLst/>
              <a:gdLst/>
              <a:ahLst/>
              <a:cxnLst/>
              <a:rect l="l" t="t" r="r" b="b"/>
              <a:pathLst>
                <a:path w="3266440" h="2109470">
                  <a:moveTo>
                    <a:pt x="0" y="351536"/>
                  </a:moveTo>
                  <a:lnTo>
                    <a:pt x="3208" y="303827"/>
                  </a:lnTo>
                  <a:lnTo>
                    <a:pt x="12554" y="258071"/>
                  </a:lnTo>
                  <a:lnTo>
                    <a:pt x="27620" y="214687"/>
                  </a:lnTo>
                  <a:lnTo>
                    <a:pt x="47987" y="174093"/>
                  </a:lnTo>
                  <a:lnTo>
                    <a:pt x="73236" y="136707"/>
                  </a:lnTo>
                  <a:lnTo>
                    <a:pt x="102949" y="102949"/>
                  </a:lnTo>
                  <a:lnTo>
                    <a:pt x="136707" y="73236"/>
                  </a:lnTo>
                  <a:lnTo>
                    <a:pt x="174093" y="47987"/>
                  </a:lnTo>
                  <a:lnTo>
                    <a:pt x="214687" y="27620"/>
                  </a:lnTo>
                  <a:lnTo>
                    <a:pt x="258071" y="12554"/>
                  </a:lnTo>
                  <a:lnTo>
                    <a:pt x="303827" y="3208"/>
                  </a:lnTo>
                  <a:lnTo>
                    <a:pt x="351536" y="0"/>
                  </a:lnTo>
                  <a:lnTo>
                    <a:pt x="2914395" y="0"/>
                  </a:lnTo>
                  <a:lnTo>
                    <a:pt x="2962104" y="3208"/>
                  </a:lnTo>
                  <a:lnTo>
                    <a:pt x="3007860" y="12554"/>
                  </a:lnTo>
                  <a:lnTo>
                    <a:pt x="3051244" y="27620"/>
                  </a:lnTo>
                  <a:lnTo>
                    <a:pt x="3091838" y="47987"/>
                  </a:lnTo>
                  <a:lnTo>
                    <a:pt x="3129224" y="73236"/>
                  </a:lnTo>
                  <a:lnTo>
                    <a:pt x="3162982" y="102949"/>
                  </a:lnTo>
                  <a:lnTo>
                    <a:pt x="3192695" y="136707"/>
                  </a:lnTo>
                  <a:lnTo>
                    <a:pt x="3217944" y="174093"/>
                  </a:lnTo>
                  <a:lnTo>
                    <a:pt x="3238311" y="214687"/>
                  </a:lnTo>
                  <a:lnTo>
                    <a:pt x="3253377" y="258071"/>
                  </a:lnTo>
                  <a:lnTo>
                    <a:pt x="3262723" y="303827"/>
                  </a:lnTo>
                  <a:lnTo>
                    <a:pt x="3265932" y="351536"/>
                  </a:lnTo>
                  <a:lnTo>
                    <a:pt x="3265932" y="1757680"/>
                  </a:lnTo>
                  <a:lnTo>
                    <a:pt x="3262723" y="1805380"/>
                  </a:lnTo>
                  <a:lnTo>
                    <a:pt x="3253377" y="1851131"/>
                  </a:lnTo>
                  <a:lnTo>
                    <a:pt x="3238311" y="1894512"/>
                  </a:lnTo>
                  <a:lnTo>
                    <a:pt x="3217944" y="1935105"/>
                  </a:lnTo>
                  <a:lnTo>
                    <a:pt x="3192695" y="1972491"/>
                  </a:lnTo>
                  <a:lnTo>
                    <a:pt x="3162982" y="2006252"/>
                  </a:lnTo>
                  <a:lnTo>
                    <a:pt x="3129224" y="2035968"/>
                  </a:lnTo>
                  <a:lnTo>
                    <a:pt x="3091838" y="2061220"/>
                  </a:lnTo>
                  <a:lnTo>
                    <a:pt x="3051244" y="2081590"/>
                  </a:lnTo>
                  <a:lnTo>
                    <a:pt x="3007860" y="2096658"/>
                  </a:lnTo>
                  <a:lnTo>
                    <a:pt x="2962104" y="2106006"/>
                  </a:lnTo>
                  <a:lnTo>
                    <a:pt x="2914395" y="2109216"/>
                  </a:lnTo>
                  <a:lnTo>
                    <a:pt x="351536" y="2109216"/>
                  </a:lnTo>
                  <a:lnTo>
                    <a:pt x="303827" y="2106006"/>
                  </a:lnTo>
                  <a:lnTo>
                    <a:pt x="258071" y="2096658"/>
                  </a:lnTo>
                  <a:lnTo>
                    <a:pt x="214687" y="2081590"/>
                  </a:lnTo>
                  <a:lnTo>
                    <a:pt x="174093" y="2061220"/>
                  </a:lnTo>
                  <a:lnTo>
                    <a:pt x="136707" y="2035968"/>
                  </a:lnTo>
                  <a:lnTo>
                    <a:pt x="102949" y="2006252"/>
                  </a:lnTo>
                  <a:lnTo>
                    <a:pt x="73236" y="1972491"/>
                  </a:lnTo>
                  <a:lnTo>
                    <a:pt x="47987" y="1935105"/>
                  </a:lnTo>
                  <a:lnTo>
                    <a:pt x="27620" y="1894512"/>
                  </a:lnTo>
                  <a:lnTo>
                    <a:pt x="12554" y="1851131"/>
                  </a:lnTo>
                  <a:lnTo>
                    <a:pt x="3208" y="1805380"/>
                  </a:lnTo>
                  <a:lnTo>
                    <a:pt x="0" y="1757680"/>
                  </a:lnTo>
                  <a:lnTo>
                    <a:pt x="0" y="351536"/>
                  </a:lnTo>
                  <a:close/>
                </a:path>
              </a:pathLst>
            </a:custGeom>
            <a:ln w="9144">
              <a:solidFill>
                <a:srgbClr val="C8C8C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4761929" y="4408423"/>
            <a:ext cx="2785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I2C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Peripheral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Module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068253" y="5871768"/>
            <a:ext cx="21742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I2C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module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finish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504123" y="1892807"/>
            <a:ext cx="3799840" cy="3712210"/>
          </a:xfrm>
          <a:custGeom>
            <a:avLst/>
            <a:gdLst/>
            <a:ahLst/>
            <a:cxnLst/>
            <a:rect l="l" t="t" r="r" b="b"/>
            <a:pathLst>
              <a:path w="3799840" h="3712210">
                <a:moveTo>
                  <a:pt x="76200" y="3635756"/>
                </a:moveTo>
                <a:lnTo>
                  <a:pt x="44450" y="3635756"/>
                </a:lnTo>
                <a:lnTo>
                  <a:pt x="44450" y="3281172"/>
                </a:lnTo>
                <a:lnTo>
                  <a:pt x="31750" y="3281172"/>
                </a:lnTo>
                <a:lnTo>
                  <a:pt x="31750" y="3635756"/>
                </a:lnTo>
                <a:lnTo>
                  <a:pt x="0" y="3635756"/>
                </a:lnTo>
                <a:lnTo>
                  <a:pt x="38100" y="3711994"/>
                </a:lnTo>
                <a:lnTo>
                  <a:pt x="69850" y="3648456"/>
                </a:lnTo>
                <a:lnTo>
                  <a:pt x="76200" y="3635756"/>
                </a:lnTo>
                <a:close/>
              </a:path>
              <a:path w="3799840" h="3712210">
                <a:moveTo>
                  <a:pt x="1737360" y="1089406"/>
                </a:moveTo>
                <a:lnTo>
                  <a:pt x="1705610" y="1089406"/>
                </a:lnTo>
                <a:lnTo>
                  <a:pt x="1705610" y="844296"/>
                </a:lnTo>
                <a:lnTo>
                  <a:pt x="1692910" y="844296"/>
                </a:lnTo>
                <a:lnTo>
                  <a:pt x="1692910" y="1089406"/>
                </a:lnTo>
                <a:lnTo>
                  <a:pt x="1661160" y="1089406"/>
                </a:lnTo>
                <a:lnTo>
                  <a:pt x="1699260" y="1165606"/>
                </a:lnTo>
                <a:lnTo>
                  <a:pt x="1731010" y="1102106"/>
                </a:lnTo>
                <a:lnTo>
                  <a:pt x="1737360" y="1089406"/>
                </a:lnTo>
                <a:close/>
              </a:path>
              <a:path w="3799840" h="3712210">
                <a:moveTo>
                  <a:pt x="1737360" y="208153"/>
                </a:moveTo>
                <a:lnTo>
                  <a:pt x="1705610" y="208153"/>
                </a:lnTo>
                <a:lnTo>
                  <a:pt x="1705610" y="0"/>
                </a:lnTo>
                <a:lnTo>
                  <a:pt x="1692910" y="0"/>
                </a:lnTo>
                <a:lnTo>
                  <a:pt x="1692910" y="208153"/>
                </a:lnTo>
                <a:lnTo>
                  <a:pt x="1661160" y="208153"/>
                </a:lnTo>
                <a:lnTo>
                  <a:pt x="1699260" y="284353"/>
                </a:lnTo>
                <a:lnTo>
                  <a:pt x="1731010" y="220853"/>
                </a:lnTo>
                <a:lnTo>
                  <a:pt x="1737360" y="208153"/>
                </a:lnTo>
                <a:close/>
              </a:path>
              <a:path w="3799840" h="3712210">
                <a:moveTo>
                  <a:pt x="3761105" y="2012188"/>
                </a:moveTo>
                <a:lnTo>
                  <a:pt x="3758095" y="2010156"/>
                </a:lnTo>
                <a:lnTo>
                  <a:pt x="3690620" y="1964436"/>
                </a:lnTo>
                <a:lnTo>
                  <a:pt x="3686429" y="1995919"/>
                </a:lnTo>
                <a:lnTo>
                  <a:pt x="1700149" y="1732534"/>
                </a:lnTo>
                <a:lnTo>
                  <a:pt x="1699082" y="1740141"/>
                </a:lnTo>
                <a:lnTo>
                  <a:pt x="1697863" y="1732661"/>
                </a:lnTo>
                <a:lnTo>
                  <a:pt x="132054" y="1993341"/>
                </a:lnTo>
                <a:lnTo>
                  <a:pt x="126873" y="1962023"/>
                </a:lnTo>
                <a:lnTo>
                  <a:pt x="57912" y="2012188"/>
                </a:lnTo>
                <a:lnTo>
                  <a:pt x="139319" y="2037207"/>
                </a:lnTo>
                <a:lnTo>
                  <a:pt x="134480" y="2007997"/>
                </a:lnTo>
                <a:lnTo>
                  <a:pt x="134124" y="2005901"/>
                </a:lnTo>
                <a:lnTo>
                  <a:pt x="1698790" y="1745297"/>
                </a:lnTo>
                <a:lnTo>
                  <a:pt x="3684765" y="2008492"/>
                </a:lnTo>
                <a:lnTo>
                  <a:pt x="3680587" y="2040001"/>
                </a:lnTo>
                <a:lnTo>
                  <a:pt x="3761105" y="2012188"/>
                </a:lnTo>
                <a:close/>
              </a:path>
              <a:path w="3799840" h="3712210">
                <a:moveTo>
                  <a:pt x="3799332" y="3635756"/>
                </a:moveTo>
                <a:lnTo>
                  <a:pt x="3767582" y="3635756"/>
                </a:lnTo>
                <a:lnTo>
                  <a:pt x="3767582" y="3281172"/>
                </a:lnTo>
                <a:lnTo>
                  <a:pt x="3754882" y="3281172"/>
                </a:lnTo>
                <a:lnTo>
                  <a:pt x="3754882" y="3635756"/>
                </a:lnTo>
                <a:lnTo>
                  <a:pt x="3723132" y="3635756"/>
                </a:lnTo>
                <a:lnTo>
                  <a:pt x="3761232" y="3711994"/>
                </a:lnTo>
                <a:lnTo>
                  <a:pt x="3792982" y="3648456"/>
                </a:lnTo>
                <a:lnTo>
                  <a:pt x="3799332" y="36357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5882957" y="3918661"/>
            <a:ext cx="61595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libri"/>
                <a:cs typeface="Calibri"/>
              </a:rPr>
              <a:t>WE-</a:t>
            </a:r>
            <a:r>
              <a:rPr sz="2400" spc="-50" dirty="0">
                <a:latin typeface="Calibri"/>
                <a:cs typeface="Calibri"/>
              </a:rPr>
              <a:t>I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179638" y="3918661"/>
            <a:ext cx="64135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Calibri"/>
                <a:cs typeface="Calibri"/>
              </a:rPr>
              <a:t>8051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6326315" y="3307079"/>
            <a:ext cx="1888489" cy="1953260"/>
          </a:xfrm>
          <a:custGeom>
            <a:avLst/>
            <a:gdLst/>
            <a:ahLst/>
            <a:cxnLst/>
            <a:rect l="l" t="t" r="r" b="b"/>
            <a:pathLst>
              <a:path w="1888490" h="1953260">
                <a:moveTo>
                  <a:pt x="1875281" y="1940052"/>
                </a:moveTo>
                <a:lnTo>
                  <a:pt x="1653031" y="1940052"/>
                </a:lnTo>
                <a:lnTo>
                  <a:pt x="1653031" y="1952752"/>
                </a:lnTo>
                <a:lnTo>
                  <a:pt x="1887981" y="1952752"/>
                </a:lnTo>
                <a:lnTo>
                  <a:pt x="1887981" y="1946402"/>
                </a:lnTo>
                <a:lnTo>
                  <a:pt x="1875281" y="1946402"/>
                </a:lnTo>
                <a:lnTo>
                  <a:pt x="1875281" y="1940052"/>
                </a:lnTo>
                <a:close/>
              </a:path>
              <a:path w="1888490" h="1953260">
                <a:moveTo>
                  <a:pt x="1875281" y="38100"/>
                </a:moveTo>
                <a:lnTo>
                  <a:pt x="1875281" y="1946402"/>
                </a:lnTo>
                <a:lnTo>
                  <a:pt x="1881631" y="1940052"/>
                </a:lnTo>
                <a:lnTo>
                  <a:pt x="1887981" y="1940052"/>
                </a:lnTo>
                <a:lnTo>
                  <a:pt x="1887981" y="44450"/>
                </a:lnTo>
                <a:lnTo>
                  <a:pt x="1881631" y="44450"/>
                </a:lnTo>
                <a:lnTo>
                  <a:pt x="1875281" y="38100"/>
                </a:lnTo>
                <a:close/>
              </a:path>
              <a:path w="1888490" h="1953260">
                <a:moveTo>
                  <a:pt x="1887981" y="1940052"/>
                </a:moveTo>
                <a:lnTo>
                  <a:pt x="1881631" y="1940052"/>
                </a:lnTo>
                <a:lnTo>
                  <a:pt x="1875281" y="1946402"/>
                </a:lnTo>
                <a:lnTo>
                  <a:pt x="1887981" y="1946402"/>
                </a:lnTo>
                <a:lnTo>
                  <a:pt x="1887981" y="1940052"/>
                </a:lnTo>
                <a:close/>
              </a:path>
              <a:path w="1888490" h="195326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888490" h="195326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888490" h="1953260">
                <a:moveTo>
                  <a:pt x="1887981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875281" y="44450"/>
                </a:lnTo>
                <a:lnTo>
                  <a:pt x="1875281" y="38100"/>
                </a:lnTo>
                <a:lnTo>
                  <a:pt x="1887981" y="38100"/>
                </a:lnTo>
                <a:lnTo>
                  <a:pt x="1887981" y="31750"/>
                </a:lnTo>
                <a:close/>
              </a:path>
              <a:path w="1888490" h="1953260">
                <a:moveTo>
                  <a:pt x="1887981" y="38100"/>
                </a:moveTo>
                <a:lnTo>
                  <a:pt x="1875281" y="38100"/>
                </a:lnTo>
                <a:lnTo>
                  <a:pt x="1881631" y="44450"/>
                </a:lnTo>
                <a:lnTo>
                  <a:pt x="1887981" y="44450"/>
                </a:lnTo>
                <a:lnTo>
                  <a:pt x="1887981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203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Main</a:t>
            </a:r>
            <a:r>
              <a:rPr spc="-5" dirty="0"/>
              <a:t> </a:t>
            </a:r>
            <a:r>
              <a:rPr spc="-10" dirty="0"/>
              <a:t>Difference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6920261"/>
              </p:ext>
            </p:extLst>
          </p:nvPr>
        </p:nvGraphicFramePr>
        <p:xfrm>
          <a:off x="802538" y="1682495"/>
          <a:ext cx="7419975" cy="4216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740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27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08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800" spc="-20" dirty="0">
                          <a:latin typeface="Calibri"/>
                          <a:cs typeface="Calibri"/>
                        </a:rPr>
                        <a:t>8051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800" spc="-30" dirty="0">
                          <a:latin typeface="Calibri"/>
                          <a:cs typeface="Calibri"/>
                        </a:rPr>
                        <a:t>WE-</a:t>
                      </a:r>
                      <a:r>
                        <a:rPr sz="2800" spc="-50" dirty="0">
                          <a:latin typeface="Calibri"/>
                          <a:cs typeface="Calibri"/>
                        </a:rPr>
                        <a:t>I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0890">
                <a:tc>
                  <a:txBody>
                    <a:bodyPr/>
                    <a:lstStyle/>
                    <a:p>
                      <a:pPr marR="8445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800" spc="-20" dirty="0">
                          <a:latin typeface="Calibri"/>
                          <a:cs typeface="Calibri"/>
                        </a:rPr>
                        <a:t>Core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800" spc="-10" dirty="0">
                          <a:latin typeface="Calibri"/>
                          <a:cs typeface="Calibri"/>
                        </a:rPr>
                        <a:t>AT89S51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800" spc="-20" dirty="0">
                          <a:latin typeface="Calibri"/>
                          <a:cs typeface="Calibri"/>
                        </a:rPr>
                        <a:t>EM9D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4880">
                <a:tc>
                  <a:txBody>
                    <a:bodyPr/>
                    <a:lstStyle/>
                    <a:p>
                      <a:pPr marR="8445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800" spc="-25" dirty="0">
                          <a:latin typeface="Calibri"/>
                          <a:cs typeface="Calibri"/>
                        </a:rPr>
                        <a:t>I2C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800" spc="-10" dirty="0">
                          <a:latin typeface="Calibri"/>
                          <a:cs typeface="Calibri"/>
                        </a:rPr>
                        <a:t>Firmware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6910" marR="491490" indent="-17526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800" spc="-25" dirty="0">
                          <a:latin typeface="Calibri"/>
                          <a:cs typeface="Calibri"/>
                        </a:rPr>
                        <a:t>Peripheral 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Module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4880">
                <a:tc>
                  <a:txBody>
                    <a:bodyPr/>
                    <a:lstStyle/>
                    <a:p>
                      <a:pPr marR="8572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800" spc="-10" dirty="0">
                          <a:latin typeface="Calibri"/>
                          <a:cs typeface="Calibri"/>
                        </a:rPr>
                        <a:t>Calculating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8305" marR="338455" indent="-6096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lang="en-US" sz="2800" spc="-10" dirty="0">
                          <a:latin typeface="Calibri"/>
                          <a:cs typeface="Calibri"/>
                        </a:rPr>
                        <a:t>Emulated </a:t>
                      </a:r>
                      <a:r>
                        <a:rPr sz="2800" spc="-25" dirty="0">
                          <a:latin typeface="Calibri"/>
                          <a:cs typeface="Calibri"/>
                        </a:rPr>
                        <a:t>FP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800" spc="-25" dirty="0">
                          <a:latin typeface="Calibri"/>
                          <a:cs typeface="Calibri"/>
                        </a:rPr>
                        <a:t>FPU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副標題 2"/>
          <p:cNvSpPr txBox="1">
            <a:spLocks/>
          </p:cNvSpPr>
          <p:nvPr/>
        </p:nvSpPr>
        <p:spPr>
          <a:xfrm>
            <a:off x="510490" y="2958691"/>
            <a:ext cx="6858000" cy="14014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TW" sz="3600" b="0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Vrinda" panose="020B0502040204020203" pitchFamily="34" charset="0"/>
              </a:rPr>
              <a:t>Embedded Operating System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8DB9126C-6111-4785-8EDF-2E3E64938C8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9014" y="3823857"/>
            <a:ext cx="4123617" cy="2517013"/>
          </a:xfrm>
          <a:prstGeom prst="rect">
            <a:avLst/>
          </a:prstGeom>
        </p:spPr>
      </p:pic>
      <p:sp>
        <p:nvSpPr>
          <p:cNvPr id="6" name="Google Shape;92;p1">
            <a:extLst>
              <a:ext uri="{FF2B5EF4-FFF2-40B4-BE49-F238E27FC236}">
                <a16:creationId xmlns:a16="http://schemas.microsoft.com/office/drawing/2014/main" id="{7F81BAF1-E519-6FF1-E983-D5053BBB025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438307" y="743925"/>
            <a:ext cx="8524324" cy="1735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Microprocessor Systems</a:t>
            </a:r>
            <a:endParaRPr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93;p1">
            <a:extLst>
              <a:ext uri="{FF2B5EF4-FFF2-40B4-BE49-F238E27FC236}">
                <a16:creationId xmlns:a16="http://schemas.microsoft.com/office/drawing/2014/main" id="{8D17283F-0E28-6287-C246-A2F4900C016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10490" y="4360130"/>
            <a:ext cx="29718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/>
              <a:t>Prof. Ren-</a:t>
            </a:r>
            <a:r>
              <a:rPr lang="en-US" dirty="0" err="1"/>
              <a:t>Shuo</a:t>
            </a:r>
            <a:r>
              <a:rPr lang="en-US" dirty="0"/>
              <a:t> Liu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/>
              <a:t>NTHU EE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828170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altLang="zh-TW" dirty="0"/>
              <a:t>Operating System (OS)</a:t>
            </a:r>
          </a:p>
          <a:p>
            <a:pPr>
              <a:lnSpc>
                <a:spcPct val="100000"/>
              </a:lnSpc>
            </a:pPr>
            <a:r>
              <a:rPr lang="en-US" altLang="zh-TW" dirty="0"/>
              <a:t>Bare-metal / Bare-machine</a:t>
            </a:r>
          </a:p>
          <a:p>
            <a:pPr lvl="1">
              <a:lnSpc>
                <a:spcPct val="100000"/>
              </a:lnSpc>
            </a:pPr>
            <a:r>
              <a:rPr lang="en-US" altLang="zh-TW" dirty="0"/>
              <a:t>Super-loop programming style</a:t>
            </a:r>
          </a:p>
          <a:p>
            <a:pPr>
              <a:lnSpc>
                <a:spcPct val="100000"/>
              </a:lnSpc>
            </a:pPr>
            <a:r>
              <a:rPr lang="en-US" altLang="zh-TW" dirty="0"/>
              <a:t>Key concepts</a:t>
            </a:r>
          </a:p>
          <a:p>
            <a:pPr lvl="1">
              <a:lnSpc>
                <a:spcPct val="100000"/>
              </a:lnSpc>
            </a:pPr>
            <a:r>
              <a:rPr lang="en-US" altLang="zh-TW" dirty="0"/>
              <a:t>Concurrent tasks</a:t>
            </a:r>
            <a:r>
              <a:rPr lang="zh-TW" altLang="en-US" dirty="0"/>
              <a:t> </a:t>
            </a:r>
            <a:r>
              <a:rPr lang="en-US" altLang="zh-TW" dirty="0"/>
              <a:t>(threads)</a:t>
            </a:r>
          </a:p>
          <a:p>
            <a:pPr lvl="1">
              <a:lnSpc>
                <a:spcPct val="100000"/>
              </a:lnSpc>
            </a:pPr>
            <a:r>
              <a:rPr lang="en-US" altLang="zh-TW" dirty="0"/>
              <a:t>Time multiplexing</a:t>
            </a:r>
          </a:p>
          <a:p>
            <a:pPr lvl="1">
              <a:lnSpc>
                <a:spcPct val="100000"/>
              </a:lnSpc>
            </a:pPr>
            <a:r>
              <a:rPr lang="en-US" altLang="zh-TW" dirty="0"/>
              <a:t>Preemption</a:t>
            </a:r>
          </a:p>
          <a:p>
            <a:pPr lvl="1">
              <a:lnSpc>
                <a:spcPct val="100000"/>
              </a:lnSpc>
            </a:pPr>
            <a:r>
              <a:rPr lang="en-US" altLang="zh-TW" dirty="0"/>
              <a:t>User mode vs. kernel mode</a:t>
            </a:r>
          </a:p>
          <a:p>
            <a:pPr lvl="1">
              <a:lnSpc>
                <a:spcPct val="100000"/>
              </a:lnSpc>
            </a:pPr>
            <a:r>
              <a:rPr lang="en-US" altLang="zh-TW" dirty="0"/>
              <a:t>Real-time OS (RTOS)</a:t>
            </a:r>
          </a:p>
          <a:p>
            <a:pPr lvl="1">
              <a:lnSpc>
                <a:spcPct val="100000"/>
              </a:lnSpc>
            </a:pPr>
            <a:r>
              <a:rPr lang="en-US" altLang="zh-TW" dirty="0" err="1"/>
              <a:t>Mutex</a:t>
            </a:r>
            <a:r>
              <a:rPr lang="en-US" altLang="zh-TW" dirty="0"/>
              <a:t> and semaphore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709601E-3B4E-4928-8AF0-88D45E7837C6}" type="slidenum">
              <a:rPr kumimoji="0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80071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Operating Systems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Software that manages hardware resources to run other software on the hardware</a:t>
            </a:r>
          </a:p>
          <a:p>
            <a:r>
              <a:rPr lang="en-US" altLang="zh-TW" dirty="0"/>
              <a:t>Examples</a:t>
            </a:r>
          </a:p>
          <a:p>
            <a:pPr lvl="1"/>
            <a:r>
              <a:rPr lang="en-US" altLang="zh-TW" dirty="0"/>
              <a:t>Windows XP, Windows 7, Windows 8 …</a:t>
            </a:r>
          </a:p>
          <a:p>
            <a:pPr lvl="1"/>
            <a:r>
              <a:rPr lang="en-US" altLang="zh-TW" dirty="0"/>
              <a:t>Linux, including the Ubuntu, Fedora, CentOS… distros</a:t>
            </a:r>
          </a:p>
          <a:p>
            <a:pPr lvl="1"/>
            <a:r>
              <a:rPr lang="en-US" altLang="zh-TW" dirty="0"/>
              <a:t>Android</a:t>
            </a:r>
          </a:p>
          <a:p>
            <a:pPr lvl="1"/>
            <a:r>
              <a:rPr lang="en-US" altLang="zh-TW" dirty="0"/>
              <a:t>iOS</a:t>
            </a:r>
          </a:p>
          <a:p>
            <a:r>
              <a:rPr lang="en-US" altLang="zh-TW" dirty="0"/>
              <a:t>Those specifically for embedded systems</a:t>
            </a:r>
          </a:p>
          <a:p>
            <a:pPr lvl="1"/>
            <a:r>
              <a:rPr lang="en-US" altLang="zh-TW" dirty="0" err="1"/>
              <a:t>TinyOS</a:t>
            </a:r>
            <a:r>
              <a:rPr lang="en-US" altLang="zh-TW" dirty="0"/>
              <a:t>, </a:t>
            </a:r>
            <a:r>
              <a:rPr lang="en-US" altLang="zh-TW" dirty="0" err="1"/>
              <a:t>FreeRTOS</a:t>
            </a:r>
            <a:r>
              <a:rPr lang="en-US" altLang="zh-TW" dirty="0"/>
              <a:t>, </a:t>
            </a:r>
            <a:r>
              <a:rPr lang="en-US" altLang="zh-TW" dirty="0" err="1"/>
              <a:t>RTLinux</a:t>
            </a:r>
            <a:r>
              <a:rPr lang="en-US" altLang="zh-TW" dirty="0"/>
              <a:t>, Zephyr…</a:t>
            </a:r>
          </a:p>
          <a:p>
            <a:pPr lvl="1"/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709601E-3B4E-4928-8AF0-88D45E7837C6}" type="slidenum">
              <a:rPr kumimoji="0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69871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Q: Which are OSes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Keil</a:t>
            </a:r>
            <a:endParaRPr lang="en-US" altLang="zh-TW" dirty="0"/>
          </a:p>
          <a:p>
            <a:r>
              <a:rPr lang="en-US" altLang="zh-TW" dirty="0"/>
              <a:t>Python</a:t>
            </a:r>
          </a:p>
          <a:p>
            <a:r>
              <a:rPr lang="en-US" altLang="zh-TW" dirty="0"/>
              <a:t>GCC</a:t>
            </a:r>
          </a:p>
          <a:p>
            <a:r>
              <a:rPr lang="en-US" altLang="zh-TW" dirty="0"/>
              <a:t>Arduino</a:t>
            </a:r>
          </a:p>
          <a:p>
            <a:r>
              <a:rPr lang="en-US" altLang="zh-TW" dirty="0"/>
              <a:t>Dos</a:t>
            </a:r>
          </a:p>
          <a:p>
            <a:r>
              <a:rPr lang="en-US" altLang="zh-TW" dirty="0"/>
              <a:t>Microsoft</a:t>
            </a:r>
          </a:p>
          <a:p>
            <a:r>
              <a:rPr lang="en-US" altLang="zh-TW" dirty="0" err="1"/>
              <a:t>TensorFlow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709601E-3B4E-4928-8AF0-88D45E7837C6}" type="slidenum">
              <a:rPr kumimoji="0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80058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Bare-metal (Bare-machine)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Developing and directly running software on hardware that has </a:t>
            </a:r>
            <a:r>
              <a:rPr lang="en-US" altLang="zh-TW" dirty="0">
                <a:solidFill>
                  <a:srgbClr val="800080"/>
                </a:solidFill>
              </a:rPr>
              <a:t>no OS</a:t>
            </a:r>
            <a:endParaRPr lang="en-US" altLang="zh-TW" dirty="0"/>
          </a:p>
          <a:p>
            <a:r>
              <a:rPr lang="en-US" altLang="zh-TW" dirty="0"/>
              <a:t>Benefits</a:t>
            </a:r>
          </a:p>
          <a:p>
            <a:pPr lvl="1"/>
            <a:r>
              <a:rPr lang="en-US" altLang="zh-TW" dirty="0"/>
              <a:t>Each function owns the entire CPU and occupies interfaces (e.g., UART)</a:t>
            </a:r>
          </a:p>
          <a:p>
            <a:r>
              <a:rPr lang="en-US" altLang="zh-TW" dirty="0"/>
              <a:t>Drawbacks</a:t>
            </a:r>
          </a:p>
          <a:p>
            <a:pPr lvl="1"/>
            <a:r>
              <a:rPr lang="en-US" altLang="zh-TW" dirty="0"/>
              <a:t>Difficult to implement a system that concurrently do multiple functions</a:t>
            </a:r>
          </a:p>
          <a:p>
            <a:pPr lvl="1"/>
            <a:r>
              <a:rPr lang="en-US" altLang="zh-TW" dirty="0"/>
              <a:t>Waste CPU time for slow 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709601E-3B4E-4928-8AF0-88D45E7837C6}" type="slidenum">
              <a:rPr kumimoji="0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304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TW" dirty="0"/>
              <a:t>keyboard scanning and de-bouncing +</a:t>
            </a:r>
            <a:r>
              <a:rPr lang="zh-TW" altLang="en-US" dirty="0"/>
              <a:t> </a:t>
            </a:r>
            <a:r>
              <a:rPr lang="en-US" altLang="zh-TW" dirty="0"/>
              <a:t>OLED</a:t>
            </a:r>
            <a:r>
              <a:rPr lang="zh-TW" altLang="en-US" dirty="0"/>
              <a:t> </a:t>
            </a:r>
            <a:r>
              <a:rPr lang="en-US" altLang="zh-TW" dirty="0"/>
              <a:t>displaying </a:t>
            </a:r>
          </a:p>
          <a:p>
            <a:pPr lvl="1">
              <a:lnSpc>
                <a:spcPct val="100000"/>
              </a:lnSpc>
            </a:pPr>
            <a:r>
              <a:rPr lang="en-US" altLang="zh-TW" dirty="0"/>
              <a:t>Keyboard may becomes less unresponsive when the microcontroller is drawing the OLED</a:t>
            </a:r>
          </a:p>
          <a:p>
            <a:pPr>
              <a:lnSpc>
                <a:spcPct val="100000"/>
              </a:lnSpc>
            </a:pPr>
            <a:r>
              <a:rPr lang="en-US" altLang="zh-TW" dirty="0"/>
              <a:t>Things become complicated if we want more tasks to do in parallel, e.g., </a:t>
            </a:r>
          </a:p>
          <a:p>
            <a:pPr lvl="1">
              <a:lnSpc>
                <a:spcPct val="100000"/>
              </a:lnSpc>
            </a:pPr>
            <a:r>
              <a:rPr lang="en-US" altLang="zh-TW" dirty="0"/>
              <a:t>UART communication</a:t>
            </a:r>
          </a:p>
          <a:p>
            <a:pPr lvl="1">
              <a:lnSpc>
                <a:spcPct val="100000"/>
              </a:lnSpc>
            </a:pPr>
            <a:r>
              <a:rPr lang="en-US" altLang="zh-TW" dirty="0"/>
              <a:t>6-axis sensing</a:t>
            </a:r>
          </a:p>
          <a:p>
            <a:pPr lvl="1">
              <a:lnSpc>
                <a:spcPct val="100000"/>
              </a:lnSpc>
            </a:pPr>
            <a:r>
              <a:rPr lang="en-US" altLang="zh-TW" dirty="0"/>
              <a:t>ADC</a:t>
            </a:r>
          </a:p>
          <a:p>
            <a:pPr lvl="1">
              <a:lnSpc>
                <a:spcPct val="100000"/>
              </a:lnSpc>
            </a:pPr>
            <a:r>
              <a:rPr lang="en-US" altLang="zh-TW" dirty="0"/>
              <a:t>…</a:t>
            </a:r>
          </a:p>
          <a:p>
            <a:pPr lvl="1"/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709601E-3B4E-4928-8AF0-88D45E7837C6}" type="slidenum">
              <a:rPr kumimoji="0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89494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Super Loop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Super loop is a naïve (and also useful) programming style for bare-metal programming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709601E-3B4E-4928-8AF0-88D45E7837C6}" type="slidenum">
              <a:rPr kumimoji="0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" name="流程圖: 結束點 6"/>
          <p:cNvSpPr/>
          <p:nvPr/>
        </p:nvSpPr>
        <p:spPr>
          <a:xfrm>
            <a:off x="1501702" y="2633386"/>
            <a:ext cx="1081959" cy="340775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Start</a:t>
            </a: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8" name="流程圖: 程序 7"/>
          <p:cNvSpPr/>
          <p:nvPr/>
        </p:nvSpPr>
        <p:spPr>
          <a:xfrm>
            <a:off x="1169447" y="3229118"/>
            <a:ext cx="1746470" cy="37485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Initialization</a:t>
            </a: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9" name="流程圖: 程序 8"/>
          <p:cNvSpPr/>
          <p:nvPr/>
        </p:nvSpPr>
        <p:spPr>
          <a:xfrm>
            <a:off x="1169447" y="4097338"/>
            <a:ext cx="1746470" cy="369425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Keyboard</a:t>
            </a: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0" name="流程圖: 程序 9"/>
          <p:cNvSpPr/>
          <p:nvPr/>
        </p:nvSpPr>
        <p:spPr>
          <a:xfrm>
            <a:off x="1169447" y="4668136"/>
            <a:ext cx="1746470" cy="369425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OLED</a:t>
            </a: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cxnSp>
        <p:nvCxnSpPr>
          <p:cNvPr id="12" name="直線單箭頭接點 11"/>
          <p:cNvCxnSpPr/>
          <p:nvPr/>
        </p:nvCxnSpPr>
        <p:spPr>
          <a:xfrm>
            <a:off x="2042682" y="2974161"/>
            <a:ext cx="0" cy="25495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/>
          <p:nvPr/>
        </p:nvCxnSpPr>
        <p:spPr>
          <a:xfrm>
            <a:off x="2042682" y="3603970"/>
            <a:ext cx="0" cy="49336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/>
          <p:nvPr/>
        </p:nvCxnSpPr>
        <p:spPr>
          <a:xfrm>
            <a:off x="2042682" y="4466763"/>
            <a:ext cx="0" cy="20137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流程圖: 程序 21"/>
          <p:cNvSpPr/>
          <p:nvPr/>
        </p:nvSpPr>
        <p:spPr>
          <a:xfrm>
            <a:off x="1169447" y="5238935"/>
            <a:ext cx="1746470" cy="369425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UART</a:t>
            </a: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cxnSp>
        <p:nvCxnSpPr>
          <p:cNvPr id="23" name="直線單箭頭接點 22"/>
          <p:cNvCxnSpPr/>
          <p:nvPr/>
        </p:nvCxnSpPr>
        <p:spPr>
          <a:xfrm>
            <a:off x="2042682" y="5037561"/>
            <a:ext cx="0" cy="20137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流程圖: 程序 29"/>
          <p:cNvSpPr/>
          <p:nvPr/>
        </p:nvSpPr>
        <p:spPr>
          <a:xfrm>
            <a:off x="1169447" y="5809733"/>
            <a:ext cx="1746470" cy="369425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Delay (optional)</a:t>
            </a: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cxnSp>
        <p:nvCxnSpPr>
          <p:cNvPr id="31" name="直線單箭頭接點 30"/>
          <p:cNvCxnSpPr/>
          <p:nvPr/>
        </p:nvCxnSpPr>
        <p:spPr>
          <a:xfrm>
            <a:off x="2042682" y="5608359"/>
            <a:ext cx="0" cy="20137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手繪多邊形 31"/>
          <p:cNvSpPr/>
          <p:nvPr/>
        </p:nvSpPr>
        <p:spPr>
          <a:xfrm>
            <a:off x="733031" y="3866955"/>
            <a:ext cx="1314923" cy="2690301"/>
          </a:xfrm>
          <a:custGeom>
            <a:avLst/>
            <a:gdLst>
              <a:gd name="connsiteX0" fmla="*/ 1307366 w 1314923"/>
              <a:gd name="connsiteY0" fmla="*/ 2312450 h 2690301"/>
              <a:gd name="connsiteX1" fmla="*/ 1307366 w 1314923"/>
              <a:gd name="connsiteY1" fmla="*/ 2690301 h 2690301"/>
              <a:gd name="connsiteX2" fmla="*/ 0 w 1314923"/>
              <a:gd name="connsiteY2" fmla="*/ 2690301 h 2690301"/>
              <a:gd name="connsiteX3" fmla="*/ 0 w 1314923"/>
              <a:gd name="connsiteY3" fmla="*/ 0 h 2690301"/>
              <a:gd name="connsiteX4" fmla="*/ 1314923 w 1314923"/>
              <a:gd name="connsiteY4" fmla="*/ 0 h 26903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14923" h="2690301">
                <a:moveTo>
                  <a:pt x="1307366" y="2312450"/>
                </a:moveTo>
                <a:lnTo>
                  <a:pt x="1307366" y="2690301"/>
                </a:lnTo>
                <a:lnTo>
                  <a:pt x="0" y="2690301"/>
                </a:lnTo>
                <a:lnTo>
                  <a:pt x="0" y="0"/>
                </a:lnTo>
                <a:lnTo>
                  <a:pt x="1314923" y="0"/>
                </a:lnTo>
              </a:path>
            </a:pathLst>
          </a:cu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3" name="文字方塊 32"/>
          <p:cNvSpPr txBox="1"/>
          <p:nvPr/>
        </p:nvSpPr>
        <p:spPr>
          <a:xfrm>
            <a:off x="3287452" y="2633386"/>
            <a:ext cx="1867819" cy="32932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int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 time = 0;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int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 main()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  ...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  </a:t>
            </a:r>
            <a:r>
              <a:rPr kumimoji="0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for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(;;){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  </a:t>
            </a: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  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keyboard();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    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OLED();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    UART();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    delay(10);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    time++;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  return 0;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}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Consolas" panose="020B0609020204030204" pitchFamily="49" charset="0"/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5360333" y="2633386"/>
            <a:ext cx="3072219" cy="18158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void keyboard()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  </a:t>
            </a:r>
            <a:r>
              <a:rPr kumimoji="0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if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(time%10==0){ 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//100 </a:t>
            </a: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ms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    </a:t>
            </a: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keyAction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(); 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70AD47">
                  <a:lumMod val="75000"/>
                </a:srgbClr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  </a:t>
            </a:r>
            <a:r>
              <a:rPr kumimoji="0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return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}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Consolas" panose="020B0609020204030204" pitchFamily="49" charset="0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5360333" y="4628656"/>
            <a:ext cx="3072219" cy="18158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void OLED()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  </a:t>
            </a:r>
            <a:r>
              <a:rPr kumimoji="0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if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(time%5==0){ 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//50 </a:t>
            </a: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ms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    </a:t>
            </a:r>
            <a:r>
              <a:rPr kumimoji="0" lang="en-US" altLang="zh-TW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oledAction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();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  </a:t>
            </a:r>
            <a:r>
              <a:rPr kumimoji="0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return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}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78822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Concurrent Tasks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What if we have multiple CPUs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>
          <a:xfrm>
            <a:off x="6930370" y="6403995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709601E-3B4E-4928-8AF0-88D45E7837C6}" type="slidenum">
              <a:rPr kumimoji="0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5915551" y="2509250"/>
            <a:ext cx="3072219" cy="20621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void keyboard()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  </a:t>
            </a:r>
            <a:r>
              <a:rPr kumimoji="0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while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(1){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    </a:t>
            </a: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keyAction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();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    delay(100); 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//100 </a:t>
            </a: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ms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70AD47">
                  <a:lumMod val="75000"/>
                </a:srgbClr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  return;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}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Consolas" panose="020B0609020204030204" pitchFamily="49" charset="0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5917968" y="4639185"/>
            <a:ext cx="3072219" cy="20621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void OLED()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  </a:t>
            </a:r>
            <a:r>
              <a:rPr kumimoji="0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while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(1){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    </a:t>
            </a: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oledAction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();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    delay(50); 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//50 </a:t>
            </a: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ms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70AD47">
                  <a:lumMod val="75000"/>
                </a:srgbClr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  return;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}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Consolas" panose="020B0609020204030204" pitchFamily="49" charset="0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5915551" y="133094"/>
            <a:ext cx="3072219" cy="23083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int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 main()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  ...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  </a:t>
            </a: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taskCreate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(keyboard);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  </a:t>
            </a: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taskCreate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(OLED);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  </a:t>
            </a: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taskCrate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(UART);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  </a:t>
            </a: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taskStart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();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  while(1);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}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Consolas" panose="020B0609020204030204" pitchFamily="49" charset="0"/>
            </a:endParaRPr>
          </a:p>
        </p:txBody>
      </p:sp>
      <p:sp>
        <p:nvSpPr>
          <p:cNvPr id="22" name="流程圖: 結束點 21"/>
          <p:cNvSpPr/>
          <p:nvPr/>
        </p:nvSpPr>
        <p:spPr>
          <a:xfrm>
            <a:off x="2317860" y="3060913"/>
            <a:ext cx="1081959" cy="340775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Start</a:t>
            </a: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3" name="流程圖: 程序 22"/>
          <p:cNvSpPr/>
          <p:nvPr/>
        </p:nvSpPr>
        <p:spPr>
          <a:xfrm>
            <a:off x="1985605" y="3656645"/>
            <a:ext cx="1746470" cy="37485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Initialization</a:t>
            </a: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4" name="流程圖: 程序 23"/>
          <p:cNvSpPr/>
          <p:nvPr/>
        </p:nvSpPr>
        <p:spPr>
          <a:xfrm>
            <a:off x="1220221" y="4716707"/>
            <a:ext cx="1120332" cy="369425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Keyboard</a:t>
            </a: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5" name="流程圖: 程序 24"/>
          <p:cNvSpPr/>
          <p:nvPr/>
        </p:nvSpPr>
        <p:spPr>
          <a:xfrm>
            <a:off x="2557815" y="4716707"/>
            <a:ext cx="949674" cy="369425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OLED</a:t>
            </a: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cxnSp>
        <p:nvCxnSpPr>
          <p:cNvPr id="26" name="直線單箭頭接點 25"/>
          <p:cNvCxnSpPr/>
          <p:nvPr/>
        </p:nvCxnSpPr>
        <p:spPr>
          <a:xfrm>
            <a:off x="2858840" y="3401688"/>
            <a:ext cx="0" cy="25495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流程圖: 程序 26"/>
          <p:cNvSpPr/>
          <p:nvPr/>
        </p:nvSpPr>
        <p:spPr>
          <a:xfrm>
            <a:off x="3749539" y="4711066"/>
            <a:ext cx="782551" cy="369425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UART</a:t>
            </a: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8" name="手繪多邊形 27"/>
          <p:cNvSpPr/>
          <p:nvPr/>
        </p:nvSpPr>
        <p:spPr>
          <a:xfrm>
            <a:off x="2463590" y="4499814"/>
            <a:ext cx="566777" cy="876615"/>
          </a:xfrm>
          <a:custGeom>
            <a:avLst/>
            <a:gdLst>
              <a:gd name="connsiteX0" fmla="*/ 559220 w 566777"/>
              <a:gd name="connsiteY0" fmla="*/ 589448 h 876615"/>
              <a:gd name="connsiteX1" fmla="*/ 559220 w 566777"/>
              <a:gd name="connsiteY1" fmla="*/ 876615 h 876615"/>
              <a:gd name="connsiteX2" fmla="*/ 0 w 566777"/>
              <a:gd name="connsiteY2" fmla="*/ 876615 h 876615"/>
              <a:gd name="connsiteX3" fmla="*/ 0 w 566777"/>
              <a:gd name="connsiteY3" fmla="*/ 0 h 876615"/>
              <a:gd name="connsiteX4" fmla="*/ 566777 w 566777"/>
              <a:gd name="connsiteY4" fmla="*/ 0 h 876615"/>
              <a:gd name="connsiteX5" fmla="*/ 566777 w 566777"/>
              <a:gd name="connsiteY5" fmla="*/ 211597 h 87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6777" h="876615">
                <a:moveTo>
                  <a:pt x="559220" y="589448"/>
                </a:moveTo>
                <a:lnTo>
                  <a:pt x="559220" y="876615"/>
                </a:lnTo>
                <a:lnTo>
                  <a:pt x="0" y="876615"/>
                </a:lnTo>
                <a:lnTo>
                  <a:pt x="0" y="0"/>
                </a:lnTo>
                <a:lnTo>
                  <a:pt x="566777" y="0"/>
                </a:lnTo>
                <a:lnTo>
                  <a:pt x="566777" y="211597"/>
                </a:lnTo>
              </a:path>
            </a:pathLst>
          </a:cu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9" name="手繪多邊形 28"/>
          <p:cNvSpPr/>
          <p:nvPr/>
        </p:nvSpPr>
        <p:spPr>
          <a:xfrm>
            <a:off x="3657600" y="4499814"/>
            <a:ext cx="501125" cy="876615"/>
          </a:xfrm>
          <a:custGeom>
            <a:avLst/>
            <a:gdLst>
              <a:gd name="connsiteX0" fmla="*/ 559220 w 566777"/>
              <a:gd name="connsiteY0" fmla="*/ 589448 h 876615"/>
              <a:gd name="connsiteX1" fmla="*/ 559220 w 566777"/>
              <a:gd name="connsiteY1" fmla="*/ 876615 h 876615"/>
              <a:gd name="connsiteX2" fmla="*/ 0 w 566777"/>
              <a:gd name="connsiteY2" fmla="*/ 876615 h 876615"/>
              <a:gd name="connsiteX3" fmla="*/ 0 w 566777"/>
              <a:gd name="connsiteY3" fmla="*/ 0 h 876615"/>
              <a:gd name="connsiteX4" fmla="*/ 566777 w 566777"/>
              <a:gd name="connsiteY4" fmla="*/ 0 h 876615"/>
              <a:gd name="connsiteX5" fmla="*/ 566777 w 566777"/>
              <a:gd name="connsiteY5" fmla="*/ 211597 h 87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6777" h="876615">
                <a:moveTo>
                  <a:pt x="559220" y="589448"/>
                </a:moveTo>
                <a:lnTo>
                  <a:pt x="559220" y="876615"/>
                </a:lnTo>
                <a:lnTo>
                  <a:pt x="0" y="876615"/>
                </a:lnTo>
                <a:lnTo>
                  <a:pt x="0" y="0"/>
                </a:lnTo>
                <a:lnTo>
                  <a:pt x="566777" y="0"/>
                </a:lnTo>
                <a:lnTo>
                  <a:pt x="566777" y="211597"/>
                </a:lnTo>
              </a:path>
            </a:pathLst>
          </a:cu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6" name="手繪多邊形 35"/>
          <p:cNvSpPr/>
          <p:nvPr/>
        </p:nvSpPr>
        <p:spPr>
          <a:xfrm>
            <a:off x="1136032" y="4499814"/>
            <a:ext cx="700325" cy="876615"/>
          </a:xfrm>
          <a:custGeom>
            <a:avLst/>
            <a:gdLst>
              <a:gd name="connsiteX0" fmla="*/ 559220 w 566777"/>
              <a:gd name="connsiteY0" fmla="*/ 589448 h 876615"/>
              <a:gd name="connsiteX1" fmla="*/ 559220 w 566777"/>
              <a:gd name="connsiteY1" fmla="*/ 876615 h 876615"/>
              <a:gd name="connsiteX2" fmla="*/ 0 w 566777"/>
              <a:gd name="connsiteY2" fmla="*/ 876615 h 876615"/>
              <a:gd name="connsiteX3" fmla="*/ 0 w 566777"/>
              <a:gd name="connsiteY3" fmla="*/ 0 h 876615"/>
              <a:gd name="connsiteX4" fmla="*/ 566777 w 566777"/>
              <a:gd name="connsiteY4" fmla="*/ 0 h 876615"/>
              <a:gd name="connsiteX5" fmla="*/ 566777 w 566777"/>
              <a:gd name="connsiteY5" fmla="*/ 211597 h 87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6777" h="876615">
                <a:moveTo>
                  <a:pt x="559220" y="589448"/>
                </a:moveTo>
                <a:lnTo>
                  <a:pt x="559220" y="876615"/>
                </a:lnTo>
                <a:lnTo>
                  <a:pt x="0" y="876615"/>
                </a:lnTo>
                <a:lnTo>
                  <a:pt x="0" y="0"/>
                </a:lnTo>
                <a:lnTo>
                  <a:pt x="566777" y="0"/>
                </a:lnTo>
                <a:lnTo>
                  <a:pt x="566777" y="211597"/>
                </a:lnTo>
              </a:path>
            </a:pathLst>
          </a:cu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cxnSp>
        <p:nvCxnSpPr>
          <p:cNvPr id="39" name="直線單箭頭接點 38"/>
          <p:cNvCxnSpPr>
            <a:stCxn id="23" idx="2"/>
            <a:endCxn id="36" idx="4"/>
          </p:cNvCxnSpPr>
          <p:nvPr/>
        </p:nvCxnSpPr>
        <p:spPr>
          <a:xfrm flipH="1">
            <a:off x="1836357" y="4031497"/>
            <a:ext cx="1022483" cy="46831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/>
          <p:cNvCxnSpPr>
            <a:stCxn id="23" idx="2"/>
            <a:endCxn id="28" idx="4"/>
          </p:cNvCxnSpPr>
          <p:nvPr/>
        </p:nvCxnSpPr>
        <p:spPr>
          <a:xfrm>
            <a:off x="2858840" y="4031497"/>
            <a:ext cx="171527" cy="46831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40"/>
          <p:cNvCxnSpPr>
            <a:stCxn id="23" idx="2"/>
            <a:endCxn id="29" idx="4"/>
          </p:cNvCxnSpPr>
          <p:nvPr/>
        </p:nvCxnSpPr>
        <p:spPr>
          <a:xfrm>
            <a:off x="2858840" y="4031497"/>
            <a:ext cx="1299885" cy="46831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80141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Concurrent Tasks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509333"/>
            <a:ext cx="5197816" cy="4667630"/>
          </a:xfrm>
        </p:spPr>
        <p:txBody>
          <a:bodyPr/>
          <a:lstStyle/>
          <a:p>
            <a:r>
              <a:rPr lang="en-US" altLang="zh-TW" dirty="0"/>
              <a:t>What if we have </a:t>
            </a:r>
            <a:r>
              <a:rPr lang="en-US" altLang="zh-TW" dirty="0">
                <a:solidFill>
                  <a:srgbClr val="800080"/>
                </a:solidFill>
              </a:rPr>
              <a:t>multiple cores </a:t>
            </a:r>
            <a:r>
              <a:rPr lang="en-US" altLang="zh-TW" dirty="0"/>
              <a:t>to concurrently do multiple tasks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>
          <a:xfrm>
            <a:off x="6930370" y="6403995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709601E-3B4E-4928-8AF0-88D45E7837C6}" type="slidenum">
              <a:rPr kumimoji="0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" name="流程圖: 結束點 4"/>
          <p:cNvSpPr/>
          <p:nvPr/>
        </p:nvSpPr>
        <p:spPr>
          <a:xfrm>
            <a:off x="2317860" y="3060913"/>
            <a:ext cx="1081959" cy="340775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Start</a:t>
            </a: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" name="流程圖: 程序 5"/>
          <p:cNvSpPr/>
          <p:nvPr/>
        </p:nvSpPr>
        <p:spPr>
          <a:xfrm>
            <a:off x="1985605" y="3656645"/>
            <a:ext cx="1746470" cy="37485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Initialization</a:t>
            </a: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" name="流程圖: 程序 6"/>
          <p:cNvSpPr/>
          <p:nvPr/>
        </p:nvSpPr>
        <p:spPr>
          <a:xfrm>
            <a:off x="1220221" y="4716707"/>
            <a:ext cx="1120332" cy="369425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Keyboard</a:t>
            </a: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8" name="流程圖: 程序 7"/>
          <p:cNvSpPr/>
          <p:nvPr/>
        </p:nvSpPr>
        <p:spPr>
          <a:xfrm>
            <a:off x="2557815" y="4716707"/>
            <a:ext cx="949674" cy="369425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OLED</a:t>
            </a: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cxnSp>
        <p:nvCxnSpPr>
          <p:cNvPr id="9" name="直線單箭頭接點 8"/>
          <p:cNvCxnSpPr/>
          <p:nvPr/>
        </p:nvCxnSpPr>
        <p:spPr>
          <a:xfrm>
            <a:off x="2858840" y="3401688"/>
            <a:ext cx="0" cy="25495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流程圖: 程序 11"/>
          <p:cNvSpPr/>
          <p:nvPr/>
        </p:nvSpPr>
        <p:spPr>
          <a:xfrm>
            <a:off x="3749539" y="4711066"/>
            <a:ext cx="782551" cy="369425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UART</a:t>
            </a: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5915551" y="2509250"/>
            <a:ext cx="3072219" cy="20621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void keyboard()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  </a:t>
            </a:r>
            <a:r>
              <a:rPr kumimoji="0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while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(1){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    </a:t>
            </a: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keyAction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();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    delay(100); 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//100 </a:t>
            </a: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ms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70AD47">
                  <a:lumMod val="75000"/>
                </a:srgbClr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  return;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}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Consolas" panose="020B0609020204030204" pitchFamily="49" charset="0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5917968" y="4639185"/>
            <a:ext cx="3072219" cy="20621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void OLED()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  </a:t>
            </a:r>
            <a:r>
              <a:rPr kumimoji="0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while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(1){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    </a:t>
            </a: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oledAction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();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    delay(50); 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//50 </a:t>
            </a: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ms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70AD47">
                  <a:lumMod val="75000"/>
                </a:srgbClr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  return;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}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Consolas" panose="020B0609020204030204" pitchFamily="49" charset="0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5915551" y="353503"/>
            <a:ext cx="3072219" cy="20621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int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 main()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  initialization()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  </a:t>
            </a: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startCore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(1, keyboard);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  </a:t>
            </a: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startCore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(2, OLED);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  </a:t>
            </a: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startCore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(3, UART);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  while(1);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}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Consolas" panose="020B0609020204030204" pitchFamily="49" charset="0"/>
            </a:endParaRPr>
          </a:p>
        </p:txBody>
      </p:sp>
      <p:sp>
        <p:nvSpPr>
          <p:cNvPr id="33" name="手繪多邊形 32"/>
          <p:cNvSpPr/>
          <p:nvPr/>
        </p:nvSpPr>
        <p:spPr>
          <a:xfrm>
            <a:off x="2463590" y="4499814"/>
            <a:ext cx="566777" cy="876615"/>
          </a:xfrm>
          <a:custGeom>
            <a:avLst/>
            <a:gdLst>
              <a:gd name="connsiteX0" fmla="*/ 559220 w 566777"/>
              <a:gd name="connsiteY0" fmla="*/ 589448 h 876615"/>
              <a:gd name="connsiteX1" fmla="*/ 559220 w 566777"/>
              <a:gd name="connsiteY1" fmla="*/ 876615 h 876615"/>
              <a:gd name="connsiteX2" fmla="*/ 0 w 566777"/>
              <a:gd name="connsiteY2" fmla="*/ 876615 h 876615"/>
              <a:gd name="connsiteX3" fmla="*/ 0 w 566777"/>
              <a:gd name="connsiteY3" fmla="*/ 0 h 876615"/>
              <a:gd name="connsiteX4" fmla="*/ 566777 w 566777"/>
              <a:gd name="connsiteY4" fmla="*/ 0 h 876615"/>
              <a:gd name="connsiteX5" fmla="*/ 566777 w 566777"/>
              <a:gd name="connsiteY5" fmla="*/ 211597 h 87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6777" h="876615">
                <a:moveTo>
                  <a:pt x="559220" y="589448"/>
                </a:moveTo>
                <a:lnTo>
                  <a:pt x="559220" y="876615"/>
                </a:lnTo>
                <a:lnTo>
                  <a:pt x="0" y="876615"/>
                </a:lnTo>
                <a:lnTo>
                  <a:pt x="0" y="0"/>
                </a:lnTo>
                <a:lnTo>
                  <a:pt x="566777" y="0"/>
                </a:lnTo>
                <a:lnTo>
                  <a:pt x="566777" y="211597"/>
                </a:lnTo>
              </a:path>
            </a:pathLst>
          </a:cu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4" name="手繪多邊形 33"/>
          <p:cNvSpPr/>
          <p:nvPr/>
        </p:nvSpPr>
        <p:spPr>
          <a:xfrm>
            <a:off x="3657600" y="4499814"/>
            <a:ext cx="501125" cy="876615"/>
          </a:xfrm>
          <a:custGeom>
            <a:avLst/>
            <a:gdLst>
              <a:gd name="connsiteX0" fmla="*/ 559220 w 566777"/>
              <a:gd name="connsiteY0" fmla="*/ 589448 h 876615"/>
              <a:gd name="connsiteX1" fmla="*/ 559220 w 566777"/>
              <a:gd name="connsiteY1" fmla="*/ 876615 h 876615"/>
              <a:gd name="connsiteX2" fmla="*/ 0 w 566777"/>
              <a:gd name="connsiteY2" fmla="*/ 876615 h 876615"/>
              <a:gd name="connsiteX3" fmla="*/ 0 w 566777"/>
              <a:gd name="connsiteY3" fmla="*/ 0 h 876615"/>
              <a:gd name="connsiteX4" fmla="*/ 566777 w 566777"/>
              <a:gd name="connsiteY4" fmla="*/ 0 h 876615"/>
              <a:gd name="connsiteX5" fmla="*/ 566777 w 566777"/>
              <a:gd name="connsiteY5" fmla="*/ 211597 h 87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6777" h="876615">
                <a:moveTo>
                  <a:pt x="559220" y="589448"/>
                </a:moveTo>
                <a:lnTo>
                  <a:pt x="559220" y="876615"/>
                </a:lnTo>
                <a:lnTo>
                  <a:pt x="0" y="876615"/>
                </a:lnTo>
                <a:lnTo>
                  <a:pt x="0" y="0"/>
                </a:lnTo>
                <a:lnTo>
                  <a:pt x="566777" y="0"/>
                </a:lnTo>
                <a:lnTo>
                  <a:pt x="566777" y="211597"/>
                </a:lnTo>
              </a:path>
            </a:pathLst>
          </a:cu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5" name="手繪多邊形 34"/>
          <p:cNvSpPr/>
          <p:nvPr/>
        </p:nvSpPr>
        <p:spPr>
          <a:xfrm>
            <a:off x="1136032" y="4499814"/>
            <a:ext cx="700325" cy="876615"/>
          </a:xfrm>
          <a:custGeom>
            <a:avLst/>
            <a:gdLst>
              <a:gd name="connsiteX0" fmla="*/ 559220 w 566777"/>
              <a:gd name="connsiteY0" fmla="*/ 589448 h 876615"/>
              <a:gd name="connsiteX1" fmla="*/ 559220 w 566777"/>
              <a:gd name="connsiteY1" fmla="*/ 876615 h 876615"/>
              <a:gd name="connsiteX2" fmla="*/ 0 w 566777"/>
              <a:gd name="connsiteY2" fmla="*/ 876615 h 876615"/>
              <a:gd name="connsiteX3" fmla="*/ 0 w 566777"/>
              <a:gd name="connsiteY3" fmla="*/ 0 h 876615"/>
              <a:gd name="connsiteX4" fmla="*/ 566777 w 566777"/>
              <a:gd name="connsiteY4" fmla="*/ 0 h 876615"/>
              <a:gd name="connsiteX5" fmla="*/ 566777 w 566777"/>
              <a:gd name="connsiteY5" fmla="*/ 211597 h 87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6777" h="876615">
                <a:moveTo>
                  <a:pt x="559220" y="589448"/>
                </a:moveTo>
                <a:lnTo>
                  <a:pt x="559220" y="876615"/>
                </a:lnTo>
                <a:lnTo>
                  <a:pt x="0" y="876615"/>
                </a:lnTo>
                <a:lnTo>
                  <a:pt x="0" y="0"/>
                </a:lnTo>
                <a:lnTo>
                  <a:pt x="566777" y="0"/>
                </a:lnTo>
                <a:lnTo>
                  <a:pt x="566777" y="211597"/>
                </a:lnTo>
              </a:path>
            </a:pathLst>
          </a:cu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cxnSp>
        <p:nvCxnSpPr>
          <p:cNvPr id="37" name="直線單箭頭接點 36"/>
          <p:cNvCxnSpPr>
            <a:stCxn id="6" idx="2"/>
            <a:endCxn id="35" idx="4"/>
          </p:cNvCxnSpPr>
          <p:nvPr/>
        </p:nvCxnSpPr>
        <p:spPr>
          <a:xfrm flipH="1">
            <a:off x="1836357" y="4031497"/>
            <a:ext cx="1022483" cy="46831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37"/>
          <p:cNvCxnSpPr>
            <a:stCxn id="6" idx="2"/>
            <a:endCxn id="33" idx="4"/>
          </p:cNvCxnSpPr>
          <p:nvPr/>
        </p:nvCxnSpPr>
        <p:spPr>
          <a:xfrm>
            <a:off x="2858840" y="4031497"/>
            <a:ext cx="171527" cy="46831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>
            <a:stCxn id="6" idx="2"/>
            <a:endCxn id="34" idx="4"/>
          </p:cNvCxnSpPr>
          <p:nvPr/>
        </p:nvCxnSpPr>
        <p:spPr>
          <a:xfrm>
            <a:off x="2858840" y="4031497"/>
            <a:ext cx="1299885" cy="46831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16791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Time Multiplexing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509333"/>
            <a:ext cx="4599504" cy="4667630"/>
          </a:xfrm>
        </p:spPr>
        <p:txBody>
          <a:bodyPr/>
          <a:lstStyle/>
          <a:p>
            <a:r>
              <a:rPr lang="en-US" altLang="zh-TW" dirty="0"/>
              <a:t>OS can </a:t>
            </a:r>
            <a:r>
              <a:rPr lang="en-US" altLang="zh-TW" dirty="0">
                <a:solidFill>
                  <a:srgbClr val="800080"/>
                </a:solidFill>
              </a:rPr>
              <a:t>virtualize </a:t>
            </a:r>
            <a:r>
              <a:rPr lang="en-US" altLang="zh-TW" dirty="0"/>
              <a:t>a core into </a:t>
            </a:r>
            <a:r>
              <a:rPr lang="en-US" altLang="zh-TW" dirty="0">
                <a:solidFill>
                  <a:srgbClr val="800080"/>
                </a:solidFill>
              </a:rPr>
              <a:t>multiple cores </a:t>
            </a:r>
            <a:r>
              <a:rPr lang="en-US" altLang="zh-TW" dirty="0"/>
              <a:t>by using </a:t>
            </a:r>
            <a:r>
              <a:rPr lang="en-US" altLang="zh-TW" dirty="0">
                <a:solidFill>
                  <a:srgbClr val="800080"/>
                </a:solidFill>
              </a:rPr>
              <a:t>time multiplexing </a:t>
            </a:r>
            <a:r>
              <a:rPr lang="en-US" altLang="zh-TW" dirty="0"/>
              <a:t>(i.e. time sharing)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>
          <a:xfrm>
            <a:off x="6930370" y="6403995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709601E-3B4E-4928-8AF0-88D45E7837C6}" type="slidenum">
              <a:rPr kumimoji="0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" name="流程圖: 結束點 4"/>
          <p:cNvSpPr/>
          <p:nvPr/>
        </p:nvSpPr>
        <p:spPr>
          <a:xfrm>
            <a:off x="3000650" y="3113491"/>
            <a:ext cx="1081959" cy="340775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Start</a:t>
            </a: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" name="流程圖: 程序 5"/>
          <p:cNvSpPr/>
          <p:nvPr/>
        </p:nvSpPr>
        <p:spPr>
          <a:xfrm>
            <a:off x="2668395" y="3709223"/>
            <a:ext cx="1746470" cy="37485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Initialization</a:t>
            </a: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" name="流程圖: 程序 6"/>
          <p:cNvSpPr/>
          <p:nvPr/>
        </p:nvSpPr>
        <p:spPr>
          <a:xfrm>
            <a:off x="2014871" y="5744273"/>
            <a:ext cx="1120332" cy="369425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Keyboard</a:t>
            </a: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8" name="流程圖: 程序 7"/>
          <p:cNvSpPr/>
          <p:nvPr/>
        </p:nvSpPr>
        <p:spPr>
          <a:xfrm>
            <a:off x="3352465" y="5744273"/>
            <a:ext cx="949674" cy="369425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OLED</a:t>
            </a: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cxnSp>
        <p:nvCxnSpPr>
          <p:cNvPr id="9" name="直線單箭頭接點 8"/>
          <p:cNvCxnSpPr/>
          <p:nvPr/>
        </p:nvCxnSpPr>
        <p:spPr>
          <a:xfrm>
            <a:off x="3541630" y="3454266"/>
            <a:ext cx="0" cy="25495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流程圖: 程序 11"/>
          <p:cNvSpPr/>
          <p:nvPr/>
        </p:nvSpPr>
        <p:spPr>
          <a:xfrm>
            <a:off x="4544189" y="5738632"/>
            <a:ext cx="782551" cy="369425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UART</a:t>
            </a: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5915551" y="2509250"/>
            <a:ext cx="3072219" cy="20621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void keyboard()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  </a:t>
            </a:r>
            <a:r>
              <a:rPr kumimoji="0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while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(1){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    </a:t>
            </a: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keyAction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();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    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sleep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(100); 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//100 </a:t>
            </a: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ms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70AD47">
                  <a:lumMod val="75000"/>
                </a:srgbClr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  return;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}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Consolas" panose="020B0609020204030204" pitchFamily="49" charset="0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5917968" y="4639185"/>
            <a:ext cx="3072219" cy="20621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void OLED()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  </a:t>
            </a:r>
            <a:r>
              <a:rPr kumimoji="0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while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(1){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    </a:t>
            </a: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oledAction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();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    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sleep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(50); 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//50 </a:t>
            </a: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ms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70AD47">
                  <a:lumMod val="75000"/>
                </a:srgbClr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  return;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}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Consolas" panose="020B0609020204030204" pitchFamily="49" charset="0"/>
            </a:endParaRPr>
          </a:p>
        </p:txBody>
      </p:sp>
      <p:sp>
        <p:nvSpPr>
          <p:cNvPr id="33" name="手繪多邊形 32"/>
          <p:cNvSpPr/>
          <p:nvPr/>
        </p:nvSpPr>
        <p:spPr>
          <a:xfrm>
            <a:off x="3258240" y="5527380"/>
            <a:ext cx="566777" cy="876615"/>
          </a:xfrm>
          <a:custGeom>
            <a:avLst/>
            <a:gdLst>
              <a:gd name="connsiteX0" fmla="*/ 559220 w 566777"/>
              <a:gd name="connsiteY0" fmla="*/ 589448 h 876615"/>
              <a:gd name="connsiteX1" fmla="*/ 559220 w 566777"/>
              <a:gd name="connsiteY1" fmla="*/ 876615 h 876615"/>
              <a:gd name="connsiteX2" fmla="*/ 0 w 566777"/>
              <a:gd name="connsiteY2" fmla="*/ 876615 h 876615"/>
              <a:gd name="connsiteX3" fmla="*/ 0 w 566777"/>
              <a:gd name="connsiteY3" fmla="*/ 0 h 876615"/>
              <a:gd name="connsiteX4" fmla="*/ 566777 w 566777"/>
              <a:gd name="connsiteY4" fmla="*/ 0 h 876615"/>
              <a:gd name="connsiteX5" fmla="*/ 566777 w 566777"/>
              <a:gd name="connsiteY5" fmla="*/ 211597 h 87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6777" h="876615">
                <a:moveTo>
                  <a:pt x="559220" y="589448"/>
                </a:moveTo>
                <a:lnTo>
                  <a:pt x="559220" y="876615"/>
                </a:lnTo>
                <a:lnTo>
                  <a:pt x="0" y="876615"/>
                </a:lnTo>
                <a:lnTo>
                  <a:pt x="0" y="0"/>
                </a:lnTo>
                <a:lnTo>
                  <a:pt x="566777" y="0"/>
                </a:lnTo>
                <a:lnTo>
                  <a:pt x="566777" y="211597"/>
                </a:lnTo>
              </a:path>
            </a:pathLst>
          </a:cu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4" name="手繪多邊形 33"/>
          <p:cNvSpPr/>
          <p:nvPr/>
        </p:nvSpPr>
        <p:spPr>
          <a:xfrm>
            <a:off x="4452250" y="5527380"/>
            <a:ext cx="501125" cy="876615"/>
          </a:xfrm>
          <a:custGeom>
            <a:avLst/>
            <a:gdLst>
              <a:gd name="connsiteX0" fmla="*/ 559220 w 566777"/>
              <a:gd name="connsiteY0" fmla="*/ 589448 h 876615"/>
              <a:gd name="connsiteX1" fmla="*/ 559220 w 566777"/>
              <a:gd name="connsiteY1" fmla="*/ 876615 h 876615"/>
              <a:gd name="connsiteX2" fmla="*/ 0 w 566777"/>
              <a:gd name="connsiteY2" fmla="*/ 876615 h 876615"/>
              <a:gd name="connsiteX3" fmla="*/ 0 w 566777"/>
              <a:gd name="connsiteY3" fmla="*/ 0 h 876615"/>
              <a:gd name="connsiteX4" fmla="*/ 566777 w 566777"/>
              <a:gd name="connsiteY4" fmla="*/ 0 h 876615"/>
              <a:gd name="connsiteX5" fmla="*/ 566777 w 566777"/>
              <a:gd name="connsiteY5" fmla="*/ 211597 h 87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6777" h="876615">
                <a:moveTo>
                  <a:pt x="559220" y="589448"/>
                </a:moveTo>
                <a:lnTo>
                  <a:pt x="559220" y="876615"/>
                </a:lnTo>
                <a:lnTo>
                  <a:pt x="0" y="876615"/>
                </a:lnTo>
                <a:lnTo>
                  <a:pt x="0" y="0"/>
                </a:lnTo>
                <a:lnTo>
                  <a:pt x="566777" y="0"/>
                </a:lnTo>
                <a:lnTo>
                  <a:pt x="566777" y="211597"/>
                </a:lnTo>
              </a:path>
            </a:pathLst>
          </a:cu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5" name="手繪多邊形 34"/>
          <p:cNvSpPr/>
          <p:nvPr/>
        </p:nvSpPr>
        <p:spPr>
          <a:xfrm>
            <a:off x="1930682" y="5527380"/>
            <a:ext cx="700325" cy="876615"/>
          </a:xfrm>
          <a:custGeom>
            <a:avLst/>
            <a:gdLst>
              <a:gd name="connsiteX0" fmla="*/ 559220 w 566777"/>
              <a:gd name="connsiteY0" fmla="*/ 589448 h 876615"/>
              <a:gd name="connsiteX1" fmla="*/ 559220 w 566777"/>
              <a:gd name="connsiteY1" fmla="*/ 876615 h 876615"/>
              <a:gd name="connsiteX2" fmla="*/ 0 w 566777"/>
              <a:gd name="connsiteY2" fmla="*/ 876615 h 876615"/>
              <a:gd name="connsiteX3" fmla="*/ 0 w 566777"/>
              <a:gd name="connsiteY3" fmla="*/ 0 h 876615"/>
              <a:gd name="connsiteX4" fmla="*/ 566777 w 566777"/>
              <a:gd name="connsiteY4" fmla="*/ 0 h 876615"/>
              <a:gd name="connsiteX5" fmla="*/ 566777 w 566777"/>
              <a:gd name="connsiteY5" fmla="*/ 211597 h 87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6777" h="876615">
                <a:moveTo>
                  <a:pt x="559220" y="589448"/>
                </a:moveTo>
                <a:lnTo>
                  <a:pt x="559220" y="876615"/>
                </a:lnTo>
                <a:lnTo>
                  <a:pt x="0" y="876615"/>
                </a:lnTo>
                <a:lnTo>
                  <a:pt x="0" y="0"/>
                </a:lnTo>
                <a:lnTo>
                  <a:pt x="566777" y="0"/>
                </a:lnTo>
                <a:lnTo>
                  <a:pt x="566777" y="211597"/>
                </a:lnTo>
              </a:path>
            </a:pathLst>
          </a:cu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5915551" y="133094"/>
            <a:ext cx="3072219" cy="23083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int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 main()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  ...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  </a:t>
            </a: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taskCreate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(keyboard);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  </a:t>
            </a: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taskCreate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(OLED);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  </a:t>
            </a: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taskCrate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(UART);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  </a:t>
            </a: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taskStartScheduler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();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  while(1);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}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Consolas" panose="020B0609020204030204" pitchFamily="49" charset="0"/>
            </a:endParaRPr>
          </a:p>
        </p:txBody>
      </p:sp>
      <p:cxnSp>
        <p:nvCxnSpPr>
          <p:cNvPr id="22" name="直線單箭頭接點 21"/>
          <p:cNvCxnSpPr/>
          <p:nvPr/>
        </p:nvCxnSpPr>
        <p:spPr>
          <a:xfrm>
            <a:off x="3541629" y="4084075"/>
            <a:ext cx="0" cy="35319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手繪多邊形 9"/>
          <p:cNvSpPr/>
          <p:nvPr/>
        </p:nvSpPr>
        <p:spPr>
          <a:xfrm>
            <a:off x="2451134" y="4239244"/>
            <a:ext cx="1090496" cy="759963"/>
          </a:xfrm>
          <a:custGeom>
            <a:avLst/>
            <a:gdLst>
              <a:gd name="connsiteX0" fmla="*/ 1080655 w 1095769"/>
              <a:gd name="connsiteY0" fmla="*/ 468536 h 649905"/>
              <a:gd name="connsiteX1" fmla="*/ 1080655 w 1095769"/>
              <a:gd name="connsiteY1" fmla="*/ 649905 h 649905"/>
              <a:gd name="connsiteX2" fmla="*/ 0 w 1095769"/>
              <a:gd name="connsiteY2" fmla="*/ 649905 h 649905"/>
              <a:gd name="connsiteX3" fmla="*/ 0 w 1095769"/>
              <a:gd name="connsiteY3" fmla="*/ 0 h 649905"/>
              <a:gd name="connsiteX4" fmla="*/ 1095769 w 1095769"/>
              <a:gd name="connsiteY4" fmla="*/ 0 h 6499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5769" h="649905">
                <a:moveTo>
                  <a:pt x="1080655" y="468536"/>
                </a:moveTo>
                <a:lnTo>
                  <a:pt x="1080655" y="649905"/>
                </a:lnTo>
                <a:lnTo>
                  <a:pt x="0" y="649905"/>
                </a:lnTo>
                <a:lnTo>
                  <a:pt x="0" y="0"/>
                </a:lnTo>
                <a:lnTo>
                  <a:pt x="1095769" y="0"/>
                </a:lnTo>
              </a:path>
            </a:pathLst>
          </a:cu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1" name="流程圖: 程序 20"/>
          <p:cNvSpPr/>
          <p:nvPr/>
        </p:nvSpPr>
        <p:spPr>
          <a:xfrm>
            <a:off x="2668395" y="4437272"/>
            <a:ext cx="1746470" cy="37485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Task Scheduler</a:t>
            </a: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4" name="手繪多邊形 13"/>
          <p:cNvSpPr/>
          <p:nvPr/>
        </p:nvSpPr>
        <p:spPr>
          <a:xfrm>
            <a:off x="1613783" y="4235947"/>
            <a:ext cx="823298" cy="1502685"/>
          </a:xfrm>
          <a:custGeom>
            <a:avLst/>
            <a:gdLst>
              <a:gd name="connsiteX0" fmla="*/ 301863 w 823298"/>
              <a:gd name="connsiteY0" fmla="*/ 1692773 h 1692773"/>
              <a:gd name="connsiteX1" fmla="*/ 22253 w 823298"/>
              <a:gd name="connsiteY1" fmla="*/ 400522 h 1692773"/>
              <a:gd name="connsiteX2" fmla="*/ 823298 w 823298"/>
              <a:gd name="connsiteY2" fmla="*/ 0 h 1692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23298" h="1692773">
                <a:moveTo>
                  <a:pt x="301863" y="1692773"/>
                </a:moveTo>
                <a:cubicBezTo>
                  <a:pt x="118605" y="1187712"/>
                  <a:pt x="-64653" y="682651"/>
                  <a:pt x="22253" y="400522"/>
                </a:cubicBezTo>
                <a:cubicBezTo>
                  <a:pt x="109159" y="118393"/>
                  <a:pt x="466228" y="59196"/>
                  <a:pt x="823298" y="0"/>
                </a:cubicBezTo>
              </a:path>
            </a:pathLst>
          </a:custGeom>
          <a:noFill/>
          <a:ln>
            <a:solidFill>
              <a:srgbClr val="0000FF"/>
            </a:solidFill>
            <a:prstDash val="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5" name="手繪多邊形 14"/>
          <p:cNvSpPr/>
          <p:nvPr/>
        </p:nvSpPr>
        <p:spPr>
          <a:xfrm>
            <a:off x="1953334" y="4251061"/>
            <a:ext cx="1299906" cy="1481176"/>
          </a:xfrm>
          <a:custGeom>
            <a:avLst/>
            <a:gdLst>
              <a:gd name="connsiteX0" fmla="*/ 1299906 w 1299906"/>
              <a:gd name="connsiteY0" fmla="*/ 1481176 h 1481176"/>
              <a:gd name="connsiteX1" fmla="*/ 37882 w 1299906"/>
              <a:gd name="connsiteY1" fmla="*/ 597005 h 1481176"/>
              <a:gd name="connsiteX2" fmla="*/ 453519 w 1299906"/>
              <a:gd name="connsiteY2" fmla="*/ 0 h 1481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99906" h="1481176">
                <a:moveTo>
                  <a:pt x="1299906" y="1481176"/>
                </a:moveTo>
                <a:cubicBezTo>
                  <a:pt x="739426" y="1162521"/>
                  <a:pt x="178946" y="843867"/>
                  <a:pt x="37882" y="597005"/>
                </a:cubicBezTo>
                <a:cubicBezTo>
                  <a:pt x="-103182" y="350143"/>
                  <a:pt x="175168" y="175071"/>
                  <a:pt x="453519" y="0"/>
                </a:cubicBezTo>
              </a:path>
            </a:pathLst>
          </a:custGeom>
          <a:noFill/>
          <a:ln>
            <a:solidFill>
              <a:srgbClr val="0000FF"/>
            </a:solidFill>
            <a:prstDash val="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6" name="手繪多邊形 15"/>
          <p:cNvSpPr/>
          <p:nvPr/>
        </p:nvSpPr>
        <p:spPr>
          <a:xfrm>
            <a:off x="2107019" y="4288846"/>
            <a:ext cx="2325116" cy="1277137"/>
          </a:xfrm>
          <a:custGeom>
            <a:avLst/>
            <a:gdLst>
              <a:gd name="connsiteX0" fmla="*/ 2325116 w 2325116"/>
              <a:gd name="connsiteY0" fmla="*/ 1277137 h 1277137"/>
              <a:gd name="connsiteX1" fmla="*/ 171364 w 2325116"/>
              <a:gd name="connsiteY1" fmla="*/ 544106 h 1277137"/>
              <a:gd name="connsiteX2" fmla="*/ 292277 w 2325116"/>
              <a:gd name="connsiteY2" fmla="*/ 0 h 1277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25116" h="1277137">
                <a:moveTo>
                  <a:pt x="2325116" y="1277137"/>
                </a:moveTo>
                <a:cubicBezTo>
                  <a:pt x="1417643" y="1017049"/>
                  <a:pt x="510170" y="756962"/>
                  <a:pt x="171364" y="544106"/>
                </a:cubicBezTo>
                <a:cubicBezTo>
                  <a:pt x="-167443" y="331250"/>
                  <a:pt x="62417" y="165625"/>
                  <a:pt x="292277" y="0"/>
                </a:cubicBezTo>
              </a:path>
            </a:pathLst>
          </a:custGeom>
          <a:noFill/>
          <a:ln>
            <a:solidFill>
              <a:srgbClr val="0000FF"/>
            </a:solidFill>
            <a:prstDash val="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509235" y="3624075"/>
            <a:ext cx="18575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All interrupts, including timer,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or sleep</a:t>
            </a: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cxnSp>
        <p:nvCxnSpPr>
          <p:cNvPr id="23" name="直線單箭頭接點 22"/>
          <p:cNvCxnSpPr>
            <a:endCxn id="35" idx="4"/>
          </p:cNvCxnSpPr>
          <p:nvPr/>
        </p:nvCxnSpPr>
        <p:spPr>
          <a:xfrm flipH="1">
            <a:off x="2631007" y="4839424"/>
            <a:ext cx="1249466" cy="687956"/>
          </a:xfrm>
          <a:prstGeom prst="straightConnector1">
            <a:avLst/>
          </a:prstGeom>
          <a:noFill/>
          <a:ln>
            <a:solidFill>
              <a:srgbClr val="0000FF"/>
            </a:solidFill>
            <a:prstDash val="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6" name="直線單箭頭接點 35"/>
          <p:cNvCxnSpPr>
            <a:endCxn id="33" idx="4"/>
          </p:cNvCxnSpPr>
          <p:nvPr/>
        </p:nvCxnSpPr>
        <p:spPr>
          <a:xfrm flipH="1">
            <a:off x="3825017" y="4837107"/>
            <a:ext cx="55456" cy="690273"/>
          </a:xfrm>
          <a:prstGeom prst="straightConnector1">
            <a:avLst/>
          </a:prstGeom>
          <a:noFill/>
          <a:ln>
            <a:solidFill>
              <a:srgbClr val="0000FF"/>
            </a:solidFill>
            <a:prstDash val="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9" name="直線單箭頭接點 38"/>
          <p:cNvCxnSpPr>
            <a:endCxn id="34" idx="4"/>
          </p:cNvCxnSpPr>
          <p:nvPr/>
        </p:nvCxnSpPr>
        <p:spPr>
          <a:xfrm>
            <a:off x="3879748" y="4843917"/>
            <a:ext cx="1073627" cy="683463"/>
          </a:xfrm>
          <a:prstGeom prst="straightConnector1">
            <a:avLst/>
          </a:prstGeom>
          <a:noFill/>
          <a:ln>
            <a:solidFill>
              <a:srgbClr val="0000FF"/>
            </a:solidFill>
            <a:prstDash val="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0" name="文字方塊 39"/>
          <p:cNvSpPr txBox="1"/>
          <p:nvPr/>
        </p:nvSpPr>
        <p:spPr>
          <a:xfrm>
            <a:off x="4384617" y="4908878"/>
            <a:ext cx="1037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Schedule</a:t>
            </a: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0485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Pre-emptive vs. Non-preemptive OS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Preemption: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搶佔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</a:p>
          <a:p>
            <a:r>
              <a:rPr lang="en-US" altLang="zh-TW" dirty="0"/>
              <a:t>Preemptive OS has the right to suspend tasks</a:t>
            </a:r>
          </a:p>
          <a:p>
            <a:pPr lvl="1"/>
            <a:r>
              <a:rPr lang="en-US" altLang="zh-TW" dirty="0"/>
              <a:t>For time sharing (timer interrupt)</a:t>
            </a:r>
          </a:p>
          <a:p>
            <a:pPr lvl="1"/>
            <a:r>
              <a:rPr lang="en-US" altLang="zh-TW" dirty="0"/>
              <a:t>For prioritizing other tasks (e.g., external interrupt)</a:t>
            </a:r>
          </a:p>
          <a:p>
            <a:pPr lvl="3"/>
            <a:endParaRPr lang="en-US" altLang="zh-TW" dirty="0"/>
          </a:p>
          <a:p>
            <a:r>
              <a:rPr lang="en-US" altLang="zh-TW" dirty="0"/>
              <a:t>In a non-preemptive OS, a task can occupy CPUs as long as it wishes </a:t>
            </a:r>
          </a:p>
          <a:p>
            <a:pPr lvl="1"/>
            <a:r>
              <a:rPr lang="en-US" altLang="zh-TW" dirty="0"/>
              <a:t>OS does not force tasks to relinquish the CPU</a:t>
            </a:r>
          </a:p>
          <a:p>
            <a:pPr lvl="1"/>
            <a:r>
              <a:rPr lang="en-US" altLang="zh-TW" dirty="0"/>
              <a:t>Tasks have to co-operate by themselves</a:t>
            </a:r>
          </a:p>
          <a:p>
            <a:pPr lvl="2"/>
            <a:r>
              <a:rPr lang="en-US" altLang="zh-TW" dirty="0"/>
              <a:t>This is not the case for Windows, Linux, Android. Otherwise, a buggy user program can occupy the computer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709601E-3B4E-4928-8AF0-88D45E7837C6}" type="slidenum">
              <a:rPr kumimoji="0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73451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Preemptive Fixed Priority Scheduling</a:t>
            </a:r>
          </a:p>
        </p:txBody>
      </p:sp>
      <p:grpSp>
        <p:nvGrpSpPr>
          <p:cNvPr id="3" name="群組 2"/>
          <p:cNvGrpSpPr/>
          <p:nvPr/>
        </p:nvGrpSpPr>
        <p:grpSpPr>
          <a:xfrm>
            <a:off x="2347950" y="2413000"/>
            <a:ext cx="4538830" cy="1968500"/>
            <a:chOff x="2347950" y="2413000"/>
            <a:chExt cx="4538830" cy="1968500"/>
          </a:xfrm>
        </p:grpSpPr>
        <p:sp>
          <p:nvSpPr>
            <p:cNvPr id="23554" name="Line 2"/>
            <p:cNvSpPr>
              <a:spLocks noChangeShapeType="1"/>
            </p:cNvSpPr>
            <p:nvPr/>
          </p:nvSpPr>
          <p:spPr bwMode="auto">
            <a:xfrm>
              <a:off x="3016747" y="2900660"/>
              <a:ext cx="3352353" cy="0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555" name="Line 3"/>
            <p:cNvSpPr>
              <a:spLocks noChangeShapeType="1"/>
            </p:cNvSpPr>
            <p:nvPr/>
          </p:nvSpPr>
          <p:spPr bwMode="auto">
            <a:xfrm>
              <a:off x="3016747" y="3972223"/>
              <a:ext cx="3352353" cy="0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556" name="Line 4"/>
            <p:cNvSpPr>
              <a:spLocks noChangeShapeType="1"/>
            </p:cNvSpPr>
            <p:nvPr/>
          </p:nvSpPr>
          <p:spPr bwMode="auto">
            <a:xfrm>
              <a:off x="3016747" y="3257848"/>
              <a:ext cx="3352353" cy="0"/>
            </a:xfrm>
            <a:prstGeom prst="line">
              <a:avLst/>
            </a:prstGeom>
            <a:noFill/>
            <a:ln w="12700" cap="flat">
              <a:solidFill>
                <a:srgbClr val="CECECE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557" name="Line 5"/>
            <p:cNvSpPr>
              <a:spLocks noChangeShapeType="1"/>
            </p:cNvSpPr>
            <p:nvPr/>
          </p:nvSpPr>
          <p:spPr bwMode="auto">
            <a:xfrm rot="10800000" flipH="1">
              <a:off x="3016747" y="3614105"/>
              <a:ext cx="3352353" cy="0"/>
            </a:xfrm>
            <a:prstGeom prst="line">
              <a:avLst/>
            </a:prstGeom>
            <a:noFill/>
            <a:ln w="12700" cap="flat">
              <a:solidFill>
                <a:srgbClr val="CECECE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558" name="Line 6"/>
            <p:cNvSpPr>
              <a:spLocks noChangeShapeType="1"/>
            </p:cNvSpPr>
            <p:nvPr/>
          </p:nvSpPr>
          <p:spPr bwMode="auto">
            <a:xfrm>
              <a:off x="3091160" y="2729508"/>
              <a:ext cx="0" cy="1413868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561" name="Rectangle 9"/>
            <p:cNvSpPr>
              <a:spLocks/>
            </p:cNvSpPr>
            <p:nvPr/>
          </p:nvSpPr>
          <p:spPr bwMode="auto">
            <a:xfrm>
              <a:off x="3098603" y="2900660"/>
              <a:ext cx="133945" cy="357188"/>
            </a:xfrm>
            <a:prstGeom prst="rect">
              <a:avLst/>
            </a:prstGeom>
            <a:solidFill>
              <a:schemeClr val="accent1"/>
            </a:solidFill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562" name="Line 10"/>
            <p:cNvSpPr>
              <a:spLocks noChangeShapeType="1"/>
            </p:cNvSpPr>
            <p:nvPr/>
          </p:nvSpPr>
          <p:spPr bwMode="auto">
            <a:xfrm>
              <a:off x="3850183" y="2729508"/>
              <a:ext cx="0" cy="1413868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563" name="Line 11"/>
            <p:cNvSpPr>
              <a:spLocks noChangeShapeType="1"/>
            </p:cNvSpPr>
            <p:nvPr/>
          </p:nvSpPr>
          <p:spPr bwMode="auto">
            <a:xfrm>
              <a:off x="4609207" y="2729508"/>
              <a:ext cx="0" cy="1413868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564" name="Line 12"/>
            <p:cNvSpPr>
              <a:spLocks noChangeShapeType="1"/>
            </p:cNvSpPr>
            <p:nvPr/>
          </p:nvSpPr>
          <p:spPr bwMode="auto">
            <a:xfrm>
              <a:off x="5368231" y="2729508"/>
              <a:ext cx="0" cy="1413868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565" name="Line 13"/>
            <p:cNvSpPr>
              <a:spLocks noChangeShapeType="1"/>
            </p:cNvSpPr>
            <p:nvPr/>
          </p:nvSpPr>
          <p:spPr bwMode="auto">
            <a:xfrm>
              <a:off x="6119813" y="2729508"/>
              <a:ext cx="0" cy="1413868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Rectangle 8"/>
            <p:cNvSpPr>
              <a:spLocks/>
            </p:cNvSpPr>
            <p:nvPr/>
          </p:nvSpPr>
          <p:spPr bwMode="auto">
            <a:xfrm>
              <a:off x="2347950" y="2413000"/>
              <a:ext cx="1652550" cy="190748"/>
            </a:xfrm>
            <a:prstGeom prst="rect">
              <a:avLst/>
            </a:prstGeom>
            <a:noFill/>
            <a:ln w="127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0" tIns="0" rIns="0" bIns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33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Gill Sans" charset="0"/>
                  <a:cs typeface="Gill Sans" charset="0"/>
                </a:rPr>
                <a:t>High Priority Task</a:t>
              </a:r>
            </a:p>
          </p:txBody>
        </p:sp>
        <p:sp>
          <p:nvSpPr>
            <p:cNvPr id="18" name="Rectangle 9"/>
            <p:cNvSpPr>
              <a:spLocks/>
            </p:cNvSpPr>
            <p:nvPr/>
          </p:nvSpPr>
          <p:spPr bwMode="auto">
            <a:xfrm>
              <a:off x="2376785" y="4190752"/>
              <a:ext cx="1652550" cy="190748"/>
            </a:xfrm>
            <a:prstGeom prst="rect">
              <a:avLst/>
            </a:prstGeom>
            <a:noFill/>
            <a:ln w="127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0" tIns="0" rIns="0" bIns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33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Gill Sans" charset="0"/>
                  <a:cs typeface="Gill Sans" charset="0"/>
                </a:rPr>
                <a:t>Low Priority Task</a:t>
              </a:r>
            </a:p>
          </p:txBody>
        </p:sp>
        <p:sp>
          <p:nvSpPr>
            <p:cNvPr id="19" name="Rectangle 22"/>
            <p:cNvSpPr>
              <a:spLocks/>
            </p:cNvSpPr>
            <p:nvPr/>
          </p:nvSpPr>
          <p:spPr bwMode="auto">
            <a:xfrm>
              <a:off x="6223992" y="4053582"/>
              <a:ext cx="662788" cy="190748"/>
            </a:xfrm>
            <a:prstGeom prst="rect">
              <a:avLst/>
            </a:prstGeom>
            <a:noFill/>
            <a:ln w="127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0" tIns="0" rIns="0" bIns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33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Gill Sans" charset="0"/>
                  <a:cs typeface="Gill Sans" charset="0"/>
                </a:rPr>
                <a:t>Time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Gill Sans" charset="0"/>
                <a:cs typeface="Gill Sans" charset="0"/>
              </a:endParaRP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FABF2FD-84ED-6241-A561-0CB9252F2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6A3C3A-A029-4573-BC04-5DA27903A74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5274803" y="6363350"/>
            <a:ext cx="23532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Example from Prof. Brad Campbell </a:t>
            </a:r>
            <a:endParaRPr kumimoji="0" lang="zh-TW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08055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Preemptive Fixed Priority Scheduling</a:t>
            </a:r>
          </a:p>
        </p:txBody>
      </p:sp>
      <p:grpSp>
        <p:nvGrpSpPr>
          <p:cNvPr id="3" name="群組 2"/>
          <p:cNvGrpSpPr/>
          <p:nvPr/>
        </p:nvGrpSpPr>
        <p:grpSpPr>
          <a:xfrm>
            <a:off x="2347950" y="2413000"/>
            <a:ext cx="4538830" cy="1968500"/>
            <a:chOff x="2347950" y="2413000"/>
            <a:chExt cx="4538830" cy="1968500"/>
          </a:xfrm>
        </p:grpSpPr>
        <p:sp>
          <p:nvSpPr>
            <p:cNvPr id="24578" name="Line 2"/>
            <p:cNvSpPr>
              <a:spLocks noChangeShapeType="1"/>
            </p:cNvSpPr>
            <p:nvPr/>
          </p:nvSpPr>
          <p:spPr bwMode="auto">
            <a:xfrm>
              <a:off x="3016747" y="2900660"/>
              <a:ext cx="3352353" cy="0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579" name="Line 3"/>
            <p:cNvSpPr>
              <a:spLocks noChangeShapeType="1"/>
            </p:cNvSpPr>
            <p:nvPr/>
          </p:nvSpPr>
          <p:spPr bwMode="auto">
            <a:xfrm>
              <a:off x="3016747" y="3972223"/>
              <a:ext cx="3352353" cy="0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580" name="Line 4"/>
            <p:cNvSpPr>
              <a:spLocks noChangeShapeType="1"/>
            </p:cNvSpPr>
            <p:nvPr/>
          </p:nvSpPr>
          <p:spPr bwMode="auto">
            <a:xfrm>
              <a:off x="3016747" y="3257848"/>
              <a:ext cx="3352353" cy="0"/>
            </a:xfrm>
            <a:prstGeom prst="line">
              <a:avLst/>
            </a:prstGeom>
            <a:noFill/>
            <a:ln w="12700" cap="flat">
              <a:solidFill>
                <a:srgbClr val="CECECE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581" name="Line 5"/>
            <p:cNvSpPr>
              <a:spLocks noChangeShapeType="1"/>
            </p:cNvSpPr>
            <p:nvPr/>
          </p:nvSpPr>
          <p:spPr bwMode="auto">
            <a:xfrm rot="10800000" flipH="1">
              <a:off x="3016747" y="3614105"/>
              <a:ext cx="3352353" cy="0"/>
            </a:xfrm>
            <a:prstGeom prst="line">
              <a:avLst/>
            </a:prstGeom>
            <a:noFill/>
            <a:ln w="12700" cap="flat">
              <a:solidFill>
                <a:srgbClr val="CECECE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582" name="Line 6"/>
            <p:cNvSpPr>
              <a:spLocks noChangeShapeType="1"/>
            </p:cNvSpPr>
            <p:nvPr/>
          </p:nvSpPr>
          <p:spPr bwMode="auto">
            <a:xfrm>
              <a:off x="3091160" y="2729508"/>
              <a:ext cx="0" cy="1413868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585" name="Rectangle 9"/>
            <p:cNvSpPr>
              <a:spLocks/>
            </p:cNvSpPr>
            <p:nvPr/>
          </p:nvSpPr>
          <p:spPr bwMode="auto">
            <a:xfrm>
              <a:off x="3098603" y="2900660"/>
              <a:ext cx="133945" cy="357188"/>
            </a:xfrm>
            <a:prstGeom prst="rect">
              <a:avLst/>
            </a:prstGeom>
            <a:solidFill>
              <a:schemeClr val="accent1"/>
            </a:solidFill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586" name="Rectangle 10"/>
            <p:cNvSpPr>
              <a:spLocks/>
            </p:cNvSpPr>
            <p:nvPr/>
          </p:nvSpPr>
          <p:spPr bwMode="auto">
            <a:xfrm>
              <a:off x="3478113" y="3257848"/>
              <a:ext cx="372070" cy="357188"/>
            </a:xfrm>
            <a:prstGeom prst="rect">
              <a:avLst/>
            </a:prstGeom>
            <a:solidFill>
              <a:srgbClr val="D6881C"/>
            </a:solidFill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587" name="Line 11"/>
            <p:cNvSpPr>
              <a:spLocks noChangeShapeType="1"/>
            </p:cNvSpPr>
            <p:nvPr/>
          </p:nvSpPr>
          <p:spPr bwMode="auto">
            <a:xfrm>
              <a:off x="3850183" y="2729508"/>
              <a:ext cx="0" cy="1413868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588" name="Line 12"/>
            <p:cNvSpPr>
              <a:spLocks noChangeShapeType="1"/>
            </p:cNvSpPr>
            <p:nvPr/>
          </p:nvSpPr>
          <p:spPr bwMode="auto">
            <a:xfrm>
              <a:off x="4609207" y="2729508"/>
              <a:ext cx="0" cy="1413868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589" name="Line 13"/>
            <p:cNvSpPr>
              <a:spLocks noChangeShapeType="1"/>
            </p:cNvSpPr>
            <p:nvPr/>
          </p:nvSpPr>
          <p:spPr bwMode="auto">
            <a:xfrm>
              <a:off x="5368231" y="2729508"/>
              <a:ext cx="0" cy="1413868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590" name="Line 14"/>
            <p:cNvSpPr>
              <a:spLocks noChangeShapeType="1"/>
            </p:cNvSpPr>
            <p:nvPr/>
          </p:nvSpPr>
          <p:spPr bwMode="auto">
            <a:xfrm>
              <a:off x="6119813" y="2729508"/>
              <a:ext cx="0" cy="1413868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Rectangle 8"/>
            <p:cNvSpPr>
              <a:spLocks/>
            </p:cNvSpPr>
            <p:nvPr/>
          </p:nvSpPr>
          <p:spPr bwMode="auto">
            <a:xfrm>
              <a:off x="2347950" y="2413000"/>
              <a:ext cx="1652550" cy="190748"/>
            </a:xfrm>
            <a:prstGeom prst="rect">
              <a:avLst/>
            </a:prstGeom>
            <a:noFill/>
            <a:ln w="127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0" tIns="0" rIns="0" bIns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33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Gill Sans" charset="0"/>
                  <a:cs typeface="Gill Sans" charset="0"/>
                </a:rPr>
                <a:t>High Priority Task</a:t>
              </a:r>
            </a:p>
          </p:txBody>
        </p:sp>
        <p:sp>
          <p:nvSpPr>
            <p:cNvPr id="19" name="Rectangle 9"/>
            <p:cNvSpPr>
              <a:spLocks/>
            </p:cNvSpPr>
            <p:nvPr/>
          </p:nvSpPr>
          <p:spPr bwMode="auto">
            <a:xfrm>
              <a:off x="2376785" y="4190752"/>
              <a:ext cx="1652550" cy="190748"/>
            </a:xfrm>
            <a:prstGeom prst="rect">
              <a:avLst/>
            </a:prstGeom>
            <a:noFill/>
            <a:ln w="127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0" tIns="0" rIns="0" bIns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33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Gill Sans" charset="0"/>
                  <a:cs typeface="Gill Sans" charset="0"/>
                </a:rPr>
                <a:t>Low Priority Task</a:t>
              </a:r>
            </a:p>
          </p:txBody>
        </p:sp>
        <p:sp>
          <p:nvSpPr>
            <p:cNvPr id="20" name="Rectangle 22"/>
            <p:cNvSpPr>
              <a:spLocks/>
            </p:cNvSpPr>
            <p:nvPr/>
          </p:nvSpPr>
          <p:spPr bwMode="auto">
            <a:xfrm>
              <a:off x="6223992" y="4053582"/>
              <a:ext cx="662788" cy="190748"/>
            </a:xfrm>
            <a:prstGeom prst="rect">
              <a:avLst/>
            </a:prstGeom>
            <a:noFill/>
            <a:ln w="127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0" tIns="0" rIns="0" bIns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33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Gill Sans" charset="0"/>
                  <a:cs typeface="Gill Sans" charset="0"/>
                </a:rPr>
                <a:t>Time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Gill Sans" charset="0"/>
                <a:cs typeface="Gill Sans" charset="0"/>
              </a:endParaRP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F143578-8BD0-7249-9EFD-FAB487D79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6A3C3A-A029-4573-BC04-5DA27903A74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43794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Preemptive Fixed Priority Scheduling</a:t>
            </a:r>
          </a:p>
        </p:txBody>
      </p:sp>
      <p:grpSp>
        <p:nvGrpSpPr>
          <p:cNvPr id="3" name="群組 2"/>
          <p:cNvGrpSpPr/>
          <p:nvPr/>
        </p:nvGrpSpPr>
        <p:grpSpPr>
          <a:xfrm>
            <a:off x="2347950" y="2159001"/>
            <a:ext cx="4538830" cy="2222499"/>
            <a:chOff x="2347950" y="2159001"/>
            <a:chExt cx="4538830" cy="2222499"/>
          </a:xfrm>
        </p:grpSpPr>
        <p:sp>
          <p:nvSpPr>
            <p:cNvPr id="25602" name="Line 2"/>
            <p:cNvSpPr>
              <a:spLocks noChangeShapeType="1"/>
            </p:cNvSpPr>
            <p:nvPr/>
          </p:nvSpPr>
          <p:spPr bwMode="auto">
            <a:xfrm>
              <a:off x="3016747" y="2900660"/>
              <a:ext cx="3352353" cy="0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603" name="Line 3"/>
            <p:cNvSpPr>
              <a:spLocks noChangeShapeType="1"/>
            </p:cNvSpPr>
            <p:nvPr/>
          </p:nvSpPr>
          <p:spPr bwMode="auto">
            <a:xfrm>
              <a:off x="3016747" y="3972223"/>
              <a:ext cx="3352353" cy="0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604" name="Line 4"/>
            <p:cNvSpPr>
              <a:spLocks noChangeShapeType="1"/>
            </p:cNvSpPr>
            <p:nvPr/>
          </p:nvSpPr>
          <p:spPr bwMode="auto">
            <a:xfrm>
              <a:off x="3016747" y="3257848"/>
              <a:ext cx="3352353" cy="0"/>
            </a:xfrm>
            <a:prstGeom prst="line">
              <a:avLst/>
            </a:prstGeom>
            <a:noFill/>
            <a:ln w="12700" cap="flat">
              <a:solidFill>
                <a:srgbClr val="CECECE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605" name="Line 5"/>
            <p:cNvSpPr>
              <a:spLocks noChangeShapeType="1"/>
            </p:cNvSpPr>
            <p:nvPr/>
          </p:nvSpPr>
          <p:spPr bwMode="auto">
            <a:xfrm rot="10800000" flipH="1">
              <a:off x="3016747" y="3614105"/>
              <a:ext cx="3352353" cy="0"/>
            </a:xfrm>
            <a:prstGeom prst="line">
              <a:avLst/>
            </a:prstGeom>
            <a:noFill/>
            <a:ln w="12700" cap="flat">
              <a:solidFill>
                <a:srgbClr val="CECECE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606" name="Line 6"/>
            <p:cNvSpPr>
              <a:spLocks noChangeShapeType="1"/>
            </p:cNvSpPr>
            <p:nvPr/>
          </p:nvSpPr>
          <p:spPr bwMode="auto">
            <a:xfrm>
              <a:off x="3091160" y="2729508"/>
              <a:ext cx="0" cy="1413868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609" name="Rectangle 9"/>
            <p:cNvSpPr>
              <a:spLocks/>
            </p:cNvSpPr>
            <p:nvPr/>
          </p:nvSpPr>
          <p:spPr bwMode="auto">
            <a:xfrm>
              <a:off x="3098603" y="2900660"/>
              <a:ext cx="133945" cy="357188"/>
            </a:xfrm>
            <a:prstGeom prst="rect">
              <a:avLst/>
            </a:prstGeom>
            <a:solidFill>
              <a:schemeClr val="accent1"/>
            </a:solidFill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610" name="Rectangle 10"/>
            <p:cNvSpPr>
              <a:spLocks/>
            </p:cNvSpPr>
            <p:nvPr/>
          </p:nvSpPr>
          <p:spPr bwMode="auto">
            <a:xfrm>
              <a:off x="3478113" y="3257848"/>
              <a:ext cx="372070" cy="357188"/>
            </a:xfrm>
            <a:prstGeom prst="rect">
              <a:avLst/>
            </a:prstGeom>
            <a:solidFill>
              <a:srgbClr val="D6881C"/>
            </a:solidFill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611" name="Rectangle 11"/>
            <p:cNvSpPr>
              <a:spLocks/>
            </p:cNvSpPr>
            <p:nvPr/>
          </p:nvSpPr>
          <p:spPr bwMode="auto">
            <a:xfrm>
              <a:off x="3850185" y="3615035"/>
              <a:ext cx="759023" cy="357188"/>
            </a:xfrm>
            <a:prstGeom prst="rect">
              <a:avLst/>
            </a:prstGeom>
            <a:solidFill>
              <a:srgbClr val="EBD05D"/>
            </a:solidFill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612" name="Line 12"/>
            <p:cNvSpPr>
              <a:spLocks noChangeShapeType="1"/>
            </p:cNvSpPr>
            <p:nvPr/>
          </p:nvSpPr>
          <p:spPr bwMode="auto">
            <a:xfrm>
              <a:off x="3850183" y="2729508"/>
              <a:ext cx="0" cy="1413868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613" name="Line 13"/>
            <p:cNvSpPr>
              <a:spLocks noChangeShapeType="1"/>
            </p:cNvSpPr>
            <p:nvPr/>
          </p:nvSpPr>
          <p:spPr bwMode="auto">
            <a:xfrm>
              <a:off x="4609207" y="2729508"/>
              <a:ext cx="0" cy="1413868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614" name="Line 14"/>
            <p:cNvSpPr>
              <a:spLocks noChangeShapeType="1"/>
            </p:cNvSpPr>
            <p:nvPr/>
          </p:nvSpPr>
          <p:spPr bwMode="auto">
            <a:xfrm>
              <a:off x="5368231" y="2729508"/>
              <a:ext cx="0" cy="1413868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615" name="Line 15"/>
            <p:cNvSpPr>
              <a:spLocks noChangeShapeType="1"/>
            </p:cNvSpPr>
            <p:nvPr/>
          </p:nvSpPr>
          <p:spPr bwMode="auto">
            <a:xfrm>
              <a:off x="6119813" y="2729508"/>
              <a:ext cx="0" cy="1413868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616" name="Rectangle 16"/>
            <p:cNvSpPr>
              <a:spLocks/>
            </p:cNvSpPr>
            <p:nvPr/>
          </p:nvSpPr>
          <p:spPr bwMode="auto">
            <a:xfrm>
              <a:off x="3850185" y="2900660"/>
              <a:ext cx="133945" cy="357188"/>
            </a:xfrm>
            <a:prstGeom prst="rect">
              <a:avLst/>
            </a:prstGeom>
            <a:solidFill>
              <a:schemeClr val="accent1"/>
            </a:solidFill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AutoShape 13"/>
            <p:cNvSpPr>
              <a:spLocks/>
            </p:cNvSpPr>
            <p:nvPr/>
          </p:nvSpPr>
          <p:spPr bwMode="auto">
            <a:xfrm>
              <a:off x="3619500" y="2159001"/>
              <a:ext cx="1968500" cy="439043"/>
            </a:xfrm>
            <a:prstGeom prst="wedgeEllipseCallout">
              <a:avLst>
                <a:gd name="adj1" fmla="val -33510"/>
                <a:gd name="adj2" fmla="val 158631"/>
              </a:avLst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tIns="0" rIns="0" b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83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Gill Sans" charset="0"/>
                  <a:cs typeface="Gill Sans" charset="0"/>
                </a:rPr>
                <a:t>High &amp; low priority jobs arrived together</a:t>
              </a:r>
            </a:p>
          </p:txBody>
        </p:sp>
        <p:sp>
          <p:nvSpPr>
            <p:cNvPr id="21" name="AutoShape 13"/>
            <p:cNvSpPr>
              <a:spLocks/>
            </p:cNvSpPr>
            <p:nvPr/>
          </p:nvSpPr>
          <p:spPr bwMode="auto">
            <a:xfrm>
              <a:off x="3619500" y="2159001"/>
              <a:ext cx="1968500" cy="439043"/>
            </a:xfrm>
            <a:prstGeom prst="wedgeEllipseCallout">
              <a:avLst>
                <a:gd name="adj1" fmla="val -22366"/>
                <a:gd name="adj2" fmla="val 311153"/>
              </a:avLst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tIns="0" rIns="0" b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83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Gill Sans" charset="0"/>
                  <a:cs typeface="Gill Sans" charset="0"/>
                </a:rPr>
                <a:t>High &amp; low priority jobs arrived together</a:t>
              </a:r>
            </a:p>
          </p:txBody>
        </p:sp>
        <p:sp>
          <p:nvSpPr>
            <p:cNvPr id="23" name="Rectangle 8"/>
            <p:cNvSpPr>
              <a:spLocks/>
            </p:cNvSpPr>
            <p:nvPr/>
          </p:nvSpPr>
          <p:spPr bwMode="auto">
            <a:xfrm>
              <a:off x="2347950" y="2413000"/>
              <a:ext cx="1652550" cy="190748"/>
            </a:xfrm>
            <a:prstGeom prst="rect">
              <a:avLst/>
            </a:prstGeom>
            <a:noFill/>
            <a:ln w="127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0" tIns="0" rIns="0" bIns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33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Gill Sans" charset="0"/>
                  <a:cs typeface="Gill Sans" charset="0"/>
                </a:rPr>
                <a:t>High Priority Task</a:t>
              </a:r>
            </a:p>
          </p:txBody>
        </p:sp>
        <p:sp>
          <p:nvSpPr>
            <p:cNvPr id="24" name="Rectangle 9"/>
            <p:cNvSpPr>
              <a:spLocks/>
            </p:cNvSpPr>
            <p:nvPr/>
          </p:nvSpPr>
          <p:spPr bwMode="auto">
            <a:xfrm>
              <a:off x="2376785" y="4190752"/>
              <a:ext cx="1652550" cy="190748"/>
            </a:xfrm>
            <a:prstGeom prst="rect">
              <a:avLst/>
            </a:prstGeom>
            <a:noFill/>
            <a:ln w="127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0" tIns="0" rIns="0" bIns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33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Gill Sans" charset="0"/>
                  <a:cs typeface="Gill Sans" charset="0"/>
                </a:rPr>
                <a:t>Low Priority Task</a:t>
              </a:r>
            </a:p>
          </p:txBody>
        </p:sp>
        <p:sp>
          <p:nvSpPr>
            <p:cNvPr id="25" name="Rectangle 22"/>
            <p:cNvSpPr>
              <a:spLocks/>
            </p:cNvSpPr>
            <p:nvPr/>
          </p:nvSpPr>
          <p:spPr bwMode="auto">
            <a:xfrm>
              <a:off x="6223992" y="4053582"/>
              <a:ext cx="662788" cy="190748"/>
            </a:xfrm>
            <a:prstGeom prst="rect">
              <a:avLst/>
            </a:prstGeom>
            <a:noFill/>
            <a:ln w="127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0" tIns="0" rIns="0" bIns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33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Gill Sans" charset="0"/>
                  <a:cs typeface="Gill Sans" charset="0"/>
                </a:rPr>
                <a:t>Time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Gill Sans" charset="0"/>
                <a:cs typeface="Gill Sans" charset="0"/>
              </a:endParaRP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9AEA9B3-CC28-1844-80C6-5DF5CEC0B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6A3C3A-A029-4573-BC04-5DA27903A74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3727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Line 2"/>
          <p:cNvSpPr>
            <a:spLocks noChangeShapeType="1"/>
          </p:cNvSpPr>
          <p:nvPr/>
        </p:nvSpPr>
        <p:spPr bwMode="auto">
          <a:xfrm>
            <a:off x="3016747" y="2900660"/>
            <a:ext cx="3352353" cy="0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627" name="Line 3"/>
          <p:cNvSpPr>
            <a:spLocks noChangeShapeType="1"/>
          </p:cNvSpPr>
          <p:nvPr/>
        </p:nvSpPr>
        <p:spPr bwMode="auto">
          <a:xfrm>
            <a:off x="3016747" y="3972223"/>
            <a:ext cx="3352353" cy="0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628" name="Line 4"/>
          <p:cNvSpPr>
            <a:spLocks noChangeShapeType="1"/>
          </p:cNvSpPr>
          <p:nvPr/>
        </p:nvSpPr>
        <p:spPr bwMode="auto">
          <a:xfrm>
            <a:off x="3016747" y="3257848"/>
            <a:ext cx="3352353" cy="0"/>
          </a:xfrm>
          <a:prstGeom prst="line">
            <a:avLst/>
          </a:prstGeom>
          <a:noFill/>
          <a:ln w="12700" cap="flat">
            <a:solidFill>
              <a:srgbClr val="CECECE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629" name="Line 5"/>
          <p:cNvSpPr>
            <a:spLocks noChangeShapeType="1"/>
          </p:cNvSpPr>
          <p:nvPr/>
        </p:nvSpPr>
        <p:spPr bwMode="auto">
          <a:xfrm rot="10800000" flipH="1">
            <a:off x="3016747" y="3614105"/>
            <a:ext cx="3352353" cy="0"/>
          </a:xfrm>
          <a:prstGeom prst="line">
            <a:avLst/>
          </a:prstGeom>
          <a:noFill/>
          <a:ln w="12700" cap="flat">
            <a:solidFill>
              <a:srgbClr val="CECECE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630" name="Line 6"/>
          <p:cNvSpPr>
            <a:spLocks noChangeShapeType="1"/>
          </p:cNvSpPr>
          <p:nvPr/>
        </p:nvSpPr>
        <p:spPr bwMode="auto">
          <a:xfrm>
            <a:off x="3091160" y="2729508"/>
            <a:ext cx="0" cy="1413868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ysDot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633" name="Rectangle 9"/>
          <p:cNvSpPr>
            <a:spLocks/>
          </p:cNvSpPr>
          <p:nvPr/>
        </p:nvSpPr>
        <p:spPr bwMode="auto">
          <a:xfrm>
            <a:off x="3098603" y="2900660"/>
            <a:ext cx="133945" cy="357188"/>
          </a:xfrm>
          <a:prstGeom prst="rect">
            <a:avLst/>
          </a:prstGeom>
          <a:solidFill>
            <a:schemeClr val="accent1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634" name="Rectangle 10"/>
          <p:cNvSpPr>
            <a:spLocks/>
          </p:cNvSpPr>
          <p:nvPr/>
        </p:nvSpPr>
        <p:spPr bwMode="auto">
          <a:xfrm>
            <a:off x="3478113" y="3257848"/>
            <a:ext cx="372070" cy="357188"/>
          </a:xfrm>
          <a:prstGeom prst="rect">
            <a:avLst/>
          </a:prstGeom>
          <a:solidFill>
            <a:srgbClr val="D6881C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635" name="Line 11"/>
          <p:cNvSpPr>
            <a:spLocks noChangeShapeType="1"/>
          </p:cNvSpPr>
          <p:nvPr/>
        </p:nvSpPr>
        <p:spPr bwMode="auto">
          <a:xfrm>
            <a:off x="3850183" y="2729508"/>
            <a:ext cx="0" cy="1413868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ysDot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636" name="Line 12"/>
          <p:cNvSpPr>
            <a:spLocks noChangeShapeType="1"/>
          </p:cNvSpPr>
          <p:nvPr/>
        </p:nvSpPr>
        <p:spPr bwMode="auto">
          <a:xfrm>
            <a:off x="4609207" y="2729508"/>
            <a:ext cx="0" cy="1413868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ysDot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637" name="Line 13"/>
          <p:cNvSpPr>
            <a:spLocks noChangeShapeType="1"/>
          </p:cNvSpPr>
          <p:nvPr/>
        </p:nvSpPr>
        <p:spPr bwMode="auto">
          <a:xfrm>
            <a:off x="5368231" y="2729508"/>
            <a:ext cx="0" cy="1413868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ysDot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638" name="Line 14"/>
          <p:cNvSpPr>
            <a:spLocks noChangeShapeType="1"/>
          </p:cNvSpPr>
          <p:nvPr/>
        </p:nvSpPr>
        <p:spPr bwMode="auto">
          <a:xfrm>
            <a:off x="6119813" y="2729508"/>
            <a:ext cx="0" cy="1413868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ysDot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639" name="Rectangle 15"/>
          <p:cNvSpPr>
            <a:spLocks/>
          </p:cNvSpPr>
          <p:nvPr/>
        </p:nvSpPr>
        <p:spPr bwMode="auto">
          <a:xfrm>
            <a:off x="3850185" y="2900660"/>
            <a:ext cx="133945" cy="357188"/>
          </a:xfrm>
          <a:prstGeom prst="rect">
            <a:avLst/>
          </a:prstGeom>
          <a:solidFill>
            <a:schemeClr val="accent1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AutoShape 13"/>
          <p:cNvSpPr>
            <a:spLocks/>
          </p:cNvSpPr>
          <p:nvPr/>
        </p:nvSpPr>
        <p:spPr bwMode="auto">
          <a:xfrm>
            <a:off x="3683000" y="2095501"/>
            <a:ext cx="1968500" cy="439043"/>
          </a:xfrm>
          <a:prstGeom prst="wedgeEllipseCallout">
            <a:avLst>
              <a:gd name="adj1" fmla="val -37616"/>
              <a:gd name="adj2" fmla="val 150743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8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Gill Sans" charset="0"/>
                <a:cs typeface="Gill Sans" charset="0"/>
              </a:rPr>
              <a:t>High priority job is executed first</a:t>
            </a:r>
          </a:p>
        </p:txBody>
      </p:sp>
      <p:sp>
        <p:nvSpPr>
          <p:cNvPr id="20" name="Title 19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Preemptive Fixed Priority Scheduling</a:t>
            </a:r>
          </a:p>
        </p:txBody>
      </p:sp>
      <p:sp>
        <p:nvSpPr>
          <p:cNvPr id="21" name="Rectangle 8"/>
          <p:cNvSpPr>
            <a:spLocks/>
          </p:cNvSpPr>
          <p:nvPr/>
        </p:nvSpPr>
        <p:spPr bwMode="auto">
          <a:xfrm>
            <a:off x="2347950" y="2413000"/>
            <a:ext cx="1652550" cy="190748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Gill Sans" charset="0"/>
                <a:cs typeface="Gill Sans" charset="0"/>
              </a:rPr>
              <a:t>High Priority Task</a:t>
            </a:r>
          </a:p>
        </p:txBody>
      </p:sp>
      <p:sp>
        <p:nvSpPr>
          <p:cNvPr id="22" name="Rectangle 9"/>
          <p:cNvSpPr>
            <a:spLocks/>
          </p:cNvSpPr>
          <p:nvPr/>
        </p:nvSpPr>
        <p:spPr bwMode="auto">
          <a:xfrm>
            <a:off x="2376785" y="4190752"/>
            <a:ext cx="1652550" cy="190748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Gill Sans" charset="0"/>
                <a:cs typeface="Gill Sans" charset="0"/>
              </a:rPr>
              <a:t>Low Priority Task</a:t>
            </a:r>
          </a:p>
        </p:txBody>
      </p:sp>
      <p:sp>
        <p:nvSpPr>
          <p:cNvPr id="23" name="Rectangle 22"/>
          <p:cNvSpPr>
            <a:spLocks/>
          </p:cNvSpPr>
          <p:nvPr/>
        </p:nvSpPr>
        <p:spPr bwMode="auto">
          <a:xfrm>
            <a:off x="6223992" y="4053582"/>
            <a:ext cx="662788" cy="190748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Gill Sans" charset="0"/>
                <a:cs typeface="Gill Sans" charset="0"/>
              </a:rPr>
              <a:t>Time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Gill Sans" charset="0"/>
              <a:cs typeface="Gill Sans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D0A4AD-12F2-5342-849E-16464C425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6A3C3A-A029-4573-BC04-5DA27903A74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08246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Preemptive Fixed Priority Scheduling</a:t>
            </a:r>
          </a:p>
        </p:txBody>
      </p:sp>
      <p:grpSp>
        <p:nvGrpSpPr>
          <p:cNvPr id="3" name="群組 2"/>
          <p:cNvGrpSpPr/>
          <p:nvPr/>
        </p:nvGrpSpPr>
        <p:grpSpPr>
          <a:xfrm>
            <a:off x="2347950" y="2413000"/>
            <a:ext cx="4538830" cy="1968500"/>
            <a:chOff x="2347950" y="2413000"/>
            <a:chExt cx="4538830" cy="1968500"/>
          </a:xfrm>
        </p:grpSpPr>
        <p:sp>
          <p:nvSpPr>
            <p:cNvPr id="27650" name="Line 2"/>
            <p:cNvSpPr>
              <a:spLocks noChangeShapeType="1"/>
            </p:cNvSpPr>
            <p:nvPr/>
          </p:nvSpPr>
          <p:spPr bwMode="auto">
            <a:xfrm>
              <a:off x="3016747" y="2900660"/>
              <a:ext cx="3352353" cy="0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651" name="Line 3"/>
            <p:cNvSpPr>
              <a:spLocks noChangeShapeType="1"/>
            </p:cNvSpPr>
            <p:nvPr/>
          </p:nvSpPr>
          <p:spPr bwMode="auto">
            <a:xfrm>
              <a:off x="3016747" y="3972223"/>
              <a:ext cx="3352353" cy="0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652" name="Line 4"/>
            <p:cNvSpPr>
              <a:spLocks noChangeShapeType="1"/>
            </p:cNvSpPr>
            <p:nvPr/>
          </p:nvSpPr>
          <p:spPr bwMode="auto">
            <a:xfrm>
              <a:off x="3016747" y="3257848"/>
              <a:ext cx="3352353" cy="0"/>
            </a:xfrm>
            <a:prstGeom prst="line">
              <a:avLst/>
            </a:prstGeom>
            <a:noFill/>
            <a:ln w="12700" cap="flat">
              <a:solidFill>
                <a:srgbClr val="CECECE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653" name="Line 5"/>
            <p:cNvSpPr>
              <a:spLocks noChangeShapeType="1"/>
            </p:cNvSpPr>
            <p:nvPr/>
          </p:nvSpPr>
          <p:spPr bwMode="auto">
            <a:xfrm rot="10800000" flipH="1">
              <a:off x="3016747" y="3614105"/>
              <a:ext cx="3352353" cy="0"/>
            </a:xfrm>
            <a:prstGeom prst="line">
              <a:avLst/>
            </a:prstGeom>
            <a:noFill/>
            <a:ln w="12700" cap="flat">
              <a:solidFill>
                <a:srgbClr val="CECECE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654" name="Line 6"/>
            <p:cNvSpPr>
              <a:spLocks noChangeShapeType="1"/>
            </p:cNvSpPr>
            <p:nvPr/>
          </p:nvSpPr>
          <p:spPr bwMode="auto">
            <a:xfrm>
              <a:off x="3091160" y="2729508"/>
              <a:ext cx="0" cy="1413868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657" name="Rectangle 9"/>
            <p:cNvSpPr>
              <a:spLocks/>
            </p:cNvSpPr>
            <p:nvPr/>
          </p:nvSpPr>
          <p:spPr bwMode="auto">
            <a:xfrm>
              <a:off x="3098603" y="2900660"/>
              <a:ext cx="133945" cy="357188"/>
            </a:xfrm>
            <a:prstGeom prst="rect">
              <a:avLst/>
            </a:prstGeom>
            <a:solidFill>
              <a:schemeClr val="accent1"/>
            </a:solidFill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658" name="Rectangle 10"/>
            <p:cNvSpPr>
              <a:spLocks/>
            </p:cNvSpPr>
            <p:nvPr/>
          </p:nvSpPr>
          <p:spPr bwMode="auto">
            <a:xfrm>
              <a:off x="3478113" y="3257848"/>
              <a:ext cx="372070" cy="357188"/>
            </a:xfrm>
            <a:prstGeom prst="rect">
              <a:avLst/>
            </a:prstGeom>
            <a:solidFill>
              <a:srgbClr val="D6881C"/>
            </a:solidFill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659" name="Line 11"/>
            <p:cNvSpPr>
              <a:spLocks noChangeShapeType="1"/>
            </p:cNvSpPr>
            <p:nvPr/>
          </p:nvSpPr>
          <p:spPr bwMode="auto">
            <a:xfrm>
              <a:off x="3850183" y="2729508"/>
              <a:ext cx="0" cy="1413868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660" name="Line 12"/>
            <p:cNvSpPr>
              <a:spLocks noChangeShapeType="1"/>
            </p:cNvSpPr>
            <p:nvPr/>
          </p:nvSpPr>
          <p:spPr bwMode="auto">
            <a:xfrm>
              <a:off x="4609207" y="2729508"/>
              <a:ext cx="0" cy="1413868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661" name="Line 13"/>
            <p:cNvSpPr>
              <a:spLocks noChangeShapeType="1"/>
            </p:cNvSpPr>
            <p:nvPr/>
          </p:nvSpPr>
          <p:spPr bwMode="auto">
            <a:xfrm>
              <a:off x="5368231" y="2729508"/>
              <a:ext cx="0" cy="1413868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662" name="Line 14"/>
            <p:cNvSpPr>
              <a:spLocks noChangeShapeType="1"/>
            </p:cNvSpPr>
            <p:nvPr/>
          </p:nvSpPr>
          <p:spPr bwMode="auto">
            <a:xfrm>
              <a:off x="6119813" y="2729508"/>
              <a:ext cx="0" cy="1413868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663" name="Rectangle 15"/>
            <p:cNvSpPr>
              <a:spLocks/>
            </p:cNvSpPr>
            <p:nvPr/>
          </p:nvSpPr>
          <p:spPr bwMode="auto">
            <a:xfrm>
              <a:off x="3850185" y="2900660"/>
              <a:ext cx="133945" cy="357188"/>
            </a:xfrm>
            <a:prstGeom prst="rect">
              <a:avLst/>
            </a:prstGeom>
            <a:solidFill>
              <a:schemeClr val="accent1"/>
            </a:solidFill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665" name="Rectangle 17"/>
            <p:cNvSpPr>
              <a:spLocks/>
            </p:cNvSpPr>
            <p:nvPr/>
          </p:nvSpPr>
          <p:spPr bwMode="auto">
            <a:xfrm>
              <a:off x="4006455" y="3615035"/>
              <a:ext cx="759023" cy="357188"/>
            </a:xfrm>
            <a:prstGeom prst="rect">
              <a:avLst/>
            </a:prstGeom>
            <a:solidFill>
              <a:srgbClr val="EBD05D"/>
            </a:solidFill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AutoShape 13"/>
            <p:cNvSpPr>
              <a:spLocks/>
            </p:cNvSpPr>
            <p:nvPr/>
          </p:nvSpPr>
          <p:spPr bwMode="auto">
            <a:xfrm>
              <a:off x="4191000" y="2984501"/>
              <a:ext cx="1968500" cy="439043"/>
            </a:xfrm>
            <a:prstGeom prst="wedgeEllipseCallout">
              <a:avLst>
                <a:gd name="adj1" fmla="val -35269"/>
                <a:gd name="adj2" fmla="val 113927"/>
              </a:avLst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tIns="0" rIns="0" b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83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Gill Sans" charset="0"/>
                  <a:cs typeface="Gill Sans" charset="0"/>
                </a:rPr>
                <a:t>Low priority job is executed later</a:t>
              </a:r>
            </a:p>
          </p:txBody>
        </p:sp>
        <p:sp>
          <p:nvSpPr>
            <p:cNvPr id="23" name="Rectangle 8"/>
            <p:cNvSpPr>
              <a:spLocks/>
            </p:cNvSpPr>
            <p:nvPr/>
          </p:nvSpPr>
          <p:spPr bwMode="auto">
            <a:xfrm>
              <a:off x="2347950" y="2413000"/>
              <a:ext cx="1652550" cy="190748"/>
            </a:xfrm>
            <a:prstGeom prst="rect">
              <a:avLst/>
            </a:prstGeom>
            <a:noFill/>
            <a:ln w="127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0" tIns="0" rIns="0" bIns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33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Gill Sans" charset="0"/>
                  <a:cs typeface="Gill Sans" charset="0"/>
                </a:rPr>
                <a:t>High Priority Task</a:t>
              </a:r>
            </a:p>
          </p:txBody>
        </p:sp>
        <p:sp>
          <p:nvSpPr>
            <p:cNvPr id="24" name="Rectangle 9"/>
            <p:cNvSpPr>
              <a:spLocks/>
            </p:cNvSpPr>
            <p:nvPr/>
          </p:nvSpPr>
          <p:spPr bwMode="auto">
            <a:xfrm>
              <a:off x="2376785" y="4190752"/>
              <a:ext cx="1652550" cy="190748"/>
            </a:xfrm>
            <a:prstGeom prst="rect">
              <a:avLst/>
            </a:prstGeom>
            <a:noFill/>
            <a:ln w="127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0" tIns="0" rIns="0" bIns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33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Gill Sans" charset="0"/>
                  <a:cs typeface="Gill Sans" charset="0"/>
                </a:rPr>
                <a:t>Low Priority Task</a:t>
              </a:r>
            </a:p>
          </p:txBody>
        </p:sp>
        <p:sp>
          <p:nvSpPr>
            <p:cNvPr id="25" name="Rectangle 22"/>
            <p:cNvSpPr>
              <a:spLocks/>
            </p:cNvSpPr>
            <p:nvPr/>
          </p:nvSpPr>
          <p:spPr bwMode="auto">
            <a:xfrm>
              <a:off x="6223992" y="4053582"/>
              <a:ext cx="662788" cy="190748"/>
            </a:xfrm>
            <a:prstGeom prst="rect">
              <a:avLst/>
            </a:prstGeom>
            <a:noFill/>
            <a:ln w="127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0" tIns="0" rIns="0" bIns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33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Gill Sans" charset="0"/>
                  <a:cs typeface="Gill Sans" charset="0"/>
                </a:rPr>
                <a:t>Time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Gill Sans" charset="0"/>
                <a:cs typeface="Gill Sans" charset="0"/>
              </a:endParaRP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0D24C5F-6668-A64F-A704-DE249BF6F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6A3C3A-A029-4573-BC04-5DA27903A74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77371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Preemptive Fixed Priority Scheduling</a:t>
            </a:r>
          </a:p>
        </p:txBody>
      </p:sp>
      <p:grpSp>
        <p:nvGrpSpPr>
          <p:cNvPr id="3" name="群組 2"/>
          <p:cNvGrpSpPr/>
          <p:nvPr/>
        </p:nvGrpSpPr>
        <p:grpSpPr>
          <a:xfrm>
            <a:off x="2347950" y="2286001"/>
            <a:ext cx="4538830" cy="2095499"/>
            <a:chOff x="2347950" y="2286001"/>
            <a:chExt cx="4538830" cy="2095499"/>
          </a:xfrm>
        </p:grpSpPr>
        <p:sp>
          <p:nvSpPr>
            <p:cNvPr id="28674" name="Line 2"/>
            <p:cNvSpPr>
              <a:spLocks noChangeShapeType="1"/>
            </p:cNvSpPr>
            <p:nvPr/>
          </p:nvSpPr>
          <p:spPr bwMode="auto">
            <a:xfrm>
              <a:off x="3016747" y="2900660"/>
              <a:ext cx="3352353" cy="0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675" name="Line 3"/>
            <p:cNvSpPr>
              <a:spLocks noChangeShapeType="1"/>
            </p:cNvSpPr>
            <p:nvPr/>
          </p:nvSpPr>
          <p:spPr bwMode="auto">
            <a:xfrm>
              <a:off x="3016747" y="3972223"/>
              <a:ext cx="3352353" cy="0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676" name="Line 4"/>
            <p:cNvSpPr>
              <a:spLocks noChangeShapeType="1"/>
            </p:cNvSpPr>
            <p:nvPr/>
          </p:nvSpPr>
          <p:spPr bwMode="auto">
            <a:xfrm>
              <a:off x="3016747" y="3257848"/>
              <a:ext cx="3352353" cy="0"/>
            </a:xfrm>
            <a:prstGeom prst="line">
              <a:avLst/>
            </a:prstGeom>
            <a:noFill/>
            <a:ln w="12700" cap="flat">
              <a:solidFill>
                <a:srgbClr val="CECECE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677" name="Line 5"/>
            <p:cNvSpPr>
              <a:spLocks noChangeShapeType="1"/>
            </p:cNvSpPr>
            <p:nvPr/>
          </p:nvSpPr>
          <p:spPr bwMode="auto">
            <a:xfrm rot="10800000" flipH="1">
              <a:off x="3016747" y="3614105"/>
              <a:ext cx="3352353" cy="0"/>
            </a:xfrm>
            <a:prstGeom prst="line">
              <a:avLst/>
            </a:prstGeom>
            <a:noFill/>
            <a:ln w="12700" cap="flat">
              <a:solidFill>
                <a:srgbClr val="CECECE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678" name="Line 6"/>
            <p:cNvSpPr>
              <a:spLocks noChangeShapeType="1"/>
            </p:cNvSpPr>
            <p:nvPr/>
          </p:nvSpPr>
          <p:spPr bwMode="auto">
            <a:xfrm>
              <a:off x="3091160" y="2729508"/>
              <a:ext cx="0" cy="1413868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681" name="Rectangle 9"/>
            <p:cNvSpPr>
              <a:spLocks/>
            </p:cNvSpPr>
            <p:nvPr/>
          </p:nvSpPr>
          <p:spPr bwMode="auto">
            <a:xfrm>
              <a:off x="3098603" y="2900660"/>
              <a:ext cx="133945" cy="357188"/>
            </a:xfrm>
            <a:prstGeom prst="rect">
              <a:avLst/>
            </a:prstGeom>
            <a:solidFill>
              <a:schemeClr val="accent1"/>
            </a:solidFill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682" name="Rectangle 10"/>
            <p:cNvSpPr>
              <a:spLocks/>
            </p:cNvSpPr>
            <p:nvPr/>
          </p:nvSpPr>
          <p:spPr bwMode="auto">
            <a:xfrm>
              <a:off x="3478113" y="3257848"/>
              <a:ext cx="372070" cy="357188"/>
            </a:xfrm>
            <a:prstGeom prst="rect">
              <a:avLst/>
            </a:prstGeom>
            <a:solidFill>
              <a:srgbClr val="D6881C"/>
            </a:solidFill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683" name="Line 11"/>
            <p:cNvSpPr>
              <a:spLocks noChangeShapeType="1"/>
            </p:cNvSpPr>
            <p:nvPr/>
          </p:nvSpPr>
          <p:spPr bwMode="auto">
            <a:xfrm>
              <a:off x="3850183" y="2729508"/>
              <a:ext cx="0" cy="1413868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684" name="Line 12"/>
            <p:cNvSpPr>
              <a:spLocks noChangeShapeType="1"/>
            </p:cNvSpPr>
            <p:nvPr/>
          </p:nvSpPr>
          <p:spPr bwMode="auto">
            <a:xfrm>
              <a:off x="4609207" y="2729508"/>
              <a:ext cx="0" cy="1413868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685" name="Line 13"/>
            <p:cNvSpPr>
              <a:spLocks noChangeShapeType="1"/>
            </p:cNvSpPr>
            <p:nvPr/>
          </p:nvSpPr>
          <p:spPr bwMode="auto">
            <a:xfrm>
              <a:off x="5368231" y="2729508"/>
              <a:ext cx="0" cy="1413868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686" name="Line 14"/>
            <p:cNvSpPr>
              <a:spLocks noChangeShapeType="1"/>
            </p:cNvSpPr>
            <p:nvPr/>
          </p:nvSpPr>
          <p:spPr bwMode="auto">
            <a:xfrm>
              <a:off x="6119813" y="2729508"/>
              <a:ext cx="0" cy="1413868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687" name="Rectangle 15"/>
            <p:cNvSpPr>
              <a:spLocks/>
            </p:cNvSpPr>
            <p:nvPr/>
          </p:nvSpPr>
          <p:spPr bwMode="auto">
            <a:xfrm>
              <a:off x="3850185" y="2900660"/>
              <a:ext cx="133945" cy="357188"/>
            </a:xfrm>
            <a:prstGeom prst="rect">
              <a:avLst/>
            </a:prstGeom>
            <a:solidFill>
              <a:schemeClr val="accent1"/>
            </a:solidFill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688" name="Rectangle 16"/>
            <p:cNvSpPr>
              <a:spLocks/>
            </p:cNvSpPr>
            <p:nvPr/>
          </p:nvSpPr>
          <p:spPr bwMode="auto">
            <a:xfrm>
              <a:off x="4609209" y="2900660"/>
              <a:ext cx="133945" cy="357188"/>
            </a:xfrm>
            <a:prstGeom prst="rect">
              <a:avLst/>
            </a:prstGeom>
            <a:solidFill>
              <a:schemeClr val="accent1"/>
            </a:solidFill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690" name="Rectangle 18"/>
            <p:cNvSpPr>
              <a:spLocks/>
            </p:cNvSpPr>
            <p:nvPr/>
          </p:nvSpPr>
          <p:spPr bwMode="auto">
            <a:xfrm>
              <a:off x="4006455" y="3615035"/>
              <a:ext cx="759023" cy="357188"/>
            </a:xfrm>
            <a:prstGeom prst="rect">
              <a:avLst/>
            </a:prstGeom>
            <a:solidFill>
              <a:srgbClr val="EBD05D"/>
            </a:solidFill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AutoShape 13"/>
            <p:cNvSpPr>
              <a:spLocks/>
            </p:cNvSpPr>
            <p:nvPr/>
          </p:nvSpPr>
          <p:spPr bwMode="auto">
            <a:xfrm>
              <a:off x="4445000" y="2286001"/>
              <a:ext cx="1968500" cy="439043"/>
            </a:xfrm>
            <a:prstGeom prst="wedgeEllipseCallout">
              <a:avLst>
                <a:gd name="adj1" fmla="val -35269"/>
                <a:gd name="adj2" fmla="val 113927"/>
              </a:avLst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tIns="0" rIns="0" b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83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Gill Sans" charset="0"/>
                  <a:cs typeface="Gill Sans" charset="0"/>
                </a:rPr>
                <a:t>High priority job arrived</a:t>
              </a:r>
            </a:p>
          </p:txBody>
        </p:sp>
        <p:sp>
          <p:nvSpPr>
            <p:cNvPr id="23" name="Rectangle 8"/>
            <p:cNvSpPr>
              <a:spLocks/>
            </p:cNvSpPr>
            <p:nvPr/>
          </p:nvSpPr>
          <p:spPr bwMode="auto">
            <a:xfrm>
              <a:off x="2347950" y="2413000"/>
              <a:ext cx="1652550" cy="190748"/>
            </a:xfrm>
            <a:prstGeom prst="rect">
              <a:avLst/>
            </a:prstGeom>
            <a:noFill/>
            <a:ln w="127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0" tIns="0" rIns="0" bIns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33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Gill Sans" charset="0"/>
                  <a:cs typeface="Gill Sans" charset="0"/>
                </a:rPr>
                <a:t>High Priority Task</a:t>
              </a:r>
            </a:p>
          </p:txBody>
        </p:sp>
        <p:sp>
          <p:nvSpPr>
            <p:cNvPr id="24" name="Rectangle 9"/>
            <p:cNvSpPr>
              <a:spLocks/>
            </p:cNvSpPr>
            <p:nvPr/>
          </p:nvSpPr>
          <p:spPr bwMode="auto">
            <a:xfrm>
              <a:off x="2376785" y="4190752"/>
              <a:ext cx="1652550" cy="190748"/>
            </a:xfrm>
            <a:prstGeom prst="rect">
              <a:avLst/>
            </a:prstGeom>
            <a:noFill/>
            <a:ln w="127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0" tIns="0" rIns="0" bIns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33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Gill Sans" charset="0"/>
                  <a:cs typeface="Gill Sans" charset="0"/>
                </a:rPr>
                <a:t>Low Priority Task</a:t>
              </a:r>
            </a:p>
          </p:txBody>
        </p:sp>
        <p:sp>
          <p:nvSpPr>
            <p:cNvPr id="25" name="Rectangle 22"/>
            <p:cNvSpPr>
              <a:spLocks/>
            </p:cNvSpPr>
            <p:nvPr/>
          </p:nvSpPr>
          <p:spPr bwMode="auto">
            <a:xfrm>
              <a:off x="6223992" y="4053582"/>
              <a:ext cx="662788" cy="190748"/>
            </a:xfrm>
            <a:prstGeom prst="rect">
              <a:avLst/>
            </a:prstGeom>
            <a:noFill/>
            <a:ln w="127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0" tIns="0" rIns="0" bIns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33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Gill Sans" charset="0"/>
                  <a:cs typeface="Gill Sans" charset="0"/>
                </a:rPr>
                <a:t>Time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Gill Sans" charset="0"/>
                <a:cs typeface="Gill Sans" charset="0"/>
              </a:endParaRP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4E287AA-E19A-D042-8300-FAEFC3998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6A3C3A-A029-4573-BC04-5DA27903A74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303043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Preemptive Fixed Priority Scheduling</a:t>
            </a:r>
          </a:p>
        </p:txBody>
      </p:sp>
      <p:grpSp>
        <p:nvGrpSpPr>
          <p:cNvPr id="3" name="群組 2"/>
          <p:cNvGrpSpPr/>
          <p:nvPr/>
        </p:nvGrpSpPr>
        <p:grpSpPr>
          <a:xfrm>
            <a:off x="2347950" y="2286001"/>
            <a:ext cx="4538830" cy="2095499"/>
            <a:chOff x="2347950" y="2286001"/>
            <a:chExt cx="4538830" cy="2095499"/>
          </a:xfrm>
        </p:grpSpPr>
        <p:sp>
          <p:nvSpPr>
            <p:cNvPr id="29698" name="Line 2"/>
            <p:cNvSpPr>
              <a:spLocks noChangeShapeType="1"/>
            </p:cNvSpPr>
            <p:nvPr/>
          </p:nvSpPr>
          <p:spPr bwMode="auto">
            <a:xfrm>
              <a:off x="3016747" y="2900660"/>
              <a:ext cx="3352353" cy="0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699" name="Line 3"/>
            <p:cNvSpPr>
              <a:spLocks noChangeShapeType="1"/>
            </p:cNvSpPr>
            <p:nvPr/>
          </p:nvSpPr>
          <p:spPr bwMode="auto">
            <a:xfrm>
              <a:off x="3016747" y="3972223"/>
              <a:ext cx="3352353" cy="0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700" name="Line 4"/>
            <p:cNvSpPr>
              <a:spLocks noChangeShapeType="1"/>
            </p:cNvSpPr>
            <p:nvPr/>
          </p:nvSpPr>
          <p:spPr bwMode="auto">
            <a:xfrm>
              <a:off x="3016747" y="3257848"/>
              <a:ext cx="3352353" cy="0"/>
            </a:xfrm>
            <a:prstGeom prst="line">
              <a:avLst/>
            </a:prstGeom>
            <a:noFill/>
            <a:ln w="12700" cap="flat">
              <a:solidFill>
                <a:srgbClr val="CECECE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701" name="Line 5"/>
            <p:cNvSpPr>
              <a:spLocks noChangeShapeType="1"/>
            </p:cNvSpPr>
            <p:nvPr/>
          </p:nvSpPr>
          <p:spPr bwMode="auto">
            <a:xfrm rot="10800000" flipH="1">
              <a:off x="3016747" y="3614105"/>
              <a:ext cx="3352353" cy="0"/>
            </a:xfrm>
            <a:prstGeom prst="line">
              <a:avLst/>
            </a:prstGeom>
            <a:noFill/>
            <a:ln w="12700" cap="flat">
              <a:solidFill>
                <a:srgbClr val="CECECE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702" name="Line 6"/>
            <p:cNvSpPr>
              <a:spLocks noChangeShapeType="1"/>
            </p:cNvSpPr>
            <p:nvPr/>
          </p:nvSpPr>
          <p:spPr bwMode="auto">
            <a:xfrm>
              <a:off x="3091160" y="2729508"/>
              <a:ext cx="0" cy="1413868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705" name="Rectangle 9"/>
            <p:cNvSpPr>
              <a:spLocks/>
            </p:cNvSpPr>
            <p:nvPr/>
          </p:nvSpPr>
          <p:spPr bwMode="auto">
            <a:xfrm>
              <a:off x="3098603" y="2900660"/>
              <a:ext cx="133945" cy="357188"/>
            </a:xfrm>
            <a:prstGeom prst="rect">
              <a:avLst/>
            </a:prstGeom>
            <a:solidFill>
              <a:schemeClr val="accent1"/>
            </a:solidFill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706" name="Rectangle 10"/>
            <p:cNvSpPr>
              <a:spLocks/>
            </p:cNvSpPr>
            <p:nvPr/>
          </p:nvSpPr>
          <p:spPr bwMode="auto">
            <a:xfrm>
              <a:off x="3478113" y="3257848"/>
              <a:ext cx="372070" cy="357188"/>
            </a:xfrm>
            <a:prstGeom prst="rect">
              <a:avLst/>
            </a:prstGeom>
            <a:solidFill>
              <a:srgbClr val="D6881C"/>
            </a:solidFill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707" name="Line 11"/>
            <p:cNvSpPr>
              <a:spLocks noChangeShapeType="1"/>
            </p:cNvSpPr>
            <p:nvPr/>
          </p:nvSpPr>
          <p:spPr bwMode="auto">
            <a:xfrm>
              <a:off x="3850183" y="2729508"/>
              <a:ext cx="0" cy="1413868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708" name="Line 12"/>
            <p:cNvSpPr>
              <a:spLocks noChangeShapeType="1"/>
            </p:cNvSpPr>
            <p:nvPr/>
          </p:nvSpPr>
          <p:spPr bwMode="auto">
            <a:xfrm>
              <a:off x="4609207" y="2729508"/>
              <a:ext cx="0" cy="1413868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709" name="Line 13"/>
            <p:cNvSpPr>
              <a:spLocks noChangeShapeType="1"/>
            </p:cNvSpPr>
            <p:nvPr/>
          </p:nvSpPr>
          <p:spPr bwMode="auto">
            <a:xfrm>
              <a:off x="5368231" y="2729508"/>
              <a:ext cx="0" cy="1413868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710" name="Line 14"/>
            <p:cNvSpPr>
              <a:spLocks noChangeShapeType="1"/>
            </p:cNvSpPr>
            <p:nvPr/>
          </p:nvSpPr>
          <p:spPr bwMode="auto">
            <a:xfrm>
              <a:off x="6119813" y="2729508"/>
              <a:ext cx="0" cy="1413868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711" name="Rectangle 15"/>
            <p:cNvSpPr>
              <a:spLocks/>
            </p:cNvSpPr>
            <p:nvPr/>
          </p:nvSpPr>
          <p:spPr bwMode="auto">
            <a:xfrm>
              <a:off x="3850185" y="2900660"/>
              <a:ext cx="133945" cy="357188"/>
            </a:xfrm>
            <a:prstGeom prst="rect">
              <a:avLst/>
            </a:prstGeom>
            <a:solidFill>
              <a:schemeClr val="accent1"/>
            </a:solidFill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712" name="Rectangle 16"/>
            <p:cNvSpPr>
              <a:spLocks/>
            </p:cNvSpPr>
            <p:nvPr/>
          </p:nvSpPr>
          <p:spPr bwMode="auto">
            <a:xfrm>
              <a:off x="4609209" y="2900660"/>
              <a:ext cx="133945" cy="357188"/>
            </a:xfrm>
            <a:prstGeom prst="rect">
              <a:avLst/>
            </a:prstGeom>
            <a:solidFill>
              <a:schemeClr val="accent1"/>
            </a:solidFill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714" name="Rectangle 18"/>
            <p:cNvSpPr>
              <a:spLocks/>
            </p:cNvSpPr>
            <p:nvPr/>
          </p:nvSpPr>
          <p:spPr bwMode="auto">
            <a:xfrm>
              <a:off x="4006454" y="3615035"/>
              <a:ext cx="602754" cy="357188"/>
            </a:xfrm>
            <a:prstGeom prst="rect">
              <a:avLst/>
            </a:prstGeom>
            <a:solidFill>
              <a:srgbClr val="EBD05D"/>
            </a:solidFill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AutoShape 13"/>
            <p:cNvSpPr>
              <a:spLocks/>
            </p:cNvSpPr>
            <p:nvPr/>
          </p:nvSpPr>
          <p:spPr bwMode="auto">
            <a:xfrm>
              <a:off x="4445000" y="2286001"/>
              <a:ext cx="1968500" cy="439043"/>
            </a:xfrm>
            <a:prstGeom prst="wedgeEllipseCallout">
              <a:avLst>
                <a:gd name="adj1" fmla="val -35269"/>
                <a:gd name="adj2" fmla="val 113927"/>
              </a:avLst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tIns="0" rIns="0" b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83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Gill Sans" charset="0"/>
                  <a:cs typeface="Gill Sans" charset="0"/>
                </a:rPr>
                <a:t>Preempts low priority job</a:t>
              </a:r>
            </a:p>
          </p:txBody>
        </p:sp>
        <p:sp>
          <p:nvSpPr>
            <p:cNvPr id="23" name="Rectangle 8"/>
            <p:cNvSpPr>
              <a:spLocks/>
            </p:cNvSpPr>
            <p:nvPr/>
          </p:nvSpPr>
          <p:spPr bwMode="auto">
            <a:xfrm>
              <a:off x="2347950" y="2413000"/>
              <a:ext cx="1652550" cy="190748"/>
            </a:xfrm>
            <a:prstGeom prst="rect">
              <a:avLst/>
            </a:prstGeom>
            <a:noFill/>
            <a:ln w="127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0" tIns="0" rIns="0" bIns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33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Gill Sans" charset="0"/>
                  <a:cs typeface="Gill Sans" charset="0"/>
                </a:rPr>
                <a:t>High Priority Task</a:t>
              </a:r>
            </a:p>
          </p:txBody>
        </p:sp>
        <p:sp>
          <p:nvSpPr>
            <p:cNvPr id="24" name="Rectangle 9"/>
            <p:cNvSpPr>
              <a:spLocks/>
            </p:cNvSpPr>
            <p:nvPr/>
          </p:nvSpPr>
          <p:spPr bwMode="auto">
            <a:xfrm>
              <a:off x="2376785" y="4190752"/>
              <a:ext cx="1652550" cy="190748"/>
            </a:xfrm>
            <a:prstGeom prst="rect">
              <a:avLst/>
            </a:prstGeom>
            <a:noFill/>
            <a:ln w="127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0" tIns="0" rIns="0" bIns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33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Gill Sans" charset="0"/>
                  <a:cs typeface="Gill Sans" charset="0"/>
                </a:rPr>
                <a:t>Low Priority Task</a:t>
              </a:r>
            </a:p>
          </p:txBody>
        </p:sp>
        <p:sp>
          <p:nvSpPr>
            <p:cNvPr id="25" name="Rectangle 22"/>
            <p:cNvSpPr>
              <a:spLocks/>
            </p:cNvSpPr>
            <p:nvPr/>
          </p:nvSpPr>
          <p:spPr bwMode="auto">
            <a:xfrm>
              <a:off x="6223992" y="4053582"/>
              <a:ext cx="662788" cy="190748"/>
            </a:xfrm>
            <a:prstGeom prst="rect">
              <a:avLst/>
            </a:prstGeom>
            <a:noFill/>
            <a:ln w="127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0" tIns="0" rIns="0" bIns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33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Gill Sans" charset="0"/>
                  <a:cs typeface="Gill Sans" charset="0"/>
                </a:rPr>
                <a:t>Time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Gill Sans" charset="0"/>
                <a:cs typeface="Gill Sans" charset="0"/>
              </a:endParaRP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895367-CDFF-6247-BBCC-4DAE3EE55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6A3C3A-A029-4573-BC04-5DA27903A74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643024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Preemptive Fixed Priority Scheduling</a:t>
            </a:r>
          </a:p>
        </p:txBody>
      </p:sp>
      <p:grpSp>
        <p:nvGrpSpPr>
          <p:cNvPr id="3" name="群組 2"/>
          <p:cNvGrpSpPr/>
          <p:nvPr/>
        </p:nvGrpSpPr>
        <p:grpSpPr>
          <a:xfrm>
            <a:off x="2347950" y="2413000"/>
            <a:ext cx="4764050" cy="1968500"/>
            <a:chOff x="2347950" y="2413000"/>
            <a:chExt cx="4764050" cy="1968500"/>
          </a:xfrm>
        </p:grpSpPr>
        <p:sp>
          <p:nvSpPr>
            <p:cNvPr id="30722" name="Line 2"/>
            <p:cNvSpPr>
              <a:spLocks noChangeShapeType="1"/>
            </p:cNvSpPr>
            <p:nvPr/>
          </p:nvSpPr>
          <p:spPr bwMode="auto">
            <a:xfrm>
              <a:off x="3016747" y="2900660"/>
              <a:ext cx="3352353" cy="0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723" name="Line 3"/>
            <p:cNvSpPr>
              <a:spLocks noChangeShapeType="1"/>
            </p:cNvSpPr>
            <p:nvPr/>
          </p:nvSpPr>
          <p:spPr bwMode="auto">
            <a:xfrm>
              <a:off x="3016747" y="3972223"/>
              <a:ext cx="3352353" cy="0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724" name="Line 4"/>
            <p:cNvSpPr>
              <a:spLocks noChangeShapeType="1"/>
            </p:cNvSpPr>
            <p:nvPr/>
          </p:nvSpPr>
          <p:spPr bwMode="auto">
            <a:xfrm>
              <a:off x="3016747" y="3257848"/>
              <a:ext cx="3352353" cy="0"/>
            </a:xfrm>
            <a:prstGeom prst="line">
              <a:avLst/>
            </a:prstGeom>
            <a:noFill/>
            <a:ln w="12700" cap="flat">
              <a:solidFill>
                <a:srgbClr val="CECECE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725" name="Line 5"/>
            <p:cNvSpPr>
              <a:spLocks noChangeShapeType="1"/>
            </p:cNvSpPr>
            <p:nvPr/>
          </p:nvSpPr>
          <p:spPr bwMode="auto">
            <a:xfrm rot="10800000" flipH="1">
              <a:off x="3016747" y="3614105"/>
              <a:ext cx="3352353" cy="0"/>
            </a:xfrm>
            <a:prstGeom prst="line">
              <a:avLst/>
            </a:prstGeom>
            <a:noFill/>
            <a:ln w="12700" cap="flat">
              <a:solidFill>
                <a:srgbClr val="CECECE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726" name="Line 6"/>
            <p:cNvSpPr>
              <a:spLocks noChangeShapeType="1"/>
            </p:cNvSpPr>
            <p:nvPr/>
          </p:nvSpPr>
          <p:spPr bwMode="auto">
            <a:xfrm>
              <a:off x="3091160" y="2729508"/>
              <a:ext cx="0" cy="1413868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729" name="Rectangle 9"/>
            <p:cNvSpPr>
              <a:spLocks/>
            </p:cNvSpPr>
            <p:nvPr/>
          </p:nvSpPr>
          <p:spPr bwMode="auto">
            <a:xfrm>
              <a:off x="3098603" y="2900660"/>
              <a:ext cx="133945" cy="357188"/>
            </a:xfrm>
            <a:prstGeom prst="rect">
              <a:avLst/>
            </a:prstGeom>
            <a:solidFill>
              <a:schemeClr val="accent1"/>
            </a:solidFill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730" name="Rectangle 10"/>
            <p:cNvSpPr>
              <a:spLocks/>
            </p:cNvSpPr>
            <p:nvPr/>
          </p:nvSpPr>
          <p:spPr bwMode="auto">
            <a:xfrm>
              <a:off x="3478113" y="3257848"/>
              <a:ext cx="372070" cy="357188"/>
            </a:xfrm>
            <a:prstGeom prst="rect">
              <a:avLst/>
            </a:prstGeom>
            <a:solidFill>
              <a:srgbClr val="D6881C"/>
            </a:solidFill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731" name="Line 11"/>
            <p:cNvSpPr>
              <a:spLocks noChangeShapeType="1"/>
            </p:cNvSpPr>
            <p:nvPr/>
          </p:nvSpPr>
          <p:spPr bwMode="auto">
            <a:xfrm>
              <a:off x="3850183" y="2729508"/>
              <a:ext cx="0" cy="1413868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732" name="Line 12"/>
            <p:cNvSpPr>
              <a:spLocks noChangeShapeType="1"/>
            </p:cNvSpPr>
            <p:nvPr/>
          </p:nvSpPr>
          <p:spPr bwMode="auto">
            <a:xfrm>
              <a:off x="4609207" y="2729508"/>
              <a:ext cx="0" cy="1413868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733" name="Line 13"/>
            <p:cNvSpPr>
              <a:spLocks noChangeShapeType="1"/>
            </p:cNvSpPr>
            <p:nvPr/>
          </p:nvSpPr>
          <p:spPr bwMode="auto">
            <a:xfrm>
              <a:off x="5368231" y="2729508"/>
              <a:ext cx="0" cy="1413868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734" name="Line 14"/>
            <p:cNvSpPr>
              <a:spLocks noChangeShapeType="1"/>
            </p:cNvSpPr>
            <p:nvPr/>
          </p:nvSpPr>
          <p:spPr bwMode="auto">
            <a:xfrm>
              <a:off x="6119813" y="2729508"/>
              <a:ext cx="0" cy="1413868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735" name="Rectangle 15"/>
            <p:cNvSpPr>
              <a:spLocks/>
            </p:cNvSpPr>
            <p:nvPr/>
          </p:nvSpPr>
          <p:spPr bwMode="auto">
            <a:xfrm>
              <a:off x="3850185" y="2900660"/>
              <a:ext cx="133945" cy="357188"/>
            </a:xfrm>
            <a:prstGeom prst="rect">
              <a:avLst/>
            </a:prstGeom>
            <a:solidFill>
              <a:schemeClr val="accent1"/>
            </a:solidFill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736" name="Rectangle 16"/>
            <p:cNvSpPr>
              <a:spLocks/>
            </p:cNvSpPr>
            <p:nvPr/>
          </p:nvSpPr>
          <p:spPr bwMode="auto">
            <a:xfrm>
              <a:off x="4609209" y="2900660"/>
              <a:ext cx="133945" cy="357188"/>
            </a:xfrm>
            <a:prstGeom prst="rect">
              <a:avLst/>
            </a:prstGeom>
            <a:solidFill>
              <a:schemeClr val="accent1"/>
            </a:solidFill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738" name="Rectangle 18"/>
            <p:cNvSpPr>
              <a:spLocks/>
            </p:cNvSpPr>
            <p:nvPr/>
          </p:nvSpPr>
          <p:spPr bwMode="auto">
            <a:xfrm>
              <a:off x="4006454" y="3615035"/>
              <a:ext cx="602754" cy="357188"/>
            </a:xfrm>
            <a:prstGeom prst="rect">
              <a:avLst/>
            </a:prstGeom>
            <a:solidFill>
              <a:srgbClr val="EBD05D"/>
            </a:solidFill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739" name="Rectangle 19"/>
            <p:cNvSpPr>
              <a:spLocks/>
            </p:cNvSpPr>
            <p:nvPr/>
          </p:nvSpPr>
          <p:spPr bwMode="auto">
            <a:xfrm>
              <a:off x="4750595" y="3615035"/>
              <a:ext cx="133945" cy="357188"/>
            </a:xfrm>
            <a:prstGeom prst="rect">
              <a:avLst/>
            </a:prstGeom>
            <a:solidFill>
              <a:srgbClr val="EBD05D"/>
            </a:solidFill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AutoShape 13"/>
            <p:cNvSpPr>
              <a:spLocks/>
            </p:cNvSpPr>
            <p:nvPr/>
          </p:nvSpPr>
          <p:spPr bwMode="auto">
            <a:xfrm>
              <a:off x="5143500" y="3238501"/>
              <a:ext cx="1968500" cy="439043"/>
            </a:xfrm>
            <a:prstGeom prst="wedgeEllipseCallout">
              <a:avLst>
                <a:gd name="adj1" fmla="val -67527"/>
                <a:gd name="adj2" fmla="val 58704"/>
              </a:avLst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tIns="0" rIns="0" b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83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Gill Sans" charset="0"/>
                  <a:cs typeface="Gill Sans" charset="0"/>
                </a:rPr>
                <a:t>Lower priority job resumes later</a:t>
              </a:r>
            </a:p>
          </p:txBody>
        </p:sp>
        <p:sp>
          <p:nvSpPr>
            <p:cNvPr id="24" name="Rectangle 8"/>
            <p:cNvSpPr>
              <a:spLocks/>
            </p:cNvSpPr>
            <p:nvPr/>
          </p:nvSpPr>
          <p:spPr bwMode="auto">
            <a:xfrm>
              <a:off x="2347950" y="2413000"/>
              <a:ext cx="1652550" cy="190748"/>
            </a:xfrm>
            <a:prstGeom prst="rect">
              <a:avLst/>
            </a:prstGeom>
            <a:noFill/>
            <a:ln w="127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0" tIns="0" rIns="0" bIns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33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Gill Sans" charset="0"/>
                  <a:cs typeface="Gill Sans" charset="0"/>
                </a:rPr>
                <a:t>High Priority Task</a:t>
              </a:r>
            </a:p>
          </p:txBody>
        </p:sp>
        <p:sp>
          <p:nvSpPr>
            <p:cNvPr id="25" name="Rectangle 9"/>
            <p:cNvSpPr>
              <a:spLocks/>
            </p:cNvSpPr>
            <p:nvPr/>
          </p:nvSpPr>
          <p:spPr bwMode="auto">
            <a:xfrm>
              <a:off x="2376785" y="4190752"/>
              <a:ext cx="1652550" cy="190748"/>
            </a:xfrm>
            <a:prstGeom prst="rect">
              <a:avLst/>
            </a:prstGeom>
            <a:noFill/>
            <a:ln w="127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0" tIns="0" rIns="0" bIns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33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Gill Sans" charset="0"/>
                  <a:cs typeface="Gill Sans" charset="0"/>
                </a:rPr>
                <a:t>Low Priority Task</a:t>
              </a:r>
            </a:p>
          </p:txBody>
        </p:sp>
        <p:sp>
          <p:nvSpPr>
            <p:cNvPr id="26" name="Rectangle 22"/>
            <p:cNvSpPr>
              <a:spLocks/>
            </p:cNvSpPr>
            <p:nvPr/>
          </p:nvSpPr>
          <p:spPr bwMode="auto">
            <a:xfrm>
              <a:off x="6223992" y="4053582"/>
              <a:ext cx="662788" cy="190748"/>
            </a:xfrm>
            <a:prstGeom prst="rect">
              <a:avLst/>
            </a:prstGeom>
            <a:noFill/>
            <a:ln w="127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0" tIns="0" rIns="0" bIns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33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Gill Sans" charset="0"/>
                  <a:cs typeface="Gill Sans" charset="0"/>
                </a:rPr>
                <a:t>Time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Gill Sans" charset="0"/>
                <a:cs typeface="Gill Sans" charset="0"/>
              </a:endParaRP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A9C062-4F79-2B4E-9EA1-EEB3827FF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6A3C3A-A029-4573-BC04-5DA27903A74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834488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Preemptive Fixed Priority Scheduling</a:t>
            </a:r>
          </a:p>
        </p:txBody>
      </p:sp>
      <p:grpSp>
        <p:nvGrpSpPr>
          <p:cNvPr id="3" name="群組 2"/>
          <p:cNvGrpSpPr/>
          <p:nvPr/>
        </p:nvGrpSpPr>
        <p:grpSpPr>
          <a:xfrm>
            <a:off x="2347950" y="2413000"/>
            <a:ext cx="4538830" cy="1968500"/>
            <a:chOff x="2347950" y="2413000"/>
            <a:chExt cx="4538830" cy="1968500"/>
          </a:xfrm>
        </p:grpSpPr>
        <p:sp>
          <p:nvSpPr>
            <p:cNvPr id="31746" name="Line 2"/>
            <p:cNvSpPr>
              <a:spLocks noChangeShapeType="1"/>
            </p:cNvSpPr>
            <p:nvPr/>
          </p:nvSpPr>
          <p:spPr bwMode="auto">
            <a:xfrm>
              <a:off x="3016747" y="2900660"/>
              <a:ext cx="3352353" cy="0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747" name="Line 3"/>
            <p:cNvSpPr>
              <a:spLocks noChangeShapeType="1"/>
            </p:cNvSpPr>
            <p:nvPr/>
          </p:nvSpPr>
          <p:spPr bwMode="auto">
            <a:xfrm>
              <a:off x="3016747" y="3972223"/>
              <a:ext cx="3352353" cy="0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748" name="Line 4"/>
            <p:cNvSpPr>
              <a:spLocks noChangeShapeType="1"/>
            </p:cNvSpPr>
            <p:nvPr/>
          </p:nvSpPr>
          <p:spPr bwMode="auto">
            <a:xfrm>
              <a:off x="3016747" y="3257848"/>
              <a:ext cx="3352353" cy="0"/>
            </a:xfrm>
            <a:prstGeom prst="line">
              <a:avLst/>
            </a:prstGeom>
            <a:noFill/>
            <a:ln w="12700" cap="flat">
              <a:solidFill>
                <a:srgbClr val="CECECE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749" name="Line 5"/>
            <p:cNvSpPr>
              <a:spLocks noChangeShapeType="1"/>
            </p:cNvSpPr>
            <p:nvPr/>
          </p:nvSpPr>
          <p:spPr bwMode="auto">
            <a:xfrm rot="10800000" flipH="1">
              <a:off x="3016747" y="3614105"/>
              <a:ext cx="3352353" cy="0"/>
            </a:xfrm>
            <a:prstGeom prst="line">
              <a:avLst/>
            </a:prstGeom>
            <a:noFill/>
            <a:ln w="12700" cap="flat">
              <a:solidFill>
                <a:srgbClr val="CECECE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750" name="Line 6"/>
            <p:cNvSpPr>
              <a:spLocks noChangeShapeType="1"/>
            </p:cNvSpPr>
            <p:nvPr/>
          </p:nvSpPr>
          <p:spPr bwMode="auto">
            <a:xfrm>
              <a:off x="3091160" y="2729508"/>
              <a:ext cx="0" cy="1413868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753" name="Rectangle 9"/>
            <p:cNvSpPr>
              <a:spLocks/>
            </p:cNvSpPr>
            <p:nvPr/>
          </p:nvSpPr>
          <p:spPr bwMode="auto">
            <a:xfrm>
              <a:off x="3098603" y="2900660"/>
              <a:ext cx="133945" cy="357188"/>
            </a:xfrm>
            <a:prstGeom prst="rect">
              <a:avLst/>
            </a:prstGeom>
            <a:solidFill>
              <a:schemeClr val="accent1"/>
            </a:solidFill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754" name="Rectangle 10"/>
            <p:cNvSpPr>
              <a:spLocks/>
            </p:cNvSpPr>
            <p:nvPr/>
          </p:nvSpPr>
          <p:spPr bwMode="auto">
            <a:xfrm>
              <a:off x="3478113" y="3257848"/>
              <a:ext cx="372070" cy="357188"/>
            </a:xfrm>
            <a:prstGeom prst="rect">
              <a:avLst/>
            </a:prstGeom>
            <a:solidFill>
              <a:srgbClr val="D6881C"/>
            </a:solidFill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755" name="Line 11"/>
            <p:cNvSpPr>
              <a:spLocks noChangeShapeType="1"/>
            </p:cNvSpPr>
            <p:nvPr/>
          </p:nvSpPr>
          <p:spPr bwMode="auto">
            <a:xfrm>
              <a:off x="3850183" y="2729508"/>
              <a:ext cx="0" cy="1413868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756" name="Line 12"/>
            <p:cNvSpPr>
              <a:spLocks noChangeShapeType="1"/>
            </p:cNvSpPr>
            <p:nvPr/>
          </p:nvSpPr>
          <p:spPr bwMode="auto">
            <a:xfrm>
              <a:off x="4609207" y="2729508"/>
              <a:ext cx="0" cy="1413868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757" name="Line 13"/>
            <p:cNvSpPr>
              <a:spLocks noChangeShapeType="1"/>
            </p:cNvSpPr>
            <p:nvPr/>
          </p:nvSpPr>
          <p:spPr bwMode="auto">
            <a:xfrm>
              <a:off x="5368231" y="2729508"/>
              <a:ext cx="0" cy="1413868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758" name="Line 14"/>
            <p:cNvSpPr>
              <a:spLocks noChangeShapeType="1"/>
            </p:cNvSpPr>
            <p:nvPr/>
          </p:nvSpPr>
          <p:spPr bwMode="auto">
            <a:xfrm>
              <a:off x="6119813" y="2729508"/>
              <a:ext cx="0" cy="1413868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759" name="Rectangle 15"/>
            <p:cNvSpPr>
              <a:spLocks/>
            </p:cNvSpPr>
            <p:nvPr/>
          </p:nvSpPr>
          <p:spPr bwMode="auto">
            <a:xfrm>
              <a:off x="3850185" y="2900660"/>
              <a:ext cx="133945" cy="357188"/>
            </a:xfrm>
            <a:prstGeom prst="rect">
              <a:avLst/>
            </a:prstGeom>
            <a:solidFill>
              <a:schemeClr val="accent1"/>
            </a:solidFill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760" name="Rectangle 16"/>
            <p:cNvSpPr>
              <a:spLocks/>
            </p:cNvSpPr>
            <p:nvPr/>
          </p:nvSpPr>
          <p:spPr bwMode="auto">
            <a:xfrm>
              <a:off x="4609209" y="2900660"/>
              <a:ext cx="133945" cy="357188"/>
            </a:xfrm>
            <a:prstGeom prst="rect">
              <a:avLst/>
            </a:prstGeom>
            <a:solidFill>
              <a:schemeClr val="accent1"/>
            </a:solidFill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761" name="Rectangle 17"/>
            <p:cNvSpPr>
              <a:spLocks/>
            </p:cNvSpPr>
            <p:nvPr/>
          </p:nvSpPr>
          <p:spPr bwMode="auto">
            <a:xfrm>
              <a:off x="4996160" y="3257848"/>
              <a:ext cx="372070" cy="357188"/>
            </a:xfrm>
            <a:prstGeom prst="rect">
              <a:avLst/>
            </a:prstGeom>
            <a:solidFill>
              <a:srgbClr val="D6881C"/>
            </a:solidFill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763" name="Rectangle 19"/>
            <p:cNvSpPr>
              <a:spLocks/>
            </p:cNvSpPr>
            <p:nvPr/>
          </p:nvSpPr>
          <p:spPr bwMode="auto">
            <a:xfrm>
              <a:off x="4006454" y="3615035"/>
              <a:ext cx="602754" cy="357188"/>
            </a:xfrm>
            <a:prstGeom prst="rect">
              <a:avLst/>
            </a:prstGeom>
            <a:solidFill>
              <a:srgbClr val="EBD05D"/>
            </a:solidFill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764" name="Rectangle 20"/>
            <p:cNvSpPr>
              <a:spLocks/>
            </p:cNvSpPr>
            <p:nvPr/>
          </p:nvSpPr>
          <p:spPr bwMode="auto">
            <a:xfrm>
              <a:off x="4750595" y="3615035"/>
              <a:ext cx="133945" cy="357188"/>
            </a:xfrm>
            <a:prstGeom prst="rect">
              <a:avLst/>
            </a:prstGeom>
            <a:solidFill>
              <a:srgbClr val="EBD05D"/>
            </a:solidFill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Rectangle 8"/>
            <p:cNvSpPr>
              <a:spLocks/>
            </p:cNvSpPr>
            <p:nvPr/>
          </p:nvSpPr>
          <p:spPr bwMode="auto">
            <a:xfrm>
              <a:off x="2347950" y="2413000"/>
              <a:ext cx="1652550" cy="190748"/>
            </a:xfrm>
            <a:prstGeom prst="rect">
              <a:avLst/>
            </a:prstGeom>
            <a:noFill/>
            <a:ln w="127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0" tIns="0" rIns="0" bIns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33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Gill Sans" charset="0"/>
                  <a:cs typeface="Gill Sans" charset="0"/>
                </a:rPr>
                <a:t>High Priority Task</a:t>
              </a:r>
            </a:p>
          </p:txBody>
        </p:sp>
        <p:sp>
          <p:nvSpPr>
            <p:cNvPr id="24" name="Rectangle 9"/>
            <p:cNvSpPr>
              <a:spLocks/>
            </p:cNvSpPr>
            <p:nvPr/>
          </p:nvSpPr>
          <p:spPr bwMode="auto">
            <a:xfrm>
              <a:off x="2376785" y="4190752"/>
              <a:ext cx="1652550" cy="190748"/>
            </a:xfrm>
            <a:prstGeom prst="rect">
              <a:avLst/>
            </a:prstGeom>
            <a:noFill/>
            <a:ln w="127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0" tIns="0" rIns="0" bIns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33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Gill Sans" charset="0"/>
                  <a:cs typeface="Gill Sans" charset="0"/>
                </a:rPr>
                <a:t>Low Priority Task</a:t>
              </a:r>
            </a:p>
          </p:txBody>
        </p:sp>
        <p:sp>
          <p:nvSpPr>
            <p:cNvPr id="25" name="Rectangle 22"/>
            <p:cNvSpPr>
              <a:spLocks/>
            </p:cNvSpPr>
            <p:nvPr/>
          </p:nvSpPr>
          <p:spPr bwMode="auto">
            <a:xfrm>
              <a:off x="6223992" y="4053582"/>
              <a:ext cx="662788" cy="190748"/>
            </a:xfrm>
            <a:prstGeom prst="rect">
              <a:avLst/>
            </a:prstGeom>
            <a:noFill/>
            <a:ln w="127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0" tIns="0" rIns="0" bIns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33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Gill Sans" charset="0"/>
                  <a:cs typeface="Gill Sans" charset="0"/>
                </a:rPr>
                <a:t>Time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Gill Sans" charset="0"/>
                <a:cs typeface="Gill Sans" charset="0"/>
              </a:endParaRP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C7AF283-77D0-9842-A850-60090250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6A3C3A-A029-4573-BC04-5DA27903A74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412017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Preemptive Fixed Priority Scheduling</a:t>
            </a:r>
          </a:p>
        </p:txBody>
      </p:sp>
      <p:grpSp>
        <p:nvGrpSpPr>
          <p:cNvPr id="3" name="群組 2"/>
          <p:cNvGrpSpPr/>
          <p:nvPr/>
        </p:nvGrpSpPr>
        <p:grpSpPr>
          <a:xfrm>
            <a:off x="2347950" y="2413000"/>
            <a:ext cx="4538830" cy="1968500"/>
            <a:chOff x="2347950" y="2413000"/>
            <a:chExt cx="4538830" cy="1968500"/>
          </a:xfrm>
        </p:grpSpPr>
        <p:sp>
          <p:nvSpPr>
            <p:cNvPr id="32770" name="Line 2"/>
            <p:cNvSpPr>
              <a:spLocks noChangeShapeType="1"/>
            </p:cNvSpPr>
            <p:nvPr/>
          </p:nvSpPr>
          <p:spPr bwMode="auto">
            <a:xfrm>
              <a:off x="3016747" y="2900660"/>
              <a:ext cx="3352353" cy="0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771" name="Line 3"/>
            <p:cNvSpPr>
              <a:spLocks noChangeShapeType="1"/>
            </p:cNvSpPr>
            <p:nvPr/>
          </p:nvSpPr>
          <p:spPr bwMode="auto">
            <a:xfrm>
              <a:off x="3016747" y="3972223"/>
              <a:ext cx="3352353" cy="0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772" name="Line 4"/>
            <p:cNvSpPr>
              <a:spLocks noChangeShapeType="1"/>
            </p:cNvSpPr>
            <p:nvPr/>
          </p:nvSpPr>
          <p:spPr bwMode="auto">
            <a:xfrm>
              <a:off x="3016747" y="3257848"/>
              <a:ext cx="3352353" cy="0"/>
            </a:xfrm>
            <a:prstGeom prst="line">
              <a:avLst/>
            </a:prstGeom>
            <a:noFill/>
            <a:ln w="12700" cap="flat">
              <a:solidFill>
                <a:srgbClr val="CECECE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773" name="Line 5"/>
            <p:cNvSpPr>
              <a:spLocks noChangeShapeType="1"/>
            </p:cNvSpPr>
            <p:nvPr/>
          </p:nvSpPr>
          <p:spPr bwMode="auto">
            <a:xfrm rot="10800000" flipH="1">
              <a:off x="3016747" y="3614105"/>
              <a:ext cx="3352353" cy="0"/>
            </a:xfrm>
            <a:prstGeom prst="line">
              <a:avLst/>
            </a:prstGeom>
            <a:noFill/>
            <a:ln w="12700" cap="flat">
              <a:solidFill>
                <a:srgbClr val="CECECE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774" name="Line 6"/>
            <p:cNvSpPr>
              <a:spLocks noChangeShapeType="1"/>
            </p:cNvSpPr>
            <p:nvPr/>
          </p:nvSpPr>
          <p:spPr bwMode="auto">
            <a:xfrm>
              <a:off x="3091160" y="2729508"/>
              <a:ext cx="0" cy="1413868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777" name="Rectangle 9"/>
            <p:cNvSpPr>
              <a:spLocks/>
            </p:cNvSpPr>
            <p:nvPr/>
          </p:nvSpPr>
          <p:spPr bwMode="auto">
            <a:xfrm>
              <a:off x="3098603" y="2900660"/>
              <a:ext cx="133945" cy="357188"/>
            </a:xfrm>
            <a:prstGeom prst="rect">
              <a:avLst/>
            </a:prstGeom>
            <a:solidFill>
              <a:schemeClr val="accent1"/>
            </a:solidFill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778" name="Rectangle 10"/>
            <p:cNvSpPr>
              <a:spLocks/>
            </p:cNvSpPr>
            <p:nvPr/>
          </p:nvSpPr>
          <p:spPr bwMode="auto">
            <a:xfrm>
              <a:off x="3478113" y="3257848"/>
              <a:ext cx="372070" cy="357188"/>
            </a:xfrm>
            <a:prstGeom prst="rect">
              <a:avLst/>
            </a:prstGeom>
            <a:solidFill>
              <a:srgbClr val="D6881C"/>
            </a:solidFill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779" name="Line 11"/>
            <p:cNvSpPr>
              <a:spLocks noChangeShapeType="1"/>
            </p:cNvSpPr>
            <p:nvPr/>
          </p:nvSpPr>
          <p:spPr bwMode="auto">
            <a:xfrm>
              <a:off x="3850183" y="2729508"/>
              <a:ext cx="0" cy="1413868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780" name="Line 12"/>
            <p:cNvSpPr>
              <a:spLocks noChangeShapeType="1"/>
            </p:cNvSpPr>
            <p:nvPr/>
          </p:nvSpPr>
          <p:spPr bwMode="auto">
            <a:xfrm>
              <a:off x="4609207" y="2729508"/>
              <a:ext cx="0" cy="1413868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781" name="Line 13"/>
            <p:cNvSpPr>
              <a:spLocks noChangeShapeType="1"/>
            </p:cNvSpPr>
            <p:nvPr/>
          </p:nvSpPr>
          <p:spPr bwMode="auto">
            <a:xfrm>
              <a:off x="5368231" y="2729508"/>
              <a:ext cx="0" cy="1413868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782" name="Line 14"/>
            <p:cNvSpPr>
              <a:spLocks noChangeShapeType="1"/>
            </p:cNvSpPr>
            <p:nvPr/>
          </p:nvSpPr>
          <p:spPr bwMode="auto">
            <a:xfrm>
              <a:off x="6119813" y="2729508"/>
              <a:ext cx="0" cy="1413868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783" name="Rectangle 15"/>
            <p:cNvSpPr>
              <a:spLocks/>
            </p:cNvSpPr>
            <p:nvPr/>
          </p:nvSpPr>
          <p:spPr bwMode="auto">
            <a:xfrm>
              <a:off x="3850185" y="2900660"/>
              <a:ext cx="133945" cy="357188"/>
            </a:xfrm>
            <a:prstGeom prst="rect">
              <a:avLst/>
            </a:prstGeom>
            <a:solidFill>
              <a:schemeClr val="accent1"/>
            </a:solidFill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784" name="Rectangle 16"/>
            <p:cNvSpPr>
              <a:spLocks/>
            </p:cNvSpPr>
            <p:nvPr/>
          </p:nvSpPr>
          <p:spPr bwMode="auto">
            <a:xfrm>
              <a:off x="4609209" y="2900660"/>
              <a:ext cx="133945" cy="357188"/>
            </a:xfrm>
            <a:prstGeom prst="rect">
              <a:avLst/>
            </a:prstGeom>
            <a:solidFill>
              <a:schemeClr val="accent1"/>
            </a:solidFill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785" name="Rectangle 17"/>
            <p:cNvSpPr>
              <a:spLocks/>
            </p:cNvSpPr>
            <p:nvPr/>
          </p:nvSpPr>
          <p:spPr bwMode="auto">
            <a:xfrm>
              <a:off x="5368232" y="2900660"/>
              <a:ext cx="133945" cy="357188"/>
            </a:xfrm>
            <a:prstGeom prst="rect">
              <a:avLst/>
            </a:prstGeom>
            <a:solidFill>
              <a:schemeClr val="accent1"/>
            </a:solidFill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786" name="Rectangle 18"/>
            <p:cNvSpPr>
              <a:spLocks/>
            </p:cNvSpPr>
            <p:nvPr/>
          </p:nvSpPr>
          <p:spPr bwMode="auto">
            <a:xfrm>
              <a:off x="4996160" y="3257848"/>
              <a:ext cx="372070" cy="357188"/>
            </a:xfrm>
            <a:prstGeom prst="rect">
              <a:avLst/>
            </a:prstGeom>
            <a:solidFill>
              <a:srgbClr val="D6881C"/>
            </a:solidFill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788" name="Rectangle 20"/>
            <p:cNvSpPr>
              <a:spLocks/>
            </p:cNvSpPr>
            <p:nvPr/>
          </p:nvSpPr>
          <p:spPr bwMode="auto">
            <a:xfrm>
              <a:off x="4006454" y="3615035"/>
              <a:ext cx="602754" cy="357188"/>
            </a:xfrm>
            <a:prstGeom prst="rect">
              <a:avLst/>
            </a:prstGeom>
            <a:solidFill>
              <a:srgbClr val="EBD05D"/>
            </a:solidFill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789" name="Rectangle 21"/>
            <p:cNvSpPr>
              <a:spLocks/>
            </p:cNvSpPr>
            <p:nvPr/>
          </p:nvSpPr>
          <p:spPr bwMode="auto">
            <a:xfrm>
              <a:off x="4750595" y="3615035"/>
              <a:ext cx="133945" cy="357188"/>
            </a:xfrm>
            <a:prstGeom prst="rect">
              <a:avLst/>
            </a:prstGeom>
            <a:solidFill>
              <a:srgbClr val="EBD05D"/>
            </a:solidFill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Rectangle 8"/>
            <p:cNvSpPr>
              <a:spLocks/>
            </p:cNvSpPr>
            <p:nvPr/>
          </p:nvSpPr>
          <p:spPr bwMode="auto">
            <a:xfrm>
              <a:off x="2347950" y="2413000"/>
              <a:ext cx="1652550" cy="190748"/>
            </a:xfrm>
            <a:prstGeom prst="rect">
              <a:avLst/>
            </a:prstGeom>
            <a:noFill/>
            <a:ln w="127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0" tIns="0" rIns="0" bIns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33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Gill Sans" charset="0"/>
                  <a:cs typeface="Gill Sans" charset="0"/>
                </a:rPr>
                <a:t>High Priority Task</a:t>
              </a:r>
            </a:p>
          </p:txBody>
        </p:sp>
        <p:sp>
          <p:nvSpPr>
            <p:cNvPr id="25" name="Rectangle 9"/>
            <p:cNvSpPr>
              <a:spLocks/>
            </p:cNvSpPr>
            <p:nvPr/>
          </p:nvSpPr>
          <p:spPr bwMode="auto">
            <a:xfrm>
              <a:off x="2376785" y="4190752"/>
              <a:ext cx="1652550" cy="190748"/>
            </a:xfrm>
            <a:prstGeom prst="rect">
              <a:avLst/>
            </a:prstGeom>
            <a:noFill/>
            <a:ln w="127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0" tIns="0" rIns="0" bIns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33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Gill Sans" charset="0"/>
                  <a:cs typeface="Gill Sans" charset="0"/>
                </a:rPr>
                <a:t>Low Priority Task</a:t>
              </a:r>
            </a:p>
          </p:txBody>
        </p:sp>
        <p:sp>
          <p:nvSpPr>
            <p:cNvPr id="26" name="Rectangle 22"/>
            <p:cNvSpPr>
              <a:spLocks/>
            </p:cNvSpPr>
            <p:nvPr/>
          </p:nvSpPr>
          <p:spPr bwMode="auto">
            <a:xfrm>
              <a:off x="6223992" y="4053582"/>
              <a:ext cx="662788" cy="190748"/>
            </a:xfrm>
            <a:prstGeom prst="rect">
              <a:avLst/>
            </a:prstGeom>
            <a:noFill/>
            <a:ln w="127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0" tIns="0" rIns="0" bIns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33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Gill Sans" charset="0"/>
                  <a:cs typeface="Gill Sans" charset="0"/>
                </a:rPr>
                <a:t>Time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Gill Sans" charset="0"/>
                <a:cs typeface="Gill Sans" charset="0"/>
              </a:endParaRP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0743DF8-9E62-F345-B056-ABE3DCAE8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6A3C3A-A029-4573-BC04-5DA27903A74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865863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User Mode vs. Kernel Mode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What happens if a task disables interrupts in a pre-emptive OS?</a:t>
            </a:r>
          </a:p>
          <a:p>
            <a:pPr lvl="1"/>
            <a:r>
              <a:rPr lang="en-US" altLang="zh-TW" dirty="0"/>
              <a:t>e.g., EA=0</a:t>
            </a:r>
          </a:p>
          <a:p>
            <a:pPr lvl="1"/>
            <a:r>
              <a:rPr lang="en-US" altLang="zh-TW" dirty="0"/>
              <a:t>Can the OS still force the task to relinquish the CPU?</a:t>
            </a:r>
          </a:p>
          <a:p>
            <a:pPr lvl="5"/>
            <a:endParaRPr lang="en-US" altLang="zh-TW" dirty="0"/>
          </a:p>
          <a:p>
            <a:r>
              <a:rPr lang="en-US" altLang="zh-TW" dirty="0"/>
              <a:t>Clearly, the interrupt switches (and many other things, of course) </a:t>
            </a:r>
            <a:r>
              <a:rPr lang="en-US" altLang="zh-TW"/>
              <a:t>should only be </a:t>
            </a:r>
            <a:r>
              <a:rPr lang="en-US" altLang="zh-TW" dirty="0"/>
              <a:t>alterable by the OS only rather than the tasks</a:t>
            </a:r>
          </a:p>
          <a:p>
            <a:pPr lvl="1"/>
            <a:r>
              <a:rPr lang="en-US" altLang="zh-TW" dirty="0"/>
              <a:t>CPU</a:t>
            </a:r>
            <a:r>
              <a:rPr lang="zh-TW" altLang="en-US" dirty="0"/>
              <a:t> </a:t>
            </a:r>
            <a:r>
              <a:rPr lang="en-US" altLang="zh-TW" dirty="0"/>
              <a:t>hardware enforces that only the OS can alter them</a:t>
            </a:r>
          </a:p>
          <a:p>
            <a:pPr lvl="5"/>
            <a:endParaRPr lang="en-US" altLang="zh-TW" dirty="0"/>
          </a:p>
          <a:p>
            <a:pPr lvl="1"/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709601E-3B4E-4928-8AF0-88D45E7837C6}" type="slidenum">
              <a:rPr kumimoji="0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3706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User Mode vs. Kernel Mode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How can CPU hardware distinguish OS from other tasks?</a:t>
            </a:r>
          </a:p>
          <a:p>
            <a:pPr lvl="1"/>
            <a:r>
              <a:rPr lang="en-US" altLang="zh-TW" dirty="0"/>
              <a:t>CPU is designed to be in the </a:t>
            </a:r>
            <a:r>
              <a:rPr lang="en-US" altLang="zh-TW" b="1" dirty="0">
                <a:solidFill>
                  <a:srgbClr val="800080"/>
                </a:solidFill>
              </a:rPr>
              <a:t>kernel mode </a:t>
            </a:r>
            <a:r>
              <a:rPr lang="en-US" altLang="zh-TW" dirty="0"/>
              <a:t>after a reset</a:t>
            </a:r>
          </a:p>
          <a:p>
            <a:pPr lvl="1"/>
            <a:r>
              <a:rPr lang="en-US" altLang="zh-TW" dirty="0"/>
              <a:t>First piece of code running on the CPU should be the OS</a:t>
            </a:r>
          </a:p>
          <a:p>
            <a:pPr lvl="1"/>
            <a:r>
              <a:rPr lang="en-US" altLang="zh-TW" dirty="0"/>
              <a:t>OS always direct interrupts to itself</a:t>
            </a:r>
          </a:p>
          <a:p>
            <a:pPr lvl="1"/>
            <a:r>
              <a:rPr lang="en-US" altLang="zh-TW" dirty="0"/>
              <a:t>Kernel mode flag is set upon interrupts</a:t>
            </a:r>
          </a:p>
          <a:p>
            <a:pPr lvl="1"/>
            <a:r>
              <a:rPr lang="en-US" altLang="zh-TW" dirty="0"/>
              <a:t>OS clears the kernel mode flag before it schedules a task</a:t>
            </a:r>
          </a:p>
          <a:p>
            <a:pPr lvl="2"/>
            <a:endParaRPr lang="en-US" altLang="zh-TW" dirty="0"/>
          </a:p>
          <a:p>
            <a:r>
              <a:rPr lang="en-US" altLang="zh-TW" dirty="0"/>
              <a:t>Q: Does 8051 support user/kernel mode?</a:t>
            </a:r>
          </a:p>
          <a:p>
            <a:pPr lvl="1"/>
            <a:r>
              <a:rPr lang="en-US" altLang="zh-TW" dirty="0"/>
              <a:t>8051 does not have the user/kernel mode design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709601E-3B4E-4928-8AF0-88D45E7837C6}" type="slidenum">
              <a:rPr kumimoji="0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2000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Real-Time OS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OS helps to time-multiplex tasks</a:t>
            </a:r>
          </a:p>
          <a:p>
            <a:r>
              <a:rPr lang="en-US" altLang="zh-TW" dirty="0"/>
              <a:t>Some applications need time-related guarantees</a:t>
            </a:r>
          </a:p>
          <a:p>
            <a:pPr lvl="1"/>
            <a:r>
              <a:rPr lang="en-US" altLang="zh-TW" dirty="0"/>
              <a:t>Audio/Video player</a:t>
            </a:r>
          </a:p>
          <a:p>
            <a:pPr lvl="1"/>
            <a:r>
              <a:rPr lang="en-US" altLang="zh-TW" dirty="0"/>
              <a:t>Automotive computer</a:t>
            </a:r>
          </a:p>
          <a:p>
            <a:pPr lvl="1"/>
            <a:r>
              <a:rPr lang="en-US" altLang="zh-TW" dirty="0"/>
              <a:t>Flight control</a:t>
            </a:r>
          </a:p>
          <a:p>
            <a:pPr lvl="1"/>
            <a:r>
              <a:rPr lang="en-US" altLang="zh-TW" dirty="0"/>
              <a:t>Weapon control</a:t>
            </a:r>
          </a:p>
          <a:p>
            <a:pPr lvl="1"/>
            <a:r>
              <a:rPr lang="en-US" altLang="zh-TW" dirty="0"/>
              <a:t>Medical equipment</a:t>
            </a:r>
          </a:p>
          <a:p>
            <a:pPr lvl="1"/>
            <a:r>
              <a:rPr lang="en-US" altLang="zh-TW" dirty="0"/>
              <a:t>Nuclear power plant controller</a:t>
            </a:r>
          </a:p>
          <a:p>
            <a:r>
              <a:rPr lang="en-US" altLang="zh-TW" dirty="0"/>
              <a:t>Q:</a:t>
            </a:r>
            <a:r>
              <a:rPr lang="zh-TW" altLang="en-US" dirty="0"/>
              <a:t> </a:t>
            </a:r>
            <a:r>
              <a:rPr lang="en-US" altLang="zh-TW" dirty="0"/>
              <a:t>Are Windows and Linux real-time OS?</a:t>
            </a:r>
          </a:p>
          <a:p>
            <a:pPr lvl="1"/>
            <a:r>
              <a:rPr lang="en-US" altLang="zh-TW" dirty="0"/>
              <a:t>They are not</a:t>
            </a:r>
          </a:p>
          <a:p>
            <a:pPr lvl="1"/>
            <a:r>
              <a:rPr lang="en-US" altLang="zh-TW" dirty="0"/>
              <a:t>e.g., user may experience “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正</a:t>
            </a:r>
            <a:r>
              <a:rPr lang="zh-TW" altLang="en-US" dirty="0">
                <a:ea typeface="微軟正黑體" panose="020B0604030504040204" pitchFamily="34" charset="-120"/>
              </a:rPr>
              <a:t>為您更新作業系統</a:t>
            </a:r>
            <a:r>
              <a:rPr lang="en-US" altLang="zh-TW" dirty="0">
                <a:ea typeface="微軟正黑體" panose="020B0604030504040204" pitchFamily="34" charset="-120"/>
              </a:rPr>
              <a:t>… 5%”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709601E-3B4E-4928-8AF0-88D45E7837C6}" type="slidenum">
              <a:rPr kumimoji="0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172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Real-Time OS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Some embedded OSes are designed to offer real-time guarantees</a:t>
            </a:r>
          </a:p>
          <a:p>
            <a:pPr lvl="1"/>
            <a:r>
              <a:rPr lang="en-US" altLang="zh-TW" dirty="0" err="1">
                <a:solidFill>
                  <a:srgbClr val="800080"/>
                </a:solidFill>
              </a:rPr>
              <a:t>RT</a:t>
            </a:r>
            <a:r>
              <a:rPr lang="en-US" altLang="zh-TW" dirty="0" err="1"/>
              <a:t>Linux</a:t>
            </a:r>
            <a:r>
              <a:rPr lang="en-US" altLang="zh-TW" dirty="0"/>
              <a:t>, </a:t>
            </a:r>
            <a:r>
              <a:rPr lang="en-US" altLang="zh-TW" dirty="0" err="1"/>
              <a:t>Free</a:t>
            </a:r>
            <a:r>
              <a:rPr lang="en-US" altLang="zh-TW" dirty="0" err="1">
                <a:solidFill>
                  <a:srgbClr val="800080"/>
                </a:solidFill>
              </a:rPr>
              <a:t>RT</a:t>
            </a:r>
            <a:r>
              <a:rPr lang="en-US" altLang="zh-TW" dirty="0" err="1"/>
              <a:t>OS</a:t>
            </a:r>
            <a:r>
              <a:rPr lang="en-US" altLang="zh-TW" dirty="0"/>
              <a:t>, etc.</a:t>
            </a:r>
          </a:p>
          <a:p>
            <a:r>
              <a:rPr lang="en-US" altLang="zh-TW" dirty="0"/>
              <a:t>Real-time levels</a:t>
            </a:r>
          </a:p>
          <a:p>
            <a:pPr lvl="1"/>
            <a:r>
              <a:rPr lang="en-US" altLang="zh-TW" dirty="0"/>
              <a:t>Hard real-time</a:t>
            </a:r>
          </a:p>
          <a:p>
            <a:pPr lvl="2"/>
            <a:r>
              <a:rPr lang="en-US" altLang="zh-TW" dirty="0"/>
              <a:t>Violating time guarantees is not acceptable</a:t>
            </a:r>
          </a:p>
          <a:p>
            <a:pPr lvl="1"/>
            <a:r>
              <a:rPr lang="en-US" altLang="zh-TW" dirty="0"/>
              <a:t>Soft real-time</a:t>
            </a:r>
          </a:p>
          <a:p>
            <a:pPr lvl="2"/>
            <a:r>
              <a:rPr lang="en-US" altLang="zh-TW" dirty="0"/>
              <a:t>Occasionally violating time guarantees is acceptable</a:t>
            </a:r>
            <a:br>
              <a:rPr lang="en-US" altLang="zh-TW" dirty="0"/>
            </a:br>
            <a:r>
              <a:rPr lang="en-US" altLang="zh-TW" dirty="0"/>
              <a:t>e.g., video player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709601E-3B4E-4928-8AF0-88D45E7837C6}" type="slidenum">
              <a:rPr kumimoji="0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149758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Mutex</a:t>
            </a:r>
            <a:r>
              <a:rPr lang="en-US" altLang="zh-TW" dirty="0"/>
              <a:t> and Semaphore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Both are synchronization mechanisms among tasks</a:t>
            </a:r>
          </a:p>
          <a:p>
            <a:r>
              <a:rPr lang="en-US" altLang="zh-TW" dirty="0"/>
              <a:t>Handle situation that multiple tasks share a limited number of resources, e.g., UART </a:t>
            </a:r>
          </a:p>
          <a:p>
            <a:pPr lvl="1"/>
            <a:r>
              <a:rPr lang="en-US" altLang="zh-TW" dirty="0"/>
              <a:t>Without synchronization, UART outputs from two tasks may mixed together because of time sharing</a:t>
            </a:r>
          </a:p>
          <a:p>
            <a:r>
              <a:rPr lang="en-US" altLang="zh-TW" dirty="0"/>
              <a:t>Is the following implementation correct?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709601E-3B4E-4928-8AF0-88D45E7837C6}" type="slidenum">
              <a:rPr kumimoji="0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3630312" y="4166929"/>
            <a:ext cx="2442519" cy="255454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void task1()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  </a:t>
            </a:r>
            <a:r>
              <a:rPr kumimoji="0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while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(busy==true);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  busy = true;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  </a:t>
            </a: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uartput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(“1”);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  </a:t>
            </a: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uartput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(“2”);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70AD47">
                  <a:lumMod val="75000"/>
                </a:srgbClr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 </a:t>
            </a: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 </a:t>
            </a: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uartput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(“3”);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  return;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}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Consolas" panose="020B0609020204030204" pitchFamily="49" charset="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6265390" y="4166929"/>
            <a:ext cx="2442519" cy="255454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void task2()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  </a:t>
            </a:r>
            <a:r>
              <a:rPr kumimoji="0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while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(busy==true);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  busy = true;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  </a:t>
            </a: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uartput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(“A”);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  </a:t>
            </a: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uartput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(“B”);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70AD47">
                  <a:lumMod val="75000"/>
                </a:srgbClr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 </a:t>
            </a: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 </a:t>
            </a: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uartput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(“C”);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  return;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}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Consolas" panose="020B0609020204030204" pitchFamily="49" charset="0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365533" y="4166929"/>
            <a:ext cx="3072219" cy="23083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bool busy = false;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int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 main()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  ...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  </a:t>
            </a: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taskCreate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(task1);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  </a:t>
            </a: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taskCreate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(task2);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  </a:t>
            </a: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taskStartScheduler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();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  while(1);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}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07339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</TotalTime>
  <Words>2038</Words>
  <Application>Microsoft Office PowerPoint</Application>
  <PresentationFormat>如螢幕大小 (4:3)</PresentationFormat>
  <Paragraphs>580</Paragraphs>
  <Slides>46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46</vt:i4>
      </vt:variant>
    </vt:vector>
  </HeadingPairs>
  <TitlesOfParts>
    <vt:vector size="55" baseType="lpstr">
      <vt:lpstr>微軟正黑體</vt:lpstr>
      <vt:lpstr>微軟正黑體</vt:lpstr>
      <vt:lpstr>PMingLiU</vt:lpstr>
      <vt:lpstr>Arial</vt:lpstr>
      <vt:lpstr>Calibri</vt:lpstr>
      <vt:lpstr>Consolas</vt:lpstr>
      <vt:lpstr>Times New Roman</vt:lpstr>
      <vt:lpstr>Office Theme</vt:lpstr>
      <vt:lpstr>Office 佈景主題</vt:lpstr>
      <vt:lpstr>PowerPoint 簡報</vt:lpstr>
      <vt:lpstr>Digital Hourglass</vt:lpstr>
      <vt:lpstr>PowerPoint 簡報</vt:lpstr>
      <vt:lpstr>PowerPoint 簡報</vt:lpstr>
      <vt:lpstr>Digital Hourglass</vt:lpstr>
      <vt:lpstr>Importance of the Microcontroller and Embedded System Course</vt:lpstr>
      <vt:lpstr>Microcontrollers Such as 8051</vt:lpstr>
      <vt:lpstr>Microcontrollers vs. Common Computers</vt:lpstr>
      <vt:lpstr>PowerPoint 簡報</vt:lpstr>
      <vt:lpstr>Himax WE-I Plus</vt:lpstr>
      <vt:lpstr>WE-I Features</vt:lpstr>
      <vt:lpstr>WE-I Features</vt:lpstr>
      <vt:lpstr>WE-I Features</vt:lpstr>
      <vt:lpstr>WE-I Features</vt:lpstr>
      <vt:lpstr>WE-I Features</vt:lpstr>
      <vt:lpstr>Comparison</vt:lpstr>
      <vt:lpstr>Lab10 on Next Tuesday- Ping Pong Test</vt:lpstr>
      <vt:lpstr>Lab on Next Tuesday- Ping Pong Test</vt:lpstr>
      <vt:lpstr>Lab10 Example Project Procedure</vt:lpstr>
      <vt:lpstr>Main Difference</vt:lpstr>
      <vt:lpstr>Microprocessor Systems</vt:lpstr>
      <vt:lpstr>Outline</vt:lpstr>
      <vt:lpstr>Operating Systems</vt:lpstr>
      <vt:lpstr>Q: Which are OSes</vt:lpstr>
      <vt:lpstr>Bare-metal (Bare-machine)</vt:lpstr>
      <vt:lpstr>Example</vt:lpstr>
      <vt:lpstr>Super Loop</vt:lpstr>
      <vt:lpstr>Concurrent Tasks</vt:lpstr>
      <vt:lpstr>Concurrent Tasks</vt:lpstr>
      <vt:lpstr>Time Multiplexing</vt:lpstr>
      <vt:lpstr>Pre-emptive vs. Non-preemptive OS</vt:lpstr>
      <vt:lpstr>Preemptive Fixed Priority Scheduling</vt:lpstr>
      <vt:lpstr>Preemptive Fixed Priority Scheduling</vt:lpstr>
      <vt:lpstr>Preemptive Fixed Priority Scheduling</vt:lpstr>
      <vt:lpstr>Preemptive Fixed Priority Scheduling</vt:lpstr>
      <vt:lpstr>Preemptive Fixed Priority Scheduling</vt:lpstr>
      <vt:lpstr>Preemptive Fixed Priority Scheduling</vt:lpstr>
      <vt:lpstr>Preemptive Fixed Priority Scheduling</vt:lpstr>
      <vt:lpstr>Preemptive Fixed Priority Scheduling</vt:lpstr>
      <vt:lpstr>Preemptive Fixed Priority Scheduling</vt:lpstr>
      <vt:lpstr>Preemptive Fixed Priority Scheduling</vt:lpstr>
      <vt:lpstr>User Mode vs. Kernel Mode</vt:lpstr>
      <vt:lpstr>User Mode vs. Kernel Mode</vt:lpstr>
      <vt:lpstr>Real-Time OS</vt:lpstr>
      <vt:lpstr>Real-Time OS</vt:lpstr>
      <vt:lpstr>Mutex and Semaphore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Structures</dc:title>
  <dc:creator>n</dc:creator>
  <cp:lastModifiedBy>劉宇揚</cp:lastModifiedBy>
  <cp:revision>6</cp:revision>
  <dcterms:created xsi:type="dcterms:W3CDTF">2022-11-30T07:38:04Z</dcterms:created>
  <dcterms:modified xsi:type="dcterms:W3CDTF">2023-12-11T12:43:40Z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2021-12-02T00:00:00Z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2022-11-30T00:00:00Z</vt:filetime>
  </property>
  <property fmtid="{D5CDD505-2E9C-101B-9397-08002B2CF9AE}" pid="5" name="Producer">
    <vt:lpwstr>Microsoft® PowerPoint® 2016</vt:lpwstr>
  </property>
</Properties>
</file>